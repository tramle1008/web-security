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56" r:id="rId2"/>
    <p:sldId id="275" r:id="rId3"/>
    <p:sldId id="259" r:id="rId4"/>
    <p:sldId id="261" r:id="rId5"/>
    <p:sldId id="274" r:id="rId6"/>
    <p:sldId id="262" r:id="rId7"/>
    <p:sldId id="270" r:id="rId8"/>
    <p:sldId id="271" r:id="rId9"/>
    <p:sldId id="273" r:id="rId10"/>
    <p:sldId id="269" r:id="rId11"/>
    <p:sldId id="266" r:id="rId12"/>
    <p:sldId id="278" r:id="rId13"/>
    <p:sldId id="280" r:id="rId14"/>
    <p:sldId id="281" r:id="rId15"/>
    <p:sldId id="282" r:id="rId16"/>
    <p:sldId id="283" r:id="rId17"/>
    <p:sldId id="284" r:id="rId18"/>
    <p:sldId id="285" r:id="rId19"/>
    <p:sldId id="286" r:id="rId20"/>
    <p:sldId id="287" r:id="rId21"/>
    <p:sldId id="293" r:id="rId22"/>
    <p:sldId id="294" r:id="rId23"/>
    <p:sldId id="297" r:id="rId24"/>
    <p:sldId id="298" r:id="rId25"/>
    <p:sldId id="299" r:id="rId26"/>
    <p:sldId id="258" r:id="rId27"/>
  </p:sldIdLst>
  <p:sldSz cx="9144000" cy="6858000" type="screen4x3"/>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7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6"/>
    <p:restoredTop sz="94636"/>
  </p:normalViewPr>
  <p:slideViewPr>
    <p:cSldViewPr snapToGrid="0" showGuides="1">
      <p:cViewPr>
        <p:scale>
          <a:sx n="62" d="100"/>
          <a:sy n="62" d="100"/>
        </p:scale>
        <p:origin x="676" y="216"/>
      </p:cViewPr>
      <p:guideLst>
        <p:guide orient="horz" pos="2160"/>
        <p:guide pos="287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11/8/2025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rotWithShape="0">
          <a:blip r:embed="rId2"/>
          <a:stretch>
            <a:fillRect/>
          </a:stretch>
        </a:blip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ctrTitle"/>
          </p:nvPr>
        </p:nvSpPr>
        <p:spPr>
          <a:xfrm>
            <a:off x="719138" y="2130427"/>
            <a:ext cx="7772400" cy="1470025"/>
          </a:xfrm>
        </p:spPr>
        <p:txBody>
          <a:bodyPr/>
          <a:lstStyle>
            <a:lvl1pPr>
              <a:defRPr sz="3600"/>
            </a:lvl1pPr>
          </a:lstStyle>
          <a:p>
            <a:pPr lvl="0"/>
            <a:r>
              <a:rPr lang="en-US" noProof="0"/>
              <a:t>Click to edit Master title style</a:t>
            </a:r>
          </a:p>
        </p:txBody>
      </p:sp>
      <p:sp>
        <p:nvSpPr>
          <p:cNvPr id="16387"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pPr lvl="0"/>
            <a:r>
              <a:rPr lang="en-US" noProof="0"/>
              <a:t>Click to edit Master subtitle style</a:t>
            </a:r>
          </a:p>
        </p:txBody>
      </p:sp>
      <p:sp>
        <p:nvSpPr>
          <p:cNvPr id="7" name="Rectangle 4"/>
          <p:cNvSpPr>
            <a:spLocks noGrp="1" noChangeArrowheads="1"/>
          </p:cNvSpPr>
          <p:nvPr>
            <p:ph type="dt" sz="half" idx="2"/>
          </p:nvPr>
        </p:nvSpPr>
        <p:spPr bwMode="auto">
          <a:xfrm>
            <a:off x="609600" y="6245225"/>
            <a:ext cx="1981200" cy="476250"/>
          </a:xfrm>
          <a:prstGeom prst="rect">
            <a:avLst/>
          </a:prstGeom>
        </p:spPr>
        <p:txBody>
          <a:bodyPr vert="horz" wrap="square" lIns="91440" tIns="45720" rIns="91440" bIns="45720" numCol="1" anchor="t" anchorCtr="0" compatLnSpc="1"/>
          <a:lstStyle/>
          <a:p>
            <a:pPr eaLnBrk="1" hangingPunct="1"/>
            <a:fld id="{185FB6E5-64CE-4251-A56E-B9941EC58C46}" type="datetime1">
              <a:rPr lang="en-US" altLang="ja-JP" smtClean="0">
                <a:ea typeface="MS PGothic" panose="020B0600070205080204" pitchFamily="50" charset="-128"/>
              </a:rPr>
              <a:t>11/8/2025</a:t>
            </a:fld>
            <a:endParaRPr lang="en-US" altLang="ja-JP" dirty="0">
              <a:ea typeface="MS PGothic" panose="020B0600070205080204" pitchFamily="50" charset="-128"/>
            </a:endParaRPr>
          </a:p>
        </p:txBody>
      </p:sp>
      <p:sp>
        <p:nvSpPr>
          <p:cNvPr id="8" name="Rectangle 5"/>
          <p:cNvSpPr>
            <a:spLocks noGrp="1" noChangeArrowheads="1"/>
          </p:cNvSpPr>
          <p:nvPr>
            <p:ph type="ftr" sz="quarter" idx="3"/>
          </p:nvPr>
        </p:nvSpPr>
        <p:spPr bwMode="auto">
          <a:xfrm>
            <a:off x="3124200" y="6245225"/>
            <a:ext cx="2895600" cy="476250"/>
          </a:xfrm>
          <a:prstGeom prst="rect">
            <a:avLst/>
          </a:prstGeom>
        </p:spPr>
        <p:txBody>
          <a:bodyPr vert="horz" wrap="square" lIns="91440" tIns="45720" rIns="91440" bIns="45720" numCol="1" anchor="t" anchorCtr="0" compatLnSpc="1"/>
          <a:lstStyle/>
          <a:p>
            <a:pPr algn="ctr" eaLnBrk="1" hangingPunct="1"/>
            <a:endParaRPr lang="ja-JP" altLang="en-US" dirty="0">
              <a:ea typeface="MS PGothic" panose="020B0600070205080204" pitchFamily="50" charset="-128"/>
            </a:endParaRPr>
          </a:p>
        </p:txBody>
      </p:sp>
      <p:sp>
        <p:nvSpPr>
          <p:cNvPr id="9" name="Rectangle 6"/>
          <p:cNvSpPr>
            <a:spLocks noGrp="1" noChangeArrowheads="1"/>
          </p:cNvSpPr>
          <p:nvPr>
            <p:ph type="sldNum" sz="quarter" idx="4"/>
          </p:nvPr>
        </p:nvSpPr>
        <p:spPr bwMode="auto">
          <a:xfrm>
            <a:off x="6716713" y="6230938"/>
            <a:ext cx="2133600" cy="549275"/>
          </a:xfrm>
          <a:prstGeom prst="rect">
            <a:avLst/>
          </a:prstGeom>
        </p:spPr>
        <p:txBody>
          <a:bodyPr vert="horz" wrap="square" lIns="91440" tIns="45720" rIns="91440" bIns="45720" numCol="1" anchor="t" anchorCtr="0" compatLnSpc="1"/>
          <a:lstStyle/>
          <a:p>
            <a:pPr algn="r" eaLnBrk="1" hangingPunct="1"/>
            <a:fld id="{9A0DB2DC-4C9A-4742-B13C-FB6460FD3503}" type="slidenum">
              <a:rPr lang="en-US" altLang="ja-JP" dirty="0">
                <a:ea typeface="MS PGothic" panose="020B0600070205080204" pitchFamily="50" charset="-128"/>
              </a:rPr>
              <a:t>‹#›</a:t>
            </a:fld>
            <a:endParaRPr lang="en-US" altLang="ja-JP" dirty="0">
              <a:ea typeface="MS PGothic" panose="020B0600070205080204" pitchFamily="50" charset="-128"/>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lvl="0" eaLnBrk="1" hangingPunct="1"/>
            <a:fld id="{F097C0A4-1998-489E-B604-B055A7A20942}" type="datetime1">
              <a:rPr lang="en-US" altLang="ja-JP" smtClean="0">
                <a:latin typeface="Arial" panose="020B0604020202020204" pitchFamily="34" charset="0"/>
              </a:rPr>
              <a:t>11/8/2025</a:t>
            </a:fld>
            <a:endParaRPr lang="en-US" altLang="ja-JP" dirty="0">
              <a:latin typeface="Arial" panose="020B0604020202020204" pitchFamily="34" charset="0"/>
            </a:endParaRPr>
          </a:p>
        </p:txBody>
      </p:sp>
      <p:sp>
        <p:nvSpPr>
          <p:cNvPr id="5" name="Footer Placeholder 4"/>
          <p:cNvSpPr>
            <a:spLocks noGrp="1"/>
          </p:cNvSpPr>
          <p:nvPr>
            <p:ph type="ftr" sz="quarter" idx="11"/>
          </p:nvPr>
        </p:nvSpPr>
        <p:spPr/>
        <p:txBody>
          <a:bodyPr/>
          <a:lstStyle/>
          <a:p>
            <a:pPr lvl="0" eaLnBrk="1" hangingPunct="1"/>
            <a:endParaRPr lang="ja-JP" altLang="en-US" dirty="0">
              <a:latin typeface="Arial" panose="020B0604020202020204" pitchFamily="34" charset="0"/>
            </a:endParaRPr>
          </a:p>
        </p:txBody>
      </p:sp>
      <p:sp>
        <p:nvSpPr>
          <p:cNvPr id="6" name="Slide Number Placeholder 5"/>
          <p:cNvSpPr>
            <a:spLocks noGrp="1"/>
          </p:cNvSpPr>
          <p:nvPr>
            <p:ph type="sldNum" sz="quarter" idx="12"/>
          </p:nvPr>
        </p:nvSpPr>
        <p:spPr/>
        <p:txBody>
          <a:bodyPr/>
          <a:lstStyle/>
          <a:p>
            <a:pPr lvl="0" eaLnBrk="1" hangingPunct="1"/>
            <a:fld id="{9A0DB2DC-4C9A-4742-B13C-FB6460FD3503}" type="slidenum">
              <a:rPr lang="en-US" altLang="ja-JP" dirty="0">
                <a:latin typeface="Arial" panose="020B0604020202020204" pitchFamily="34" charset="0"/>
              </a:rPr>
              <a:t>‹#›</a:t>
            </a:fld>
            <a:endParaRPr lang="en-US" altLang="ja-JP"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0"/>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5"/>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p>
            <a:pPr lvl="0" eaLnBrk="1" hangingPunct="1"/>
            <a:fld id="{5D485F8F-89D3-4967-B2E7-2B5303429755}" type="datetime1">
              <a:rPr lang="en-US" altLang="ja-JP" smtClean="0">
                <a:latin typeface="Arial" panose="020B0604020202020204" pitchFamily="34" charset="0"/>
              </a:rPr>
              <a:t>11/8/2025</a:t>
            </a:fld>
            <a:endParaRPr lang="en-US" altLang="ja-JP" dirty="0">
              <a:latin typeface="Arial" panose="020B0604020202020204" pitchFamily="34" charset="0"/>
            </a:endParaRPr>
          </a:p>
        </p:txBody>
      </p:sp>
      <p:sp>
        <p:nvSpPr>
          <p:cNvPr id="5" name="Footer Placeholder 4"/>
          <p:cNvSpPr>
            <a:spLocks noGrp="1"/>
          </p:cNvSpPr>
          <p:nvPr>
            <p:ph type="ftr" sz="quarter" idx="11"/>
          </p:nvPr>
        </p:nvSpPr>
        <p:spPr/>
        <p:txBody>
          <a:bodyPr/>
          <a:lstStyle/>
          <a:p>
            <a:pPr lvl="0" eaLnBrk="1" hangingPunct="1"/>
            <a:endParaRPr lang="ja-JP" altLang="en-US" dirty="0">
              <a:latin typeface="Arial" panose="020B0604020202020204" pitchFamily="34" charset="0"/>
            </a:endParaRPr>
          </a:p>
        </p:txBody>
      </p:sp>
      <p:sp>
        <p:nvSpPr>
          <p:cNvPr id="6" name="Slide Number Placeholder 5"/>
          <p:cNvSpPr>
            <a:spLocks noGrp="1"/>
          </p:cNvSpPr>
          <p:nvPr>
            <p:ph type="sldNum" sz="quarter" idx="12"/>
          </p:nvPr>
        </p:nvSpPr>
        <p:spPr/>
        <p:txBody>
          <a:bodyPr/>
          <a:lstStyle/>
          <a:p>
            <a:pPr lvl="0" eaLnBrk="1" hangingPunct="1"/>
            <a:fld id="{9A0DB2DC-4C9A-4742-B13C-FB6460FD3503}" type="slidenum">
              <a:rPr lang="en-US" altLang="ja-JP" dirty="0">
                <a:latin typeface="Arial" panose="020B0604020202020204" pitchFamily="34" charset="0"/>
              </a:rPr>
              <a:t>‹#›</a:t>
            </a:fld>
            <a:endParaRPr lang="en-US" altLang="ja-JP"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33538"/>
            <a:ext cx="4038600" cy="4691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00600" y="1633538"/>
            <a:ext cx="4038600" cy="4691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lvl="0" eaLnBrk="1" hangingPunct="1"/>
            <a:fld id="{6EE3D42F-56B2-4AAE-9408-C562B0136D21}" type="datetime1">
              <a:rPr lang="en-US" altLang="ja-JP" smtClean="0">
                <a:latin typeface="Arial" panose="020B0604020202020204" pitchFamily="34" charset="0"/>
              </a:rPr>
              <a:t>11/8/2025</a:t>
            </a:fld>
            <a:endParaRPr lang="en-US" altLang="ja-JP" dirty="0">
              <a:latin typeface="Arial" panose="020B0604020202020204" pitchFamily="34" charset="0"/>
            </a:endParaRPr>
          </a:p>
        </p:txBody>
      </p:sp>
      <p:sp>
        <p:nvSpPr>
          <p:cNvPr id="6" name="Footer Placeholder 5"/>
          <p:cNvSpPr>
            <a:spLocks noGrp="1"/>
          </p:cNvSpPr>
          <p:nvPr>
            <p:ph type="ftr" sz="quarter" idx="11"/>
          </p:nvPr>
        </p:nvSpPr>
        <p:spPr/>
        <p:txBody>
          <a:bodyPr/>
          <a:lstStyle/>
          <a:p>
            <a:pPr lvl="0" eaLnBrk="1" hangingPunct="1"/>
            <a:endParaRPr lang="ja-JP" altLang="en-US" dirty="0">
              <a:latin typeface="Arial" panose="020B0604020202020204" pitchFamily="34" charset="0"/>
            </a:endParaRPr>
          </a:p>
        </p:txBody>
      </p:sp>
      <p:sp>
        <p:nvSpPr>
          <p:cNvPr id="7" name="Slide Number Placeholder 6"/>
          <p:cNvSpPr>
            <a:spLocks noGrp="1"/>
          </p:cNvSpPr>
          <p:nvPr>
            <p:ph type="sldNum" sz="quarter" idx="12"/>
          </p:nvPr>
        </p:nvSpPr>
        <p:spPr/>
        <p:txBody>
          <a:bodyPr/>
          <a:lstStyle/>
          <a:p>
            <a:pPr lvl="0" eaLnBrk="1" hangingPunct="1"/>
            <a:fld id="{9A0DB2DC-4C9A-4742-B13C-FB6460FD3503}" type="slidenum">
              <a:rPr lang="en-US" altLang="ja-JP" dirty="0">
                <a:latin typeface="Arial" panose="020B0604020202020204" pitchFamily="34" charset="0"/>
              </a:rPr>
              <a:t>‹#›</a:t>
            </a:fld>
            <a:endParaRPr lang="en-US" altLang="ja-JP"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7"/>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9"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9"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lvl="0" eaLnBrk="1" hangingPunct="1"/>
            <a:fld id="{1E47AD04-A697-4311-9D55-D2556FBF99A3}" type="datetime1">
              <a:rPr lang="en-US" altLang="ja-JP" smtClean="0">
                <a:latin typeface="Arial" panose="020B0604020202020204" pitchFamily="34" charset="0"/>
              </a:rPr>
              <a:t>11/8/2025</a:t>
            </a:fld>
            <a:endParaRPr lang="en-US" altLang="ja-JP" dirty="0">
              <a:latin typeface="Arial" panose="020B0604020202020204" pitchFamily="34" charset="0"/>
            </a:endParaRPr>
          </a:p>
        </p:txBody>
      </p:sp>
      <p:sp>
        <p:nvSpPr>
          <p:cNvPr id="8" name="Footer Placeholder 7"/>
          <p:cNvSpPr>
            <a:spLocks noGrp="1"/>
          </p:cNvSpPr>
          <p:nvPr>
            <p:ph type="ftr" sz="quarter" idx="11"/>
          </p:nvPr>
        </p:nvSpPr>
        <p:spPr/>
        <p:txBody>
          <a:bodyPr/>
          <a:lstStyle/>
          <a:p>
            <a:pPr lvl="0" eaLnBrk="1" hangingPunct="1"/>
            <a:endParaRPr lang="ja-JP" altLang="en-US" dirty="0">
              <a:latin typeface="Arial" panose="020B0604020202020204" pitchFamily="34" charset="0"/>
            </a:endParaRPr>
          </a:p>
        </p:txBody>
      </p:sp>
      <p:sp>
        <p:nvSpPr>
          <p:cNvPr id="9" name="Slide Number Placeholder 8"/>
          <p:cNvSpPr>
            <a:spLocks noGrp="1"/>
          </p:cNvSpPr>
          <p:nvPr>
            <p:ph type="sldNum" sz="quarter" idx="12"/>
          </p:nvPr>
        </p:nvSpPr>
        <p:spPr/>
        <p:txBody>
          <a:bodyPr/>
          <a:lstStyle/>
          <a:p>
            <a:pPr lvl="0" eaLnBrk="1" hangingPunct="1"/>
            <a:fld id="{9A0DB2DC-4C9A-4742-B13C-FB6460FD3503}" type="slidenum">
              <a:rPr lang="en-US" altLang="ja-JP" dirty="0">
                <a:latin typeface="Arial" panose="020B0604020202020204" pitchFamily="34" charset="0"/>
              </a:rPr>
              <a:t>‹#›</a:t>
            </a:fld>
            <a:endParaRPr lang="en-US" altLang="ja-JP"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lvl="0" eaLnBrk="1" hangingPunct="1"/>
            <a:fld id="{BE9EE074-DA65-4EAA-99CD-C756396B3CF7}" type="datetime1">
              <a:rPr lang="en-US" altLang="ja-JP" smtClean="0">
                <a:latin typeface="Arial" panose="020B0604020202020204" pitchFamily="34" charset="0"/>
              </a:rPr>
              <a:t>11/8/2025</a:t>
            </a:fld>
            <a:endParaRPr lang="en-US" altLang="ja-JP" dirty="0">
              <a:latin typeface="Arial" panose="020B0604020202020204" pitchFamily="34" charset="0"/>
            </a:endParaRPr>
          </a:p>
        </p:txBody>
      </p:sp>
      <p:sp>
        <p:nvSpPr>
          <p:cNvPr id="4" name="Footer Placeholder 3"/>
          <p:cNvSpPr>
            <a:spLocks noGrp="1"/>
          </p:cNvSpPr>
          <p:nvPr>
            <p:ph type="ftr" sz="quarter" idx="11"/>
          </p:nvPr>
        </p:nvSpPr>
        <p:spPr/>
        <p:txBody>
          <a:bodyPr/>
          <a:lstStyle/>
          <a:p>
            <a:pPr lvl="0" eaLnBrk="1" hangingPunct="1"/>
            <a:endParaRPr lang="ja-JP" altLang="en-US" dirty="0">
              <a:latin typeface="Arial" panose="020B0604020202020204" pitchFamily="34" charset="0"/>
            </a:endParaRPr>
          </a:p>
        </p:txBody>
      </p:sp>
      <p:sp>
        <p:nvSpPr>
          <p:cNvPr id="5" name="Slide Number Placeholder 4"/>
          <p:cNvSpPr>
            <a:spLocks noGrp="1"/>
          </p:cNvSpPr>
          <p:nvPr>
            <p:ph type="sldNum" sz="quarter" idx="12"/>
          </p:nvPr>
        </p:nvSpPr>
        <p:spPr/>
        <p:txBody>
          <a:bodyPr/>
          <a:lstStyle/>
          <a:p>
            <a:pPr lvl="0" eaLnBrk="1" hangingPunct="1"/>
            <a:fld id="{9A0DB2DC-4C9A-4742-B13C-FB6460FD3503}" type="slidenum">
              <a:rPr lang="en-US" altLang="ja-JP" dirty="0">
                <a:latin typeface="Arial" panose="020B0604020202020204" pitchFamily="34" charset="0"/>
              </a:rPr>
              <a:t>‹#›</a:t>
            </a:fld>
            <a:endParaRPr lang="en-US" altLang="ja-JP"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eaLnBrk="1" hangingPunct="1"/>
            <a:fld id="{00277614-6018-4CEF-BFB0-C4DB96106BBF}" type="datetime1">
              <a:rPr lang="en-US" altLang="ja-JP" smtClean="0">
                <a:latin typeface="Arial" panose="020B0604020202020204" pitchFamily="34" charset="0"/>
              </a:rPr>
              <a:t>11/8/2025</a:t>
            </a:fld>
            <a:endParaRPr lang="en-US" altLang="ja-JP" dirty="0">
              <a:latin typeface="Arial" panose="020B0604020202020204" pitchFamily="34" charset="0"/>
            </a:endParaRPr>
          </a:p>
        </p:txBody>
      </p:sp>
      <p:sp>
        <p:nvSpPr>
          <p:cNvPr id="3" name="Footer Placeholder 2"/>
          <p:cNvSpPr>
            <a:spLocks noGrp="1"/>
          </p:cNvSpPr>
          <p:nvPr>
            <p:ph type="ftr" sz="quarter" idx="11"/>
          </p:nvPr>
        </p:nvSpPr>
        <p:spPr/>
        <p:txBody>
          <a:bodyPr/>
          <a:lstStyle/>
          <a:p>
            <a:pPr lvl="0" eaLnBrk="1" hangingPunct="1"/>
            <a:endParaRPr lang="ja-JP" altLang="en-US" dirty="0">
              <a:latin typeface="Arial" panose="020B0604020202020204" pitchFamily="34" charset="0"/>
            </a:endParaRPr>
          </a:p>
        </p:txBody>
      </p:sp>
      <p:sp>
        <p:nvSpPr>
          <p:cNvPr id="4" name="Slide Number Placeholder 3"/>
          <p:cNvSpPr>
            <a:spLocks noGrp="1"/>
          </p:cNvSpPr>
          <p:nvPr>
            <p:ph type="sldNum" sz="quarter" idx="12"/>
          </p:nvPr>
        </p:nvSpPr>
        <p:spPr/>
        <p:txBody>
          <a:bodyPr/>
          <a:lstStyle/>
          <a:p>
            <a:pPr lvl="0" eaLnBrk="1" hangingPunct="1"/>
            <a:fld id="{9A0DB2DC-4C9A-4742-B13C-FB6460FD3503}" type="slidenum">
              <a:rPr lang="en-US" altLang="ja-JP" dirty="0">
                <a:latin typeface="Arial" panose="020B0604020202020204" pitchFamily="34" charset="0"/>
              </a:rPr>
              <a:t>‹#›</a:t>
            </a:fld>
            <a:endParaRPr lang="en-US" altLang="ja-JP"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9"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7"/>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9"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lvl="0" eaLnBrk="1" hangingPunct="1"/>
            <a:fld id="{6EAE5395-EBC6-4A06-ABA1-FC80A679CD5E}" type="datetime1">
              <a:rPr lang="en-US" altLang="ja-JP" smtClean="0">
                <a:latin typeface="Arial" panose="020B0604020202020204" pitchFamily="34" charset="0"/>
              </a:rPr>
              <a:t>11/8/2025</a:t>
            </a:fld>
            <a:endParaRPr lang="en-US" altLang="ja-JP" dirty="0">
              <a:latin typeface="Arial" panose="020B0604020202020204" pitchFamily="34" charset="0"/>
            </a:endParaRPr>
          </a:p>
        </p:txBody>
      </p:sp>
      <p:sp>
        <p:nvSpPr>
          <p:cNvPr id="6" name="Footer Placeholder 5"/>
          <p:cNvSpPr>
            <a:spLocks noGrp="1"/>
          </p:cNvSpPr>
          <p:nvPr>
            <p:ph type="ftr" sz="quarter" idx="11"/>
          </p:nvPr>
        </p:nvSpPr>
        <p:spPr/>
        <p:txBody>
          <a:bodyPr/>
          <a:lstStyle/>
          <a:p>
            <a:pPr lvl="0" eaLnBrk="1" hangingPunct="1"/>
            <a:endParaRPr lang="ja-JP" altLang="en-US" dirty="0">
              <a:latin typeface="Arial" panose="020B0604020202020204" pitchFamily="34" charset="0"/>
            </a:endParaRPr>
          </a:p>
        </p:txBody>
      </p:sp>
      <p:sp>
        <p:nvSpPr>
          <p:cNvPr id="7" name="Slide Number Placeholder 6"/>
          <p:cNvSpPr>
            <a:spLocks noGrp="1"/>
          </p:cNvSpPr>
          <p:nvPr>
            <p:ph type="sldNum" sz="quarter" idx="12"/>
          </p:nvPr>
        </p:nvSpPr>
        <p:spPr/>
        <p:txBody>
          <a:bodyPr/>
          <a:lstStyle/>
          <a:p>
            <a:pPr lvl="0" eaLnBrk="1" hangingPunct="1"/>
            <a:fld id="{9A0DB2DC-4C9A-4742-B13C-FB6460FD3503}" type="slidenum">
              <a:rPr lang="en-US" altLang="ja-JP" dirty="0">
                <a:latin typeface="Arial" panose="020B0604020202020204" pitchFamily="34" charset="0"/>
              </a:rPr>
              <a:t>‹#›</a:t>
            </a:fld>
            <a:endParaRPr lang="en-US" altLang="ja-JP"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9"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7"/>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r>
              <a:rPr kumimoji="1" lang="en-US" sz="3200" b="0" i="0" u="none" strike="noStrike" kern="1200" cap="none" spc="0" normalizeH="0" baseline="0" noProof="0">
                <a:ln>
                  <a:noFill/>
                </a:ln>
                <a:solidFill>
                  <a:srgbClr val="000066"/>
                </a:solidFill>
                <a:effectLst/>
                <a:uLnTx/>
                <a:uFillTx/>
                <a:latin typeface="+mn-lt"/>
                <a:ea typeface="MS PGothic" panose="020B0600070205080204" pitchFamily="50" charset="-128"/>
                <a:cs typeface="MS PGothic" panose="020B0600070205080204" pitchFamily="50" charset="-128"/>
              </a:rPr>
              <a:t>Click icon to add picture</a:t>
            </a:r>
          </a:p>
        </p:txBody>
      </p:sp>
      <p:sp>
        <p:nvSpPr>
          <p:cNvPr id="4" name="Text Placeholder 3"/>
          <p:cNvSpPr>
            <a:spLocks noGrp="1"/>
          </p:cNvSpPr>
          <p:nvPr>
            <p:ph type="body" sz="half" idx="2"/>
          </p:nvPr>
        </p:nvSpPr>
        <p:spPr>
          <a:xfrm>
            <a:off x="630239"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lvl="0" eaLnBrk="1" hangingPunct="1"/>
            <a:fld id="{FC772CDD-70B0-462F-B39A-0F3CFC444D3B}" type="datetime1">
              <a:rPr lang="en-US" altLang="ja-JP" smtClean="0">
                <a:latin typeface="Arial" panose="020B0604020202020204" pitchFamily="34" charset="0"/>
              </a:rPr>
              <a:t>11/8/2025</a:t>
            </a:fld>
            <a:endParaRPr lang="en-US" altLang="ja-JP" dirty="0">
              <a:latin typeface="Arial" panose="020B0604020202020204" pitchFamily="34" charset="0"/>
            </a:endParaRPr>
          </a:p>
        </p:txBody>
      </p:sp>
      <p:sp>
        <p:nvSpPr>
          <p:cNvPr id="6" name="Footer Placeholder 5"/>
          <p:cNvSpPr>
            <a:spLocks noGrp="1"/>
          </p:cNvSpPr>
          <p:nvPr>
            <p:ph type="ftr" sz="quarter" idx="11"/>
          </p:nvPr>
        </p:nvSpPr>
        <p:spPr/>
        <p:txBody>
          <a:bodyPr/>
          <a:lstStyle/>
          <a:p>
            <a:pPr lvl="0" eaLnBrk="1" hangingPunct="1"/>
            <a:endParaRPr lang="ja-JP" altLang="en-US" dirty="0">
              <a:latin typeface="Arial" panose="020B0604020202020204" pitchFamily="34" charset="0"/>
            </a:endParaRPr>
          </a:p>
        </p:txBody>
      </p:sp>
      <p:sp>
        <p:nvSpPr>
          <p:cNvPr id="7" name="Slide Number Placeholder 6"/>
          <p:cNvSpPr>
            <a:spLocks noGrp="1"/>
          </p:cNvSpPr>
          <p:nvPr>
            <p:ph type="sldNum" sz="quarter" idx="12"/>
          </p:nvPr>
        </p:nvSpPr>
        <p:spPr/>
        <p:txBody>
          <a:bodyPr/>
          <a:lstStyle/>
          <a:p>
            <a:pPr lvl="0" eaLnBrk="1" hangingPunct="1"/>
            <a:fld id="{9A0DB2DC-4C9A-4742-B13C-FB6460FD3503}" type="slidenum">
              <a:rPr lang="en-US" altLang="ja-JP" dirty="0">
                <a:latin typeface="Arial" panose="020B0604020202020204" pitchFamily="34" charset="0"/>
              </a:rPr>
              <a:t>‹#›</a:t>
            </a:fld>
            <a:endParaRPr lang="en-US" altLang="ja-JP"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lvl="0" eaLnBrk="1" hangingPunct="1"/>
            <a:fld id="{27B48490-166D-4741-826A-20103AA610E2}" type="datetime1">
              <a:rPr lang="en-US" altLang="ja-JP" smtClean="0">
                <a:latin typeface="Arial" panose="020B0604020202020204" pitchFamily="34" charset="0"/>
              </a:rPr>
              <a:t>11/8/2025</a:t>
            </a:fld>
            <a:endParaRPr lang="en-US" altLang="ja-JP" dirty="0">
              <a:latin typeface="Arial" panose="020B0604020202020204" pitchFamily="34" charset="0"/>
            </a:endParaRPr>
          </a:p>
        </p:txBody>
      </p:sp>
      <p:sp>
        <p:nvSpPr>
          <p:cNvPr id="5" name="Footer Placeholder 4"/>
          <p:cNvSpPr>
            <a:spLocks noGrp="1"/>
          </p:cNvSpPr>
          <p:nvPr>
            <p:ph type="ftr" sz="quarter" idx="11"/>
          </p:nvPr>
        </p:nvSpPr>
        <p:spPr/>
        <p:txBody>
          <a:bodyPr/>
          <a:lstStyle/>
          <a:p>
            <a:pPr lvl="0" eaLnBrk="1" hangingPunct="1"/>
            <a:endParaRPr lang="ja-JP" altLang="en-US" dirty="0">
              <a:latin typeface="Arial" panose="020B0604020202020204" pitchFamily="34" charset="0"/>
            </a:endParaRPr>
          </a:p>
        </p:txBody>
      </p:sp>
      <p:sp>
        <p:nvSpPr>
          <p:cNvPr id="6" name="Slide Number Placeholder 5"/>
          <p:cNvSpPr>
            <a:spLocks noGrp="1"/>
          </p:cNvSpPr>
          <p:nvPr>
            <p:ph type="sldNum" sz="quarter" idx="12"/>
          </p:nvPr>
        </p:nvSpPr>
        <p:spPr/>
        <p:txBody>
          <a:bodyPr/>
          <a:lstStyle/>
          <a:p>
            <a:pPr lvl="0" eaLnBrk="1" hangingPunct="1"/>
            <a:fld id="{9A0DB2DC-4C9A-4742-B13C-FB6460FD3503}" type="slidenum">
              <a:rPr lang="en-US" altLang="ja-JP" dirty="0">
                <a:latin typeface="Arial" panose="020B0604020202020204" pitchFamily="34" charset="0"/>
              </a:rPr>
              <a:t>‹#›</a:t>
            </a:fld>
            <a:endParaRPr lang="en-US" altLang="ja-JP"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282577"/>
            <a:ext cx="2057400" cy="60420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82577"/>
            <a:ext cx="6019800" cy="60420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lvl="0" eaLnBrk="1" hangingPunct="1"/>
            <a:fld id="{6BEEDEB3-9F31-4B7A-AF4B-1B006B2E9C5E}" type="datetime1">
              <a:rPr lang="en-US" altLang="ja-JP" smtClean="0">
                <a:latin typeface="Arial" panose="020B0604020202020204" pitchFamily="34" charset="0"/>
              </a:rPr>
              <a:t>11/8/2025</a:t>
            </a:fld>
            <a:endParaRPr lang="en-US" altLang="ja-JP" dirty="0">
              <a:latin typeface="Arial" panose="020B0604020202020204" pitchFamily="34" charset="0"/>
            </a:endParaRPr>
          </a:p>
        </p:txBody>
      </p:sp>
      <p:sp>
        <p:nvSpPr>
          <p:cNvPr id="5" name="Footer Placeholder 4"/>
          <p:cNvSpPr>
            <a:spLocks noGrp="1"/>
          </p:cNvSpPr>
          <p:nvPr>
            <p:ph type="ftr" sz="quarter" idx="11"/>
          </p:nvPr>
        </p:nvSpPr>
        <p:spPr/>
        <p:txBody>
          <a:bodyPr/>
          <a:lstStyle/>
          <a:p>
            <a:pPr lvl="0" eaLnBrk="1" hangingPunct="1"/>
            <a:endParaRPr lang="ja-JP" altLang="en-US" dirty="0">
              <a:latin typeface="Arial" panose="020B0604020202020204" pitchFamily="34" charset="0"/>
            </a:endParaRPr>
          </a:p>
        </p:txBody>
      </p:sp>
      <p:sp>
        <p:nvSpPr>
          <p:cNvPr id="6" name="Slide Number Placeholder 5"/>
          <p:cNvSpPr>
            <a:spLocks noGrp="1"/>
          </p:cNvSpPr>
          <p:nvPr>
            <p:ph type="sldNum" sz="quarter" idx="12"/>
          </p:nvPr>
        </p:nvSpPr>
        <p:spPr/>
        <p:txBody>
          <a:bodyPr/>
          <a:lstStyle/>
          <a:p>
            <a:pPr lvl="0" eaLnBrk="1" hangingPunct="1"/>
            <a:fld id="{9A0DB2DC-4C9A-4742-B13C-FB6460FD3503}" type="slidenum">
              <a:rPr lang="en-US" altLang="ja-JP" dirty="0">
                <a:latin typeface="Arial" panose="020B0604020202020204" pitchFamily="34" charset="0"/>
              </a:rPr>
              <a:t>‹#›</a:t>
            </a:fld>
            <a:endParaRPr lang="en-US" altLang="ja-JP"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1752600" y="282575"/>
            <a:ext cx="7086600" cy="944563"/>
          </a:xfrm>
          <a:prstGeom prst="rect">
            <a:avLst/>
          </a:prstGeom>
          <a:noFill/>
          <a:ln w="9525">
            <a:noFill/>
          </a:ln>
        </p:spPr>
        <p:txBody>
          <a:bodyPr anchor="ctr" anchorCtr="0"/>
          <a:lstStyle/>
          <a:p>
            <a:pPr lvl="0"/>
            <a:r>
              <a:rPr lang="en-US" altLang="ja-JP" dirty="0"/>
              <a:t>Click to edit Master title style</a:t>
            </a:r>
          </a:p>
        </p:txBody>
      </p:sp>
      <p:sp>
        <p:nvSpPr>
          <p:cNvPr id="1027" name="Rectangle 3"/>
          <p:cNvSpPr>
            <a:spLocks noGrp="1"/>
          </p:cNvSpPr>
          <p:nvPr>
            <p:ph type="body" idx="1"/>
          </p:nvPr>
        </p:nvSpPr>
        <p:spPr>
          <a:xfrm>
            <a:off x="609600" y="1633538"/>
            <a:ext cx="8229600" cy="4691062"/>
          </a:xfrm>
          <a:prstGeom prst="rect">
            <a:avLst/>
          </a:prstGeom>
          <a:noFill/>
          <a:ln w="9525">
            <a:noFill/>
          </a:ln>
        </p:spPr>
        <p:txBody>
          <a:bodyPr/>
          <a:lstStyle/>
          <a:p>
            <a:pPr lvl="0"/>
            <a:r>
              <a:rPr lang="en-US" altLang="ja-JP" dirty="0"/>
              <a:t>Click to edit Master text styles</a:t>
            </a:r>
          </a:p>
          <a:p>
            <a:pPr lvl="1"/>
            <a:r>
              <a:rPr lang="en-US" altLang="ja-JP" dirty="0"/>
              <a:t>Second level</a:t>
            </a:r>
          </a:p>
          <a:p>
            <a:pPr lvl="2"/>
            <a:r>
              <a:rPr lang="en-US" altLang="ja-JP" dirty="0"/>
              <a:t>Third level</a:t>
            </a:r>
          </a:p>
          <a:p>
            <a:pPr lvl="3"/>
            <a:r>
              <a:rPr lang="en-US" altLang="ja-JP" dirty="0"/>
              <a:t>Fourth level</a:t>
            </a:r>
          </a:p>
          <a:p>
            <a:pPr lvl="4"/>
            <a:r>
              <a:rPr lang="en-US" altLang="ja-JP" dirty="0"/>
              <a:t>Fifth level</a:t>
            </a:r>
          </a:p>
        </p:txBody>
      </p:sp>
      <p:sp>
        <p:nvSpPr>
          <p:cNvPr id="1028" name="Rectangle 4"/>
          <p:cNvSpPr>
            <a:spLocks noGrp="1" noChangeArrowheads="1"/>
          </p:cNvSpPr>
          <p:nvPr>
            <p:ph type="dt" sz="half" idx="2"/>
          </p:nvPr>
        </p:nvSpPr>
        <p:spPr bwMode="auto">
          <a:xfrm>
            <a:off x="609600" y="6278563"/>
            <a:ext cx="1981200" cy="476250"/>
          </a:xfrm>
          <a:prstGeom prst="rect">
            <a:avLst/>
          </a:prstGeom>
          <a:noFill/>
          <a:ln>
            <a:noFill/>
          </a:ln>
          <a:effectLst/>
        </p:spPr>
        <p:txBody>
          <a:bodyPr vert="horz" wrap="square" lIns="91440" tIns="45720" rIns="91440" bIns="45720" numCol="1" anchor="t" anchorCtr="0" compatLnSpc="1"/>
          <a:lstStyle>
            <a:lvl1pPr>
              <a:defRPr sz="1400">
                <a:ea typeface="MS PGothic" panose="020B0600070205080204" pitchFamily="50" charset="-128"/>
              </a:defRPr>
            </a:lvl1pPr>
          </a:lstStyle>
          <a:p>
            <a:pPr lvl="0" eaLnBrk="1" hangingPunct="1"/>
            <a:fld id="{D366F08A-7229-4FC8-832C-4F5F1983C65B}" type="datetime1">
              <a:rPr lang="en-US" altLang="ja-JP" smtClean="0">
                <a:latin typeface="Arial" panose="020B0604020202020204" pitchFamily="34" charset="0"/>
              </a:rPr>
              <a:t>11/8/2025</a:t>
            </a:fld>
            <a:endParaRPr lang="en-US" altLang="ja-JP" dirty="0">
              <a:latin typeface="Arial" panose="020B0604020202020204" pitchFamily="34" charset="0"/>
            </a:endParaRPr>
          </a:p>
        </p:txBody>
      </p:sp>
      <p:sp>
        <p:nvSpPr>
          <p:cNvPr id="1029" name="Rectangle 5"/>
          <p:cNvSpPr>
            <a:spLocks noGrp="1" noChangeArrowheads="1"/>
          </p:cNvSpPr>
          <p:nvPr>
            <p:ph type="ftr" sz="quarter" idx="3"/>
          </p:nvPr>
        </p:nvSpPr>
        <p:spPr bwMode="auto">
          <a:xfrm>
            <a:off x="2719388" y="6283325"/>
            <a:ext cx="2895600" cy="476250"/>
          </a:xfrm>
          <a:prstGeom prst="rect">
            <a:avLst/>
          </a:prstGeom>
          <a:noFill/>
          <a:ln>
            <a:noFill/>
          </a:ln>
          <a:effectLst/>
        </p:spPr>
        <p:txBody>
          <a:bodyPr vert="horz" wrap="square" lIns="91440" tIns="45720" rIns="91440" bIns="45720" numCol="1" anchor="t" anchorCtr="0" compatLnSpc="1"/>
          <a:lstStyle>
            <a:lvl1pPr algn="ctr">
              <a:defRPr sz="1400">
                <a:ea typeface="MS PGothic" panose="020B0600070205080204" pitchFamily="50" charset="-128"/>
              </a:defRPr>
            </a:lvl1pPr>
          </a:lstStyle>
          <a:p>
            <a:pPr lvl="0" eaLnBrk="1" hangingPunct="1"/>
            <a:endParaRPr lang="ja-JP" altLang="en-US" dirty="0">
              <a:latin typeface="Arial" panose="020B0604020202020204" pitchFamily="34" charset="0"/>
            </a:endParaRPr>
          </a:p>
        </p:txBody>
      </p:sp>
      <p:sp>
        <p:nvSpPr>
          <p:cNvPr id="1030" name="Rectangle 6"/>
          <p:cNvSpPr>
            <a:spLocks noGrp="1" noChangeArrowheads="1"/>
          </p:cNvSpPr>
          <p:nvPr>
            <p:ph type="sldNum" sz="quarter" idx="4"/>
          </p:nvPr>
        </p:nvSpPr>
        <p:spPr bwMode="auto">
          <a:xfrm>
            <a:off x="6705600" y="6226175"/>
            <a:ext cx="2133600" cy="554038"/>
          </a:xfrm>
          <a:prstGeom prst="rect">
            <a:avLst/>
          </a:prstGeom>
          <a:noFill/>
          <a:ln>
            <a:noFill/>
          </a:ln>
          <a:effectLst/>
        </p:spPr>
        <p:txBody>
          <a:bodyPr vert="horz" wrap="square" lIns="91440" tIns="45720" rIns="91440" bIns="45720" numCol="1" anchor="t" anchorCtr="0" compatLnSpc="1"/>
          <a:lstStyle>
            <a:lvl1pPr algn="r">
              <a:defRPr sz="1400">
                <a:ea typeface="MS PGothic" panose="020B0600070205080204" pitchFamily="50" charset="-128"/>
              </a:defRPr>
            </a:lvl1pPr>
          </a:lstStyle>
          <a:p>
            <a:pPr lvl="0" eaLnBrk="1" hangingPunct="1"/>
            <a:fld id="{9A0DB2DC-4C9A-4742-B13C-FB6460FD3503}" type="slidenum">
              <a:rPr lang="en-US" altLang="ja-JP" dirty="0">
                <a:latin typeface="Arial" panose="020B0604020202020204" pitchFamily="34" charset="0"/>
              </a:rPr>
              <a:t>‹#›</a:t>
            </a:fld>
            <a:endParaRPr lang="en-US" altLang="ja-JP"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0" fontAlgn="base" hangingPunct="0">
        <a:spcBef>
          <a:spcPct val="0"/>
        </a:spcBef>
        <a:spcAft>
          <a:spcPct val="0"/>
        </a:spcAft>
        <a:defRPr sz="3200" b="1" kern="1200">
          <a:solidFill>
            <a:srgbClr val="996633"/>
          </a:solidFill>
          <a:latin typeface="+mj-lt"/>
          <a:ea typeface="MS PGothic" panose="020B0600070205080204" pitchFamily="50" charset="-128"/>
          <a:cs typeface="MS PGothic" panose="020B0600070205080204" pitchFamily="50" charset="-128"/>
        </a:defRPr>
      </a:lvl1pPr>
      <a:lvl2pPr algn="l" rtl="0" eaLnBrk="0" fontAlgn="base" hangingPunct="0">
        <a:spcBef>
          <a:spcPct val="0"/>
        </a:spcBef>
        <a:spcAft>
          <a:spcPct val="0"/>
        </a:spcAft>
        <a:defRPr sz="3200" b="1">
          <a:solidFill>
            <a:srgbClr val="996633"/>
          </a:solidFill>
          <a:latin typeface="Arial" panose="020B0604020202020204" pitchFamily="34" charset="0"/>
          <a:ea typeface="MS PGothic" panose="020B0600070205080204" pitchFamily="50" charset="-128"/>
          <a:cs typeface="MS PGothic" panose="020B0600070205080204" pitchFamily="50" charset="-128"/>
        </a:defRPr>
      </a:lvl2pPr>
      <a:lvl3pPr algn="l" rtl="0" eaLnBrk="0" fontAlgn="base" hangingPunct="0">
        <a:spcBef>
          <a:spcPct val="0"/>
        </a:spcBef>
        <a:spcAft>
          <a:spcPct val="0"/>
        </a:spcAft>
        <a:defRPr sz="3200" b="1">
          <a:solidFill>
            <a:srgbClr val="996633"/>
          </a:solidFill>
          <a:latin typeface="Arial" panose="020B0604020202020204" pitchFamily="34" charset="0"/>
          <a:ea typeface="MS PGothic" panose="020B0600070205080204" pitchFamily="50" charset="-128"/>
          <a:cs typeface="MS PGothic" panose="020B0600070205080204" pitchFamily="50" charset="-128"/>
        </a:defRPr>
      </a:lvl3pPr>
      <a:lvl4pPr algn="l" rtl="0" eaLnBrk="0" fontAlgn="base" hangingPunct="0">
        <a:spcBef>
          <a:spcPct val="0"/>
        </a:spcBef>
        <a:spcAft>
          <a:spcPct val="0"/>
        </a:spcAft>
        <a:defRPr sz="3200" b="1">
          <a:solidFill>
            <a:srgbClr val="996633"/>
          </a:solidFill>
          <a:latin typeface="Arial" panose="020B0604020202020204" pitchFamily="34" charset="0"/>
          <a:ea typeface="MS PGothic" panose="020B0600070205080204" pitchFamily="50" charset="-128"/>
          <a:cs typeface="MS PGothic" panose="020B0600070205080204" pitchFamily="50" charset="-128"/>
        </a:defRPr>
      </a:lvl4pPr>
      <a:lvl5pPr algn="l" rtl="0" eaLnBrk="0" fontAlgn="base" hangingPunct="0">
        <a:spcBef>
          <a:spcPct val="0"/>
        </a:spcBef>
        <a:spcAft>
          <a:spcPct val="0"/>
        </a:spcAft>
        <a:defRPr sz="3200" b="1">
          <a:solidFill>
            <a:srgbClr val="996633"/>
          </a:solidFill>
          <a:latin typeface="Arial" panose="020B0604020202020204" pitchFamily="34" charset="0"/>
          <a:ea typeface="MS PGothic" panose="020B0600070205080204" pitchFamily="50" charset="-128"/>
          <a:cs typeface="MS PGothic" panose="020B0600070205080204" pitchFamily="50" charset="-128"/>
        </a:defRPr>
      </a:lvl5pPr>
      <a:lvl6pPr marL="457200" algn="l" rtl="0" eaLnBrk="1" fontAlgn="base" hangingPunct="1">
        <a:spcBef>
          <a:spcPct val="0"/>
        </a:spcBef>
        <a:spcAft>
          <a:spcPct val="0"/>
        </a:spcAft>
        <a:defRPr sz="3200" b="1">
          <a:solidFill>
            <a:srgbClr val="996633"/>
          </a:solidFill>
          <a:latin typeface="Arial" panose="020B0604020202020204" pitchFamily="34" charset="0"/>
        </a:defRPr>
      </a:lvl6pPr>
      <a:lvl7pPr marL="914400" algn="l" rtl="0" eaLnBrk="1" fontAlgn="base" hangingPunct="1">
        <a:spcBef>
          <a:spcPct val="0"/>
        </a:spcBef>
        <a:spcAft>
          <a:spcPct val="0"/>
        </a:spcAft>
        <a:defRPr sz="3200" b="1">
          <a:solidFill>
            <a:srgbClr val="996633"/>
          </a:solidFill>
          <a:latin typeface="Arial" panose="020B0604020202020204" pitchFamily="34" charset="0"/>
        </a:defRPr>
      </a:lvl7pPr>
      <a:lvl8pPr marL="1371600" algn="l" rtl="0" eaLnBrk="1" fontAlgn="base" hangingPunct="1">
        <a:spcBef>
          <a:spcPct val="0"/>
        </a:spcBef>
        <a:spcAft>
          <a:spcPct val="0"/>
        </a:spcAft>
        <a:defRPr sz="3200" b="1">
          <a:solidFill>
            <a:srgbClr val="996633"/>
          </a:solidFill>
          <a:latin typeface="Arial" panose="020B0604020202020204" pitchFamily="34" charset="0"/>
        </a:defRPr>
      </a:lvl8pPr>
      <a:lvl9pPr marL="1828800" algn="l" rtl="0" eaLnBrk="1" fontAlgn="base" hangingPunct="1">
        <a:spcBef>
          <a:spcPct val="0"/>
        </a:spcBef>
        <a:spcAft>
          <a:spcPct val="0"/>
        </a:spcAft>
        <a:defRPr sz="3200" b="1">
          <a:solidFill>
            <a:srgbClr val="996633"/>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kumimoji="1" sz="2900" kern="1200">
          <a:solidFill>
            <a:srgbClr val="000066"/>
          </a:solidFill>
          <a:latin typeface="+mn-lt"/>
          <a:ea typeface="MS PGothic" panose="020B0600070205080204" pitchFamily="50" charset="-128"/>
          <a:cs typeface="MS PGothic" panose="020B0600070205080204" pitchFamily="50" charset="-128"/>
        </a:defRPr>
      </a:lvl1pPr>
      <a:lvl2pPr marL="742950" indent="-285750" algn="l" rtl="0" eaLnBrk="0" fontAlgn="base" hangingPunct="0">
        <a:spcBef>
          <a:spcPct val="20000"/>
        </a:spcBef>
        <a:spcAft>
          <a:spcPct val="0"/>
        </a:spcAft>
        <a:buChar char="–"/>
        <a:defRPr kumimoji="1" sz="2600" kern="1200">
          <a:solidFill>
            <a:srgbClr val="000066"/>
          </a:solidFill>
          <a:latin typeface="+mn-lt"/>
          <a:ea typeface="MS PGothic" panose="020B0600070205080204" pitchFamily="50" charset="-128"/>
          <a:cs typeface="+mn-cs"/>
        </a:defRPr>
      </a:lvl2pPr>
      <a:lvl3pPr marL="1143000" indent="-228600" algn="l" rtl="0" eaLnBrk="0" fontAlgn="base" hangingPunct="0">
        <a:spcBef>
          <a:spcPct val="20000"/>
        </a:spcBef>
        <a:spcAft>
          <a:spcPct val="0"/>
        </a:spcAft>
        <a:buChar char="•"/>
        <a:defRPr kumimoji="1" sz="2200" kern="1200">
          <a:solidFill>
            <a:srgbClr val="000066"/>
          </a:solidFill>
          <a:latin typeface="+mn-lt"/>
          <a:ea typeface="MS PGothic" panose="020B0600070205080204" pitchFamily="50" charset="-128"/>
          <a:cs typeface="+mn-cs"/>
        </a:defRPr>
      </a:lvl3pPr>
      <a:lvl4pPr marL="1600200" indent="-228600" algn="l" rtl="0" eaLnBrk="0" fontAlgn="base" hangingPunct="0">
        <a:spcBef>
          <a:spcPct val="20000"/>
        </a:spcBef>
        <a:spcAft>
          <a:spcPct val="0"/>
        </a:spcAft>
        <a:buChar char="–"/>
        <a:defRPr kumimoji="1" sz="2000" kern="1200">
          <a:solidFill>
            <a:srgbClr val="000066"/>
          </a:solidFill>
          <a:latin typeface="+mn-lt"/>
          <a:ea typeface="MS PGothic" panose="020B0600070205080204" pitchFamily="50" charset="-128"/>
          <a:cs typeface="+mn-cs"/>
        </a:defRPr>
      </a:lvl4pPr>
      <a:lvl5pPr marL="2057400" indent="-228600" algn="l" rtl="0" eaLnBrk="0" fontAlgn="base" hangingPunct="0">
        <a:spcBef>
          <a:spcPct val="20000"/>
        </a:spcBef>
        <a:spcAft>
          <a:spcPct val="0"/>
        </a:spcAft>
        <a:buChar char="»"/>
        <a:defRPr kumimoji="1" sz="2000" kern="1200">
          <a:solidFill>
            <a:srgbClr val="000066"/>
          </a:solidFill>
          <a:latin typeface="+mn-lt"/>
          <a:ea typeface="MS PGothic" panose="020B060007020508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S PGothic" panose="020B0600070205080204" pitchFamily="50" charset="-128"/>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S PGothic" panose="020B0600070205080204" pitchFamily="50" charset="-128"/>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S PGothic" panose="020B0600070205080204" pitchFamily="50" charset="-128"/>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S PGothic" panose="020B0600070205080204" pitchFamily="50" charset="-128"/>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a:alphaModFix amt="98000"/>
            <a:lum/>
          </a:blip>
          <a:srcRect/>
          <a:stretch>
            <a:fillRect/>
          </a:stretch>
        </a:blipFill>
        <a:effectLst/>
      </p:bgPr>
    </p:bg>
    <p:spTree>
      <p:nvGrpSpPr>
        <p:cNvPr id="1" name=""/>
        <p:cNvGrpSpPr/>
        <p:nvPr/>
      </p:nvGrpSpPr>
      <p:grpSpPr>
        <a:xfrm>
          <a:off x="0" y="0"/>
          <a:ext cx="0" cy="0"/>
          <a:chOff x="0" y="0"/>
          <a:chExt cx="0" cy="0"/>
        </a:xfrm>
      </p:grpSpPr>
      <p:sp>
        <p:nvSpPr>
          <p:cNvPr id="3074" name="Title 1"/>
          <p:cNvSpPr>
            <a:spLocks noGrp="1"/>
          </p:cNvSpPr>
          <p:nvPr>
            <p:ph type="ctrTitle"/>
          </p:nvPr>
        </p:nvSpPr>
        <p:spPr>
          <a:xfrm>
            <a:off x="769938" y="2182813"/>
            <a:ext cx="7772400" cy="1470025"/>
          </a:xfrm>
        </p:spPr>
        <p:txBody>
          <a:bodyPr vert="horz" wrap="square" lIns="91440" tIns="45720" rIns="91440" bIns="45720" anchor="ctr" anchorCtr="0"/>
          <a:lstStyle/>
          <a:p>
            <a:pPr algn="ctr" eaLnBrk="1" hangingPunct="1">
              <a:buClrTx/>
              <a:buSzTx/>
              <a:buFontTx/>
            </a:pPr>
            <a:r>
              <a:rPr lang="en-US" altLang="ja-JP" sz="4000" kern="1200" dirty="0">
                <a:solidFill>
                  <a:srgbClr val="FF0000"/>
                </a:solidFill>
                <a:latin typeface="Times New Roman" panose="02020603050405020304" pitchFamily="18" charset="0"/>
                <a:ea typeface="MS PGothic" panose="020B0600070205080204" pitchFamily="50" charset="-128"/>
                <a:cs typeface="MS PGothic" panose="020B0600070205080204" pitchFamily="50" charset="-128"/>
              </a:rPr>
              <a:t>CẤU HÌNH BẢO MẬT SAI </a:t>
            </a:r>
            <a:br>
              <a:rPr lang="en-US" altLang="ja-JP" sz="4000" kern="1200" dirty="0">
                <a:solidFill>
                  <a:srgbClr val="FF0000"/>
                </a:solidFill>
                <a:latin typeface="Times New Roman" panose="02020603050405020304" pitchFamily="18" charset="0"/>
                <a:ea typeface="MS PGothic" panose="020B0600070205080204" pitchFamily="50" charset="-128"/>
                <a:cs typeface="MS PGothic" panose="020B0600070205080204" pitchFamily="50" charset="-128"/>
              </a:rPr>
            </a:br>
            <a:r>
              <a:rPr lang="en-US" altLang="ja-JP" kern="1200" dirty="0">
                <a:solidFill>
                  <a:srgbClr val="FF0000"/>
                </a:solidFill>
                <a:latin typeface="Times New Roman" panose="02020603050405020304" pitchFamily="18" charset="0"/>
                <a:ea typeface="MS PGothic" panose="020B0600070205080204" pitchFamily="50" charset="-128"/>
                <a:cs typeface="MS PGothic" panose="020B0600070205080204" pitchFamily="50" charset="-128"/>
              </a:rPr>
              <a:t>(SECURITY MISCONFIGURATION)</a:t>
            </a:r>
          </a:p>
        </p:txBody>
      </p:sp>
      <p:sp>
        <p:nvSpPr>
          <p:cNvPr id="3075" name="テキスト ボックス 1"/>
          <p:cNvSpPr txBox="1"/>
          <p:nvPr/>
        </p:nvSpPr>
        <p:spPr>
          <a:xfrm>
            <a:off x="544830" y="82550"/>
            <a:ext cx="8277860" cy="839470"/>
          </a:xfrm>
          <a:prstGeom prst="rect">
            <a:avLst/>
          </a:prstGeom>
          <a:noFill/>
          <a:ln w="9525">
            <a:noFill/>
          </a:ln>
        </p:spPr>
        <p:txBody>
          <a:bodyPr wrap="none">
            <a:noAutofit/>
          </a:bodyPr>
          <a:lstStyle/>
          <a:p>
            <a:pPr algn="ctr"/>
            <a:r>
              <a:rPr lang="en-US" sz="2400" b="1">
                <a:solidFill>
                  <a:schemeClr val="bg1"/>
                </a:solidFill>
                <a:latin typeface="K2D" panose="00000500000000000000" pitchFamily="2" charset="-34"/>
                <a:cs typeface="K2D" panose="00000500000000000000" pitchFamily="2" charset="-34"/>
                <a:sym typeface="+mn-ea"/>
              </a:rPr>
              <a:t> </a:t>
            </a:r>
            <a:r>
              <a:rPr lang="en-US" altLang="ja-JP" sz="2400" b="1" dirty="0">
                <a:solidFill>
                  <a:srgbClr val="222268"/>
                </a:solidFill>
                <a:latin typeface="Times New Roman" panose="02020603050405020304" pitchFamily="18" charset="0"/>
                <a:ea typeface="MS PGothic" panose="020B0600070205080204" pitchFamily="50" charset="-128"/>
                <a:sym typeface="+mn-ea"/>
              </a:rPr>
              <a:t>TRƯỜNG CÔNG NGHỆ THÔNG TIN </a:t>
            </a:r>
          </a:p>
          <a:p>
            <a:pPr algn="ctr"/>
            <a:r>
              <a:rPr lang="en-US" altLang="ja-JP" sz="2400" b="1" dirty="0">
                <a:solidFill>
                  <a:srgbClr val="222268"/>
                </a:solidFill>
                <a:latin typeface="Times New Roman" panose="02020603050405020304" pitchFamily="18" charset="0"/>
                <a:ea typeface="MS PGothic" panose="020B0600070205080204" pitchFamily="50" charset="-128"/>
                <a:sym typeface="+mn-ea"/>
              </a:rPr>
              <a:t>VÀ TRUYỀN THÔNG</a:t>
            </a:r>
            <a:endParaRPr lang="en-US" altLang="ja-JP" sz="2400" b="1" dirty="0">
              <a:solidFill>
                <a:srgbClr val="2D2D8A"/>
              </a:solidFill>
              <a:latin typeface="Times New Roman" panose="02020603050405020304" pitchFamily="18" charset="0"/>
              <a:ea typeface="MS PGothic" panose="020B0600070205080204" pitchFamily="50" charset="-128"/>
            </a:endParaRPr>
          </a:p>
        </p:txBody>
      </p:sp>
      <p:sp>
        <p:nvSpPr>
          <p:cNvPr id="3076" name="テキスト ボックス 2"/>
          <p:cNvSpPr txBox="1"/>
          <p:nvPr/>
        </p:nvSpPr>
        <p:spPr>
          <a:xfrm>
            <a:off x="238125" y="4486275"/>
            <a:ext cx="3273425" cy="829945"/>
          </a:xfrm>
          <a:prstGeom prst="rect">
            <a:avLst/>
          </a:prstGeom>
          <a:noFill/>
          <a:ln w="9525">
            <a:noFill/>
          </a:ln>
        </p:spPr>
        <p:txBody>
          <a:bodyPr wrap="none">
            <a:spAutoFit/>
          </a:bodyPr>
          <a:lstStyle/>
          <a:p>
            <a:r>
              <a:rPr lang="en-US" altLang="ja-JP" sz="2400" b="1" i="1" u="sng" dirty="0">
                <a:solidFill>
                  <a:srgbClr val="000090"/>
                </a:solidFill>
                <a:latin typeface="Times New Roman" panose="02020603050405020304" pitchFamily="18" charset="0"/>
                <a:ea typeface="MS PGothic" panose="020B0600070205080204" pitchFamily="50" charset="-128"/>
              </a:rPr>
              <a:t>Cán bộ hướng dẫn</a:t>
            </a:r>
            <a:r>
              <a:rPr lang="en-US" altLang="ja-JP" sz="2400" b="1" dirty="0">
                <a:solidFill>
                  <a:srgbClr val="000090"/>
                </a:solidFill>
                <a:latin typeface="Times New Roman" panose="02020603050405020304" pitchFamily="18" charset="0"/>
                <a:ea typeface="MS PGothic" panose="020B0600070205080204" pitchFamily="50" charset="-128"/>
              </a:rPr>
              <a:t>:</a:t>
            </a:r>
          </a:p>
          <a:p>
            <a:r>
              <a:rPr lang="en-US" altLang="ja-JP" sz="2400" b="1" dirty="0">
                <a:latin typeface="Times New Roman" panose="02020603050405020304" pitchFamily="18" charset="0"/>
                <a:ea typeface="MS PGothic" panose="020B0600070205080204" pitchFamily="50" charset="-128"/>
              </a:rPr>
              <a:t>TS. Phan Thượng Cang</a:t>
            </a:r>
            <a:endParaRPr lang="ja-JP" altLang="en-US" sz="2400" b="1" dirty="0">
              <a:latin typeface="Times New Roman" panose="02020603050405020304" pitchFamily="18" charset="0"/>
              <a:ea typeface="MS PGothic" panose="020B0600070205080204" pitchFamily="50" charset="-128"/>
            </a:endParaRPr>
          </a:p>
        </p:txBody>
      </p:sp>
      <p:sp>
        <p:nvSpPr>
          <p:cNvPr id="3077" name="テキスト ボックス 3"/>
          <p:cNvSpPr txBox="1"/>
          <p:nvPr/>
        </p:nvSpPr>
        <p:spPr>
          <a:xfrm>
            <a:off x="3189447" y="1103313"/>
            <a:ext cx="2988945" cy="829945"/>
          </a:xfrm>
          <a:prstGeom prst="rect">
            <a:avLst/>
          </a:prstGeom>
          <a:noFill/>
          <a:ln w="9525">
            <a:noFill/>
          </a:ln>
        </p:spPr>
        <p:txBody>
          <a:bodyPr wrap="none">
            <a:spAutoFit/>
          </a:bodyPr>
          <a:lstStyle/>
          <a:p>
            <a:pPr algn="ctr"/>
            <a:r>
              <a:rPr lang="en-US" altLang="ja-JP" sz="2400" b="1" dirty="0">
                <a:solidFill>
                  <a:srgbClr val="222268"/>
                </a:solidFill>
                <a:latin typeface="Times New Roman" panose="02020603050405020304" pitchFamily="18" charset="0"/>
                <a:ea typeface="MS PGothic" panose="020B0600070205080204" pitchFamily="50" charset="-128"/>
              </a:rPr>
              <a:t>BÁO CÁO NHÓM</a:t>
            </a:r>
          </a:p>
          <a:p>
            <a:pPr algn="ctr"/>
            <a:r>
              <a:rPr lang="en-US" altLang="ja-JP" sz="2400" b="1" dirty="0">
                <a:solidFill>
                  <a:srgbClr val="222268"/>
                </a:solidFill>
                <a:latin typeface="Times New Roman" panose="02020603050405020304" pitchFamily="18" charset="0"/>
                <a:ea typeface="MS PGothic" panose="020B0600070205080204" pitchFamily="50" charset="-128"/>
              </a:rPr>
              <a:t>CT490_An Ninh Web</a:t>
            </a:r>
          </a:p>
        </p:txBody>
      </p:sp>
      <p:sp>
        <p:nvSpPr>
          <p:cNvPr id="3078" name="テキスト ボックス 6"/>
          <p:cNvSpPr txBox="1"/>
          <p:nvPr/>
        </p:nvSpPr>
        <p:spPr>
          <a:xfrm>
            <a:off x="4850765" y="4486275"/>
            <a:ext cx="4293235" cy="1691640"/>
          </a:xfrm>
          <a:prstGeom prst="rect">
            <a:avLst/>
          </a:prstGeom>
          <a:noFill/>
          <a:ln w="9525">
            <a:noFill/>
          </a:ln>
        </p:spPr>
        <p:txBody>
          <a:bodyPr wrap="square">
            <a:spAutoFit/>
          </a:bodyPr>
          <a:lstStyle/>
          <a:p>
            <a:r>
              <a:rPr lang="en-US" altLang="ja-JP" sz="2400" b="1" i="1" u="sng" dirty="0">
                <a:solidFill>
                  <a:srgbClr val="000090"/>
                </a:solidFill>
                <a:latin typeface="Times New Roman" panose="02020603050405020304" pitchFamily="18" charset="0"/>
                <a:ea typeface="MS PGothic" panose="020B0600070205080204" pitchFamily="50" charset="-128"/>
              </a:rPr>
              <a:t>Sinh viên thực hiện</a:t>
            </a:r>
            <a:r>
              <a:rPr lang="en-US" altLang="ja-JP" sz="2400" b="1" dirty="0">
                <a:solidFill>
                  <a:srgbClr val="000090"/>
                </a:solidFill>
                <a:latin typeface="Times New Roman" panose="02020603050405020304" pitchFamily="18" charset="0"/>
                <a:ea typeface="MS PGothic" panose="020B0600070205080204" pitchFamily="50" charset="-128"/>
              </a:rPr>
              <a:t>:</a:t>
            </a:r>
          </a:p>
          <a:p>
            <a:r>
              <a:rPr lang="en-US" altLang="ja-JP" sz="2000" b="1" dirty="0">
                <a:latin typeface="Times New Roman" panose="02020603050405020304" pitchFamily="18" charset="0"/>
                <a:ea typeface="MS PGothic" panose="020B0600070205080204" pitchFamily="50" charset="-128"/>
              </a:rPr>
              <a:t>Phạm Lương Bảo Thiện B2204969</a:t>
            </a:r>
          </a:p>
          <a:p>
            <a:r>
              <a:rPr lang="en-US" altLang="ja-JP" sz="2000" b="1" dirty="0">
                <a:latin typeface="Times New Roman" panose="02020603050405020304" pitchFamily="18" charset="0"/>
                <a:ea typeface="MS PGothic" panose="020B0600070205080204" pitchFamily="50" charset="-128"/>
              </a:rPr>
              <a:t>Phạm Thành Quốc Triệu B2204975</a:t>
            </a:r>
          </a:p>
          <a:p>
            <a:r>
              <a:rPr lang="en-US" altLang="ja-JP" sz="2000" b="1" dirty="0">
                <a:latin typeface="Times New Roman" panose="02020603050405020304" pitchFamily="18" charset="0"/>
                <a:ea typeface="MS PGothic" panose="020B0600070205080204" pitchFamily="50" charset="-128"/>
              </a:rPr>
              <a:t>Nguyễn Thế Văn B2204979</a:t>
            </a:r>
          </a:p>
          <a:p>
            <a:endParaRPr lang="ja-JP" altLang="en-US" sz="2000" b="1" dirty="0">
              <a:latin typeface="Times New Roman" panose="02020603050405020304" pitchFamily="18" charset="0"/>
              <a:ea typeface="MS PGothic" panose="020B0600070205080204" pitchFamily="50" charset="-128"/>
            </a:endParaRPr>
          </a:p>
        </p:txBody>
      </p:sp>
      <p:sp>
        <p:nvSpPr>
          <p:cNvPr id="2" name="Slide Number Placeholder 1">
            <a:extLst>
              <a:ext uri="{FF2B5EF4-FFF2-40B4-BE49-F238E27FC236}">
                <a16:creationId xmlns:a16="http://schemas.microsoft.com/office/drawing/2014/main" id="{C5768CF9-F3ED-9FCF-0DC0-57425CE8DADC}"/>
              </a:ext>
            </a:extLst>
          </p:cNvPr>
          <p:cNvSpPr>
            <a:spLocks noGrp="1"/>
          </p:cNvSpPr>
          <p:nvPr>
            <p:ph type="sldNum" sz="quarter" idx="4"/>
          </p:nvPr>
        </p:nvSpPr>
        <p:spPr/>
        <p:txBody>
          <a:bodyPr/>
          <a:lstStyle/>
          <a:p>
            <a:pPr algn="r" eaLnBrk="1" hangingPunct="1"/>
            <a:fld id="{9A0DB2DC-4C9A-4742-B13C-FB6460FD3503}" type="slidenum">
              <a:rPr lang="en-US" altLang="ja-JP" smtClean="0">
                <a:ea typeface="MS PGothic" panose="020B0600070205080204" pitchFamily="50" charset="-128"/>
              </a:rPr>
              <a:t>1</a:t>
            </a:fld>
            <a:endParaRPr lang="en-US" altLang="ja-JP" dirty="0">
              <a:ea typeface="MS PGothic" panose="020B0600070205080204" pitchFamily="50" charset="-128"/>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3074"/>
                                        </p:tgtEl>
                                        <p:attrNameLst>
                                          <p:attrName>style.visibility</p:attrName>
                                        </p:attrNameLst>
                                      </p:cBhvr>
                                      <p:to>
                                        <p:strVal val="visible"/>
                                      </p:to>
                                    </p:set>
                                    <p:anim calcmode="lin" valueType="num">
                                      <p:cBhvr additive="base">
                                        <p:cTn id="7" dur="500"/>
                                        <p:tgtEl>
                                          <p:spTgt spid="3074"/>
                                        </p:tgtEl>
                                        <p:attrNameLst>
                                          <p:attrName>ppt_y</p:attrName>
                                        </p:attrNameLst>
                                      </p:cBhvr>
                                      <p:tavLst>
                                        <p:tav tm="0">
                                          <p:val>
                                            <p:strVal val="#ppt_y+#ppt_h*1.125000"/>
                                          </p:val>
                                        </p:tav>
                                        <p:tav tm="100000">
                                          <p:val>
                                            <p:strVal val="#ppt_y"/>
                                          </p:val>
                                        </p:tav>
                                      </p:tavLst>
                                    </p:anim>
                                    <p:animEffect transition="in" filter="wipe(up)">
                                      <p:cBhvr>
                                        <p:cTn id="8"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4" grpId="0"/>
      <p:bldP spid="3074"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コンテンツ プレースホルダー 2"/>
          <p:cNvSpPr>
            <a:spLocks noGrp="1"/>
          </p:cNvSpPr>
          <p:nvPr>
            <p:ph idx="1"/>
          </p:nvPr>
        </p:nvSpPr>
        <p:spPr>
          <a:xfrm>
            <a:off x="356870" y="1633855"/>
            <a:ext cx="8682355" cy="4690745"/>
          </a:xfrm>
        </p:spPr>
        <p:txBody>
          <a:bodyPr vert="horz" wrap="square" lIns="91440" tIns="45720" rIns="91440" bIns="45720" anchor="t" anchorCtr="0"/>
          <a:lstStyle/>
          <a:p>
            <a:pPr marL="0" indent="0">
              <a:buNone/>
            </a:pPr>
            <a:r>
              <a:rPr lang="en-US" sz="2600" b="1">
                <a:solidFill>
                  <a:schemeClr val="accent2">
                    <a:lumMod val="75000"/>
                  </a:schemeClr>
                </a:solidFill>
                <a:latin typeface="Times New Roman" panose="02020603050405020304" pitchFamily="18" charset="0"/>
                <a:cs typeface="Times New Roman" panose="02020603050405020304" pitchFamily="18" charset="0"/>
                <a:sym typeface="+mn-ea"/>
              </a:rPr>
              <a:t>I. Khái niệm.</a:t>
            </a:r>
          </a:p>
          <a:p>
            <a:pPr marL="0" indent="457200">
              <a:buNone/>
            </a:pPr>
            <a:r>
              <a:rPr lang="en-US" sz="2100">
                <a:solidFill>
                  <a:schemeClr val="accent2">
                    <a:lumMod val="75000"/>
                  </a:schemeClr>
                </a:solidFill>
                <a:latin typeface="Times New Roman" panose="02020603050405020304" pitchFamily="18" charset="0"/>
                <a:cs typeface="Times New Roman" panose="02020603050405020304" pitchFamily="18" charset="0"/>
                <a:sym typeface="+mn-ea"/>
              </a:rPr>
              <a:t>1. Định nghĩa về Security Misconfiguration.</a:t>
            </a:r>
          </a:p>
          <a:p>
            <a:pPr marL="0" indent="457200">
              <a:buNone/>
            </a:pPr>
            <a:r>
              <a:rPr lang="en-US" sz="2100">
                <a:solidFill>
                  <a:schemeClr val="accent2">
                    <a:lumMod val="75000"/>
                  </a:schemeClr>
                </a:solidFill>
                <a:latin typeface="Times New Roman" panose="02020603050405020304" pitchFamily="18" charset="0"/>
                <a:cs typeface="Times New Roman" panose="02020603050405020304" pitchFamily="18" charset="0"/>
                <a:sym typeface="+mn-ea"/>
              </a:rPr>
              <a:t>2. Các lỗi cấu hình phổ biến.</a:t>
            </a:r>
            <a:endParaRPr lang="en-US" sz="2100">
              <a:solidFill>
                <a:schemeClr val="accent2">
                  <a:lumMod val="75000"/>
                </a:schemeClr>
              </a:solidFill>
              <a:latin typeface="Times New Roman" panose="02020603050405020304" pitchFamily="18" charset="0"/>
              <a:cs typeface="Times New Roman" panose="02020603050405020304" pitchFamily="18" charset="0"/>
            </a:endParaRPr>
          </a:p>
          <a:p>
            <a:pPr marL="0" indent="0">
              <a:buNone/>
            </a:pPr>
            <a:r>
              <a:rPr lang="en-US" altLang="ja-JP" sz="2600" b="1" dirty="0">
                <a:solidFill>
                  <a:schemeClr val="accent2">
                    <a:lumMod val="75000"/>
                  </a:schemeClr>
                </a:solidFill>
                <a:latin typeface="Times New Roman" panose="02020603050405020304" pitchFamily="18" charset="0"/>
                <a:cs typeface="Times New Roman" panose="02020603050405020304" pitchFamily="18" charset="0"/>
              </a:rPr>
              <a:t>II. </a:t>
            </a:r>
            <a:r>
              <a:rPr lang="en-US" sz="2600" b="1">
                <a:solidFill>
                  <a:schemeClr val="accent2">
                    <a:lumMod val="75000"/>
                  </a:schemeClr>
                </a:solidFill>
                <a:latin typeface="Times New Roman" panose="02020603050405020304" pitchFamily="18" charset="0"/>
                <a:cs typeface="Times New Roman" panose="02020603050405020304" pitchFamily="18" charset="0"/>
                <a:sym typeface="+mn-ea"/>
              </a:rPr>
              <a:t>Cách thức tấn công và cách phòng ngừa, ngăn chặn.</a:t>
            </a:r>
          </a:p>
          <a:p>
            <a:pPr marL="0" indent="457200">
              <a:buNone/>
            </a:pPr>
            <a:r>
              <a:rPr lang="en-US" sz="2100">
                <a:solidFill>
                  <a:schemeClr val="accent2">
                    <a:lumMod val="75000"/>
                  </a:schemeClr>
                </a:solidFill>
                <a:latin typeface="Times New Roman" panose="02020603050405020304" pitchFamily="18" charset="0"/>
                <a:cs typeface="Times New Roman" panose="02020603050405020304" pitchFamily="18" charset="0"/>
                <a:sym typeface="+mn-ea"/>
              </a:rPr>
              <a:t>1. Bật các tính năng không cần thiết, cấu hình quyền không hợp lý.</a:t>
            </a:r>
            <a:endParaRPr lang="en-US" sz="2100">
              <a:solidFill>
                <a:schemeClr val="accent2">
                  <a:lumMod val="75000"/>
                </a:schemeClr>
              </a:solidFill>
              <a:latin typeface="Times New Roman" panose="02020603050405020304" pitchFamily="18" charset="0"/>
              <a:cs typeface="Times New Roman" panose="02020603050405020304" pitchFamily="18" charset="0"/>
            </a:endParaRPr>
          </a:p>
          <a:p>
            <a:pPr marL="0" indent="457200">
              <a:buNone/>
            </a:pPr>
            <a:r>
              <a:rPr lang="en-US" sz="2100">
                <a:solidFill>
                  <a:schemeClr val="accent2">
                    <a:lumMod val="75000"/>
                  </a:schemeClr>
                </a:solidFill>
                <a:latin typeface="Times New Roman" panose="02020603050405020304" pitchFamily="18" charset="0"/>
                <a:cs typeface="Times New Roman" panose="02020603050405020304" pitchFamily="18" charset="0"/>
                <a:sym typeface="+mn-ea"/>
              </a:rPr>
              <a:t>2. Cấu hình sai và thiếu cấu hình HTTP Security Headers.</a:t>
            </a:r>
            <a:endParaRPr lang="en-US" sz="2100">
              <a:solidFill>
                <a:schemeClr val="accent2">
                  <a:lumMod val="75000"/>
                </a:schemeClr>
              </a:solidFill>
              <a:latin typeface="Times New Roman" panose="02020603050405020304" pitchFamily="18" charset="0"/>
              <a:cs typeface="Times New Roman" panose="02020603050405020304" pitchFamily="18" charset="0"/>
            </a:endParaRPr>
          </a:p>
          <a:p>
            <a:pPr marL="0" indent="457200">
              <a:buNone/>
            </a:pPr>
            <a:r>
              <a:rPr lang="en-US" sz="2100">
                <a:solidFill>
                  <a:schemeClr val="accent2">
                    <a:lumMod val="75000"/>
                  </a:schemeClr>
                </a:solidFill>
                <a:latin typeface="Times New Roman" panose="02020603050405020304" pitchFamily="18" charset="0"/>
                <a:cs typeface="Times New Roman" panose="02020603050405020304" pitchFamily="18" charset="0"/>
                <a:sym typeface="+mn-ea"/>
              </a:rPr>
              <a:t>3. Error Handling tiết lộ thông tin kỹ thuật.</a:t>
            </a:r>
            <a:endParaRPr lang="en-US" sz="2100">
              <a:solidFill>
                <a:schemeClr val="accent2">
                  <a:lumMod val="75000"/>
                </a:schemeClr>
              </a:solidFill>
              <a:latin typeface="Times New Roman" panose="02020603050405020304" pitchFamily="18" charset="0"/>
              <a:cs typeface="Times New Roman" panose="02020603050405020304" pitchFamily="18" charset="0"/>
            </a:endParaRPr>
          </a:p>
          <a:p>
            <a:pPr marL="0" indent="0">
              <a:buNone/>
            </a:pPr>
            <a:r>
              <a:rPr lang="en-US" sz="2600" b="1">
                <a:solidFill>
                  <a:schemeClr val="accent2">
                    <a:lumMod val="75000"/>
                  </a:schemeClr>
                </a:solidFill>
                <a:latin typeface="Times New Roman" panose="02020603050405020304" pitchFamily="18" charset="0"/>
                <a:cs typeface="Times New Roman" panose="02020603050405020304" pitchFamily="18" charset="0"/>
                <a:sym typeface="+mn-ea"/>
              </a:rPr>
              <a:t>III. Demo.</a:t>
            </a:r>
            <a:endParaRPr lang="en-US" sz="2600" b="1">
              <a:solidFill>
                <a:schemeClr val="accent2">
                  <a:lumMod val="75000"/>
                </a:schemeClr>
              </a:solidFill>
              <a:latin typeface="Times New Roman" panose="02020603050405020304" pitchFamily="18" charset="0"/>
              <a:cs typeface="Times New Roman" panose="02020603050405020304" pitchFamily="18" charset="0"/>
            </a:endParaRPr>
          </a:p>
          <a:p>
            <a:pPr marL="0" indent="457200">
              <a:buNone/>
            </a:pPr>
            <a:endParaRPr lang="en-US" altLang="ja-JP" sz="2600"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4099" name="テキスト ボックス 3"/>
          <p:cNvSpPr txBox="1"/>
          <p:nvPr/>
        </p:nvSpPr>
        <p:spPr>
          <a:xfrm>
            <a:off x="2811146" y="336550"/>
            <a:ext cx="4613910" cy="706755"/>
          </a:xfrm>
          <a:prstGeom prst="rect">
            <a:avLst/>
          </a:prstGeom>
          <a:noFill/>
          <a:ln w="9525">
            <a:noFill/>
          </a:ln>
        </p:spPr>
        <p:txBody>
          <a:bodyPr wrap="none">
            <a:spAutoFit/>
          </a:bodyPr>
          <a:lstStyle/>
          <a:p>
            <a:pPr algn="ctr"/>
            <a:r>
              <a:rPr lang="en-US" altLang="ja-JP" sz="4000" b="1" dirty="0">
                <a:solidFill>
                  <a:srgbClr val="FF0000"/>
                </a:solidFill>
                <a:latin typeface="Times New Roman" panose="02020603050405020304" pitchFamily="18" charset="0"/>
                <a:ea typeface="MS PGothic" panose="020B0600070205080204" pitchFamily="50" charset="-128"/>
              </a:rPr>
              <a:t>N	ỘI DUNG CHÍNH</a:t>
            </a:r>
            <a:endParaRPr lang="ja-JP" altLang="en-US" sz="4000" b="1" dirty="0">
              <a:solidFill>
                <a:srgbClr val="FF0000"/>
              </a:solidFill>
              <a:latin typeface="Times New Roman" panose="02020603050405020304" pitchFamily="18" charset="0"/>
              <a:ea typeface="MS PGothic" panose="020B0600070205080204" pitchFamily="50" charset="-128"/>
            </a:endParaRPr>
          </a:p>
        </p:txBody>
      </p:sp>
      <p:sp>
        <p:nvSpPr>
          <p:cNvPr id="2" name="Slide Number Placeholder 1">
            <a:extLst>
              <a:ext uri="{FF2B5EF4-FFF2-40B4-BE49-F238E27FC236}">
                <a16:creationId xmlns:a16="http://schemas.microsoft.com/office/drawing/2014/main" id="{94DC217E-0654-F82A-2A3E-7383C3C4F7ED}"/>
              </a:ext>
            </a:extLst>
          </p:cNvPr>
          <p:cNvSpPr>
            <a:spLocks noGrp="1"/>
          </p:cNvSpPr>
          <p:nvPr>
            <p:ph type="sldNum" sz="quarter" idx="12"/>
          </p:nvPr>
        </p:nvSpPr>
        <p:spPr/>
        <p:txBody>
          <a:bodyPr/>
          <a:lstStyle/>
          <a:p>
            <a:pPr lvl="0" eaLnBrk="1" hangingPunct="1"/>
            <a:fld id="{9A0DB2DC-4C9A-4742-B13C-FB6460FD3503}" type="slidenum">
              <a:rPr lang="en-US" altLang="ja-JP" smtClean="0">
                <a:latin typeface="Arial" panose="020B0604020202020204" pitchFamily="34" charset="0"/>
              </a:rPr>
              <a:t>2</a:t>
            </a:fld>
            <a:endParaRPr lang="en-US" altLang="ja-JP"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 calcmode="lin" valueType="num">
                                      <p:cBhvr additive="base">
                                        <p:cTn id="7" dur="500"/>
                                        <p:tgtEl>
                                          <p:spTgt spid="4099">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09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コンテンツ プレースホルダー 2"/>
          <p:cNvSpPr>
            <a:spLocks noGrp="1"/>
          </p:cNvSpPr>
          <p:nvPr>
            <p:ph idx="1"/>
          </p:nvPr>
        </p:nvSpPr>
        <p:spPr>
          <a:xfrm>
            <a:off x="636905" y="2155825"/>
            <a:ext cx="8112125" cy="4259580"/>
          </a:xfrm>
        </p:spPr>
        <p:txBody>
          <a:bodyPr vert="horz" wrap="square" lIns="91440" tIns="45720" rIns="91440" bIns="45720" anchor="t" anchorCtr="0"/>
          <a:lstStyle/>
          <a:p>
            <a:pPr marL="0" indent="0">
              <a:buNone/>
            </a:pPr>
            <a:r>
              <a:rPr lang="en-US" altLang="en-US" sz="2000" dirty="0">
                <a:solidFill>
                  <a:schemeClr val="accent2"/>
                </a:solidFill>
                <a:latin typeface="Times New Roman" panose="02020603050405020304" pitchFamily="18" charset="0"/>
              </a:rPr>
              <a:t>- Security Misconfiguration là tình trạng xảy ra khi một hệ thống hoặc ứng dụng web được triển khai với các thiết lập bảo mật không chính xác, thiếu sót hoặc chưa được cấu hình phù hợp.</a:t>
            </a:r>
          </a:p>
          <a:p>
            <a:pPr marL="0" indent="0">
              <a:buNone/>
            </a:pPr>
            <a:endParaRPr lang="en-US" altLang="en-US" sz="2000" dirty="0">
              <a:solidFill>
                <a:schemeClr val="accent2"/>
              </a:solidFill>
              <a:latin typeface="Times New Roman" panose="02020603050405020304" pitchFamily="18" charset="0"/>
            </a:endParaRPr>
          </a:p>
          <a:p>
            <a:pPr marL="0" indent="0">
              <a:buNone/>
            </a:pPr>
            <a:r>
              <a:rPr lang="en-US" altLang="en-US" sz="2000" dirty="0">
                <a:solidFill>
                  <a:schemeClr val="accent2"/>
                </a:solidFill>
                <a:latin typeface="Times New Roman" panose="02020603050405020304" pitchFamily="18" charset="0"/>
              </a:rPr>
              <a:t>- Điều này có thể xuất phát từ việc bật các tính năng mặc định không cần thiết, sử dụng cấu hình chưa được tối ưu, hoặc không tuân thủ các quy tắc bảo mật trong quá trình cài đặt và vận hành.</a:t>
            </a:r>
          </a:p>
          <a:p>
            <a:pPr marL="0" indent="0">
              <a:buNone/>
            </a:pPr>
            <a:endParaRPr lang="en-US" altLang="en-US" sz="2000" dirty="0">
              <a:solidFill>
                <a:schemeClr val="accent2"/>
              </a:solidFill>
              <a:latin typeface="Times New Roman" panose="02020603050405020304" pitchFamily="18" charset="0"/>
            </a:endParaRPr>
          </a:p>
          <a:p>
            <a:pPr marL="0" indent="0">
              <a:buNone/>
            </a:pPr>
            <a:r>
              <a:rPr lang="en-US" altLang="en-US" sz="2000" dirty="0">
                <a:solidFill>
                  <a:schemeClr val="accent2"/>
                </a:solidFill>
                <a:latin typeface="Times New Roman" panose="02020603050405020304" pitchFamily="18" charset="0"/>
              </a:rPr>
              <a:t>=&gt; Những sai sót này có thể xuất hiện trong quá trình cài đặt, quản trị hệ thống hoặc vận hành ứng dụng, khiến kẻ tấn công có thể khai thác điểm yếu, xâm nhập và làm lộ dữ liệu.</a:t>
            </a:r>
          </a:p>
          <a:p>
            <a:pPr marL="0" indent="0">
              <a:buNone/>
            </a:pPr>
            <a:endParaRPr lang="en-US" altLang="en-US" sz="2000" dirty="0">
              <a:solidFill>
                <a:schemeClr val="accent2"/>
              </a:solidFill>
              <a:latin typeface="Times New Roman" panose="02020603050405020304" pitchFamily="18" charset="0"/>
            </a:endParaRPr>
          </a:p>
          <a:p>
            <a:pPr marL="0" indent="0">
              <a:buNone/>
            </a:pPr>
            <a:endParaRPr lang="en-US" altLang="ja-JP" sz="2000" dirty="0">
              <a:solidFill>
                <a:srgbClr val="FF0000"/>
              </a:solidFill>
              <a:latin typeface="Times New Roman" panose="02020603050405020304" pitchFamily="18" charset="0"/>
            </a:endParaRPr>
          </a:p>
        </p:txBody>
      </p:sp>
      <p:sp>
        <p:nvSpPr>
          <p:cNvPr id="5123" name="テキスト ボックス 3"/>
          <p:cNvSpPr txBox="1"/>
          <p:nvPr/>
        </p:nvSpPr>
        <p:spPr>
          <a:xfrm>
            <a:off x="3843814" y="336550"/>
            <a:ext cx="2546985" cy="598805"/>
          </a:xfrm>
          <a:prstGeom prst="rect">
            <a:avLst/>
          </a:prstGeom>
          <a:noFill/>
          <a:ln w="9525">
            <a:noFill/>
          </a:ln>
        </p:spPr>
        <p:txBody>
          <a:bodyPr wrap="none">
            <a:spAutoFit/>
          </a:bodyPr>
          <a:lstStyle/>
          <a:p>
            <a:pPr algn="ctr"/>
            <a:r>
              <a:rPr lang="en-US" altLang="ja-JP" sz="3300" b="1" dirty="0">
                <a:solidFill>
                  <a:srgbClr val="FF0000"/>
                </a:solidFill>
                <a:latin typeface="Times New Roman" panose="02020603050405020304" pitchFamily="18" charset="0"/>
                <a:ea typeface="MS PGothic" panose="020B0600070205080204" pitchFamily="50" charset="-128"/>
              </a:rPr>
              <a:t>I. Định nghĩa</a:t>
            </a:r>
          </a:p>
        </p:txBody>
      </p:sp>
      <p:sp>
        <p:nvSpPr>
          <p:cNvPr id="3" name="Text Box 2"/>
          <p:cNvSpPr txBox="1"/>
          <p:nvPr/>
        </p:nvSpPr>
        <p:spPr>
          <a:xfrm>
            <a:off x="951865" y="1605915"/>
            <a:ext cx="6471920" cy="549910"/>
          </a:xfrm>
          <a:prstGeom prst="rect">
            <a:avLst/>
          </a:prstGeom>
          <a:noFill/>
        </p:spPr>
        <p:txBody>
          <a:bodyPr wrap="square" rtlCol="0">
            <a:noAutofit/>
          </a:bodyPr>
          <a:lstStyle/>
          <a:p>
            <a:r>
              <a:rPr lang="en-US" sz="2800">
                <a:solidFill>
                  <a:srgbClr val="FF0000"/>
                </a:solidFill>
                <a:latin typeface="Times New Roman" panose="02020603050405020304" pitchFamily="18" charset="0"/>
                <a:cs typeface="Times New Roman" panose="02020603050405020304" pitchFamily="18" charset="0"/>
              </a:rPr>
              <a:t>1. Định nghĩa về Security Misconfiguration</a:t>
            </a:r>
          </a:p>
          <a:p>
            <a:endParaRPr lang="en-US" sz="2800">
              <a:solidFill>
                <a:srgbClr val="FF0000"/>
              </a:solidFill>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FFAD586D-D582-FE1A-5453-59F9B53A869B}"/>
              </a:ext>
            </a:extLst>
          </p:cNvPr>
          <p:cNvSpPr>
            <a:spLocks noGrp="1"/>
          </p:cNvSpPr>
          <p:nvPr>
            <p:ph type="sldNum" sz="quarter" idx="12"/>
          </p:nvPr>
        </p:nvSpPr>
        <p:spPr/>
        <p:txBody>
          <a:bodyPr/>
          <a:lstStyle/>
          <a:p>
            <a:pPr lvl="0" eaLnBrk="1" hangingPunct="1"/>
            <a:fld id="{9A0DB2DC-4C9A-4742-B13C-FB6460FD3503}" type="slidenum">
              <a:rPr lang="en-US" altLang="ja-JP" smtClean="0">
                <a:latin typeface="Arial" panose="020B0604020202020204" pitchFamily="34" charset="0"/>
              </a:rPr>
              <a:t>3</a:t>
            </a:fld>
            <a:endParaRPr lang="en-US" altLang="ja-JP"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 calcmode="lin" valueType="num">
                                      <p:cBhvr additive="base">
                                        <p:cTn id="7" dur="500"/>
                                        <p:tgtEl>
                                          <p:spTgt spid="512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5123">
                                            <p:txEl>
                                              <p:pRg st="0" end="0"/>
                                            </p:txEl>
                                          </p:spTgt>
                                        </p:tgtEl>
                                      </p:cBhvr>
                                    </p:animEffect>
                                  </p:childTnLst>
                                </p:cTn>
                              </p:par>
                              <p:par>
                                <p:cTn id="9" presetID="12" presetClass="entr" presetSubtype="4" fill="hold"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p:tgtEl>
                                          <p:spTgt spid="3">
                                            <p:txEl>
                                              <p:pRg st="0" end="0"/>
                                            </p:txEl>
                                          </p:spTgt>
                                        </p:tgtEl>
                                        <p:attrNameLst>
                                          <p:attrName>ppt_y</p:attrName>
                                        </p:attrNameLst>
                                      </p:cBhvr>
                                      <p:tavLst>
                                        <p:tav tm="0">
                                          <p:val>
                                            <p:strVal val="#ppt_y+#ppt_h*1.125000"/>
                                          </p:val>
                                        </p:tav>
                                        <p:tav tm="100000">
                                          <p:val>
                                            <p:strVal val="#ppt_y"/>
                                          </p:val>
                                        </p:tav>
                                      </p:tavLst>
                                    </p:anim>
                                    <p:animEffect transition="in" filter="wipe(up)">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テキスト ボックス 3"/>
          <p:cNvSpPr txBox="1"/>
          <p:nvPr/>
        </p:nvSpPr>
        <p:spPr>
          <a:xfrm>
            <a:off x="3770948" y="336550"/>
            <a:ext cx="2546985" cy="598805"/>
          </a:xfrm>
          <a:prstGeom prst="rect">
            <a:avLst/>
          </a:prstGeom>
          <a:noFill/>
          <a:ln w="9525">
            <a:noFill/>
          </a:ln>
        </p:spPr>
        <p:txBody>
          <a:bodyPr wrap="none">
            <a:spAutoFit/>
          </a:bodyPr>
          <a:lstStyle/>
          <a:p>
            <a:pPr algn="ctr"/>
            <a:r>
              <a:rPr lang="en-US" altLang="ja-JP" sz="3300" b="1" dirty="0">
                <a:solidFill>
                  <a:srgbClr val="FF0000"/>
                </a:solidFill>
                <a:latin typeface="Times New Roman" panose="02020603050405020304" pitchFamily="18" charset="0"/>
                <a:ea typeface="MS PGothic" panose="020B0600070205080204" pitchFamily="50" charset="-128"/>
                <a:sym typeface="+mn-ea"/>
              </a:rPr>
              <a:t>I. Định nghĩa</a:t>
            </a:r>
            <a:endParaRPr lang="ja-JP" altLang="en-US" sz="3300" b="1" dirty="0">
              <a:solidFill>
                <a:srgbClr val="FF0000"/>
              </a:solidFill>
              <a:latin typeface="Times New Roman" panose="02020603050405020304" pitchFamily="18" charset="0"/>
              <a:ea typeface="MS PGothic" panose="020B0600070205080204" pitchFamily="50" charset="-128"/>
            </a:endParaRPr>
          </a:p>
        </p:txBody>
      </p:sp>
      <p:sp>
        <p:nvSpPr>
          <p:cNvPr id="2" name="Text Box 1"/>
          <p:cNvSpPr txBox="1"/>
          <p:nvPr/>
        </p:nvSpPr>
        <p:spPr>
          <a:xfrm>
            <a:off x="894715" y="2159000"/>
            <a:ext cx="7920990" cy="3931285"/>
          </a:xfrm>
          <a:prstGeom prst="rect">
            <a:avLst/>
          </a:prstGeom>
          <a:noFill/>
        </p:spPr>
        <p:txBody>
          <a:bodyPr wrap="square" rtlCol="0" anchor="t">
            <a:noAutofit/>
          </a:bodyPr>
          <a:lstStyle/>
          <a:p>
            <a:pPr marL="0" indent="0">
              <a:buNone/>
            </a:pPr>
            <a:endParaRPr lang="en-US" altLang="en-US" sz="2300" dirty="0">
              <a:solidFill>
                <a:schemeClr val="accent2"/>
              </a:solidFill>
              <a:latin typeface="Times New Roman" panose="02020603050405020304" pitchFamily="18" charset="0"/>
              <a:sym typeface="+mn-ea"/>
            </a:endParaRPr>
          </a:p>
          <a:p>
            <a:pPr marL="0" indent="0">
              <a:buNone/>
            </a:pPr>
            <a:r>
              <a:rPr lang="en-US" altLang="en-US" sz="2300" dirty="0">
                <a:solidFill>
                  <a:schemeClr val="accent2"/>
                </a:solidFill>
                <a:latin typeface="Times New Roman" panose="02020603050405020304" pitchFamily="18" charset="0"/>
                <a:sym typeface="+mn-ea"/>
              </a:rPr>
              <a:t>- Các lỗi cấu hình sai thường gặp: </a:t>
            </a:r>
            <a:endParaRPr lang="en-US" altLang="en-US" sz="2300" dirty="0">
              <a:solidFill>
                <a:schemeClr val="accent2"/>
              </a:solidFill>
              <a:latin typeface="Times New Roman" panose="02020603050405020304" pitchFamily="18" charset="0"/>
            </a:endParaRPr>
          </a:p>
          <a:p>
            <a:pPr marL="0" indent="457200">
              <a:buNone/>
            </a:pPr>
            <a:r>
              <a:rPr lang="en-US" altLang="en-US" sz="2300" dirty="0">
                <a:solidFill>
                  <a:schemeClr val="accent2"/>
                </a:solidFill>
                <a:latin typeface="Times New Roman" panose="02020603050405020304" pitchFamily="18" charset="0"/>
                <a:sym typeface="+mn-ea"/>
              </a:rPr>
              <a:t>+ Bật các tính năng hoặc dịch vụ không cần thiết.</a:t>
            </a:r>
            <a:endParaRPr lang="en-US" altLang="en-US" sz="2300" dirty="0">
              <a:solidFill>
                <a:schemeClr val="accent2"/>
              </a:solidFill>
              <a:latin typeface="Times New Roman" panose="02020603050405020304" pitchFamily="18" charset="0"/>
            </a:endParaRPr>
          </a:p>
          <a:p>
            <a:pPr marL="0" indent="457200">
              <a:buNone/>
            </a:pPr>
            <a:r>
              <a:rPr lang="en-US" altLang="en-US" sz="2300" dirty="0">
                <a:solidFill>
                  <a:schemeClr val="accent2"/>
                </a:solidFill>
                <a:latin typeface="Times New Roman" panose="02020603050405020304" pitchFamily="18" charset="0"/>
                <a:sym typeface="+mn-ea"/>
              </a:rPr>
              <a:t>+ Sử dụng cấu hình mặc định chưa được thay đổi.</a:t>
            </a:r>
            <a:endParaRPr lang="en-US" altLang="en-US" sz="2300" dirty="0">
              <a:solidFill>
                <a:schemeClr val="accent2"/>
              </a:solidFill>
              <a:latin typeface="Times New Roman" panose="02020603050405020304" pitchFamily="18" charset="0"/>
            </a:endParaRPr>
          </a:p>
          <a:p>
            <a:pPr marL="0" indent="457200">
              <a:buNone/>
            </a:pPr>
            <a:r>
              <a:rPr lang="en-US" altLang="en-US" sz="2300" dirty="0">
                <a:solidFill>
                  <a:schemeClr val="accent2"/>
                </a:solidFill>
                <a:latin typeface="Times New Roman" panose="02020603050405020304" pitchFamily="18" charset="0"/>
                <a:sym typeface="+mn-ea"/>
              </a:rPr>
              <a:t>+ Quản lý lỗi sai cách, dẫn đến tiết lộ thông tin kỹ thuật.</a:t>
            </a:r>
            <a:endParaRPr lang="en-US" altLang="en-US" sz="2300" dirty="0">
              <a:solidFill>
                <a:schemeClr val="accent2"/>
              </a:solidFill>
              <a:latin typeface="Times New Roman" panose="02020603050405020304" pitchFamily="18" charset="0"/>
            </a:endParaRPr>
          </a:p>
          <a:p>
            <a:pPr marL="0" indent="457200">
              <a:buNone/>
            </a:pPr>
            <a:r>
              <a:rPr lang="en-US" altLang="en-US" sz="2300" dirty="0">
                <a:solidFill>
                  <a:schemeClr val="accent2"/>
                </a:solidFill>
                <a:latin typeface="Times New Roman" panose="02020603050405020304" pitchFamily="18" charset="0"/>
                <a:sym typeface="+mn-ea"/>
              </a:rPr>
              <a:t>+ Phân quyền người dùng, tệp hoặc thư mục không hợp lý.</a:t>
            </a:r>
            <a:endParaRPr lang="en-US" altLang="en-US" sz="2300" dirty="0">
              <a:solidFill>
                <a:schemeClr val="accent2"/>
              </a:solidFill>
              <a:latin typeface="Times New Roman" panose="02020603050405020304" pitchFamily="18" charset="0"/>
            </a:endParaRPr>
          </a:p>
          <a:p>
            <a:pPr marL="0" indent="457200">
              <a:buNone/>
            </a:pPr>
            <a:r>
              <a:rPr lang="en-US" altLang="en-US" sz="2300" dirty="0">
                <a:solidFill>
                  <a:schemeClr val="accent2"/>
                </a:solidFill>
                <a:latin typeface="Times New Roman" panose="02020603050405020304" pitchFamily="18" charset="0"/>
                <a:sym typeface="+mn-ea"/>
              </a:rPr>
              <a:t>+ Thiếu hoặc cấu hình sai các HTTP Security Headers.</a:t>
            </a:r>
            <a:endParaRPr lang="en-US" altLang="en-US" sz="2300" dirty="0">
              <a:solidFill>
                <a:schemeClr val="accent2"/>
              </a:solidFill>
              <a:latin typeface="Times New Roman" panose="02020603050405020304" pitchFamily="18" charset="0"/>
            </a:endParaRPr>
          </a:p>
          <a:p>
            <a:pPr marL="0" indent="457200">
              <a:buNone/>
            </a:pPr>
            <a:r>
              <a:rPr lang="en-US" altLang="en-US" sz="2300" dirty="0">
                <a:solidFill>
                  <a:schemeClr val="accent2"/>
                </a:solidFill>
                <a:latin typeface="Times New Roman" panose="02020603050405020304" pitchFamily="18" charset="0"/>
                <a:sym typeface="+mn-ea"/>
              </a:rPr>
              <a:t>+ Không cập nhật phần mềm bảo mật kịp</a:t>
            </a:r>
          </a:p>
        </p:txBody>
      </p:sp>
      <p:sp>
        <p:nvSpPr>
          <p:cNvPr id="3" name="Text Box 2"/>
          <p:cNvSpPr txBox="1"/>
          <p:nvPr/>
        </p:nvSpPr>
        <p:spPr>
          <a:xfrm>
            <a:off x="370205" y="1621790"/>
            <a:ext cx="5280660" cy="537210"/>
          </a:xfrm>
          <a:prstGeom prst="rect">
            <a:avLst/>
          </a:prstGeom>
          <a:noFill/>
        </p:spPr>
        <p:txBody>
          <a:bodyPr wrap="square" rtlCol="0">
            <a:noAutofit/>
          </a:bodyPr>
          <a:lstStyle/>
          <a:p>
            <a:pPr algn="ctr"/>
            <a:r>
              <a:rPr lang="en-US" sz="2800">
                <a:solidFill>
                  <a:srgbClr val="FF0000"/>
                </a:solidFill>
                <a:latin typeface="Times New Roman" panose="02020603050405020304" pitchFamily="18" charset="0"/>
                <a:cs typeface="Times New Roman" panose="02020603050405020304" pitchFamily="18" charset="0"/>
              </a:rPr>
              <a:t>2.</a:t>
            </a:r>
            <a:r>
              <a:rPr lang="en-US" sz="2800">
                <a:latin typeface="Times New Roman" panose="02020603050405020304" pitchFamily="18" charset="0"/>
                <a:cs typeface="Times New Roman" panose="02020603050405020304" pitchFamily="18" charset="0"/>
              </a:rPr>
              <a:t> </a:t>
            </a:r>
            <a:r>
              <a:rPr lang="en-US" sz="2800">
                <a:solidFill>
                  <a:srgbClr val="FF0000"/>
                </a:solidFill>
                <a:latin typeface="Times New Roman" panose="02020603050405020304" pitchFamily="18" charset="0"/>
                <a:cs typeface="Times New Roman" panose="02020603050405020304" pitchFamily="18" charset="0"/>
              </a:rPr>
              <a:t>Các lỗi cấu hình phổ biến.</a:t>
            </a:r>
          </a:p>
        </p:txBody>
      </p:sp>
      <p:sp>
        <p:nvSpPr>
          <p:cNvPr id="4" name="Slide Number Placeholder 3">
            <a:extLst>
              <a:ext uri="{FF2B5EF4-FFF2-40B4-BE49-F238E27FC236}">
                <a16:creationId xmlns:a16="http://schemas.microsoft.com/office/drawing/2014/main" id="{5B808207-F87D-5772-C492-23AE298200B7}"/>
              </a:ext>
            </a:extLst>
          </p:cNvPr>
          <p:cNvSpPr>
            <a:spLocks noGrp="1"/>
          </p:cNvSpPr>
          <p:nvPr>
            <p:ph type="sldNum" sz="quarter" idx="12"/>
          </p:nvPr>
        </p:nvSpPr>
        <p:spPr/>
        <p:txBody>
          <a:bodyPr/>
          <a:lstStyle/>
          <a:p>
            <a:pPr lvl="0" eaLnBrk="1" hangingPunct="1"/>
            <a:fld id="{9A0DB2DC-4C9A-4742-B13C-FB6460FD3503}" type="slidenum">
              <a:rPr lang="en-US" altLang="ja-JP" smtClean="0">
                <a:latin typeface="Arial" panose="020B0604020202020204" pitchFamily="34" charset="0"/>
              </a:rPr>
              <a:t>4</a:t>
            </a:fld>
            <a:endParaRPr lang="en-US" altLang="ja-JP"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6146">
                                            <p:txEl>
                                              <p:pRg st="0" end="0"/>
                                            </p:txEl>
                                          </p:spTgt>
                                        </p:tgtEl>
                                        <p:attrNameLst>
                                          <p:attrName>style.visibility</p:attrName>
                                        </p:attrNameLst>
                                      </p:cBhvr>
                                      <p:to>
                                        <p:strVal val="visible"/>
                                      </p:to>
                                    </p:set>
                                    <p:anim calcmode="lin" valueType="num">
                                      <p:cBhvr additive="base">
                                        <p:cTn id="7" dur="500"/>
                                        <p:tgtEl>
                                          <p:spTgt spid="6146">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6146">
                                            <p:txEl>
                                              <p:pRg st="0" end="0"/>
                                            </p:txEl>
                                          </p:spTgt>
                                        </p:tgtEl>
                                      </p:cBhvr>
                                    </p:animEffect>
                                  </p:childTnLst>
                                </p:cTn>
                              </p:par>
                              <p:par>
                                <p:cTn id="9" presetID="12" presetClass="entr" presetSubtype="4" fill="hold"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p:tgtEl>
                                          <p:spTgt spid="3">
                                            <p:txEl>
                                              <p:pRg st="0" end="0"/>
                                            </p:txEl>
                                          </p:spTgt>
                                        </p:tgtEl>
                                        <p:attrNameLst>
                                          <p:attrName>ppt_y</p:attrName>
                                        </p:attrNameLst>
                                      </p:cBhvr>
                                      <p:tavLst>
                                        <p:tav tm="0">
                                          <p:val>
                                            <p:strVal val="#ppt_y+#ppt_h*1.125000"/>
                                          </p:val>
                                        </p:tav>
                                        <p:tav tm="100000">
                                          <p:val>
                                            <p:strVal val="#ppt_y"/>
                                          </p:val>
                                        </p:tav>
                                      </p:tavLst>
                                    </p:anim>
                                    <p:animEffect transition="in" filter="wipe(up)">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テキスト ボックス 3"/>
          <p:cNvSpPr txBox="1"/>
          <p:nvPr/>
        </p:nvSpPr>
        <p:spPr>
          <a:xfrm>
            <a:off x="955675" y="189230"/>
            <a:ext cx="8096250" cy="1014730"/>
          </a:xfrm>
          <a:prstGeom prst="rect">
            <a:avLst/>
          </a:prstGeom>
          <a:noFill/>
          <a:ln w="9525">
            <a:noFill/>
          </a:ln>
        </p:spPr>
        <p:txBody>
          <a:bodyPr>
            <a:spAutoFit/>
          </a:bodyPr>
          <a:lstStyle/>
          <a:p>
            <a:pPr algn="ctr">
              <a:buNone/>
            </a:pPr>
            <a:r>
              <a:rPr lang="en-US" altLang="ja-JP" sz="3000" b="1" dirty="0">
                <a:solidFill>
                  <a:srgbClr val="FF0000"/>
                </a:solidFill>
                <a:latin typeface="Times New Roman" panose="02020603050405020304" pitchFamily="18" charset="0"/>
                <a:ea typeface="MS PGothic" panose="020B0600070205080204" pitchFamily="50" charset="-128"/>
              </a:rPr>
              <a:t>II. Cách thức tấn công và cách phòng ngừa, ngăn chặn.</a:t>
            </a:r>
            <a:endParaRPr lang="ja-JP" altLang="en-US" sz="3000" b="1" dirty="0">
              <a:solidFill>
                <a:srgbClr val="FF0000"/>
              </a:solidFill>
              <a:latin typeface="Times New Roman" panose="02020603050405020304" pitchFamily="18" charset="0"/>
              <a:ea typeface="MS PGothic" panose="020B0600070205080204" pitchFamily="50" charset="-128"/>
            </a:endParaRPr>
          </a:p>
        </p:txBody>
      </p:sp>
      <p:sp>
        <p:nvSpPr>
          <p:cNvPr id="2" name="Text Box 1"/>
          <p:cNvSpPr txBox="1"/>
          <p:nvPr/>
        </p:nvSpPr>
        <p:spPr>
          <a:xfrm>
            <a:off x="546100" y="1443355"/>
            <a:ext cx="8209280" cy="725170"/>
          </a:xfrm>
          <a:prstGeom prst="rect">
            <a:avLst/>
          </a:prstGeom>
          <a:noFill/>
        </p:spPr>
        <p:txBody>
          <a:bodyPr wrap="square" rtlCol="0">
            <a:noAutofit/>
          </a:bodyPr>
          <a:lstStyle/>
          <a:p>
            <a:r>
              <a:rPr lang="en-US" sz="2800">
                <a:solidFill>
                  <a:srgbClr val="FF0000"/>
                </a:solidFill>
                <a:latin typeface="Times New Roman" panose="02020603050405020304" pitchFamily="18" charset="0"/>
                <a:cs typeface="Times New Roman" panose="02020603050405020304" pitchFamily="18" charset="0"/>
                <a:sym typeface="+mn-ea"/>
              </a:rPr>
              <a:t>1. Bật các tính năng không cần thiết.</a:t>
            </a:r>
            <a:endParaRPr lang="en-US" sz="2800"/>
          </a:p>
        </p:txBody>
      </p:sp>
      <p:sp>
        <p:nvSpPr>
          <p:cNvPr id="3" name="Text Box 2"/>
          <p:cNvSpPr txBox="1"/>
          <p:nvPr/>
        </p:nvSpPr>
        <p:spPr>
          <a:xfrm>
            <a:off x="546735" y="2168525"/>
            <a:ext cx="8209280" cy="4104005"/>
          </a:xfrm>
          <a:prstGeom prst="rect">
            <a:avLst/>
          </a:prstGeom>
          <a:noFill/>
        </p:spPr>
        <p:txBody>
          <a:bodyPr wrap="square" rtlCol="0">
            <a:noAutofit/>
          </a:bodyPr>
          <a:lstStyle/>
          <a:p>
            <a:r>
              <a:rPr lang="en-US" altLang="en-US" sz="2000">
                <a:latin typeface="Times New Roman" panose="02020603050405020304" pitchFamily="18" charset="0"/>
                <a:cs typeface="Times New Roman" panose="02020603050405020304" pitchFamily="18" charset="0"/>
              </a:rPr>
              <a:t>- Nhiều hệ thống sau khi cài đặt </a:t>
            </a:r>
            <a:r>
              <a:rPr lang="en-US" altLang="en-US" sz="2000">
                <a:solidFill>
                  <a:srgbClr val="FF0000"/>
                </a:solidFill>
                <a:latin typeface="Times New Roman" panose="02020603050405020304" pitchFamily="18" charset="0"/>
                <a:cs typeface="Times New Roman" panose="02020603050405020304" pitchFamily="18" charset="0"/>
              </a:rPr>
              <a:t>tự động kích hoạt sẵn một số dịch vụ</a:t>
            </a:r>
            <a:r>
              <a:rPr lang="en-US" altLang="en-US" sz="2000">
                <a:latin typeface="Times New Roman" panose="02020603050405020304" pitchFamily="18" charset="0"/>
                <a:cs typeface="Times New Roman" panose="02020603050405020304" pitchFamily="18" charset="0"/>
              </a:rPr>
              <a:t> hoặc </a:t>
            </a:r>
            <a:r>
              <a:rPr lang="en-US" altLang="en-US" sz="2000">
                <a:solidFill>
                  <a:srgbClr val="FF0000"/>
                </a:solidFill>
                <a:latin typeface="Times New Roman" panose="02020603050405020304" pitchFamily="18" charset="0"/>
                <a:cs typeface="Times New Roman" panose="02020603050405020304" pitchFamily="18" charset="0"/>
              </a:rPr>
              <a:t>tính năng mặc định</a:t>
            </a:r>
            <a:r>
              <a:rPr lang="en-US" altLang="en-US" sz="2000">
                <a:latin typeface="Times New Roman" panose="02020603050405020304" pitchFamily="18" charset="0"/>
                <a:cs typeface="Times New Roman" panose="02020603050405020304" pitchFamily="18" charset="0"/>
              </a:rPr>
              <a:t> nhằm hỗ trợ người dùng hoặc nhà phát triển. </a:t>
            </a:r>
            <a:r>
              <a:rPr lang="en-US" altLang="en-US" sz="2000">
                <a:solidFill>
                  <a:srgbClr val="FF0000"/>
                </a:solidFill>
                <a:latin typeface="Times New Roman" panose="02020603050405020304" pitchFamily="18" charset="0"/>
                <a:cs typeface="Times New Roman" panose="02020603050405020304" pitchFamily="18" charset="0"/>
              </a:rPr>
              <a:t>Tuy nhiên</a:t>
            </a:r>
            <a:r>
              <a:rPr lang="en-US" altLang="en-US" sz="2000">
                <a:latin typeface="Times New Roman" panose="02020603050405020304" pitchFamily="18" charset="0"/>
                <a:cs typeface="Times New Roman" panose="02020603050405020304" pitchFamily="18" charset="0"/>
              </a:rPr>
              <a:t>, việc không tắt các tính năng này có thể tạo ra lỗ hổng bảo mật.</a:t>
            </a:r>
          </a:p>
          <a:p>
            <a:endParaRPr lang="en-US" altLang="en-US" sz="2000">
              <a:latin typeface="Times New Roman" panose="02020603050405020304" pitchFamily="18" charset="0"/>
              <a:cs typeface="Times New Roman" panose="02020603050405020304" pitchFamily="18" charset="0"/>
            </a:endParaRPr>
          </a:p>
          <a:p>
            <a:pPr marL="457200" lvl="1" indent="457200"/>
            <a:r>
              <a:rPr lang="en-US" altLang="en-US" sz="2000">
                <a:latin typeface="Times New Roman" panose="02020603050405020304" pitchFamily="18" charset="0"/>
                <a:cs typeface="Times New Roman" panose="02020603050405020304" pitchFamily="18" charset="0"/>
                <a:sym typeface="+mn-ea"/>
              </a:rPr>
              <a:t>Ví dụ:</a:t>
            </a:r>
            <a:endParaRPr lang="en-US" altLang="en-US" sz="2000">
              <a:latin typeface="Times New Roman" panose="02020603050405020304" pitchFamily="18" charset="0"/>
              <a:cs typeface="Times New Roman" panose="02020603050405020304" pitchFamily="18" charset="0"/>
            </a:endParaRPr>
          </a:p>
          <a:p>
            <a:pPr marL="457200" lvl="1" indent="457200"/>
            <a:r>
              <a:rPr lang="en-US" altLang="en-US" sz="2000">
                <a:latin typeface="Times New Roman" panose="02020603050405020304" pitchFamily="18" charset="0"/>
                <a:cs typeface="Times New Roman" panose="02020603050405020304" pitchFamily="18" charset="0"/>
                <a:sym typeface="+mn-ea"/>
              </a:rPr>
              <a:t>+ Trang quản trị và trang kiểm thử (phpinfo, debug,..).</a:t>
            </a:r>
            <a:endParaRPr lang="en-US" altLang="en-US" sz="2000">
              <a:latin typeface="Times New Roman" panose="02020603050405020304" pitchFamily="18" charset="0"/>
              <a:cs typeface="Times New Roman" panose="02020603050405020304" pitchFamily="18" charset="0"/>
            </a:endParaRPr>
          </a:p>
          <a:p>
            <a:pPr marL="457200" lvl="1" indent="457200"/>
            <a:r>
              <a:rPr lang="en-US" altLang="en-US" sz="2000">
                <a:latin typeface="Times New Roman" panose="02020603050405020304" pitchFamily="18" charset="0"/>
                <a:cs typeface="Times New Roman" panose="02020603050405020304" pitchFamily="18" charset="0"/>
                <a:sym typeface="+mn-ea"/>
              </a:rPr>
              <a:t>+ Bật các dịch vụ FTP, Telnet, SSH không cần thiết.</a:t>
            </a:r>
            <a:endParaRPr lang="en-US" altLang="en-US" sz="2000">
              <a:latin typeface="Times New Roman" panose="02020603050405020304" pitchFamily="18" charset="0"/>
              <a:cs typeface="Times New Roman" panose="02020603050405020304" pitchFamily="18" charset="0"/>
            </a:endParaRPr>
          </a:p>
          <a:p>
            <a:pPr marL="457200" lvl="1" indent="457200"/>
            <a:r>
              <a:rPr lang="en-US" altLang="en-US" sz="2000">
                <a:latin typeface="Times New Roman" panose="02020603050405020304" pitchFamily="18" charset="0"/>
                <a:cs typeface="Times New Roman" panose="02020603050405020304" pitchFamily="18" charset="0"/>
                <a:sym typeface="+mn-ea"/>
              </a:rPr>
              <a:t>+ Các cổng không sử dụng (21, 22,...).</a:t>
            </a:r>
            <a:endParaRPr lang="en-US" altLang="en-US" sz="2000">
              <a:latin typeface="Times New Roman" panose="02020603050405020304" pitchFamily="18" charset="0"/>
              <a:cs typeface="Times New Roman" panose="02020603050405020304" pitchFamily="18" charset="0"/>
            </a:endParaRPr>
          </a:p>
          <a:p>
            <a:pPr marL="457200" lvl="1" indent="457200"/>
            <a:r>
              <a:rPr lang="en-US" altLang="en-US" sz="2000">
                <a:latin typeface="Times New Roman" panose="02020603050405020304" pitchFamily="18" charset="0"/>
                <a:cs typeface="Times New Roman" panose="02020603050405020304" pitchFamily="18" charset="0"/>
                <a:sym typeface="+mn-ea"/>
              </a:rPr>
              <a:t>+ Tính năng liệt kê thư mục (directory listing).</a:t>
            </a:r>
            <a:endParaRPr lang="en-US" altLang="en-US" sz="2000">
              <a:latin typeface="Times New Roman" panose="02020603050405020304" pitchFamily="18" charset="0"/>
              <a:cs typeface="Times New Roman" panose="02020603050405020304" pitchFamily="18" charset="0"/>
            </a:endParaRPr>
          </a:p>
          <a:p>
            <a:pPr marL="457200" lvl="1" indent="457200"/>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=&gt; Hacker dò tìm và khai thác các dịch vụ dư thừa, lộ thông tin về hệ thống, phiên bản cấu hình máy chủ, tạo điều kiện cho việc chiếm quyền điều khiển hoặc truy cập dữ liệu nhạy cảm.</a:t>
            </a:r>
            <a:br>
              <a:rPr lang="en-US" altLang="en-US" sz="2000">
                <a:latin typeface="Times New Roman" panose="02020603050405020304" pitchFamily="18" charset="0"/>
                <a:cs typeface="Times New Roman" panose="02020603050405020304" pitchFamily="18" charset="0"/>
              </a:rPr>
            </a:br>
            <a:r>
              <a:rPr lang="en-US" altLang="en-US" sz="2000">
                <a:latin typeface="Times New Roman" panose="02020603050405020304" pitchFamily="18" charset="0"/>
                <a:cs typeface="Times New Roman" panose="02020603050405020304" pitchFamily="18" charset="0"/>
              </a:rPr>
              <a:t>	</a:t>
            </a:r>
          </a:p>
          <a:p>
            <a:pPr marL="457200" lvl="1" indent="457200"/>
            <a:endParaRPr lang="en-US" altLang="en-US" sz="200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A45CA27-38F3-5688-E503-30F19B1349C5}"/>
              </a:ext>
            </a:extLst>
          </p:cNvPr>
          <p:cNvSpPr>
            <a:spLocks noGrp="1"/>
          </p:cNvSpPr>
          <p:nvPr>
            <p:ph type="sldNum" sz="quarter" idx="12"/>
          </p:nvPr>
        </p:nvSpPr>
        <p:spPr/>
        <p:txBody>
          <a:bodyPr/>
          <a:lstStyle/>
          <a:p>
            <a:pPr lvl="0" eaLnBrk="1" hangingPunct="1"/>
            <a:fld id="{9A0DB2DC-4C9A-4742-B13C-FB6460FD3503}" type="slidenum">
              <a:rPr lang="en-US" altLang="ja-JP" smtClean="0">
                <a:latin typeface="Arial" panose="020B0604020202020204" pitchFamily="34" charset="0"/>
              </a:rPr>
              <a:t>5</a:t>
            </a:fld>
            <a:endParaRPr lang="en-US" altLang="ja-JP"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7170">
                                            <p:txEl>
                                              <p:pRg st="0" end="0"/>
                                            </p:txEl>
                                          </p:spTgt>
                                        </p:tgtEl>
                                        <p:attrNameLst>
                                          <p:attrName>style.visibility</p:attrName>
                                        </p:attrNameLst>
                                      </p:cBhvr>
                                      <p:to>
                                        <p:strVal val="visible"/>
                                      </p:to>
                                    </p:set>
                                    <p:anim calcmode="lin" valueType="num">
                                      <p:cBhvr additive="base">
                                        <p:cTn id="7" dur="500"/>
                                        <p:tgtEl>
                                          <p:spTgt spid="7170">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7170">
                                            <p:txEl>
                                              <p:pRg st="0" end="0"/>
                                            </p:txEl>
                                          </p:spTgt>
                                        </p:tgtEl>
                                      </p:cBhvr>
                                    </p:animEffect>
                                  </p:childTnLst>
                                </p:cTn>
                              </p:par>
                              <p:par>
                                <p:cTn id="9" presetID="12" presetClass="entr" presetSubtype="4" fill="hold" nodeType="with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 calcmode="lin" valueType="num">
                                      <p:cBhvr additive="base">
                                        <p:cTn id="11" dur="500"/>
                                        <p:tgtEl>
                                          <p:spTgt spid="2">
                                            <p:txEl>
                                              <p:pRg st="0" end="0"/>
                                            </p:txEl>
                                          </p:spTgt>
                                        </p:tgtEl>
                                        <p:attrNameLst>
                                          <p:attrName>ppt_y</p:attrName>
                                        </p:attrNameLst>
                                      </p:cBhvr>
                                      <p:tavLst>
                                        <p:tav tm="0">
                                          <p:val>
                                            <p:strVal val="#ppt_y+#ppt_h*1.125000"/>
                                          </p:val>
                                        </p:tav>
                                        <p:tav tm="100000">
                                          <p:val>
                                            <p:strVal val="#ppt_y"/>
                                          </p:val>
                                        </p:tav>
                                      </p:tavLst>
                                    </p:anim>
                                    <p:animEffect transition="in" filter="wipe(up)">
                                      <p:cBhvr>
                                        <p:cTn id="1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テキスト ボックス 3"/>
          <p:cNvSpPr txBox="1"/>
          <p:nvPr/>
        </p:nvSpPr>
        <p:spPr>
          <a:xfrm>
            <a:off x="2381091" y="122238"/>
            <a:ext cx="5745480" cy="1076325"/>
          </a:xfrm>
          <a:prstGeom prst="rect">
            <a:avLst/>
          </a:prstGeom>
          <a:noFill/>
          <a:ln w="9525">
            <a:noFill/>
          </a:ln>
        </p:spPr>
        <p:txBody>
          <a:bodyPr wrap="none">
            <a:spAutoFit/>
          </a:bodyPr>
          <a:lstStyle/>
          <a:p>
            <a:pPr algn="ctr">
              <a:buNone/>
            </a:pPr>
            <a:r>
              <a:rPr lang="en-US" altLang="ja-JP" sz="3200" b="1" dirty="0">
                <a:solidFill>
                  <a:srgbClr val="FF0000"/>
                </a:solidFill>
                <a:latin typeface="Times New Roman" panose="02020603050405020304" pitchFamily="18" charset="0"/>
                <a:ea typeface="MS PGothic" panose="020B0600070205080204" pitchFamily="50" charset="-128"/>
                <a:sym typeface="+mn-ea"/>
              </a:rPr>
              <a:t>II. Cách thức tấn công </a:t>
            </a:r>
            <a:endParaRPr lang="en-US" altLang="ja-JP" sz="3200" b="1" dirty="0">
              <a:solidFill>
                <a:srgbClr val="FF0000"/>
              </a:solidFill>
              <a:latin typeface="Times New Roman" panose="02020603050405020304" pitchFamily="18" charset="0"/>
              <a:ea typeface="MS PGothic" panose="020B0600070205080204" pitchFamily="50" charset="-128"/>
            </a:endParaRPr>
          </a:p>
          <a:p>
            <a:pPr algn="ctr">
              <a:buNone/>
            </a:pPr>
            <a:r>
              <a:rPr lang="en-US" altLang="ja-JP" sz="3200" b="1" dirty="0">
                <a:solidFill>
                  <a:srgbClr val="FF0000"/>
                </a:solidFill>
                <a:latin typeface="Times New Roman" panose="02020603050405020304" pitchFamily="18" charset="0"/>
                <a:ea typeface="MS PGothic" panose="020B0600070205080204" pitchFamily="50" charset="-128"/>
                <a:sym typeface="+mn-ea"/>
              </a:rPr>
              <a:t>và cách phòng ngừa, ngăn chặn.</a:t>
            </a:r>
            <a:endParaRPr lang="ja-JP" altLang="en-US" sz="3200" b="1" dirty="0">
              <a:solidFill>
                <a:srgbClr val="FF0000"/>
              </a:solidFill>
              <a:latin typeface="Times New Roman" panose="02020603050405020304" pitchFamily="18" charset="0"/>
              <a:ea typeface="MS PGothic" panose="020B0600070205080204" pitchFamily="50" charset="-128"/>
            </a:endParaRPr>
          </a:p>
        </p:txBody>
      </p:sp>
      <p:sp>
        <p:nvSpPr>
          <p:cNvPr id="8195" name="Rectangle 1"/>
          <p:cNvSpPr/>
          <p:nvPr/>
        </p:nvSpPr>
        <p:spPr>
          <a:xfrm>
            <a:off x="1176655" y="1431925"/>
            <a:ext cx="7782560" cy="627380"/>
          </a:xfrm>
          <a:prstGeom prst="rect">
            <a:avLst/>
          </a:prstGeom>
          <a:noFill/>
          <a:ln w="9525">
            <a:noFill/>
          </a:ln>
        </p:spPr>
        <p:txBody>
          <a:bodyPr wrap="none">
            <a:noAutofit/>
          </a:bodyPr>
          <a:lstStyle/>
          <a:p>
            <a:pPr algn="l"/>
            <a:r>
              <a:rPr lang="en-US" sz="2800">
                <a:solidFill>
                  <a:srgbClr val="FF0000"/>
                </a:solidFill>
                <a:latin typeface="Times New Roman" panose="02020603050405020304" pitchFamily="18" charset="0"/>
                <a:cs typeface="Times New Roman" panose="02020603050405020304" pitchFamily="18" charset="0"/>
                <a:sym typeface="+mn-ea"/>
              </a:rPr>
              <a:t>1. Bật các tính năng không cần thiết.</a:t>
            </a:r>
          </a:p>
          <a:p>
            <a:pPr algn="l"/>
            <a:endParaRPr lang="en-US" sz="2800"/>
          </a:p>
          <a:p>
            <a:endParaRPr lang="en-US" altLang="ja-JP" sz="2800" b="1" i="1" dirty="0">
              <a:solidFill>
                <a:srgbClr val="FF6600"/>
              </a:solidFill>
              <a:latin typeface="Times New Roman" panose="02020603050405020304" pitchFamily="18" charset="0"/>
              <a:ea typeface="MS PGothic" panose="020B0600070205080204" pitchFamily="50" charset="-128"/>
            </a:endParaRPr>
          </a:p>
        </p:txBody>
      </p:sp>
      <p:sp>
        <p:nvSpPr>
          <p:cNvPr id="2" name="Text Box 1"/>
          <p:cNvSpPr txBox="1"/>
          <p:nvPr/>
        </p:nvSpPr>
        <p:spPr>
          <a:xfrm>
            <a:off x="494665" y="1884680"/>
            <a:ext cx="8314690" cy="4497705"/>
          </a:xfrm>
          <a:prstGeom prst="rect">
            <a:avLst/>
          </a:prstGeom>
          <a:noFill/>
        </p:spPr>
        <p:txBody>
          <a:bodyPr wrap="square" rtlCol="0">
            <a:noAutofit/>
          </a:bodyPr>
          <a:lstStyle/>
          <a:p>
            <a:r>
              <a:rPr lang="en-US" altLang="en-US" sz="1800">
                <a:latin typeface="Times New Roman" panose="02020603050405020304" pitchFamily="18" charset="0"/>
                <a:cs typeface="Times New Roman" panose="02020603050405020304" pitchFamily="18" charset="0"/>
              </a:rPr>
              <a:t>- Cấu hình quyền người dùng không hợp lý</a:t>
            </a:r>
            <a:r>
              <a:rPr lang="en-US" sz="1800">
                <a:latin typeface="Times New Roman" panose="02020603050405020304" pitchFamily="18" charset="0"/>
                <a:cs typeface="Times New Roman" panose="02020603050405020304" pitchFamily="18" charset="0"/>
              </a:rPr>
              <a:t>: </a:t>
            </a:r>
            <a:r>
              <a:rPr lang="en-US" altLang="en-US" sz="1800">
                <a:latin typeface="Times New Roman" panose="02020603050405020304" pitchFamily="18" charset="0"/>
                <a:cs typeface="Times New Roman" panose="02020603050405020304" pitchFamily="18" charset="0"/>
              </a:rPr>
              <a:t>Lỗi này xảy ra khi người dùng hoặc dịch vụ trong hệ thống được cấp quyền vượt quá phạm vi cần thiết, hoặc thiếu kiểm soát truy cập đối với các tài nguyên quan trọng.</a:t>
            </a:r>
            <a:br>
              <a:rPr lang="en-US" altLang="en-US" sz="1800">
                <a:latin typeface="Times New Roman" panose="02020603050405020304" pitchFamily="18" charset="0"/>
                <a:cs typeface="Times New Roman" panose="02020603050405020304" pitchFamily="18" charset="0"/>
              </a:rPr>
            </a:br>
            <a:endParaRPr lang="en-US" altLang="en-US" sz="1800">
              <a:latin typeface="Times New Roman" panose="02020603050405020304" pitchFamily="18" charset="0"/>
              <a:cs typeface="Times New Roman" panose="02020603050405020304" pitchFamily="18" charset="0"/>
            </a:endParaRPr>
          </a:p>
          <a:p>
            <a:pPr indent="457200"/>
            <a:r>
              <a:rPr lang="en-US" altLang="en-US" sz="1800">
                <a:latin typeface="Times New Roman" panose="02020603050405020304" pitchFamily="18" charset="0"/>
                <a:cs typeface="Times New Roman" panose="02020603050405020304" pitchFamily="18" charset="0"/>
              </a:rPr>
              <a:t>Ví dụ:</a:t>
            </a:r>
          </a:p>
          <a:p>
            <a:pPr indent="457200"/>
            <a:r>
              <a:rPr lang="en-US" altLang="en-US" sz="1800">
                <a:latin typeface="Times New Roman" panose="02020603050405020304" pitchFamily="18" charset="0"/>
                <a:cs typeface="Times New Roman" panose="02020603050405020304" pitchFamily="18" charset="0"/>
              </a:rPr>
              <a:t>+ Tài khoản dịch vụ được cấp quyền quản trị thay vì quyền hạn chế.</a:t>
            </a:r>
          </a:p>
          <a:p>
            <a:pPr indent="457200"/>
            <a:r>
              <a:rPr lang="en-US" altLang="en-US" sz="1800">
                <a:latin typeface="Times New Roman" panose="02020603050405020304" pitchFamily="18" charset="0"/>
                <a:cs typeface="Times New Roman" panose="02020603050405020304" pitchFamily="18" charset="0"/>
              </a:rPr>
              <a:t>+Tệp hoặc thư mục nhạy cảm được đặt ở chế độ public hoặc “Everyone can read”.</a:t>
            </a:r>
          </a:p>
          <a:p>
            <a:pPr indent="457200"/>
            <a:r>
              <a:rPr lang="en-US" altLang="en-US" sz="1800">
                <a:latin typeface="Times New Roman" panose="02020603050405020304" pitchFamily="18" charset="0"/>
                <a:cs typeface="Times New Roman" panose="02020603050405020304" pitchFamily="18" charset="0"/>
              </a:rPr>
              <a:t>+ API hoặc chức năng nội bộ không giới hạn phạm vi truy cập.</a:t>
            </a:r>
          </a:p>
          <a:p>
            <a:pPr indent="457200"/>
            <a:endParaRPr lang="en-US" altLang="en-US" sz="1800">
              <a:latin typeface="Times New Roman" panose="02020603050405020304" pitchFamily="18" charset="0"/>
              <a:cs typeface="Times New Roman" panose="02020603050405020304" pitchFamily="18" charset="0"/>
            </a:endParaRPr>
          </a:p>
          <a:p>
            <a:pPr indent="457200"/>
            <a:r>
              <a:rPr lang="en-US" altLang="en-US" sz="1800">
                <a:latin typeface="Times New Roman" panose="02020603050405020304" pitchFamily="18" charset="0"/>
                <a:cs typeface="Times New Roman" panose="02020603050405020304" pitchFamily="18" charset="0"/>
              </a:rPr>
              <a:t>Rủi ro:</a:t>
            </a:r>
          </a:p>
          <a:p>
            <a:pPr indent="457200"/>
            <a:r>
              <a:rPr lang="en-US" altLang="en-US" sz="1800">
                <a:latin typeface="Times New Roman" panose="02020603050405020304" pitchFamily="18" charset="0"/>
                <a:cs typeface="Times New Roman" panose="02020603050405020304" pitchFamily="18" charset="0"/>
              </a:rPr>
              <a:t>+ Kẻ tấn công có thể nâng quyền truy cập (privilege escalation).</a:t>
            </a:r>
          </a:p>
          <a:p>
            <a:pPr indent="457200"/>
            <a:r>
              <a:rPr lang="en-US" altLang="en-US" sz="1800">
                <a:latin typeface="Times New Roman" panose="02020603050405020304" pitchFamily="18" charset="0"/>
                <a:cs typeface="Times New Roman" panose="02020603050405020304" pitchFamily="18" charset="0"/>
              </a:rPr>
              <a:t>+ Truy cập hoặc chỉnh sửa dữ liệu nhạy cảm.</a:t>
            </a:r>
          </a:p>
          <a:p>
            <a:pPr indent="457200"/>
            <a:r>
              <a:rPr lang="en-US" altLang="en-US" sz="1800">
                <a:latin typeface="Times New Roman" panose="02020603050405020304" pitchFamily="18" charset="0"/>
                <a:cs typeface="Times New Roman" panose="02020603050405020304" pitchFamily="18" charset="0"/>
              </a:rPr>
              <a:t>+ Chiếm quyền kiểm soát toàn bộ hệ thống.</a:t>
            </a:r>
          </a:p>
        </p:txBody>
      </p:sp>
      <p:sp>
        <p:nvSpPr>
          <p:cNvPr id="3" name="Slide Number Placeholder 2">
            <a:extLst>
              <a:ext uri="{FF2B5EF4-FFF2-40B4-BE49-F238E27FC236}">
                <a16:creationId xmlns:a16="http://schemas.microsoft.com/office/drawing/2014/main" id="{7CBD50A8-9E83-EC4A-FAE1-D42DBCCD8DF9}"/>
              </a:ext>
            </a:extLst>
          </p:cNvPr>
          <p:cNvSpPr>
            <a:spLocks noGrp="1"/>
          </p:cNvSpPr>
          <p:nvPr>
            <p:ph type="sldNum" sz="quarter" idx="12"/>
          </p:nvPr>
        </p:nvSpPr>
        <p:spPr/>
        <p:txBody>
          <a:bodyPr/>
          <a:lstStyle/>
          <a:p>
            <a:pPr lvl="0" eaLnBrk="1" hangingPunct="1"/>
            <a:fld id="{9A0DB2DC-4C9A-4742-B13C-FB6460FD3503}" type="slidenum">
              <a:rPr lang="en-US" altLang="ja-JP" smtClean="0">
                <a:latin typeface="Arial" panose="020B0604020202020204" pitchFamily="34" charset="0"/>
              </a:rPr>
              <a:t>6</a:t>
            </a:fld>
            <a:endParaRPr lang="en-US" altLang="ja-JP"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8194">
                                            <p:txEl>
                                              <p:pRg st="0" end="0"/>
                                            </p:txEl>
                                          </p:spTgt>
                                        </p:tgtEl>
                                        <p:attrNameLst>
                                          <p:attrName>style.visibility</p:attrName>
                                        </p:attrNameLst>
                                      </p:cBhvr>
                                      <p:to>
                                        <p:strVal val="visible"/>
                                      </p:to>
                                    </p:set>
                                    <p:anim calcmode="lin" valueType="num">
                                      <p:cBhvr additive="base">
                                        <p:cTn id="7" dur="500"/>
                                        <p:tgtEl>
                                          <p:spTgt spid="8194">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8194">
                                            <p:txEl>
                                              <p:pRg st="0" end="0"/>
                                            </p:txEl>
                                          </p:spTgt>
                                        </p:tgtEl>
                                      </p:cBhvr>
                                    </p:animEffect>
                                  </p:childTnLst>
                                </p:cTn>
                              </p:par>
                              <p:par>
                                <p:cTn id="9" presetID="12" presetClass="entr" presetSubtype="4" fill="hold" nodeType="withEffect">
                                  <p:stCondLst>
                                    <p:cond delay="0"/>
                                  </p:stCondLst>
                                  <p:childTnLst>
                                    <p:set>
                                      <p:cBhvr>
                                        <p:cTn id="10" dur="1" fill="hold">
                                          <p:stCondLst>
                                            <p:cond delay="0"/>
                                          </p:stCondLst>
                                        </p:cTn>
                                        <p:tgtEl>
                                          <p:spTgt spid="8194">
                                            <p:txEl>
                                              <p:pRg st="1" end="1"/>
                                            </p:txEl>
                                          </p:spTgt>
                                        </p:tgtEl>
                                        <p:attrNameLst>
                                          <p:attrName>style.visibility</p:attrName>
                                        </p:attrNameLst>
                                      </p:cBhvr>
                                      <p:to>
                                        <p:strVal val="visible"/>
                                      </p:to>
                                    </p:set>
                                    <p:anim calcmode="lin" valueType="num">
                                      <p:cBhvr additive="base">
                                        <p:cTn id="11" dur="500"/>
                                        <p:tgtEl>
                                          <p:spTgt spid="8194">
                                            <p:txEl>
                                              <p:pRg st="1" end="1"/>
                                            </p:txEl>
                                          </p:spTgt>
                                        </p:tgtEl>
                                        <p:attrNameLst>
                                          <p:attrName>ppt_y</p:attrName>
                                        </p:attrNameLst>
                                      </p:cBhvr>
                                      <p:tavLst>
                                        <p:tav tm="0">
                                          <p:val>
                                            <p:strVal val="#ppt_y+#ppt_h*1.125000"/>
                                          </p:val>
                                        </p:tav>
                                        <p:tav tm="100000">
                                          <p:val>
                                            <p:strVal val="#ppt_y"/>
                                          </p:val>
                                        </p:tav>
                                      </p:tavLst>
                                    </p:anim>
                                    <p:animEffect transition="in" filter="wipe(up)">
                                      <p:cBhvr>
                                        <p:cTn id="12" dur="500"/>
                                        <p:tgtEl>
                                          <p:spTgt spid="8194">
                                            <p:txEl>
                                              <p:pRg st="1" end="1"/>
                                            </p:txEl>
                                          </p:spTgt>
                                        </p:tgtEl>
                                      </p:cBhvr>
                                    </p:animEffect>
                                  </p:childTnLst>
                                </p:cTn>
                              </p:par>
                              <p:par>
                                <p:cTn id="13" presetID="12" presetClass="entr" presetSubtype="4" fill="hold" nodeType="withEffect">
                                  <p:stCondLst>
                                    <p:cond delay="0"/>
                                  </p:stCondLst>
                                  <p:childTnLst>
                                    <p:set>
                                      <p:cBhvr>
                                        <p:cTn id="14" dur="1" fill="hold">
                                          <p:stCondLst>
                                            <p:cond delay="0"/>
                                          </p:stCondLst>
                                        </p:cTn>
                                        <p:tgtEl>
                                          <p:spTgt spid="8195">
                                            <p:txEl>
                                              <p:pRg st="0" end="0"/>
                                            </p:txEl>
                                          </p:spTgt>
                                        </p:tgtEl>
                                        <p:attrNameLst>
                                          <p:attrName>style.visibility</p:attrName>
                                        </p:attrNameLst>
                                      </p:cBhvr>
                                      <p:to>
                                        <p:strVal val="visible"/>
                                      </p:to>
                                    </p:set>
                                    <p:anim calcmode="lin" valueType="num">
                                      <p:cBhvr additive="base">
                                        <p:cTn id="15" dur="500"/>
                                        <p:tgtEl>
                                          <p:spTgt spid="8195">
                                            <p:txEl>
                                              <p:pRg st="0" end="0"/>
                                            </p:txEl>
                                          </p:spTgt>
                                        </p:tgtEl>
                                        <p:attrNameLst>
                                          <p:attrName>ppt_y</p:attrName>
                                        </p:attrNameLst>
                                      </p:cBhvr>
                                      <p:tavLst>
                                        <p:tav tm="0">
                                          <p:val>
                                            <p:strVal val="#ppt_y+#ppt_h*1.125000"/>
                                          </p:val>
                                        </p:tav>
                                        <p:tav tm="100000">
                                          <p:val>
                                            <p:strVal val="#ppt_y"/>
                                          </p:val>
                                        </p:tav>
                                      </p:tavLst>
                                    </p:anim>
                                    <p:animEffect transition="in" filter="wipe(up)">
                                      <p:cBhvr>
                                        <p:cTn id="16" dur="500"/>
                                        <p:tgtEl>
                                          <p:spTgt spid="819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テキスト ボックス 3"/>
          <p:cNvSpPr txBox="1"/>
          <p:nvPr/>
        </p:nvSpPr>
        <p:spPr>
          <a:xfrm>
            <a:off x="2274729" y="112713"/>
            <a:ext cx="5745480" cy="1076325"/>
          </a:xfrm>
          <a:prstGeom prst="rect">
            <a:avLst/>
          </a:prstGeom>
          <a:noFill/>
          <a:ln w="9525">
            <a:noFill/>
          </a:ln>
        </p:spPr>
        <p:txBody>
          <a:bodyPr wrap="none">
            <a:spAutoFit/>
          </a:bodyPr>
          <a:lstStyle/>
          <a:p>
            <a:pPr algn="ctr">
              <a:buNone/>
            </a:pPr>
            <a:r>
              <a:rPr lang="en-US" altLang="ja-JP" sz="3200" b="1" dirty="0">
                <a:solidFill>
                  <a:srgbClr val="FF0000"/>
                </a:solidFill>
                <a:latin typeface="Times New Roman" panose="02020603050405020304" pitchFamily="18" charset="0"/>
                <a:ea typeface="MS PGothic" panose="020B0600070205080204" pitchFamily="50" charset="-128"/>
                <a:sym typeface="+mn-ea"/>
              </a:rPr>
              <a:t>II. Cách thức tấn công </a:t>
            </a:r>
            <a:endParaRPr lang="en-US" altLang="ja-JP" sz="3200" b="1" dirty="0">
              <a:solidFill>
                <a:srgbClr val="FF0000"/>
              </a:solidFill>
              <a:latin typeface="Times New Roman" panose="02020603050405020304" pitchFamily="18" charset="0"/>
              <a:ea typeface="MS PGothic" panose="020B0600070205080204" pitchFamily="50" charset="-128"/>
            </a:endParaRPr>
          </a:p>
          <a:p>
            <a:pPr algn="ctr">
              <a:buNone/>
            </a:pPr>
            <a:r>
              <a:rPr lang="en-US" altLang="ja-JP" sz="3200" b="1" dirty="0">
                <a:solidFill>
                  <a:srgbClr val="FF0000"/>
                </a:solidFill>
                <a:latin typeface="Times New Roman" panose="02020603050405020304" pitchFamily="18" charset="0"/>
                <a:ea typeface="MS PGothic" panose="020B0600070205080204" pitchFamily="50" charset="-128"/>
                <a:sym typeface="+mn-ea"/>
              </a:rPr>
              <a:t>và cách phòng ngừa, ngăn chặn.</a:t>
            </a:r>
            <a:endParaRPr lang="ja-JP" altLang="en-US" sz="3200" b="1" dirty="0">
              <a:solidFill>
                <a:srgbClr val="FF0000"/>
              </a:solidFill>
              <a:latin typeface="Times New Roman" panose="02020603050405020304" pitchFamily="18" charset="0"/>
              <a:ea typeface="MS PGothic" panose="020B0600070205080204" pitchFamily="50" charset="-128"/>
            </a:endParaRPr>
          </a:p>
        </p:txBody>
      </p:sp>
      <p:sp>
        <p:nvSpPr>
          <p:cNvPr id="2" name="Text Box 1"/>
          <p:cNvSpPr txBox="1"/>
          <p:nvPr/>
        </p:nvSpPr>
        <p:spPr>
          <a:xfrm>
            <a:off x="936625" y="1663700"/>
            <a:ext cx="7483475" cy="4581525"/>
          </a:xfrm>
          <a:prstGeom prst="rect">
            <a:avLst/>
          </a:prstGeom>
          <a:noFill/>
        </p:spPr>
        <p:txBody>
          <a:bodyPr wrap="square" rtlCol="0">
            <a:noAutofit/>
          </a:bodyPr>
          <a:lstStyle/>
          <a:p>
            <a:r>
              <a:rPr lang="en-US" sz="2800" b="1" dirty="0" err="1">
                <a:latin typeface="Times New Roman" panose="02020603050405020304" pitchFamily="18" charset="0"/>
                <a:cs typeface="Times New Roman" panose="02020603050405020304" pitchFamily="18" charset="0"/>
              </a:rPr>
              <a:t>Cách</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thức</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tấn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công</a:t>
            </a:r>
            <a:endParaRPr lang="en-US" sz="2800" b="1"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300" dirty="0">
                <a:latin typeface="Times New Roman" panose="02020603050405020304" pitchFamily="18" charset="0"/>
                <a:cs typeface="Times New Roman" panose="02020603050405020304" pitchFamily="18" charset="0"/>
              </a:rPr>
              <a:t>- Hacker </a:t>
            </a:r>
            <a:r>
              <a:rPr lang="en-US" sz="2300" dirty="0" err="1">
                <a:latin typeface="Times New Roman" panose="02020603050405020304" pitchFamily="18" charset="0"/>
                <a:cs typeface="Times New Roman" panose="02020603050405020304" pitchFamily="18" charset="0"/>
              </a:rPr>
              <a:t>quét</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cổng</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để</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tìm</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các</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dịch</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vụ</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cổng</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đang</a:t>
            </a:r>
            <a:r>
              <a:rPr lang="en-US" sz="2300" dirty="0">
                <a:latin typeface="Times New Roman" panose="02020603050405020304" pitchFamily="18" charset="0"/>
                <a:cs typeface="Times New Roman" panose="02020603050405020304" pitchFamily="18" charset="0"/>
              </a:rPr>
              <a:t> </a:t>
            </a:r>
            <a:r>
              <a:rPr lang="en-US" sz="2300" dirty="0" err="1">
                <a:latin typeface="Times New Roman" panose="02020603050405020304" pitchFamily="18" charset="0"/>
                <a:cs typeface="Times New Roman" panose="02020603050405020304" pitchFamily="18" charset="0"/>
              </a:rPr>
              <a:t>mở</a:t>
            </a:r>
            <a:r>
              <a:rPr lang="en-US" sz="2300" dirty="0">
                <a:latin typeface="Times New Roman" panose="02020603050405020304" pitchFamily="18" charset="0"/>
                <a:cs typeface="Times New Roman" panose="02020603050405020304" pitchFamily="18" charset="0"/>
              </a:rPr>
              <a:t>.</a:t>
            </a:r>
          </a:p>
          <a:p>
            <a:r>
              <a:rPr lang="en-US" sz="2300" dirty="0">
                <a:latin typeface="Times New Roman" panose="02020603050405020304" pitchFamily="18" charset="0"/>
                <a:cs typeface="Times New Roman" panose="02020603050405020304" pitchFamily="18" charset="0"/>
              </a:rPr>
              <a:t>- </a:t>
            </a:r>
            <a:r>
              <a:rPr lang="en-US" altLang="en-US" sz="2300" dirty="0">
                <a:latin typeface="Times New Roman" panose="02020603050405020304" pitchFamily="18" charset="0"/>
                <a:cs typeface="Times New Roman" panose="02020603050405020304" pitchFamily="18" charset="0"/>
              </a:rPr>
              <a:t>Tiến </a:t>
            </a:r>
            <a:r>
              <a:rPr lang="en-US" altLang="en-US" sz="2300" dirty="0" err="1">
                <a:latin typeface="Times New Roman" panose="02020603050405020304" pitchFamily="18" charset="0"/>
                <a:cs typeface="Times New Roman" panose="02020603050405020304" pitchFamily="18" charset="0"/>
              </a:rPr>
              <a:t>hành</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truy</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cập</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vào</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các</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dịch</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vụ</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mở</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không</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thiết</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yếu</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đang</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hiển</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thị</a:t>
            </a:r>
            <a:r>
              <a:rPr lang="en-US" altLang="en-US" sz="2300" dirty="0">
                <a:latin typeface="Times New Roman" panose="02020603050405020304" pitchFamily="18" charset="0"/>
                <a:cs typeface="Times New Roman" panose="02020603050405020304" pitchFamily="18" charset="0"/>
              </a:rPr>
              <a:t>.</a:t>
            </a:r>
          </a:p>
          <a:p>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Thử</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nghiệm</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đăng</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nhập</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bằng</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cách</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sử</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dụng</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tên</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người</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dùng</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và</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mật</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khẩu</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mặc</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định</a:t>
            </a:r>
            <a:endParaRPr lang="en-US" altLang="en-US" sz="2300" dirty="0">
              <a:latin typeface="Times New Roman" panose="02020603050405020304" pitchFamily="18" charset="0"/>
              <a:cs typeface="Times New Roman" panose="02020603050405020304" pitchFamily="18" charset="0"/>
            </a:endParaRPr>
          </a:p>
          <a:p>
            <a:r>
              <a:rPr lang="en-US" altLang="en-US" sz="2300" dirty="0">
                <a:latin typeface="Times New Roman" panose="02020603050405020304" pitchFamily="18" charset="0"/>
                <a:cs typeface="Times New Roman" panose="02020603050405020304" pitchFamily="18" charset="0"/>
              </a:rPr>
              <a:t>- Trong </a:t>
            </a:r>
            <a:r>
              <a:rPr lang="en-US" altLang="en-US" sz="2300" dirty="0" err="1">
                <a:latin typeface="Times New Roman" panose="02020603050405020304" pitchFamily="18" charset="0"/>
                <a:cs typeface="Times New Roman" panose="02020603050405020304" pitchFamily="18" charset="0"/>
              </a:rPr>
              <a:t>trường</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hợp</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đăng</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nhập</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thành</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công</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kẻ</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tấn</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công</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sẽ</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tiếp</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tục</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khai</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thác</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hệ</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thống</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để</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mở</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rộng</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quyền</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truy</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cập</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hoặc</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thực</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hiện</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hành</a:t>
            </a:r>
            <a:r>
              <a:rPr lang="en-US" altLang="en-US" sz="2300" dirty="0">
                <a:latin typeface="Times New Roman" panose="02020603050405020304" pitchFamily="18" charset="0"/>
                <a:cs typeface="Times New Roman" panose="02020603050405020304" pitchFamily="18" charset="0"/>
              </a:rPr>
              <a:t> vi </a:t>
            </a:r>
            <a:r>
              <a:rPr lang="en-US" altLang="en-US" sz="2300" dirty="0" err="1">
                <a:latin typeface="Times New Roman" panose="02020603050405020304" pitchFamily="18" charset="0"/>
                <a:cs typeface="Times New Roman" panose="02020603050405020304" pitchFamily="18" charset="0"/>
              </a:rPr>
              <a:t>độc</a:t>
            </a:r>
            <a:r>
              <a:rPr lang="en-US" altLang="en-US" sz="2300" dirty="0">
                <a:latin typeface="Times New Roman" panose="02020603050405020304" pitchFamily="18" charset="0"/>
                <a:cs typeface="Times New Roman" panose="02020603050405020304" pitchFamily="18" charset="0"/>
              </a:rPr>
              <a:t> </a:t>
            </a:r>
            <a:r>
              <a:rPr lang="en-US" altLang="en-US" sz="2300" dirty="0" err="1">
                <a:latin typeface="Times New Roman" panose="02020603050405020304" pitchFamily="18" charset="0"/>
                <a:cs typeface="Times New Roman" panose="02020603050405020304" pitchFamily="18" charset="0"/>
              </a:rPr>
              <a:t>hại</a:t>
            </a:r>
            <a:r>
              <a:rPr lang="en-US" altLang="en-US" sz="2300" dirty="0">
                <a:latin typeface="Times New Roman" panose="02020603050405020304" pitchFamily="18" charset="0"/>
                <a:cs typeface="Times New Roman" panose="02020603050405020304" pitchFamily="18" charset="0"/>
              </a:rPr>
              <a:t>.</a:t>
            </a:r>
          </a:p>
          <a:p>
            <a:endParaRPr lang="en-US" altLang="en-US" sz="230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A80FEEC8-05D8-DE60-78FC-903A7D32EE90}"/>
              </a:ext>
            </a:extLst>
          </p:cNvPr>
          <p:cNvSpPr>
            <a:spLocks noGrp="1"/>
          </p:cNvSpPr>
          <p:nvPr>
            <p:ph type="sldNum" sz="quarter" idx="12"/>
          </p:nvPr>
        </p:nvSpPr>
        <p:spPr/>
        <p:txBody>
          <a:bodyPr/>
          <a:lstStyle/>
          <a:p>
            <a:pPr lvl="0" eaLnBrk="1" hangingPunct="1"/>
            <a:fld id="{9A0DB2DC-4C9A-4742-B13C-FB6460FD3503}" type="slidenum">
              <a:rPr lang="en-US" altLang="ja-JP" smtClean="0">
                <a:latin typeface="Arial" panose="020B0604020202020204" pitchFamily="34" charset="0"/>
              </a:rPr>
              <a:t>7</a:t>
            </a:fld>
            <a:endParaRPr lang="en-US" altLang="ja-JP"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9218">
                                            <p:txEl>
                                              <p:pRg st="0" end="0"/>
                                            </p:txEl>
                                          </p:spTgt>
                                        </p:tgtEl>
                                        <p:attrNameLst>
                                          <p:attrName>style.visibility</p:attrName>
                                        </p:attrNameLst>
                                      </p:cBhvr>
                                      <p:to>
                                        <p:strVal val="visible"/>
                                      </p:to>
                                    </p:set>
                                    <p:anim calcmode="lin" valueType="num">
                                      <p:cBhvr additive="base">
                                        <p:cTn id="7" dur="500"/>
                                        <p:tgtEl>
                                          <p:spTgt spid="9218">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9218">
                                            <p:txEl>
                                              <p:pRg st="0" end="0"/>
                                            </p:txEl>
                                          </p:spTgt>
                                        </p:tgtEl>
                                      </p:cBhvr>
                                    </p:animEffect>
                                  </p:childTnLst>
                                </p:cTn>
                              </p:par>
                              <p:par>
                                <p:cTn id="9" presetID="12" presetClass="entr" presetSubtype="4" fill="hold" nodeType="withEffect">
                                  <p:stCondLst>
                                    <p:cond delay="0"/>
                                  </p:stCondLst>
                                  <p:childTnLst>
                                    <p:set>
                                      <p:cBhvr>
                                        <p:cTn id="10" dur="1" fill="hold">
                                          <p:stCondLst>
                                            <p:cond delay="0"/>
                                          </p:stCondLst>
                                        </p:cTn>
                                        <p:tgtEl>
                                          <p:spTgt spid="9218">
                                            <p:txEl>
                                              <p:pRg st="1" end="1"/>
                                            </p:txEl>
                                          </p:spTgt>
                                        </p:tgtEl>
                                        <p:attrNameLst>
                                          <p:attrName>style.visibility</p:attrName>
                                        </p:attrNameLst>
                                      </p:cBhvr>
                                      <p:to>
                                        <p:strVal val="visible"/>
                                      </p:to>
                                    </p:set>
                                    <p:anim calcmode="lin" valueType="num">
                                      <p:cBhvr additive="base">
                                        <p:cTn id="11" dur="500"/>
                                        <p:tgtEl>
                                          <p:spTgt spid="9218">
                                            <p:txEl>
                                              <p:pRg st="1" end="1"/>
                                            </p:txEl>
                                          </p:spTgt>
                                        </p:tgtEl>
                                        <p:attrNameLst>
                                          <p:attrName>ppt_y</p:attrName>
                                        </p:attrNameLst>
                                      </p:cBhvr>
                                      <p:tavLst>
                                        <p:tav tm="0">
                                          <p:val>
                                            <p:strVal val="#ppt_y+#ppt_h*1.125000"/>
                                          </p:val>
                                        </p:tav>
                                        <p:tav tm="100000">
                                          <p:val>
                                            <p:strVal val="#ppt_y"/>
                                          </p:val>
                                        </p:tav>
                                      </p:tavLst>
                                    </p:anim>
                                    <p:animEffect transition="in" filter="wipe(up)">
                                      <p:cBhvr>
                                        <p:cTn id="12" dur="500"/>
                                        <p:tgtEl>
                                          <p:spTgt spid="921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4"/>
          <p:cNvSpPr txBox="1"/>
          <p:nvPr/>
        </p:nvSpPr>
        <p:spPr>
          <a:xfrm>
            <a:off x="421640" y="1490980"/>
            <a:ext cx="8622665" cy="4841875"/>
          </a:xfrm>
          <a:prstGeom prst="rect">
            <a:avLst/>
          </a:prstGeom>
          <a:noFill/>
          <a:ln w="9525">
            <a:noFill/>
          </a:ln>
        </p:spPr>
        <p:txBody>
          <a:bodyPr>
            <a:noAutofit/>
          </a:bodyPr>
          <a:lstStyle/>
          <a:p>
            <a:pPr>
              <a:buNone/>
            </a:pPr>
            <a:r>
              <a:rPr lang="en-US" altLang="en-US" sz="2800" b="1" dirty="0">
                <a:solidFill>
                  <a:srgbClr val="2D2D8A"/>
                </a:solidFill>
                <a:latin typeface="Times New Roman" panose="02020603050405020304" pitchFamily="18" charset="0"/>
                <a:ea typeface="MS PGothic" panose="020B0600070205080204" pitchFamily="50" charset="-128"/>
              </a:rPr>
              <a:t>Cách thức tấn công</a:t>
            </a:r>
            <a:endParaRPr lang="en-US" altLang="en-US" sz="2400" b="1" dirty="0">
              <a:solidFill>
                <a:srgbClr val="2D2D8A"/>
              </a:solidFill>
              <a:latin typeface="Times New Roman" panose="02020603050405020304" pitchFamily="18" charset="0"/>
              <a:ea typeface="MS PGothic" panose="020B0600070205080204" pitchFamily="50" charset="-128"/>
            </a:endParaRPr>
          </a:p>
          <a:p>
            <a:pPr>
              <a:buNone/>
            </a:pPr>
            <a:endParaRPr lang="en-US" altLang="en-US" sz="2400" b="1" dirty="0">
              <a:solidFill>
                <a:srgbClr val="2D2D8A"/>
              </a:solidFill>
              <a:latin typeface="Times New Roman" panose="02020603050405020304" pitchFamily="18" charset="0"/>
              <a:ea typeface="MS PGothic" panose="020B0600070205080204" pitchFamily="50" charset="-128"/>
            </a:endParaRPr>
          </a:p>
          <a:p>
            <a:pPr>
              <a:buNone/>
            </a:pPr>
            <a:endParaRPr lang="en-US" altLang="en-US" sz="2400" b="1" dirty="0">
              <a:solidFill>
                <a:srgbClr val="2D2D8A"/>
              </a:solidFill>
              <a:latin typeface="Times New Roman" panose="02020603050405020304" pitchFamily="18" charset="0"/>
              <a:ea typeface="MS PGothic" panose="020B0600070205080204" pitchFamily="50" charset="-128"/>
            </a:endParaRPr>
          </a:p>
          <a:p>
            <a:pPr>
              <a:buNone/>
            </a:pPr>
            <a:endParaRPr lang="en-US" altLang="en-US" sz="2400" b="1" dirty="0">
              <a:solidFill>
                <a:srgbClr val="2D2D8A"/>
              </a:solidFill>
              <a:latin typeface="Times New Roman" panose="02020603050405020304" pitchFamily="18" charset="0"/>
              <a:ea typeface="MS PGothic" panose="020B0600070205080204" pitchFamily="50" charset="-128"/>
            </a:endParaRPr>
          </a:p>
          <a:p>
            <a:pPr>
              <a:buNone/>
            </a:pPr>
            <a:endParaRPr lang="en-US" altLang="en-US" sz="2400" b="1" dirty="0">
              <a:solidFill>
                <a:srgbClr val="2D2D8A"/>
              </a:solidFill>
              <a:latin typeface="Times New Roman" panose="02020603050405020304" pitchFamily="18" charset="0"/>
              <a:ea typeface="MS PGothic" panose="020B0600070205080204" pitchFamily="50" charset="-128"/>
            </a:endParaRPr>
          </a:p>
          <a:p>
            <a:pPr>
              <a:buNone/>
            </a:pPr>
            <a:endParaRPr lang="en-US" altLang="en-US" sz="2400" b="1" dirty="0">
              <a:solidFill>
                <a:srgbClr val="2D2D8A"/>
              </a:solidFill>
              <a:latin typeface="Times New Roman" panose="02020603050405020304" pitchFamily="18" charset="0"/>
              <a:ea typeface="MS PGothic" panose="020B0600070205080204" pitchFamily="50" charset="-128"/>
            </a:endParaRPr>
          </a:p>
          <a:p>
            <a:pPr>
              <a:buNone/>
            </a:pPr>
            <a:endParaRPr lang="en-US" altLang="en-US" sz="2400" b="1" dirty="0">
              <a:solidFill>
                <a:srgbClr val="2D2D8A"/>
              </a:solidFill>
              <a:latin typeface="Times New Roman" panose="02020603050405020304" pitchFamily="18" charset="0"/>
              <a:ea typeface="MS PGothic" panose="020B0600070205080204" pitchFamily="50" charset="-128"/>
            </a:endParaRPr>
          </a:p>
          <a:p>
            <a:pPr>
              <a:buNone/>
            </a:pPr>
            <a:endParaRPr lang="en-US" altLang="en-US" sz="2400" b="1" dirty="0">
              <a:solidFill>
                <a:srgbClr val="2D2D8A"/>
              </a:solidFill>
              <a:latin typeface="Times New Roman" panose="02020603050405020304" pitchFamily="18" charset="0"/>
              <a:ea typeface="MS PGothic" panose="020B0600070205080204" pitchFamily="50" charset="-128"/>
            </a:endParaRPr>
          </a:p>
          <a:p>
            <a:pPr>
              <a:buNone/>
            </a:pPr>
            <a:endParaRPr lang="en-US" altLang="en-US" sz="2400" b="1" dirty="0">
              <a:solidFill>
                <a:srgbClr val="2D2D8A"/>
              </a:solidFill>
              <a:latin typeface="Times New Roman" panose="02020603050405020304" pitchFamily="18" charset="0"/>
              <a:ea typeface="MS PGothic" panose="020B0600070205080204" pitchFamily="50" charset="-128"/>
            </a:endParaRPr>
          </a:p>
          <a:p>
            <a:pPr>
              <a:buNone/>
            </a:pPr>
            <a:endParaRPr lang="en-US" altLang="en-US" sz="2400" b="1" dirty="0">
              <a:solidFill>
                <a:srgbClr val="2D2D8A"/>
              </a:solidFill>
              <a:latin typeface="Times New Roman" panose="02020603050405020304" pitchFamily="18" charset="0"/>
              <a:ea typeface="MS PGothic" panose="020B0600070205080204" pitchFamily="50" charset="-128"/>
            </a:endParaRPr>
          </a:p>
          <a:p>
            <a:pPr>
              <a:buNone/>
            </a:pPr>
            <a:endParaRPr lang="en-US" altLang="en-US" sz="2400" b="1" dirty="0">
              <a:solidFill>
                <a:srgbClr val="2D2D8A"/>
              </a:solidFill>
              <a:latin typeface="Times New Roman" panose="02020603050405020304" pitchFamily="18" charset="0"/>
              <a:ea typeface="MS PGothic" panose="020B0600070205080204" pitchFamily="50" charset="-128"/>
            </a:endParaRPr>
          </a:p>
          <a:p>
            <a:pPr indent="457200">
              <a:buNone/>
            </a:pPr>
            <a:endParaRPr lang="en-US" altLang="en-US" sz="2400" b="1" dirty="0">
              <a:solidFill>
                <a:srgbClr val="2D2D8A"/>
              </a:solidFill>
              <a:latin typeface="Times New Roman" panose="02020603050405020304" pitchFamily="18" charset="0"/>
              <a:ea typeface="MS PGothic" panose="020B0600070205080204" pitchFamily="50" charset="-128"/>
            </a:endParaRPr>
          </a:p>
          <a:p>
            <a:pPr indent="457200">
              <a:buNone/>
            </a:pPr>
            <a:r>
              <a:rPr lang="en-US" altLang="en-US" sz="2400" dirty="0">
                <a:solidFill>
                  <a:srgbClr val="2D2D8A"/>
                </a:solidFill>
                <a:latin typeface="Times New Roman" panose="02020603050405020304" pitchFamily="18" charset="0"/>
                <a:ea typeface="MS PGothic" panose="020B0600070205080204" pitchFamily="50" charset="-128"/>
              </a:rPr>
              <a:t>Hacker quét cổng để tìm các dịch vụ và cổng đang mở</a:t>
            </a:r>
          </a:p>
        </p:txBody>
      </p:sp>
      <p:sp>
        <p:nvSpPr>
          <p:cNvPr id="11267" name="テキスト ボックス 3"/>
          <p:cNvSpPr txBox="1"/>
          <p:nvPr/>
        </p:nvSpPr>
        <p:spPr>
          <a:xfrm>
            <a:off x="2274729" y="112713"/>
            <a:ext cx="5745480" cy="1076325"/>
          </a:xfrm>
          <a:prstGeom prst="rect">
            <a:avLst/>
          </a:prstGeom>
          <a:noFill/>
          <a:ln w="9525">
            <a:noFill/>
          </a:ln>
        </p:spPr>
        <p:txBody>
          <a:bodyPr wrap="none">
            <a:spAutoFit/>
          </a:bodyPr>
          <a:lstStyle/>
          <a:p>
            <a:pPr algn="ctr">
              <a:buNone/>
            </a:pPr>
            <a:r>
              <a:rPr lang="en-US" altLang="ja-JP" sz="3200" b="1" dirty="0">
                <a:solidFill>
                  <a:srgbClr val="FF0000"/>
                </a:solidFill>
                <a:latin typeface="Times New Roman" panose="02020603050405020304" pitchFamily="18" charset="0"/>
                <a:ea typeface="MS PGothic" panose="020B0600070205080204" pitchFamily="50" charset="-128"/>
                <a:sym typeface="+mn-ea"/>
              </a:rPr>
              <a:t>II. Cách thức tấn công </a:t>
            </a:r>
            <a:endParaRPr lang="en-US" altLang="ja-JP" sz="3200" b="1" dirty="0">
              <a:solidFill>
                <a:srgbClr val="FF0000"/>
              </a:solidFill>
              <a:latin typeface="Times New Roman" panose="02020603050405020304" pitchFamily="18" charset="0"/>
              <a:ea typeface="MS PGothic" panose="020B0600070205080204" pitchFamily="50" charset="-128"/>
            </a:endParaRPr>
          </a:p>
          <a:p>
            <a:pPr algn="ctr">
              <a:buNone/>
            </a:pPr>
            <a:r>
              <a:rPr lang="en-US" altLang="ja-JP" sz="3200" b="1" dirty="0">
                <a:solidFill>
                  <a:srgbClr val="FF0000"/>
                </a:solidFill>
                <a:latin typeface="Times New Roman" panose="02020603050405020304" pitchFamily="18" charset="0"/>
                <a:ea typeface="MS PGothic" panose="020B0600070205080204" pitchFamily="50" charset="-128"/>
                <a:sym typeface="+mn-ea"/>
              </a:rPr>
              <a:t>và cách phòng ngừa, ngăn chặn.</a:t>
            </a:r>
            <a:endParaRPr lang="ja-JP" altLang="en-US" sz="3200" b="1" dirty="0">
              <a:solidFill>
                <a:srgbClr val="FF0000"/>
              </a:solidFill>
              <a:latin typeface="Times New Roman" panose="02020603050405020304" pitchFamily="18" charset="0"/>
              <a:ea typeface="MS PGothic" panose="020B0600070205080204" pitchFamily="50" charset="-128"/>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3455" y="2212340"/>
            <a:ext cx="7197090" cy="3697605"/>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7083D88B-E81B-0748-79AF-FACB1CAB9F40}"/>
              </a:ext>
            </a:extLst>
          </p:cNvPr>
          <p:cNvSpPr>
            <a:spLocks noGrp="1"/>
          </p:cNvSpPr>
          <p:nvPr>
            <p:ph type="sldNum" sz="quarter" idx="12"/>
          </p:nvPr>
        </p:nvSpPr>
        <p:spPr/>
        <p:txBody>
          <a:bodyPr/>
          <a:lstStyle/>
          <a:p>
            <a:pPr lvl="0" eaLnBrk="1" hangingPunct="1"/>
            <a:fld id="{9A0DB2DC-4C9A-4742-B13C-FB6460FD3503}" type="slidenum">
              <a:rPr lang="en-US" altLang="ja-JP" smtClean="0">
                <a:latin typeface="Arial" panose="020B0604020202020204" pitchFamily="34" charset="0"/>
              </a:rPr>
              <a:t>8</a:t>
            </a:fld>
            <a:endParaRPr lang="en-US" altLang="ja-JP"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 calcmode="lin" valueType="num">
                                      <p:cBhvr additive="base">
                                        <p:cTn id="7" dur="500"/>
                                        <p:tgtEl>
                                          <p:spTgt spid="1126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11267">
                                            <p:txEl>
                                              <p:pRg st="0" end="0"/>
                                            </p:txEl>
                                          </p:spTgt>
                                        </p:tgtEl>
                                      </p:cBhvr>
                                    </p:animEffect>
                                  </p:childTnLst>
                                </p:cTn>
                              </p:par>
                              <p:par>
                                <p:cTn id="9" presetID="12" presetClass="entr" presetSubtype="4" fill="hold" nodeType="withEffect">
                                  <p:stCondLst>
                                    <p:cond delay="0"/>
                                  </p:stCondLst>
                                  <p:childTnLst>
                                    <p:set>
                                      <p:cBhvr>
                                        <p:cTn id="10" dur="1" fill="hold">
                                          <p:stCondLst>
                                            <p:cond delay="0"/>
                                          </p:stCondLst>
                                        </p:cTn>
                                        <p:tgtEl>
                                          <p:spTgt spid="11267">
                                            <p:txEl>
                                              <p:pRg st="1" end="1"/>
                                            </p:txEl>
                                          </p:spTgt>
                                        </p:tgtEl>
                                        <p:attrNameLst>
                                          <p:attrName>style.visibility</p:attrName>
                                        </p:attrNameLst>
                                      </p:cBhvr>
                                      <p:to>
                                        <p:strVal val="visible"/>
                                      </p:to>
                                    </p:set>
                                    <p:anim calcmode="lin" valueType="num">
                                      <p:cBhvr additive="base">
                                        <p:cTn id="11" dur="500"/>
                                        <p:tgtEl>
                                          <p:spTgt spid="11267">
                                            <p:txEl>
                                              <p:pRg st="1" end="1"/>
                                            </p:txEl>
                                          </p:spTgt>
                                        </p:tgtEl>
                                        <p:attrNameLst>
                                          <p:attrName>ppt_y</p:attrName>
                                        </p:attrNameLst>
                                      </p:cBhvr>
                                      <p:tavLst>
                                        <p:tav tm="0">
                                          <p:val>
                                            <p:strVal val="#ppt_y+#ppt_h*1.125000"/>
                                          </p:val>
                                        </p:tav>
                                        <p:tav tm="100000">
                                          <p:val>
                                            <p:strVal val="#ppt_y"/>
                                          </p:val>
                                        </p:tav>
                                      </p:tavLst>
                                    </p:anim>
                                    <p:animEffect transition="in" filter="wipe(up)">
                                      <p:cBhvr>
                                        <p:cTn id="12" dur="500"/>
                                        <p:tgtEl>
                                          <p:spTgt spid="1126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Box 4"/>
          <p:cNvSpPr txBox="1"/>
          <p:nvPr/>
        </p:nvSpPr>
        <p:spPr>
          <a:xfrm>
            <a:off x="558165" y="1775460"/>
            <a:ext cx="2562225" cy="521970"/>
          </a:xfrm>
          <a:prstGeom prst="rect">
            <a:avLst/>
          </a:prstGeom>
          <a:noFill/>
          <a:ln w="9525">
            <a:noFill/>
          </a:ln>
        </p:spPr>
        <p:txBody>
          <a:bodyPr wrap="none">
            <a:spAutoFit/>
          </a:bodyPr>
          <a:lstStyle/>
          <a:p>
            <a:r>
              <a:rPr lang="en-US" altLang="en-US" sz="2800" b="1" dirty="0">
                <a:solidFill>
                  <a:srgbClr val="2D2D8A"/>
                </a:solidFill>
                <a:latin typeface="Times New Roman" panose="02020603050405020304" pitchFamily="18" charset="0"/>
                <a:ea typeface="MS PGothic" panose="020B0600070205080204" pitchFamily="50" charset="-128"/>
              </a:rPr>
              <a:t>Sơ đồ minh họa</a:t>
            </a:r>
          </a:p>
        </p:txBody>
      </p:sp>
      <p:sp>
        <p:nvSpPr>
          <p:cNvPr id="13315" name="テキスト ボックス 3"/>
          <p:cNvSpPr txBox="1"/>
          <p:nvPr/>
        </p:nvSpPr>
        <p:spPr>
          <a:xfrm>
            <a:off x="2274729" y="112713"/>
            <a:ext cx="5745480" cy="1076325"/>
          </a:xfrm>
          <a:prstGeom prst="rect">
            <a:avLst/>
          </a:prstGeom>
          <a:noFill/>
          <a:ln w="9525">
            <a:noFill/>
          </a:ln>
        </p:spPr>
        <p:txBody>
          <a:bodyPr wrap="none">
            <a:spAutoFit/>
          </a:bodyPr>
          <a:lstStyle/>
          <a:p>
            <a:pPr algn="ctr">
              <a:buNone/>
            </a:pPr>
            <a:r>
              <a:rPr lang="en-US" altLang="ja-JP" sz="3200" b="1" dirty="0">
                <a:solidFill>
                  <a:srgbClr val="FF0000"/>
                </a:solidFill>
                <a:latin typeface="Times New Roman" panose="02020603050405020304" pitchFamily="18" charset="0"/>
                <a:ea typeface="MS PGothic" panose="020B0600070205080204" pitchFamily="50" charset="-128"/>
                <a:sym typeface="+mn-ea"/>
              </a:rPr>
              <a:t>II. Cách thức tấn công </a:t>
            </a:r>
            <a:endParaRPr lang="en-US" altLang="ja-JP" sz="3200" b="1" dirty="0">
              <a:solidFill>
                <a:srgbClr val="FF0000"/>
              </a:solidFill>
              <a:latin typeface="Times New Roman" panose="02020603050405020304" pitchFamily="18" charset="0"/>
              <a:ea typeface="MS PGothic" panose="020B0600070205080204" pitchFamily="50" charset="-128"/>
            </a:endParaRPr>
          </a:p>
          <a:p>
            <a:pPr algn="ctr">
              <a:buNone/>
            </a:pPr>
            <a:r>
              <a:rPr lang="en-US" altLang="ja-JP" sz="3200" b="1" dirty="0">
                <a:solidFill>
                  <a:srgbClr val="FF0000"/>
                </a:solidFill>
                <a:latin typeface="Times New Roman" panose="02020603050405020304" pitchFamily="18" charset="0"/>
                <a:ea typeface="MS PGothic" panose="020B0600070205080204" pitchFamily="50" charset="-128"/>
                <a:sym typeface="+mn-ea"/>
              </a:rPr>
              <a:t>và cách phòng ngừa, ngăn chặn.</a:t>
            </a:r>
            <a:endParaRPr lang="ja-JP" altLang="en-US" sz="3200" b="1" dirty="0">
              <a:solidFill>
                <a:srgbClr val="FF0000"/>
              </a:solidFill>
              <a:latin typeface="Times New Roman" panose="02020603050405020304" pitchFamily="18" charset="0"/>
              <a:ea typeface="MS PGothic" panose="020B0600070205080204" pitchFamily="50" charset="-128"/>
            </a:endParaRPr>
          </a:p>
        </p:txBody>
      </p:sp>
      <p:sp>
        <p:nvSpPr>
          <p:cNvPr id="2" name="Text Box 1"/>
          <p:cNvSpPr txBox="1"/>
          <p:nvPr/>
        </p:nvSpPr>
        <p:spPr>
          <a:xfrm>
            <a:off x="126365" y="2297430"/>
            <a:ext cx="3300095" cy="4623435"/>
          </a:xfrm>
          <a:prstGeom prst="rect">
            <a:avLst/>
          </a:prstGeom>
          <a:noFill/>
        </p:spPr>
        <p:txBody>
          <a:bodyPr wrap="square" rtlCol="0">
            <a:noAutofit/>
          </a:bodyPr>
          <a:lstStyle/>
          <a:p>
            <a:r>
              <a:rPr lang="en-US" sz="2000" b="1" dirty="0">
                <a:solidFill>
                  <a:schemeClr val="accent2">
                    <a:lumMod val="75000"/>
                  </a:schemeClr>
                </a:solidFill>
                <a:latin typeface="Times New Roman" panose="02020603050405020304" pitchFamily="18" charset="0"/>
                <a:cs typeface="Times New Roman" panose="02020603050405020304" pitchFamily="18" charset="0"/>
              </a:rPr>
              <a:t>Giai </a:t>
            </a:r>
            <a:r>
              <a:rPr lang="en-US" sz="2000" b="1" dirty="0" err="1">
                <a:solidFill>
                  <a:schemeClr val="accent2">
                    <a:lumMod val="75000"/>
                  </a:schemeClr>
                </a:solidFill>
                <a:latin typeface="Times New Roman" panose="02020603050405020304" pitchFamily="18" charset="0"/>
                <a:cs typeface="Times New Roman" panose="02020603050405020304" pitchFamily="18" charset="0"/>
              </a:rPr>
              <a:t>đoạn</a:t>
            </a:r>
            <a:r>
              <a:rPr lang="en-US" sz="2000" b="1" dirty="0">
                <a:solidFill>
                  <a:schemeClr val="accent2">
                    <a:lumMod val="75000"/>
                  </a:schemeClr>
                </a:solidFill>
                <a:latin typeface="Times New Roman" panose="02020603050405020304" pitchFamily="18" charset="0"/>
                <a:cs typeface="Times New Roman" panose="02020603050405020304" pitchFamily="18" charset="0"/>
              </a:rPr>
              <a:t> </a:t>
            </a:r>
            <a:r>
              <a:rPr lang="en-US" sz="2000" b="1" dirty="0" err="1">
                <a:solidFill>
                  <a:schemeClr val="accent2">
                    <a:lumMod val="75000"/>
                  </a:schemeClr>
                </a:solidFill>
                <a:latin typeface="Times New Roman" panose="02020603050405020304" pitchFamily="18" charset="0"/>
                <a:cs typeface="Times New Roman" panose="02020603050405020304" pitchFamily="18" charset="0"/>
              </a:rPr>
              <a:t>truy</a:t>
            </a:r>
            <a:r>
              <a:rPr lang="en-US" sz="2000" b="1" dirty="0">
                <a:solidFill>
                  <a:schemeClr val="accent2">
                    <a:lumMod val="75000"/>
                  </a:schemeClr>
                </a:solidFill>
                <a:latin typeface="Times New Roman" panose="02020603050405020304" pitchFamily="18" charset="0"/>
                <a:cs typeface="Times New Roman" panose="02020603050405020304" pitchFamily="18" charset="0"/>
              </a:rPr>
              <a:t> </a:t>
            </a:r>
            <a:r>
              <a:rPr lang="en-US" sz="2000" b="1" dirty="0" err="1">
                <a:solidFill>
                  <a:schemeClr val="accent2">
                    <a:lumMod val="75000"/>
                  </a:schemeClr>
                </a:solidFill>
                <a:latin typeface="Times New Roman" panose="02020603050405020304" pitchFamily="18" charset="0"/>
                <a:cs typeface="Times New Roman" panose="02020603050405020304" pitchFamily="18" charset="0"/>
              </a:rPr>
              <a:t>cập</a:t>
            </a:r>
            <a:r>
              <a:rPr lang="en-US" sz="2000" b="1" dirty="0">
                <a:solidFill>
                  <a:schemeClr val="accent2">
                    <a:lumMod val="75000"/>
                  </a:schemeClr>
                </a:solidFill>
                <a:latin typeface="Times New Roman" panose="02020603050405020304" pitchFamily="18" charset="0"/>
                <a:cs typeface="Times New Roman" panose="02020603050405020304" pitchFamily="18" charset="0"/>
              </a:rPr>
              <a:t> ban </a:t>
            </a:r>
            <a:r>
              <a:rPr lang="en-US" sz="2000" b="1" dirty="0" err="1">
                <a:solidFill>
                  <a:schemeClr val="accent2">
                    <a:lumMod val="75000"/>
                  </a:schemeClr>
                </a:solidFill>
                <a:latin typeface="Times New Roman" panose="02020603050405020304" pitchFamily="18" charset="0"/>
                <a:cs typeface="Times New Roman" panose="02020603050405020304" pitchFamily="18" charset="0"/>
              </a:rPr>
              <a:t>đầu</a:t>
            </a:r>
            <a:r>
              <a:rPr lang="en-US" sz="2000" b="1" dirty="0">
                <a:solidFill>
                  <a:schemeClr val="accent2">
                    <a:lumMod val="75000"/>
                  </a:schemeClr>
                </a:solidFill>
                <a:latin typeface="Times New Roman" panose="02020603050405020304" pitchFamily="18" charset="0"/>
                <a:cs typeface="Times New Roman" panose="02020603050405020304" pitchFamily="18" charset="0"/>
              </a:rPr>
              <a:t>:</a:t>
            </a:r>
            <a:r>
              <a:rPr lang="en-US" sz="2000" b="1" dirty="0">
                <a:latin typeface="Times New Roman" panose="02020603050405020304" pitchFamily="18" charset="0"/>
                <a:cs typeface="Times New Roman" panose="02020603050405020304" pitchFamily="18" charset="0"/>
              </a:rPr>
              <a:t> </a:t>
            </a:r>
          </a:p>
          <a:p>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FTP </a:t>
            </a:r>
            <a:r>
              <a:rPr lang="vi-VN" sz="2000" dirty="0" err="1">
                <a:solidFill>
                  <a:srgbClr val="000000"/>
                </a:solidFill>
                <a:effectLst/>
                <a:latin typeface="Times New Roman" panose="02020603050405020304" pitchFamily="18" charset="0"/>
                <a:cs typeface="Times New Roman" panose="02020603050405020304" pitchFamily="18" charset="0"/>
                <a:sym typeface="+mn-ea"/>
              </a:rPr>
              <a:t>Anonymous</a:t>
            </a:r>
            <a:r>
              <a:rPr lang="vi-VN" sz="2000" dirty="0">
                <a:solidFill>
                  <a:srgbClr val="000000"/>
                </a:solidFill>
                <a:effectLst/>
                <a:latin typeface="Times New Roman" panose="02020603050405020304" pitchFamily="18" charset="0"/>
                <a:cs typeface="Times New Roman" panose="02020603050405020304" pitchFamily="18" charset="0"/>
                <a:sym typeface="+mn-ea"/>
              </a:rPr>
              <a:t> </a:t>
            </a:r>
            <a:r>
              <a:rPr lang="vi-VN" sz="2000" dirty="0" err="1">
                <a:solidFill>
                  <a:srgbClr val="000000"/>
                </a:solidFill>
                <a:effectLst/>
                <a:latin typeface="Times New Roman" panose="02020603050405020304" pitchFamily="18" charset="0"/>
                <a:cs typeface="Times New Roman" panose="02020603050405020304" pitchFamily="18" charset="0"/>
                <a:sym typeface="+mn-ea"/>
              </a:rPr>
              <a:t>Login</a:t>
            </a:r>
            <a:r>
              <a:rPr lang="en-US" altLang="vi-VN" sz="2000" dirty="0">
                <a:solidFill>
                  <a:srgbClr val="000000"/>
                </a:solidFill>
                <a:effectLst/>
                <a:latin typeface="Times New Roman" panose="02020603050405020304" pitchFamily="18" charset="0"/>
                <a:cs typeface="Times New Roman" panose="02020603050405020304" pitchFamily="18" charset="0"/>
                <a:sym typeface="+mn-ea"/>
              </a:rPr>
              <a:t>: Hacker </a:t>
            </a:r>
            <a:r>
              <a:rPr lang="en-US" altLang="vi-VN" sz="2000" dirty="0" err="1">
                <a:solidFill>
                  <a:srgbClr val="000000"/>
                </a:solidFill>
                <a:effectLst/>
                <a:latin typeface="Times New Roman" panose="02020603050405020304" pitchFamily="18" charset="0"/>
                <a:cs typeface="Times New Roman" panose="02020603050405020304" pitchFamily="18" charset="0"/>
                <a:sym typeface="+mn-ea"/>
              </a:rPr>
              <a:t>thử</a:t>
            </a:r>
            <a:r>
              <a:rPr lang="en-US" altLang="vi-VN" sz="2000" dirty="0">
                <a:solidFill>
                  <a:srgbClr val="000000"/>
                </a:solidFill>
                <a:effectLst/>
                <a:latin typeface="Times New Roman" panose="02020603050405020304" pitchFamily="18" charset="0"/>
                <a:cs typeface="Times New Roman" panose="02020603050405020304" pitchFamily="18" charset="0"/>
                <a:sym typeface="+mn-ea"/>
              </a:rPr>
              <a:t> </a:t>
            </a:r>
            <a:r>
              <a:rPr lang="en-US" altLang="vi-VN" sz="2000" dirty="0" err="1">
                <a:solidFill>
                  <a:srgbClr val="000000"/>
                </a:solidFill>
                <a:effectLst/>
                <a:latin typeface="Times New Roman" panose="02020603050405020304" pitchFamily="18" charset="0"/>
                <a:cs typeface="Times New Roman" panose="02020603050405020304" pitchFamily="18" charset="0"/>
                <a:sym typeface="+mn-ea"/>
              </a:rPr>
              <a:t>đăng</a:t>
            </a:r>
            <a:r>
              <a:rPr lang="en-US" altLang="vi-VN" sz="2000" dirty="0">
                <a:solidFill>
                  <a:srgbClr val="000000"/>
                </a:solidFill>
                <a:effectLst/>
                <a:latin typeface="Times New Roman" panose="02020603050405020304" pitchFamily="18" charset="0"/>
                <a:cs typeface="Times New Roman" panose="02020603050405020304" pitchFamily="18" charset="0"/>
                <a:sym typeface="+mn-ea"/>
              </a:rPr>
              <a:t> </a:t>
            </a:r>
            <a:r>
              <a:rPr lang="en-US" altLang="vi-VN" sz="2000" dirty="0" err="1">
                <a:solidFill>
                  <a:srgbClr val="000000"/>
                </a:solidFill>
                <a:effectLst/>
                <a:latin typeface="Times New Roman" panose="02020603050405020304" pitchFamily="18" charset="0"/>
                <a:cs typeface="Times New Roman" panose="02020603050405020304" pitchFamily="18" charset="0"/>
                <a:sym typeface="+mn-ea"/>
              </a:rPr>
              <a:t>nhập</a:t>
            </a:r>
            <a:r>
              <a:rPr lang="en-US" altLang="vi-VN" sz="2000" dirty="0">
                <a:solidFill>
                  <a:srgbClr val="000000"/>
                </a:solidFill>
                <a:effectLst/>
                <a:latin typeface="Times New Roman" panose="02020603050405020304" pitchFamily="18" charset="0"/>
                <a:cs typeface="Times New Roman" panose="02020603050405020304" pitchFamily="18" charset="0"/>
                <a:sym typeface="+mn-ea"/>
              </a:rPr>
              <a:t> </a:t>
            </a:r>
            <a:r>
              <a:rPr lang="en-US" altLang="vi-VN" sz="2000" dirty="0" err="1">
                <a:solidFill>
                  <a:srgbClr val="000000"/>
                </a:solidFill>
                <a:effectLst/>
                <a:latin typeface="Times New Roman" panose="02020603050405020304" pitchFamily="18" charset="0"/>
                <a:cs typeface="Times New Roman" panose="02020603050405020304" pitchFamily="18" charset="0"/>
                <a:sym typeface="+mn-ea"/>
              </a:rPr>
              <a:t>bằng</a:t>
            </a:r>
            <a:r>
              <a:rPr lang="en-US" altLang="vi-VN" sz="2000" dirty="0">
                <a:solidFill>
                  <a:srgbClr val="000000"/>
                </a:solidFill>
                <a:effectLst/>
                <a:latin typeface="Times New Roman" panose="02020603050405020304" pitchFamily="18" charset="0"/>
                <a:cs typeface="Times New Roman" panose="02020603050405020304" pitchFamily="18" charset="0"/>
                <a:sym typeface="+mn-ea"/>
              </a:rPr>
              <a:t> </a:t>
            </a:r>
            <a:r>
              <a:rPr lang="en-US" altLang="vi-VN" sz="2000" dirty="0" err="1">
                <a:solidFill>
                  <a:srgbClr val="000000"/>
                </a:solidFill>
                <a:effectLst/>
                <a:latin typeface="Times New Roman" panose="02020603050405020304" pitchFamily="18" charset="0"/>
                <a:cs typeface="Times New Roman" panose="02020603050405020304" pitchFamily="18" charset="0"/>
                <a:sym typeface="+mn-ea"/>
              </a:rPr>
              <a:t>tài</a:t>
            </a:r>
            <a:r>
              <a:rPr lang="en-US" altLang="vi-VN" sz="2000" dirty="0">
                <a:solidFill>
                  <a:srgbClr val="000000"/>
                </a:solidFill>
                <a:effectLst/>
                <a:latin typeface="Times New Roman" panose="02020603050405020304" pitchFamily="18" charset="0"/>
                <a:cs typeface="Times New Roman" panose="02020603050405020304" pitchFamily="18" charset="0"/>
                <a:sym typeface="+mn-ea"/>
              </a:rPr>
              <a:t> </a:t>
            </a:r>
            <a:r>
              <a:rPr lang="en-US" altLang="vi-VN" sz="2000" dirty="0" err="1">
                <a:solidFill>
                  <a:srgbClr val="000000"/>
                </a:solidFill>
                <a:effectLst/>
                <a:latin typeface="Times New Roman" panose="02020603050405020304" pitchFamily="18" charset="0"/>
                <a:cs typeface="Times New Roman" panose="02020603050405020304" pitchFamily="18" charset="0"/>
                <a:sym typeface="+mn-ea"/>
              </a:rPr>
              <a:t>khoản</a:t>
            </a:r>
            <a:r>
              <a:rPr lang="en-US" altLang="vi-VN" sz="2000" dirty="0">
                <a:solidFill>
                  <a:srgbClr val="000000"/>
                </a:solidFill>
                <a:effectLst/>
                <a:latin typeface="Times New Roman" panose="02020603050405020304" pitchFamily="18" charset="0"/>
                <a:cs typeface="Times New Roman" panose="02020603050405020304" pitchFamily="18" charset="0"/>
                <a:sym typeface="+mn-ea"/>
              </a:rPr>
              <a:t> anonymous.</a:t>
            </a:r>
            <a:br>
              <a:rPr lang="en-US" altLang="vi-VN" sz="2000" dirty="0">
                <a:solidFill>
                  <a:srgbClr val="000000"/>
                </a:solidFill>
                <a:effectLst/>
                <a:latin typeface="Times New Roman" panose="02020603050405020304" pitchFamily="18" charset="0"/>
                <a:cs typeface="Times New Roman" panose="02020603050405020304" pitchFamily="18" charset="0"/>
                <a:sym typeface="+mn-ea"/>
              </a:rPr>
            </a:br>
            <a:endParaRPr lang="en-US" altLang="vi-VN" sz="2000" dirty="0">
              <a:solidFill>
                <a:srgbClr val="000000"/>
              </a:solidFill>
              <a:effectLst/>
              <a:latin typeface="Times New Roman" panose="02020603050405020304" pitchFamily="18" charset="0"/>
              <a:cs typeface="Times New Roman" panose="02020603050405020304" pitchFamily="18" charset="0"/>
              <a:sym typeface="+mn-ea"/>
            </a:endParaRPr>
          </a:p>
          <a:p>
            <a:r>
              <a:rPr lang="en-US" altLang="vi-VN" sz="2000" dirty="0">
                <a:solidFill>
                  <a:srgbClr val="000000"/>
                </a:solidFill>
                <a:effectLst/>
                <a:latin typeface="Times New Roman" panose="02020603050405020304" pitchFamily="18" charset="0"/>
                <a:cs typeface="Times New Roman" panose="02020603050405020304" pitchFamily="18" charset="0"/>
                <a:sym typeface="+mn-ea"/>
              </a:rPr>
              <a:t>- </a:t>
            </a:r>
            <a:r>
              <a:rPr lang="en-US" altLang="vi-VN" sz="2000" dirty="0" err="1">
                <a:solidFill>
                  <a:srgbClr val="000000"/>
                </a:solidFill>
                <a:effectLst/>
                <a:latin typeface="Times New Roman" panose="02020603050405020304" pitchFamily="18" charset="0"/>
                <a:cs typeface="Times New Roman" panose="02020603050405020304" pitchFamily="18" charset="0"/>
                <a:sym typeface="+mn-ea"/>
              </a:rPr>
              <a:t>Đăng</a:t>
            </a:r>
            <a:r>
              <a:rPr lang="en-US" altLang="vi-VN" sz="2000" dirty="0">
                <a:solidFill>
                  <a:srgbClr val="000000"/>
                </a:solidFill>
                <a:effectLst/>
                <a:latin typeface="Times New Roman" panose="02020603050405020304" pitchFamily="18" charset="0"/>
                <a:cs typeface="Times New Roman" panose="02020603050405020304" pitchFamily="18" charset="0"/>
                <a:sym typeface="+mn-ea"/>
              </a:rPr>
              <a:t> </a:t>
            </a:r>
            <a:r>
              <a:rPr lang="en-US" altLang="vi-VN" sz="2000" dirty="0" err="1">
                <a:solidFill>
                  <a:srgbClr val="000000"/>
                </a:solidFill>
                <a:effectLst/>
                <a:latin typeface="Times New Roman" panose="02020603050405020304" pitchFamily="18" charset="0"/>
                <a:cs typeface="Times New Roman" panose="02020603050405020304" pitchFamily="18" charset="0"/>
                <a:sym typeface="+mn-ea"/>
              </a:rPr>
              <a:t>nhập</a:t>
            </a:r>
            <a:r>
              <a:rPr lang="en-US" altLang="vi-VN" sz="2000" dirty="0">
                <a:solidFill>
                  <a:srgbClr val="000000"/>
                </a:solidFill>
                <a:effectLst/>
                <a:latin typeface="Times New Roman" panose="02020603050405020304" pitchFamily="18" charset="0"/>
                <a:cs typeface="Times New Roman" panose="02020603050405020304" pitchFamily="18" charset="0"/>
                <a:sym typeface="+mn-ea"/>
              </a:rPr>
              <a:t> </a:t>
            </a:r>
            <a:r>
              <a:rPr lang="en-US" altLang="vi-VN" sz="2000" dirty="0" err="1">
                <a:solidFill>
                  <a:srgbClr val="000000"/>
                </a:solidFill>
                <a:effectLst/>
                <a:latin typeface="Times New Roman" panose="02020603050405020304" pitchFamily="18" charset="0"/>
                <a:cs typeface="Times New Roman" panose="02020603050405020304" pitchFamily="18" charset="0"/>
                <a:sym typeface="+mn-ea"/>
              </a:rPr>
              <a:t>thành</a:t>
            </a:r>
            <a:r>
              <a:rPr lang="en-US" altLang="vi-VN" sz="2000" dirty="0">
                <a:solidFill>
                  <a:srgbClr val="000000"/>
                </a:solidFill>
                <a:effectLst/>
                <a:latin typeface="Times New Roman" panose="02020603050405020304" pitchFamily="18" charset="0"/>
                <a:cs typeface="Times New Roman" panose="02020603050405020304" pitchFamily="18" charset="0"/>
                <a:sym typeface="+mn-ea"/>
              </a:rPr>
              <a:t> </a:t>
            </a:r>
            <a:r>
              <a:rPr lang="en-US" altLang="vi-VN" sz="2000" dirty="0" err="1">
                <a:solidFill>
                  <a:srgbClr val="000000"/>
                </a:solidFill>
                <a:effectLst/>
                <a:latin typeface="Times New Roman" panose="02020603050405020304" pitchFamily="18" charset="0"/>
                <a:cs typeface="Times New Roman" panose="02020603050405020304" pitchFamily="18" charset="0"/>
                <a:sym typeface="+mn-ea"/>
              </a:rPr>
              <a:t>công</a:t>
            </a:r>
            <a:r>
              <a:rPr lang="en-US" altLang="vi-VN" sz="2000" dirty="0">
                <a:solidFill>
                  <a:srgbClr val="000000"/>
                </a:solidFill>
                <a:effectLst/>
                <a:latin typeface="Times New Roman" panose="02020603050405020304" pitchFamily="18" charset="0"/>
                <a:cs typeface="Times New Roman" panose="02020603050405020304" pitchFamily="18" charset="0"/>
                <a:sym typeface="+mn-ea"/>
              </a:rPr>
              <a:t> -&gt; hacker </a:t>
            </a:r>
            <a:r>
              <a:rPr lang="en-US" altLang="vi-VN" sz="2000" dirty="0" err="1">
                <a:solidFill>
                  <a:srgbClr val="000000"/>
                </a:solidFill>
                <a:effectLst/>
                <a:latin typeface="Times New Roman" panose="02020603050405020304" pitchFamily="18" charset="0"/>
                <a:cs typeface="Times New Roman" panose="02020603050405020304" pitchFamily="18" charset="0"/>
                <a:sym typeface="+mn-ea"/>
              </a:rPr>
              <a:t>dùng</a:t>
            </a:r>
            <a:r>
              <a:rPr lang="en-US" altLang="vi-VN" sz="2000" dirty="0">
                <a:solidFill>
                  <a:srgbClr val="000000"/>
                </a:solidFill>
                <a:effectLst/>
                <a:latin typeface="Times New Roman" panose="02020603050405020304" pitchFamily="18" charset="0"/>
                <a:cs typeface="Times New Roman" panose="02020603050405020304" pitchFamily="18" charset="0"/>
                <a:sym typeface="+mn-ea"/>
              </a:rPr>
              <a:t> </a:t>
            </a:r>
            <a:r>
              <a:rPr lang="en-US" altLang="vi-VN" sz="2000" dirty="0" err="1">
                <a:solidFill>
                  <a:srgbClr val="000000"/>
                </a:solidFill>
                <a:effectLst/>
                <a:latin typeface="Times New Roman" panose="02020603050405020304" pitchFamily="18" charset="0"/>
                <a:cs typeface="Times New Roman" panose="02020603050405020304" pitchFamily="18" charset="0"/>
                <a:sym typeface="+mn-ea"/>
              </a:rPr>
              <a:t>lệnh</a:t>
            </a:r>
            <a:r>
              <a:rPr lang="en-US" altLang="vi-VN" sz="2000" dirty="0">
                <a:solidFill>
                  <a:srgbClr val="000000"/>
                </a:solidFill>
                <a:effectLst/>
                <a:latin typeface="Times New Roman" panose="02020603050405020304" pitchFamily="18" charset="0"/>
                <a:cs typeface="Times New Roman" panose="02020603050405020304" pitchFamily="18" charset="0"/>
                <a:sym typeface="+mn-ea"/>
              </a:rPr>
              <a:t> ls </a:t>
            </a:r>
            <a:r>
              <a:rPr lang="en-US" altLang="vi-VN" sz="2000" dirty="0" err="1">
                <a:solidFill>
                  <a:srgbClr val="000000"/>
                </a:solidFill>
                <a:effectLst/>
                <a:latin typeface="Times New Roman" panose="02020603050405020304" pitchFamily="18" charset="0"/>
                <a:cs typeface="Times New Roman" panose="02020603050405020304" pitchFamily="18" charset="0"/>
                <a:sym typeface="+mn-ea"/>
              </a:rPr>
              <a:t>và</a:t>
            </a:r>
            <a:r>
              <a:rPr lang="en-US" altLang="vi-VN" sz="2000" dirty="0">
                <a:solidFill>
                  <a:srgbClr val="000000"/>
                </a:solidFill>
                <a:effectLst/>
                <a:latin typeface="Times New Roman" panose="02020603050405020304" pitchFamily="18" charset="0"/>
                <a:cs typeface="Times New Roman" panose="02020603050405020304" pitchFamily="18" charset="0"/>
                <a:sym typeface="+mn-ea"/>
              </a:rPr>
              <a:t> </a:t>
            </a:r>
            <a:r>
              <a:rPr lang="en-US" altLang="vi-VN" sz="2000" dirty="0" err="1">
                <a:solidFill>
                  <a:srgbClr val="000000"/>
                </a:solidFill>
                <a:effectLst/>
                <a:latin typeface="Times New Roman" panose="02020603050405020304" pitchFamily="18" charset="0"/>
                <a:cs typeface="Times New Roman" panose="02020603050405020304" pitchFamily="18" charset="0"/>
                <a:sym typeface="+mn-ea"/>
              </a:rPr>
              <a:t>thấy</a:t>
            </a:r>
            <a:r>
              <a:rPr lang="en-US" altLang="vi-VN" sz="2000" dirty="0">
                <a:solidFill>
                  <a:srgbClr val="000000"/>
                </a:solidFill>
                <a:effectLst/>
                <a:latin typeface="Times New Roman" panose="02020603050405020304" pitchFamily="18" charset="0"/>
                <a:cs typeface="Times New Roman" panose="02020603050405020304" pitchFamily="18" charset="0"/>
                <a:sym typeface="+mn-ea"/>
              </a:rPr>
              <a:t> </a:t>
            </a:r>
            <a:r>
              <a:rPr lang="en-US" altLang="vi-VN" sz="2000" dirty="0" err="1">
                <a:solidFill>
                  <a:srgbClr val="000000"/>
                </a:solidFill>
                <a:effectLst/>
                <a:latin typeface="Times New Roman" panose="02020603050405020304" pitchFamily="18" charset="0"/>
                <a:cs typeface="Times New Roman" panose="02020603050405020304" pitchFamily="18" charset="0"/>
                <a:sym typeface="+mn-ea"/>
              </a:rPr>
              <a:t>đ</a:t>
            </a:r>
            <a:r>
              <a:rPr lang="en-US" altLang="vi-VN" sz="2000" dirty="0" err="1">
                <a:solidFill>
                  <a:srgbClr val="000000"/>
                </a:solidFill>
                <a:latin typeface="Times New Roman" panose="02020603050405020304" pitchFamily="18" charset="0"/>
                <a:cs typeface="Times New Roman" panose="02020603050405020304" pitchFamily="18" charset="0"/>
                <a:sym typeface="+mn-ea"/>
              </a:rPr>
              <a:t>ược</a:t>
            </a:r>
            <a:r>
              <a:rPr lang="en-US" altLang="vi-VN" sz="2000" dirty="0">
                <a:solidFill>
                  <a:srgbClr val="000000"/>
                </a:solidFill>
                <a:effectLst/>
                <a:latin typeface="Times New Roman" panose="02020603050405020304" pitchFamily="18" charset="0"/>
                <a:cs typeface="Times New Roman" panose="02020603050405020304" pitchFamily="18" charset="0"/>
                <a:sym typeface="+mn-ea"/>
              </a:rPr>
              <a:t> 2 file </a:t>
            </a:r>
            <a:r>
              <a:rPr lang="en-US" altLang="vi-VN" sz="2000" dirty="0" err="1">
                <a:solidFill>
                  <a:srgbClr val="000000"/>
                </a:solidFill>
                <a:effectLst/>
                <a:latin typeface="Times New Roman" panose="02020603050405020304" pitchFamily="18" charset="0"/>
                <a:cs typeface="Times New Roman" panose="02020603050405020304" pitchFamily="18" charset="0"/>
                <a:sym typeface="+mn-ea"/>
              </a:rPr>
              <a:t>quan</a:t>
            </a:r>
            <a:r>
              <a:rPr lang="en-US" altLang="vi-VN" sz="2000" dirty="0">
                <a:solidFill>
                  <a:srgbClr val="000000"/>
                </a:solidFill>
                <a:effectLst/>
                <a:latin typeface="Times New Roman" panose="02020603050405020304" pitchFamily="18" charset="0"/>
                <a:cs typeface="Times New Roman" panose="02020603050405020304" pitchFamily="18" charset="0"/>
                <a:sym typeface="+mn-ea"/>
              </a:rPr>
              <a:t> </a:t>
            </a:r>
            <a:r>
              <a:rPr lang="en-US" altLang="vi-VN" sz="2000" dirty="0" err="1">
                <a:solidFill>
                  <a:srgbClr val="000000"/>
                </a:solidFill>
                <a:effectLst/>
                <a:latin typeface="Times New Roman" panose="02020603050405020304" pitchFamily="18" charset="0"/>
                <a:cs typeface="Times New Roman" panose="02020603050405020304" pitchFamily="18" charset="0"/>
                <a:sym typeface="+mn-ea"/>
              </a:rPr>
              <a:t>trọng</a:t>
            </a:r>
            <a:r>
              <a:rPr lang="en-US" altLang="vi-VN" sz="2000" dirty="0">
                <a:solidFill>
                  <a:srgbClr val="000000"/>
                </a:solidFill>
                <a:effectLst/>
                <a:latin typeface="Times New Roman" panose="02020603050405020304" pitchFamily="18" charset="0"/>
                <a:cs typeface="Times New Roman" panose="02020603050405020304" pitchFamily="18" charset="0"/>
                <a:sym typeface="+mn-ea"/>
              </a:rPr>
              <a:t>: </a:t>
            </a:r>
            <a:r>
              <a:rPr lang="en-US" altLang="vi-VN" sz="2000" dirty="0" err="1">
                <a:solidFill>
                  <a:srgbClr val="FF0000"/>
                </a:solidFill>
                <a:effectLst/>
                <a:latin typeface="Times New Roman" panose="02020603050405020304" pitchFamily="18" charset="0"/>
                <a:cs typeface="Times New Roman" panose="02020603050405020304" pitchFamily="18" charset="0"/>
                <a:sym typeface="+mn-ea"/>
              </a:rPr>
              <a:t>config.php</a:t>
            </a:r>
            <a:r>
              <a:rPr lang="en-US" altLang="vi-VN" sz="2000" dirty="0">
                <a:solidFill>
                  <a:srgbClr val="000000"/>
                </a:solidFill>
                <a:effectLst/>
                <a:latin typeface="Times New Roman" panose="02020603050405020304" pitchFamily="18" charset="0"/>
                <a:cs typeface="Times New Roman" panose="02020603050405020304" pitchFamily="18" charset="0"/>
                <a:sym typeface="+mn-ea"/>
              </a:rPr>
              <a:t> </a:t>
            </a:r>
            <a:r>
              <a:rPr lang="en-US" altLang="vi-VN" sz="2000" dirty="0" err="1">
                <a:solidFill>
                  <a:srgbClr val="000000"/>
                </a:solidFill>
                <a:effectLst/>
                <a:latin typeface="Times New Roman" panose="02020603050405020304" pitchFamily="18" charset="0"/>
                <a:cs typeface="Times New Roman" panose="02020603050405020304" pitchFamily="18" charset="0"/>
                <a:sym typeface="+mn-ea"/>
              </a:rPr>
              <a:t>và</a:t>
            </a:r>
            <a:r>
              <a:rPr lang="en-US" altLang="vi-VN" sz="2000" dirty="0">
                <a:solidFill>
                  <a:srgbClr val="000000"/>
                </a:solidFill>
                <a:effectLst/>
                <a:latin typeface="Times New Roman" panose="02020603050405020304" pitchFamily="18" charset="0"/>
                <a:cs typeface="Times New Roman" panose="02020603050405020304" pitchFamily="18" charset="0"/>
                <a:sym typeface="+mn-ea"/>
              </a:rPr>
              <a:t> </a:t>
            </a:r>
            <a:r>
              <a:rPr lang="en-US" altLang="vi-VN" sz="2000" dirty="0" err="1">
                <a:solidFill>
                  <a:srgbClr val="FF0000"/>
                </a:solidFill>
                <a:effectLst/>
                <a:latin typeface="Times New Roman" panose="02020603050405020304" pitchFamily="18" charset="0"/>
                <a:cs typeface="Times New Roman" panose="02020603050405020304" pitchFamily="18" charset="0"/>
                <a:sym typeface="+mn-ea"/>
              </a:rPr>
              <a:t>doc.txt</a:t>
            </a:r>
            <a:endParaRPr lang="en-US" altLang="vi-VN" sz="2000" dirty="0">
              <a:solidFill>
                <a:srgbClr val="000000"/>
              </a:solidFill>
              <a:effectLst/>
              <a:latin typeface="Times New Roman" panose="02020603050405020304" pitchFamily="18" charset="0"/>
              <a:cs typeface="Times New Roman" panose="02020603050405020304" pitchFamily="18" charset="0"/>
              <a:sym typeface="+mn-ea"/>
            </a:endParaRPr>
          </a:p>
          <a:p>
            <a:endParaRPr lang="en-US" altLang="vi-VN" sz="2000" dirty="0">
              <a:solidFill>
                <a:srgbClr val="000000"/>
              </a:solidFill>
              <a:effectLst/>
              <a:latin typeface="Times New Roman" panose="02020603050405020304" pitchFamily="18" charset="0"/>
              <a:cs typeface="Times New Roman" panose="02020603050405020304" pitchFamily="18" charset="0"/>
              <a:sym typeface="+mn-ea"/>
            </a:endParaRPr>
          </a:p>
        </p:txBody>
      </p:sp>
      <p:pic>
        <p:nvPicPr>
          <p:cNvPr id="6" name="Picture 5">
            <a:extLst>
              <a:ext uri="{FF2B5EF4-FFF2-40B4-BE49-F238E27FC236}">
                <a16:creationId xmlns:a16="http://schemas.microsoft.com/office/drawing/2014/main" id="{ADB8C93E-836C-F6D2-BA9C-AE5FE6CDAE00}"/>
              </a:ext>
            </a:extLst>
          </p:cNvPr>
          <p:cNvPicPr>
            <a:picLocks noChangeAspect="1"/>
          </p:cNvPicPr>
          <p:nvPr/>
        </p:nvPicPr>
        <p:blipFill>
          <a:blip r:embed="rId2"/>
          <a:stretch>
            <a:fillRect/>
          </a:stretch>
        </p:blipFill>
        <p:spPr>
          <a:xfrm>
            <a:off x="3426460" y="2422316"/>
            <a:ext cx="5672455" cy="3166954"/>
          </a:xfrm>
          <a:prstGeom prst="rect">
            <a:avLst/>
          </a:prstGeom>
        </p:spPr>
      </p:pic>
      <p:sp>
        <p:nvSpPr>
          <p:cNvPr id="3" name="Slide Number Placeholder 2">
            <a:extLst>
              <a:ext uri="{FF2B5EF4-FFF2-40B4-BE49-F238E27FC236}">
                <a16:creationId xmlns:a16="http://schemas.microsoft.com/office/drawing/2014/main" id="{F0A91880-528A-3F06-8648-359DD61E968B}"/>
              </a:ext>
            </a:extLst>
          </p:cNvPr>
          <p:cNvSpPr>
            <a:spLocks noGrp="1"/>
          </p:cNvSpPr>
          <p:nvPr>
            <p:ph type="sldNum" sz="quarter" idx="12"/>
          </p:nvPr>
        </p:nvSpPr>
        <p:spPr/>
        <p:txBody>
          <a:bodyPr/>
          <a:lstStyle/>
          <a:p>
            <a:pPr lvl="0" eaLnBrk="1" hangingPunct="1"/>
            <a:fld id="{9A0DB2DC-4C9A-4742-B13C-FB6460FD3503}" type="slidenum">
              <a:rPr lang="en-US" altLang="ja-JP" smtClean="0">
                <a:latin typeface="Arial" panose="020B0604020202020204" pitchFamily="34" charset="0"/>
              </a:rPr>
              <a:t>9</a:t>
            </a:fld>
            <a:endParaRPr lang="en-US" altLang="ja-JP"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 calcmode="lin" valueType="num">
                                      <p:cBhvr additive="base">
                                        <p:cTn id="7" dur="500"/>
                                        <p:tgtEl>
                                          <p:spTgt spid="1331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13315">
                                            <p:txEl>
                                              <p:pRg st="0" end="0"/>
                                            </p:txEl>
                                          </p:spTgt>
                                        </p:tgtEl>
                                      </p:cBhvr>
                                    </p:animEffect>
                                  </p:childTnLst>
                                </p:cTn>
                              </p:par>
                              <p:par>
                                <p:cTn id="9" presetID="12" presetClass="entr" presetSubtype="4" fill="hold" nodeType="withEffect">
                                  <p:stCondLst>
                                    <p:cond delay="0"/>
                                  </p:stCondLst>
                                  <p:childTnLst>
                                    <p:set>
                                      <p:cBhvr>
                                        <p:cTn id="10" dur="1" fill="hold">
                                          <p:stCondLst>
                                            <p:cond delay="0"/>
                                          </p:stCondLst>
                                        </p:cTn>
                                        <p:tgtEl>
                                          <p:spTgt spid="13315">
                                            <p:txEl>
                                              <p:pRg st="1" end="1"/>
                                            </p:txEl>
                                          </p:spTgt>
                                        </p:tgtEl>
                                        <p:attrNameLst>
                                          <p:attrName>style.visibility</p:attrName>
                                        </p:attrNameLst>
                                      </p:cBhvr>
                                      <p:to>
                                        <p:strVal val="visible"/>
                                      </p:to>
                                    </p:set>
                                    <p:anim calcmode="lin" valueType="num">
                                      <p:cBhvr additive="base">
                                        <p:cTn id="11" dur="500"/>
                                        <p:tgtEl>
                                          <p:spTgt spid="13315">
                                            <p:txEl>
                                              <p:pRg st="1" end="1"/>
                                            </p:txEl>
                                          </p:spTgt>
                                        </p:tgtEl>
                                        <p:attrNameLst>
                                          <p:attrName>ppt_y</p:attrName>
                                        </p:attrNameLst>
                                      </p:cBhvr>
                                      <p:tavLst>
                                        <p:tav tm="0">
                                          <p:val>
                                            <p:strVal val="#ppt_y+#ppt_h*1.125000"/>
                                          </p:val>
                                        </p:tav>
                                        <p:tav tm="100000">
                                          <p:val>
                                            <p:strVal val="#ppt_y"/>
                                          </p:val>
                                        </p:tav>
                                      </p:tavLst>
                                    </p:anim>
                                    <p:animEffect transition="in" filter="wipe(up)">
                                      <p:cBhvr>
                                        <p:cTn id="12" dur="500"/>
                                        <p:tgtEl>
                                          <p:spTgt spid="1331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テキスト ボックス 3"/>
          <p:cNvSpPr txBox="1"/>
          <p:nvPr/>
        </p:nvSpPr>
        <p:spPr>
          <a:xfrm>
            <a:off x="2181860" y="104775"/>
            <a:ext cx="5745480" cy="1076325"/>
          </a:xfrm>
          <a:prstGeom prst="rect">
            <a:avLst/>
          </a:prstGeom>
          <a:noFill/>
          <a:ln w="9525">
            <a:noFill/>
          </a:ln>
        </p:spPr>
        <p:txBody>
          <a:bodyPr wrap="none">
            <a:spAutoFit/>
          </a:bodyPr>
          <a:lstStyle/>
          <a:p>
            <a:pPr algn="ctr">
              <a:buNone/>
            </a:pPr>
            <a:r>
              <a:rPr lang="en-US" altLang="ja-JP" sz="3200" b="1" dirty="0">
                <a:solidFill>
                  <a:srgbClr val="FF0000"/>
                </a:solidFill>
                <a:latin typeface="Times New Roman" panose="02020603050405020304" pitchFamily="18" charset="0"/>
                <a:ea typeface="MS PGothic" panose="020B0600070205080204" pitchFamily="50" charset="-128"/>
                <a:sym typeface="+mn-ea"/>
              </a:rPr>
              <a:t>II. Cách thức tấn công </a:t>
            </a:r>
            <a:endParaRPr lang="en-US" altLang="ja-JP" sz="3200" b="1" dirty="0">
              <a:solidFill>
                <a:srgbClr val="FF0000"/>
              </a:solidFill>
              <a:latin typeface="Times New Roman" panose="02020603050405020304" pitchFamily="18" charset="0"/>
              <a:ea typeface="MS PGothic" panose="020B0600070205080204" pitchFamily="50" charset="-128"/>
            </a:endParaRPr>
          </a:p>
          <a:p>
            <a:pPr algn="ctr">
              <a:buNone/>
            </a:pPr>
            <a:r>
              <a:rPr lang="en-US" altLang="ja-JP" sz="3200" b="1" dirty="0">
                <a:solidFill>
                  <a:srgbClr val="FF0000"/>
                </a:solidFill>
                <a:latin typeface="Times New Roman" panose="02020603050405020304" pitchFamily="18" charset="0"/>
                <a:ea typeface="MS PGothic" panose="020B0600070205080204" pitchFamily="50" charset="-128"/>
                <a:sym typeface="+mn-ea"/>
              </a:rPr>
              <a:t>và cách phòng ngừa, ngăn chặn.</a:t>
            </a:r>
            <a:endParaRPr lang="ja-JP" altLang="en-US" sz="3200" b="1" dirty="0">
              <a:solidFill>
                <a:srgbClr val="FF0000"/>
              </a:solidFill>
              <a:latin typeface="Times New Roman" panose="02020603050405020304" pitchFamily="18" charset="0"/>
              <a:ea typeface="MS PGothic" panose="020B0600070205080204" pitchFamily="50" charset="-128"/>
            </a:endParaRPr>
          </a:p>
        </p:txBody>
      </p:sp>
      <p:sp>
        <p:nvSpPr>
          <p:cNvPr id="2" name="Text Box 1"/>
          <p:cNvSpPr txBox="1"/>
          <p:nvPr/>
        </p:nvSpPr>
        <p:spPr>
          <a:xfrm>
            <a:off x="285115" y="1811020"/>
            <a:ext cx="8705215" cy="4551045"/>
          </a:xfrm>
          <a:prstGeom prst="rect">
            <a:avLst/>
          </a:prstGeom>
          <a:noFill/>
        </p:spPr>
        <p:txBody>
          <a:bodyPr wrap="square" rtlCol="0">
            <a:noAutofit/>
          </a:bodyPr>
          <a:lstStyle/>
          <a:p>
            <a:pPr indent="457200"/>
            <a:r>
              <a:rPr lang="en-US" sz="2600" b="1" dirty="0" err="1">
                <a:solidFill>
                  <a:schemeClr val="accent2">
                    <a:lumMod val="75000"/>
                  </a:schemeClr>
                </a:solidFill>
                <a:latin typeface="Times New Roman" panose="02020603050405020304" pitchFamily="18" charset="0"/>
                <a:cs typeface="Times New Roman" panose="02020603050405020304" pitchFamily="18" charset="0"/>
                <a:sym typeface="+mn-ea"/>
              </a:rPr>
              <a:t>Cách</a:t>
            </a:r>
            <a:r>
              <a:rPr lang="en-US" sz="2600" b="1" dirty="0">
                <a:solidFill>
                  <a:schemeClr val="accent2">
                    <a:lumMod val="75000"/>
                  </a:schemeClr>
                </a:solidFill>
                <a:latin typeface="Times New Roman" panose="02020603050405020304" pitchFamily="18" charset="0"/>
                <a:cs typeface="Times New Roman" panose="02020603050405020304" pitchFamily="18" charset="0"/>
                <a:sym typeface="+mn-ea"/>
              </a:rPr>
              <a:t> </a:t>
            </a:r>
            <a:r>
              <a:rPr lang="en-US" sz="2600" b="1" dirty="0" err="1">
                <a:solidFill>
                  <a:schemeClr val="accent2">
                    <a:lumMod val="75000"/>
                  </a:schemeClr>
                </a:solidFill>
                <a:latin typeface="Times New Roman" panose="02020603050405020304" pitchFamily="18" charset="0"/>
                <a:cs typeface="Times New Roman" panose="02020603050405020304" pitchFamily="18" charset="0"/>
                <a:sym typeface="+mn-ea"/>
              </a:rPr>
              <a:t>phòng</a:t>
            </a:r>
            <a:r>
              <a:rPr lang="en-US" sz="2600" b="1" dirty="0">
                <a:solidFill>
                  <a:schemeClr val="accent2">
                    <a:lumMod val="75000"/>
                  </a:schemeClr>
                </a:solidFill>
                <a:latin typeface="Times New Roman" panose="02020603050405020304" pitchFamily="18" charset="0"/>
                <a:cs typeface="Times New Roman" panose="02020603050405020304" pitchFamily="18" charset="0"/>
                <a:sym typeface="+mn-ea"/>
              </a:rPr>
              <a:t> </a:t>
            </a:r>
            <a:r>
              <a:rPr lang="en-US" sz="2600" b="1" dirty="0" err="1">
                <a:solidFill>
                  <a:schemeClr val="accent2">
                    <a:lumMod val="75000"/>
                  </a:schemeClr>
                </a:solidFill>
                <a:latin typeface="Times New Roman" panose="02020603050405020304" pitchFamily="18" charset="0"/>
                <a:cs typeface="Times New Roman" panose="02020603050405020304" pitchFamily="18" charset="0"/>
                <a:sym typeface="+mn-ea"/>
              </a:rPr>
              <a:t>ngừa</a:t>
            </a:r>
            <a:r>
              <a:rPr lang="en-US" sz="2600" b="1" dirty="0">
                <a:solidFill>
                  <a:schemeClr val="accent2">
                    <a:lumMod val="75000"/>
                  </a:schemeClr>
                </a:solidFill>
                <a:latin typeface="Times New Roman" panose="02020603050405020304" pitchFamily="18" charset="0"/>
                <a:cs typeface="Times New Roman" panose="02020603050405020304" pitchFamily="18" charset="0"/>
                <a:sym typeface="+mn-ea"/>
              </a:rPr>
              <a:t> </a:t>
            </a:r>
            <a:r>
              <a:rPr lang="en-US" sz="2600" b="1" dirty="0" err="1">
                <a:solidFill>
                  <a:schemeClr val="accent2">
                    <a:lumMod val="75000"/>
                  </a:schemeClr>
                </a:solidFill>
                <a:latin typeface="Times New Roman" panose="02020603050405020304" pitchFamily="18" charset="0"/>
                <a:cs typeface="Times New Roman" panose="02020603050405020304" pitchFamily="18" charset="0"/>
                <a:sym typeface="+mn-ea"/>
              </a:rPr>
              <a:t>và</a:t>
            </a:r>
            <a:r>
              <a:rPr lang="en-US" sz="2600" b="1" dirty="0">
                <a:solidFill>
                  <a:schemeClr val="accent2">
                    <a:lumMod val="75000"/>
                  </a:schemeClr>
                </a:solidFill>
                <a:latin typeface="Times New Roman" panose="02020603050405020304" pitchFamily="18" charset="0"/>
                <a:cs typeface="Times New Roman" panose="02020603050405020304" pitchFamily="18" charset="0"/>
                <a:sym typeface="+mn-ea"/>
              </a:rPr>
              <a:t> </a:t>
            </a:r>
            <a:r>
              <a:rPr lang="en-US" sz="2600" b="1" dirty="0" err="1">
                <a:solidFill>
                  <a:schemeClr val="accent2">
                    <a:lumMod val="75000"/>
                  </a:schemeClr>
                </a:solidFill>
                <a:latin typeface="Times New Roman" panose="02020603050405020304" pitchFamily="18" charset="0"/>
                <a:cs typeface="Times New Roman" panose="02020603050405020304" pitchFamily="18" charset="0"/>
                <a:sym typeface="+mn-ea"/>
              </a:rPr>
              <a:t>ngăn</a:t>
            </a:r>
            <a:r>
              <a:rPr lang="en-US" sz="2600" b="1" dirty="0">
                <a:solidFill>
                  <a:schemeClr val="accent2">
                    <a:lumMod val="75000"/>
                  </a:schemeClr>
                </a:solidFill>
                <a:latin typeface="Times New Roman" panose="02020603050405020304" pitchFamily="18" charset="0"/>
                <a:cs typeface="Times New Roman" panose="02020603050405020304" pitchFamily="18" charset="0"/>
                <a:sym typeface="+mn-ea"/>
              </a:rPr>
              <a:t> </a:t>
            </a:r>
            <a:r>
              <a:rPr lang="en-US" sz="2600" b="1" dirty="0" err="1">
                <a:solidFill>
                  <a:schemeClr val="accent2">
                    <a:lumMod val="75000"/>
                  </a:schemeClr>
                </a:solidFill>
                <a:latin typeface="Times New Roman" panose="02020603050405020304" pitchFamily="18" charset="0"/>
                <a:cs typeface="Times New Roman" panose="02020603050405020304" pitchFamily="18" charset="0"/>
                <a:sym typeface="+mn-ea"/>
              </a:rPr>
              <a:t>chặn</a:t>
            </a:r>
            <a:endParaRPr lang="en-US" sz="2600" b="1" dirty="0">
              <a:solidFill>
                <a:schemeClr val="accent2">
                  <a:lumMod val="75000"/>
                </a:schemeClr>
              </a:solidFill>
              <a:latin typeface="Times New Roman" panose="02020603050405020304" pitchFamily="18" charset="0"/>
              <a:cs typeface="Times New Roman" panose="02020603050405020304" pitchFamily="18" charset="0"/>
              <a:sym typeface="+mn-ea"/>
            </a:endParaRPr>
          </a:p>
          <a:p>
            <a:pPr indent="457200"/>
            <a:endParaRPr lang="en-US" sz="2600" b="1" dirty="0">
              <a:solidFill>
                <a:schemeClr val="accent2">
                  <a:lumMod val="75000"/>
                </a:schemeClr>
              </a:solidFill>
              <a:latin typeface="Times New Roman" panose="02020603050405020304" pitchFamily="18" charset="0"/>
              <a:cs typeface="Times New Roman" panose="02020603050405020304" pitchFamily="18" charset="0"/>
              <a:sym typeface="+mn-ea"/>
            </a:endParaRPr>
          </a:p>
          <a:p>
            <a:pPr indent="457200"/>
            <a:r>
              <a:rPr lang="en-US" sz="2200" dirty="0">
                <a:solidFill>
                  <a:schemeClr val="tx1"/>
                </a:solidFill>
                <a:latin typeface="Times New Roman" panose="02020603050405020304" pitchFamily="18" charset="0"/>
                <a:cs typeface="Times New Roman" panose="02020603050405020304" pitchFamily="18" charset="0"/>
                <a:sym typeface="+mn-ea"/>
              </a:rPr>
              <a:t>- </a:t>
            </a:r>
            <a:r>
              <a:rPr lang="en-US" sz="2000" dirty="0" err="1">
                <a:solidFill>
                  <a:schemeClr val="tx1"/>
                </a:solidFill>
                <a:latin typeface="Times New Roman" panose="02020603050405020304" pitchFamily="18" charset="0"/>
                <a:cs typeface="Times New Roman" panose="02020603050405020304" pitchFamily="18" charset="0"/>
                <a:sym typeface="+mn-ea"/>
              </a:rPr>
              <a:t>Tắt</a:t>
            </a:r>
            <a:r>
              <a:rPr lang="en-US" sz="2000" dirty="0">
                <a:solidFill>
                  <a:schemeClr val="tx1"/>
                </a:solidFill>
                <a:latin typeface="Times New Roman" panose="02020603050405020304" pitchFamily="18" charset="0"/>
                <a:cs typeface="Times New Roman" panose="02020603050405020304" pitchFamily="18" charset="0"/>
                <a:sym typeface="+mn-ea"/>
              </a:rPr>
              <a:t> </a:t>
            </a:r>
            <a:r>
              <a:rPr lang="en-US" sz="2000" dirty="0" err="1">
                <a:solidFill>
                  <a:schemeClr val="tx1"/>
                </a:solidFill>
                <a:latin typeface="Times New Roman" panose="02020603050405020304" pitchFamily="18" charset="0"/>
                <a:cs typeface="Times New Roman" panose="02020603050405020304" pitchFamily="18" charset="0"/>
                <a:sym typeface="+mn-ea"/>
              </a:rPr>
              <a:t>những</a:t>
            </a:r>
            <a:r>
              <a:rPr lang="en-US" sz="2000" dirty="0">
                <a:solidFill>
                  <a:schemeClr val="tx1"/>
                </a:solidFill>
                <a:latin typeface="Times New Roman" panose="02020603050405020304" pitchFamily="18" charset="0"/>
                <a:cs typeface="Times New Roman" panose="02020603050405020304" pitchFamily="18" charset="0"/>
                <a:sym typeface="+mn-ea"/>
              </a:rPr>
              <a:t> </a:t>
            </a:r>
            <a:r>
              <a:rPr lang="en-US" sz="2000" dirty="0" err="1">
                <a:solidFill>
                  <a:schemeClr val="tx1"/>
                </a:solidFill>
                <a:latin typeface="Times New Roman" panose="02020603050405020304" pitchFamily="18" charset="0"/>
                <a:cs typeface="Times New Roman" panose="02020603050405020304" pitchFamily="18" charset="0"/>
                <a:sym typeface="+mn-ea"/>
              </a:rPr>
              <a:t>tính</a:t>
            </a:r>
            <a:r>
              <a:rPr lang="en-US" sz="2000" dirty="0">
                <a:solidFill>
                  <a:schemeClr val="tx1"/>
                </a:solidFill>
                <a:latin typeface="Times New Roman" panose="02020603050405020304" pitchFamily="18" charset="0"/>
                <a:cs typeface="Times New Roman" panose="02020603050405020304" pitchFamily="18" charset="0"/>
                <a:sym typeface="+mn-ea"/>
              </a:rPr>
              <a:t> </a:t>
            </a:r>
            <a:r>
              <a:rPr lang="en-US" sz="2000" dirty="0" err="1">
                <a:solidFill>
                  <a:schemeClr val="tx1"/>
                </a:solidFill>
                <a:latin typeface="Times New Roman" panose="02020603050405020304" pitchFamily="18" charset="0"/>
                <a:cs typeface="Times New Roman" panose="02020603050405020304" pitchFamily="18" charset="0"/>
                <a:sym typeface="+mn-ea"/>
              </a:rPr>
              <a:t>năng</a:t>
            </a:r>
            <a:r>
              <a:rPr lang="en-US" sz="2000" dirty="0">
                <a:solidFill>
                  <a:schemeClr val="tx1"/>
                </a:solidFill>
                <a:latin typeface="Times New Roman" panose="02020603050405020304" pitchFamily="18" charset="0"/>
                <a:cs typeface="Times New Roman" panose="02020603050405020304" pitchFamily="18" charset="0"/>
                <a:sym typeface="+mn-ea"/>
              </a:rPr>
              <a:t> </a:t>
            </a:r>
            <a:r>
              <a:rPr lang="en-US" sz="2000" dirty="0" err="1">
                <a:solidFill>
                  <a:schemeClr val="tx1"/>
                </a:solidFill>
                <a:latin typeface="Times New Roman" panose="02020603050405020304" pitchFamily="18" charset="0"/>
                <a:cs typeface="Times New Roman" panose="02020603050405020304" pitchFamily="18" charset="0"/>
                <a:sym typeface="+mn-ea"/>
              </a:rPr>
              <a:t>và</a:t>
            </a:r>
            <a:r>
              <a:rPr lang="en-US" sz="2000" dirty="0">
                <a:solidFill>
                  <a:schemeClr val="tx1"/>
                </a:solidFill>
                <a:latin typeface="Times New Roman" panose="02020603050405020304" pitchFamily="18" charset="0"/>
                <a:cs typeface="Times New Roman" panose="02020603050405020304" pitchFamily="18" charset="0"/>
                <a:sym typeface="+mn-ea"/>
              </a:rPr>
              <a:t> </a:t>
            </a:r>
            <a:r>
              <a:rPr lang="en-US" sz="2000" dirty="0" err="1">
                <a:solidFill>
                  <a:schemeClr val="tx1"/>
                </a:solidFill>
                <a:latin typeface="Times New Roman" panose="02020603050405020304" pitchFamily="18" charset="0"/>
                <a:cs typeface="Times New Roman" panose="02020603050405020304" pitchFamily="18" charset="0"/>
                <a:sym typeface="+mn-ea"/>
              </a:rPr>
              <a:t>dịch</a:t>
            </a:r>
            <a:r>
              <a:rPr lang="en-US" sz="2000" dirty="0">
                <a:solidFill>
                  <a:schemeClr val="tx1"/>
                </a:solidFill>
                <a:latin typeface="Times New Roman" panose="02020603050405020304" pitchFamily="18" charset="0"/>
                <a:cs typeface="Times New Roman" panose="02020603050405020304" pitchFamily="18" charset="0"/>
                <a:sym typeface="+mn-ea"/>
              </a:rPr>
              <a:t> </a:t>
            </a:r>
            <a:r>
              <a:rPr lang="en-US" sz="2000" dirty="0" err="1">
                <a:solidFill>
                  <a:schemeClr val="tx1"/>
                </a:solidFill>
                <a:latin typeface="Times New Roman" panose="02020603050405020304" pitchFamily="18" charset="0"/>
                <a:cs typeface="Times New Roman" panose="02020603050405020304" pitchFamily="18" charset="0"/>
                <a:sym typeface="+mn-ea"/>
              </a:rPr>
              <a:t>vụ</a:t>
            </a:r>
            <a:r>
              <a:rPr lang="en-US" sz="2000" dirty="0">
                <a:solidFill>
                  <a:schemeClr val="tx1"/>
                </a:solidFill>
                <a:latin typeface="Times New Roman" panose="02020603050405020304" pitchFamily="18" charset="0"/>
                <a:cs typeface="Times New Roman" panose="02020603050405020304" pitchFamily="18" charset="0"/>
                <a:sym typeface="+mn-ea"/>
              </a:rPr>
              <a:t> </a:t>
            </a:r>
            <a:r>
              <a:rPr lang="en-US" sz="2000" dirty="0" err="1">
                <a:solidFill>
                  <a:schemeClr val="tx1"/>
                </a:solidFill>
                <a:latin typeface="Times New Roman" panose="02020603050405020304" pitchFamily="18" charset="0"/>
                <a:cs typeface="Times New Roman" panose="02020603050405020304" pitchFamily="18" charset="0"/>
                <a:sym typeface="+mn-ea"/>
              </a:rPr>
              <a:t>không</a:t>
            </a:r>
            <a:r>
              <a:rPr lang="en-US" sz="2000" dirty="0">
                <a:solidFill>
                  <a:schemeClr val="tx1"/>
                </a:solidFill>
                <a:latin typeface="Times New Roman" panose="02020603050405020304" pitchFamily="18" charset="0"/>
                <a:cs typeface="Times New Roman" panose="02020603050405020304" pitchFamily="18" charset="0"/>
                <a:sym typeface="+mn-ea"/>
              </a:rPr>
              <a:t> </a:t>
            </a:r>
            <a:r>
              <a:rPr lang="en-US" sz="2000" dirty="0" err="1">
                <a:solidFill>
                  <a:schemeClr val="tx1"/>
                </a:solidFill>
                <a:latin typeface="Times New Roman" panose="02020603050405020304" pitchFamily="18" charset="0"/>
                <a:cs typeface="Times New Roman" panose="02020603050405020304" pitchFamily="18" charset="0"/>
                <a:sym typeface="+mn-ea"/>
              </a:rPr>
              <a:t>cần</a:t>
            </a:r>
            <a:r>
              <a:rPr lang="en-US" sz="2000" dirty="0">
                <a:solidFill>
                  <a:schemeClr val="tx1"/>
                </a:solidFill>
                <a:latin typeface="Times New Roman" panose="02020603050405020304" pitchFamily="18" charset="0"/>
                <a:cs typeface="Times New Roman" panose="02020603050405020304" pitchFamily="18" charset="0"/>
                <a:sym typeface="+mn-ea"/>
              </a:rPr>
              <a:t> </a:t>
            </a:r>
            <a:r>
              <a:rPr lang="en-US" sz="2000" dirty="0" err="1">
                <a:solidFill>
                  <a:schemeClr val="tx1"/>
                </a:solidFill>
                <a:latin typeface="Times New Roman" panose="02020603050405020304" pitchFamily="18" charset="0"/>
                <a:cs typeface="Times New Roman" panose="02020603050405020304" pitchFamily="18" charset="0"/>
                <a:sym typeface="+mn-ea"/>
              </a:rPr>
              <a:t>thiết</a:t>
            </a:r>
            <a:r>
              <a:rPr lang="en-US" sz="2000" b="1" dirty="0">
                <a:solidFill>
                  <a:schemeClr val="tx1"/>
                </a:solidFill>
                <a:latin typeface="Times New Roman" panose="02020603050405020304" pitchFamily="18" charset="0"/>
                <a:cs typeface="Times New Roman" panose="02020603050405020304" pitchFamily="18" charset="0"/>
                <a:sym typeface="+mn-ea"/>
              </a:rPr>
              <a:t>.</a:t>
            </a:r>
          </a:p>
          <a:p>
            <a:pPr indent="457200"/>
            <a:endParaRPr lang="en-US" sz="2000" b="1" dirty="0">
              <a:solidFill>
                <a:schemeClr val="tx1"/>
              </a:solidFill>
              <a:latin typeface="Times New Roman" panose="02020603050405020304" pitchFamily="18" charset="0"/>
              <a:cs typeface="Times New Roman" panose="02020603050405020304" pitchFamily="18" charset="0"/>
              <a:sym typeface="+mn-ea"/>
            </a:endParaRPr>
          </a:p>
          <a:p>
            <a:pPr indent="457200"/>
            <a:r>
              <a:rPr lang="en-US" sz="2000" b="1" dirty="0">
                <a:solidFill>
                  <a:schemeClr val="tx1"/>
                </a:solidFill>
                <a:latin typeface="Times New Roman" panose="02020603050405020304" pitchFamily="18" charset="0"/>
                <a:cs typeface="Times New Roman" panose="02020603050405020304" pitchFamily="18" charset="0"/>
                <a:sym typeface="+mn-ea"/>
              </a:rPr>
              <a:t>- </a:t>
            </a:r>
            <a:r>
              <a:rPr lang="en-US" sz="2000" dirty="0">
                <a:solidFill>
                  <a:schemeClr val="tx1"/>
                </a:solidFill>
                <a:latin typeface="Times New Roman" panose="02020603050405020304" pitchFamily="18" charset="0"/>
                <a:cs typeface="Times New Roman" panose="02020603050405020304" pitchFamily="18" charset="0"/>
                <a:sym typeface="+mn-ea"/>
              </a:rPr>
              <a:t>Quản </a:t>
            </a:r>
            <a:r>
              <a:rPr lang="en-US" sz="2000" dirty="0" err="1">
                <a:solidFill>
                  <a:schemeClr val="tx1"/>
                </a:solidFill>
                <a:latin typeface="Times New Roman" panose="02020603050405020304" pitchFamily="18" charset="0"/>
                <a:cs typeface="Times New Roman" panose="02020603050405020304" pitchFamily="18" charset="0"/>
                <a:sym typeface="+mn-ea"/>
              </a:rPr>
              <a:t>lý</a:t>
            </a:r>
            <a:r>
              <a:rPr lang="en-US" sz="2000" dirty="0">
                <a:solidFill>
                  <a:schemeClr val="tx1"/>
                </a:solidFill>
                <a:latin typeface="Times New Roman" panose="02020603050405020304" pitchFamily="18" charset="0"/>
                <a:cs typeface="Times New Roman" panose="02020603050405020304" pitchFamily="18" charset="0"/>
                <a:sym typeface="+mn-ea"/>
              </a:rPr>
              <a:t> </a:t>
            </a:r>
            <a:r>
              <a:rPr lang="en-US" sz="2000" dirty="0" err="1">
                <a:solidFill>
                  <a:schemeClr val="tx1"/>
                </a:solidFill>
                <a:latin typeface="Times New Roman" panose="02020603050405020304" pitchFamily="18" charset="0"/>
                <a:cs typeface="Times New Roman" panose="02020603050405020304" pitchFamily="18" charset="0"/>
                <a:sym typeface="+mn-ea"/>
              </a:rPr>
              <a:t>quyền</a:t>
            </a:r>
            <a:r>
              <a:rPr lang="en-US" sz="2000" dirty="0">
                <a:solidFill>
                  <a:schemeClr val="tx1"/>
                </a:solidFill>
                <a:latin typeface="Times New Roman" panose="02020603050405020304" pitchFamily="18" charset="0"/>
                <a:cs typeface="Times New Roman" panose="02020603050405020304" pitchFamily="18" charset="0"/>
                <a:sym typeface="+mn-ea"/>
              </a:rPr>
              <a:t> </a:t>
            </a:r>
            <a:r>
              <a:rPr lang="en-US" sz="2000" dirty="0" err="1">
                <a:solidFill>
                  <a:schemeClr val="tx1"/>
                </a:solidFill>
                <a:latin typeface="Times New Roman" panose="02020603050405020304" pitchFamily="18" charset="0"/>
                <a:cs typeface="Times New Roman" panose="02020603050405020304" pitchFamily="18" charset="0"/>
                <a:sym typeface="+mn-ea"/>
              </a:rPr>
              <a:t>truy</a:t>
            </a:r>
            <a:r>
              <a:rPr lang="en-US" sz="2000" dirty="0">
                <a:solidFill>
                  <a:schemeClr val="tx1"/>
                </a:solidFill>
                <a:latin typeface="Times New Roman" panose="02020603050405020304" pitchFamily="18" charset="0"/>
                <a:cs typeface="Times New Roman" panose="02020603050405020304" pitchFamily="18" charset="0"/>
                <a:sym typeface="+mn-ea"/>
              </a:rPr>
              <a:t> </a:t>
            </a:r>
            <a:r>
              <a:rPr lang="en-US" sz="2000" dirty="0" err="1">
                <a:solidFill>
                  <a:schemeClr val="tx1"/>
                </a:solidFill>
                <a:latin typeface="Times New Roman" panose="02020603050405020304" pitchFamily="18" charset="0"/>
                <a:cs typeface="Times New Roman" panose="02020603050405020304" pitchFamily="18" charset="0"/>
                <a:sym typeface="+mn-ea"/>
              </a:rPr>
              <a:t>cập</a:t>
            </a:r>
            <a:r>
              <a:rPr lang="en-US" sz="2000" dirty="0">
                <a:solidFill>
                  <a:schemeClr val="tx1"/>
                </a:solidFill>
                <a:latin typeface="Times New Roman" panose="02020603050405020304" pitchFamily="18" charset="0"/>
                <a:cs typeface="Times New Roman" panose="02020603050405020304" pitchFamily="18" charset="0"/>
                <a:sym typeface="+mn-ea"/>
              </a:rPr>
              <a:t> </a:t>
            </a:r>
            <a:r>
              <a:rPr lang="en-US" sz="2000" dirty="0" err="1">
                <a:solidFill>
                  <a:schemeClr val="tx1"/>
                </a:solidFill>
                <a:latin typeface="Times New Roman" panose="02020603050405020304" pitchFamily="18" charset="0"/>
                <a:cs typeface="Times New Roman" panose="02020603050405020304" pitchFamily="18" charset="0"/>
                <a:sym typeface="+mn-ea"/>
              </a:rPr>
              <a:t>nghiêm</a:t>
            </a:r>
            <a:r>
              <a:rPr lang="en-US" sz="2000" dirty="0">
                <a:solidFill>
                  <a:schemeClr val="tx1"/>
                </a:solidFill>
                <a:latin typeface="Times New Roman" panose="02020603050405020304" pitchFamily="18" charset="0"/>
                <a:cs typeface="Times New Roman" panose="02020603050405020304" pitchFamily="18" charset="0"/>
                <a:sym typeface="+mn-ea"/>
              </a:rPr>
              <a:t> </a:t>
            </a:r>
            <a:r>
              <a:rPr lang="en-US" sz="2000" dirty="0" err="1">
                <a:solidFill>
                  <a:schemeClr val="tx1"/>
                </a:solidFill>
                <a:latin typeface="Times New Roman" panose="02020603050405020304" pitchFamily="18" charset="0"/>
                <a:cs typeface="Times New Roman" panose="02020603050405020304" pitchFamily="18" charset="0"/>
                <a:sym typeface="+mn-ea"/>
              </a:rPr>
              <a:t>ngặt</a:t>
            </a:r>
            <a:r>
              <a:rPr lang="en-US" sz="2000" dirty="0">
                <a:solidFill>
                  <a:schemeClr val="tx1"/>
                </a:solidFill>
                <a:latin typeface="Times New Roman" panose="02020603050405020304" pitchFamily="18" charset="0"/>
                <a:cs typeface="Times New Roman" panose="02020603050405020304" pitchFamily="18" charset="0"/>
                <a:sym typeface="+mn-ea"/>
              </a:rPr>
              <a:t>: </a:t>
            </a:r>
          </a:p>
          <a:p>
            <a:pPr marL="457200" lvl="1" indent="457200"/>
            <a:r>
              <a:rPr lang="en-US" sz="2000" dirty="0">
                <a:latin typeface="Times New Roman" panose="02020603050405020304" pitchFamily="18" charset="0"/>
                <a:cs typeface="Times New Roman" panose="02020603050405020304" pitchFamily="18" charset="0"/>
                <a:sym typeface="+mn-ea"/>
              </a:rPr>
              <a:t>+ </a:t>
            </a:r>
            <a:r>
              <a:rPr lang="en-US" altLang="en-US" sz="2000" dirty="0" err="1">
                <a:latin typeface="Times New Roman" panose="02020603050405020304" pitchFamily="18" charset="0"/>
                <a:cs typeface="Times New Roman" panose="02020603050405020304" pitchFamily="18" charset="0"/>
                <a:sym typeface="+mn-ea"/>
              </a:rPr>
              <a:t>Thực</a:t>
            </a:r>
            <a:r>
              <a:rPr lang="en-US" altLang="en-US" sz="2000" dirty="0">
                <a:latin typeface="Times New Roman" panose="02020603050405020304" pitchFamily="18" charset="0"/>
                <a:cs typeface="Times New Roman" panose="02020603050405020304" pitchFamily="18" charset="0"/>
                <a:sym typeface="+mn-ea"/>
              </a:rPr>
              <a:t> </a:t>
            </a:r>
            <a:r>
              <a:rPr lang="en-US" altLang="en-US" sz="2000" dirty="0" err="1">
                <a:latin typeface="Times New Roman" panose="02020603050405020304" pitchFamily="18" charset="0"/>
                <a:cs typeface="Times New Roman" panose="02020603050405020304" pitchFamily="18" charset="0"/>
                <a:sym typeface="+mn-ea"/>
              </a:rPr>
              <a:t>thi</a:t>
            </a:r>
            <a:r>
              <a:rPr lang="en-US" altLang="en-US" sz="2000" dirty="0">
                <a:latin typeface="Times New Roman" panose="02020603050405020304" pitchFamily="18" charset="0"/>
                <a:cs typeface="Times New Roman" panose="02020603050405020304" pitchFamily="18" charset="0"/>
                <a:sym typeface="+mn-ea"/>
              </a:rPr>
              <a:t> </a:t>
            </a:r>
            <a:r>
              <a:rPr lang="en-US" altLang="en-US" sz="2000" dirty="0" err="1">
                <a:latin typeface="Times New Roman" panose="02020603050405020304" pitchFamily="18" charset="0"/>
                <a:cs typeface="Times New Roman" panose="02020603050405020304" pitchFamily="18" charset="0"/>
                <a:sym typeface="+mn-ea"/>
              </a:rPr>
              <a:t>nguyên</a:t>
            </a:r>
            <a:r>
              <a:rPr lang="en-US" altLang="en-US" sz="2000" dirty="0">
                <a:latin typeface="Times New Roman" panose="02020603050405020304" pitchFamily="18" charset="0"/>
                <a:cs typeface="Times New Roman" panose="02020603050405020304" pitchFamily="18" charset="0"/>
                <a:sym typeface="+mn-ea"/>
              </a:rPr>
              <a:t> </a:t>
            </a:r>
            <a:r>
              <a:rPr lang="en-US" altLang="en-US" sz="2000" dirty="0" err="1">
                <a:latin typeface="Times New Roman" panose="02020603050405020304" pitchFamily="18" charset="0"/>
                <a:cs typeface="Times New Roman" panose="02020603050405020304" pitchFamily="18" charset="0"/>
                <a:sym typeface="+mn-ea"/>
              </a:rPr>
              <a:t>tắc</a:t>
            </a:r>
            <a:r>
              <a:rPr lang="en-US" altLang="en-US" sz="2000" dirty="0">
                <a:latin typeface="Times New Roman" panose="02020603050405020304" pitchFamily="18" charset="0"/>
                <a:cs typeface="Times New Roman" panose="02020603050405020304" pitchFamily="18" charset="0"/>
                <a:sym typeface="+mn-ea"/>
              </a:rPr>
              <a:t> </a:t>
            </a:r>
            <a:r>
              <a:rPr lang="en-US" altLang="en-US" sz="2000" dirty="0" err="1">
                <a:latin typeface="Times New Roman" panose="02020603050405020304" pitchFamily="18" charset="0"/>
                <a:cs typeface="Times New Roman" panose="02020603050405020304" pitchFamily="18" charset="0"/>
                <a:sym typeface="+mn-ea"/>
              </a:rPr>
              <a:t>quyền</a:t>
            </a:r>
            <a:r>
              <a:rPr lang="en-US" altLang="en-US" sz="2000" dirty="0">
                <a:latin typeface="Times New Roman" panose="02020603050405020304" pitchFamily="18" charset="0"/>
                <a:cs typeface="Times New Roman" panose="02020603050405020304" pitchFamily="18" charset="0"/>
                <a:sym typeface="+mn-ea"/>
              </a:rPr>
              <a:t> </a:t>
            </a:r>
            <a:r>
              <a:rPr lang="en-US" altLang="en-US" sz="2000" dirty="0" err="1">
                <a:latin typeface="Times New Roman" panose="02020603050405020304" pitchFamily="18" charset="0"/>
                <a:cs typeface="Times New Roman" panose="02020603050405020304" pitchFamily="18" charset="0"/>
                <a:sym typeface="+mn-ea"/>
              </a:rPr>
              <a:t>tối</a:t>
            </a:r>
            <a:r>
              <a:rPr lang="en-US" altLang="en-US" sz="2000" dirty="0">
                <a:latin typeface="Times New Roman" panose="02020603050405020304" pitchFamily="18" charset="0"/>
                <a:cs typeface="Times New Roman" panose="02020603050405020304" pitchFamily="18" charset="0"/>
                <a:sym typeface="+mn-ea"/>
              </a:rPr>
              <a:t> </a:t>
            </a:r>
            <a:r>
              <a:rPr lang="en-US" altLang="en-US" sz="2000" dirty="0" err="1">
                <a:latin typeface="Times New Roman" panose="02020603050405020304" pitchFamily="18" charset="0"/>
                <a:cs typeface="Times New Roman" panose="02020603050405020304" pitchFamily="18" charset="0"/>
                <a:sym typeface="+mn-ea"/>
              </a:rPr>
              <a:t>thiểu</a:t>
            </a:r>
            <a:r>
              <a:rPr lang="en-US" altLang="en-US" sz="2000" dirty="0">
                <a:latin typeface="Times New Roman" panose="02020603050405020304" pitchFamily="18" charset="0"/>
                <a:cs typeface="Times New Roman" panose="02020603050405020304" pitchFamily="18" charset="0"/>
                <a:sym typeface="+mn-ea"/>
              </a:rPr>
              <a:t> (Principle of Least Privilege 	</a:t>
            </a:r>
            <a:r>
              <a:rPr lang="en-US" altLang="en-US" sz="2000" dirty="0" err="1">
                <a:latin typeface="Times New Roman" panose="02020603050405020304" pitchFamily="18" charset="0"/>
                <a:cs typeface="Times New Roman" panose="02020603050405020304" pitchFamily="18" charset="0"/>
                <a:sym typeface="+mn-ea"/>
              </a:rPr>
              <a:t>PoLP</a:t>
            </a:r>
            <a:r>
              <a:rPr lang="en-US" altLang="en-US" sz="2000" dirty="0">
                <a:latin typeface="Times New Roman" panose="02020603050405020304" pitchFamily="18" charset="0"/>
                <a:cs typeface="Times New Roman" panose="02020603050405020304" pitchFamily="18" charset="0"/>
                <a:sym typeface="+mn-ea"/>
              </a:rPr>
              <a:t>) </a:t>
            </a:r>
            <a:r>
              <a:rPr lang="en-US" altLang="en-US" sz="2000" dirty="0" err="1">
                <a:latin typeface="Times New Roman" panose="02020603050405020304" pitchFamily="18" charset="0"/>
                <a:cs typeface="Times New Roman" panose="02020603050405020304" pitchFamily="18" charset="0"/>
                <a:sym typeface="+mn-ea"/>
              </a:rPr>
              <a:t>cho</a:t>
            </a:r>
            <a:r>
              <a:rPr lang="en-US" altLang="en-US" sz="2000" dirty="0">
                <a:latin typeface="Times New Roman" panose="02020603050405020304" pitchFamily="18" charset="0"/>
                <a:cs typeface="Times New Roman" panose="02020603050405020304" pitchFamily="18" charset="0"/>
                <a:sym typeface="+mn-ea"/>
              </a:rPr>
              <a:t> </a:t>
            </a:r>
            <a:r>
              <a:rPr lang="en-US" altLang="en-US" sz="2000" dirty="0" err="1">
                <a:latin typeface="Times New Roman" panose="02020603050405020304" pitchFamily="18" charset="0"/>
                <a:cs typeface="Times New Roman" panose="02020603050405020304" pitchFamily="18" charset="0"/>
                <a:sym typeface="+mn-ea"/>
              </a:rPr>
              <a:t>người</a:t>
            </a:r>
            <a:r>
              <a:rPr lang="en-US" altLang="en-US" sz="2000" dirty="0">
                <a:latin typeface="Times New Roman" panose="02020603050405020304" pitchFamily="18" charset="0"/>
                <a:cs typeface="Times New Roman" panose="02020603050405020304" pitchFamily="18" charset="0"/>
                <a:sym typeface="+mn-ea"/>
              </a:rPr>
              <a:t> </a:t>
            </a:r>
            <a:r>
              <a:rPr lang="en-US" altLang="en-US" sz="2000" dirty="0" err="1">
                <a:latin typeface="Times New Roman" panose="02020603050405020304" pitchFamily="18" charset="0"/>
                <a:cs typeface="Times New Roman" panose="02020603050405020304" pitchFamily="18" charset="0"/>
                <a:sym typeface="+mn-ea"/>
              </a:rPr>
              <a:t>dùng</a:t>
            </a:r>
            <a:r>
              <a:rPr lang="en-US" altLang="en-US" sz="2000" dirty="0">
                <a:latin typeface="Times New Roman" panose="02020603050405020304" pitchFamily="18" charset="0"/>
                <a:cs typeface="Times New Roman" panose="02020603050405020304" pitchFamily="18" charset="0"/>
                <a:sym typeface="+mn-ea"/>
              </a:rPr>
              <a:t>.</a:t>
            </a:r>
            <a:endParaRPr lang="en-US" altLang="en-US" sz="2000" dirty="0">
              <a:solidFill>
                <a:schemeClr val="tx1"/>
              </a:solidFill>
              <a:latin typeface="Times New Roman" panose="02020603050405020304" pitchFamily="18" charset="0"/>
              <a:cs typeface="Times New Roman" panose="02020603050405020304" pitchFamily="18" charset="0"/>
              <a:sym typeface="+mn-ea"/>
            </a:endParaRPr>
          </a:p>
          <a:p>
            <a:pPr marL="457200" lvl="1" indent="457200"/>
            <a:r>
              <a:rPr lang="en-US" altLang="en-US" sz="2000" dirty="0">
                <a:latin typeface="Times New Roman" panose="02020603050405020304" pitchFamily="18" charset="0"/>
                <a:cs typeface="Times New Roman" panose="02020603050405020304" pitchFamily="18" charset="0"/>
                <a:sym typeface="+mn-ea"/>
              </a:rPr>
              <a:t>+</a:t>
            </a:r>
            <a:r>
              <a:rPr lang="en-US" altLang="en-US" sz="2000" dirty="0" err="1">
                <a:latin typeface="Times New Roman" panose="02020603050405020304" pitchFamily="18" charset="0"/>
                <a:cs typeface="Times New Roman" panose="02020603050405020304" pitchFamily="18" charset="0"/>
                <a:sym typeface="+mn-ea"/>
              </a:rPr>
              <a:t>Đóng</a:t>
            </a:r>
            <a:r>
              <a:rPr lang="en-US" altLang="en-US" sz="2000" dirty="0">
                <a:latin typeface="Times New Roman" panose="02020603050405020304" pitchFamily="18" charset="0"/>
                <a:cs typeface="Times New Roman" panose="02020603050405020304" pitchFamily="18" charset="0"/>
                <a:sym typeface="+mn-ea"/>
              </a:rPr>
              <a:t> </a:t>
            </a:r>
            <a:r>
              <a:rPr lang="en-US" altLang="en-US" sz="2000" dirty="0" err="1">
                <a:latin typeface="Times New Roman" panose="02020603050405020304" pitchFamily="18" charset="0"/>
                <a:cs typeface="Times New Roman" panose="02020603050405020304" pitchFamily="18" charset="0"/>
                <a:sym typeface="+mn-ea"/>
              </a:rPr>
              <a:t>băng</a:t>
            </a:r>
            <a:r>
              <a:rPr lang="en-US" altLang="en-US" sz="2000" dirty="0">
                <a:latin typeface="Times New Roman" panose="02020603050405020304" pitchFamily="18" charset="0"/>
                <a:cs typeface="Times New Roman" panose="02020603050405020304" pitchFamily="18" charset="0"/>
                <a:sym typeface="+mn-ea"/>
              </a:rPr>
              <a:t>/</a:t>
            </a:r>
            <a:r>
              <a:rPr lang="en-US" altLang="en-US" sz="2000" dirty="0" err="1">
                <a:latin typeface="Times New Roman" panose="02020603050405020304" pitchFamily="18" charset="0"/>
                <a:cs typeface="Times New Roman" panose="02020603050405020304" pitchFamily="18" charset="0"/>
                <a:sym typeface="+mn-ea"/>
              </a:rPr>
              <a:t>Khóa</a:t>
            </a:r>
            <a:r>
              <a:rPr lang="en-US" altLang="en-US" sz="2000" dirty="0">
                <a:latin typeface="Times New Roman" panose="02020603050405020304" pitchFamily="18" charset="0"/>
                <a:cs typeface="Times New Roman" panose="02020603050405020304" pitchFamily="18" charset="0"/>
                <a:sym typeface="+mn-ea"/>
              </a:rPr>
              <a:t> (Lock) </a:t>
            </a:r>
            <a:r>
              <a:rPr lang="en-US" altLang="en-US" sz="2000" dirty="0" err="1">
                <a:latin typeface="Times New Roman" panose="02020603050405020304" pitchFamily="18" charset="0"/>
                <a:cs typeface="Times New Roman" panose="02020603050405020304" pitchFamily="18" charset="0"/>
                <a:sym typeface="+mn-ea"/>
              </a:rPr>
              <a:t>hoặc</a:t>
            </a:r>
            <a:r>
              <a:rPr lang="en-US" altLang="en-US" sz="2000" dirty="0">
                <a:latin typeface="Times New Roman" panose="02020603050405020304" pitchFamily="18" charset="0"/>
                <a:cs typeface="Times New Roman" panose="02020603050405020304" pitchFamily="18" charset="0"/>
                <a:sym typeface="+mn-ea"/>
              </a:rPr>
              <a:t> </a:t>
            </a:r>
            <a:r>
              <a:rPr lang="en-US" altLang="en-US" sz="2000" dirty="0" err="1">
                <a:latin typeface="Times New Roman" panose="02020603050405020304" pitchFamily="18" charset="0"/>
                <a:cs typeface="Times New Roman" panose="02020603050405020304" pitchFamily="18" charset="0"/>
                <a:sym typeface="+mn-ea"/>
              </a:rPr>
              <a:t>Xóa</a:t>
            </a:r>
            <a:r>
              <a:rPr lang="en-US" altLang="en-US" sz="2000" dirty="0">
                <a:latin typeface="Times New Roman" panose="02020603050405020304" pitchFamily="18" charset="0"/>
                <a:cs typeface="Times New Roman" panose="02020603050405020304" pitchFamily="18" charset="0"/>
                <a:sym typeface="+mn-ea"/>
              </a:rPr>
              <a:t> </a:t>
            </a:r>
            <a:r>
              <a:rPr lang="en-US" altLang="en-US" sz="2000" dirty="0" err="1">
                <a:latin typeface="Times New Roman" panose="02020603050405020304" pitchFamily="18" charset="0"/>
                <a:cs typeface="Times New Roman" panose="02020603050405020304" pitchFamily="18" charset="0"/>
                <a:sym typeface="+mn-ea"/>
              </a:rPr>
              <a:t>các</a:t>
            </a:r>
            <a:r>
              <a:rPr lang="en-US" altLang="en-US" sz="2000" dirty="0">
                <a:latin typeface="Times New Roman" panose="02020603050405020304" pitchFamily="18" charset="0"/>
                <a:cs typeface="Times New Roman" panose="02020603050405020304" pitchFamily="18" charset="0"/>
                <a:sym typeface="+mn-ea"/>
              </a:rPr>
              <a:t> </a:t>
            </a:r>
            <a:r>
              <a:rPr lang="en-US" altLang="en-US" sz="2000" dirty="0" err="1">
                <a:latin typeface="Times New Roman" panose="02020603050405020304" pitchFamily="18" charset="0"/>
                <a:cs typeface="Times New Roman" panose="02020603050405020304" pitchFamily="18" charset="0"/>
                <a:sym typeface="+mn-ea"/>
              </a:rPr>
              <a:t>tài</a:t>
            </a:r>
            <a:r>
              <a:rPr lang="en-US" altLang="en-US" sz="2000" dirty="0">
                <a:latin typeface="Times New Roman" panose="02020603050405020304" pitchFamily="18" charset="0"/>
                <a:cs typeface="Times New Roman" panose="02020603050405020304" pitchFamily="18" charset="0"/>
                <a:sym typeface="+mn-ea"/>
              </a:rPr>
              <a:t> </a:t>
            </a:r>
            <a:r>
              <a:rPr lang="en-US" altLang="en-US" sz="2000" dirty="0" err="1">
                <a:latin typeface="Times New Roman" panose="02020603050405020304" pitchFamily="18" charset="0"/>
                <a:cs typeface="Times New Roman" panose="02020603050405020304" pitchFamily="18" charset="0"/>
                <a:sym typeface="+mn-ea"/>
              </a:rPr>
              <a:t>khoản</a:t>
            </a:r>
            <a:r>
              <a:rPr lang="en-US" altLang="en-US" sz="2000" dirty="0">
                <a:latin typeface="Times New Roman" panose="02020603050405020304" pitchFamily="18" charset="0"/>
                <a:cs typeface="Times New Roman" panose="02020603050405020304" pitchFamily="18" charset="0"/>
                <a:sym typeface="+mn-ea"/>
              </a:rPr>
              <a:t> </a:t>
            </a:r>
            <a:r>
              <a:rPr lang="en-US" altLang="en-US" sz="2000" dirty="0" err="1">
                <a:latin typeface="Times New Roman" panose="02020603050405020304" pitchFamily="18" charset="0"/>
                <a:cs typeface="Times New Roman" panose="02020603050405020304" pitchFamily="18" charset="0"/>
                <a:sym typeface="+mn-ea"/>
              </a:rPr>
              <a:t>người</a:t>
            </a:r>
            <a:r>
              <a:rPr lang="en-US" altLang="en-US" sz="2000" dirty="0">
                <a:latin typeface="Times New Roman" panose="02020603050405020304" pitchFamily="18" charset="0"/>
                <a:cs typeface="Times New Roman" panose="02020603050405020304" pitchFamily="18" charset="0"/>
                <a:sym typeface="+mn-ea"/>
              </a:rPr>
              <a:t> </a:t>
            </a:r>
            <a:r>
              <a:rPr lang="en-US" altLang="en-US" sz="2000" dirty="0" err="1">
                <a:latin typeface="Times New Roman" panose="02020603050405020304" pitchFamily="18" charset="0"/>
                <a:cs typeface="Times New Roman" panose="02020603050405020304" pitchFamily="18" charset="0"/>
                <a:sym typeface="+mn-ea"/>
              </a:rPr>
              <a:t>dùng</a:t>
            </a:r>
            <a:r>
              <a:rPr lang="en-US" altLang="en-US" sz="2000" dirty="0">
                <a:latin typeface="Times New Roman" panose="02020603050405020304" pitchFamily="18" charset="0"/>
                <a:cs typeface="Times New Roman" panose="02020603050405020304" pitchFamily="18" charset="0"/>
                <a:sym typeface="+mn-ea"/>
              </a:rPr>
              <a:t> </a:t>
            </a:r>
            <a:r>
              <a:rPr lang="en-US" altLang="en-US" sz="2000" dirty="0" err="1">
                <a:latin typeface="Times New Roman" panose="02020603050405020304" pitchFamily="18" charset="0"/>
                <a:cs typeface="Times New Roman" panose="02020603050405020304" pitchFamily="18" charset="0"/>
                <a:sym typeface="+mn-ea"/>
              </a:rPr>
              <a:t>và</a:t>
            </a:r>
            <a:r>
              <a:rPr lang="en-US" altLang="en-US" sz="2000" dirty="0">
                <a:latin typeface="Times New Roman" panose="02020603050405020304" pitchFamily="18" charset="0"/>
                <a:cs typeface="Times New Roman" panose="02020603050405020304" pitchFamily="18" charset="0"/>
                <a:sym typeface="+mn-ea"/>
              </a:rPr>
              <a:t> </a:t>
            </a:r>
            <a:r>
              <a:rPr lang="en-US" altLang="en-US" sz="2000" dirty="0" err="1">
                <a:latin typeface="Times New Roman" panose="02020603050405020304" pitchFamily="18" charset="0"/>
                <a:cs typeface="Times New Roman" panose="02020603050405020304" pitchFamily="18" charset="0"/>
                <a:sym typeface="+mn-ea"/>
              </a:rPr>
              <a:t>dịch</a:t>
            </a:r>
            <a:r>
              <a:rPr lang="en-US" altLang="en-US" sz="2000" dirty="0">
                <a:latin typeface="Times New Roman" panose="02020603050405020304" pitchFamily="18" charset="0"/>
                <a:cs typeface="Times New Roman" panose="02020603050405020304" pitchFamily="18" charset="0"/>
                <a:sym typeface="+mn-ea"/>
              </a:rPr>
              <a:t> </a:t>
            </a:r>
            <a:r>
              <a:rPr lang="en-US" altLang="en-US" sz="2000" dirty="0" err="1">
                <a:latin typeface="Times New Roman" panose="02020603050405020304" pitchFamily="18" charset="0"/>
                <a:cs typeface="Times New Roman" panose="02020603050405020304" pitchFamily="18" charset="0"/>
                <a:sym typeface="+mn-ea"/>
              </a:rPr>
              <a:t>vụ</a:t>
            </a:r>
            <a:r>
              <a:rPr lang="en-US" altLang="en-US" sz="2000" dirty="0">
                <a:latin typeface="Times New Roman" panose="02020603050405020304" pitchFamily="18" charset="0"/>
                <a:cs typeface="Times New Roman" panose="02020603050405020304" pitchFamily="18" charset="0"/>
                <a:sym typeface="+mn-ea"/>
              </a:rPr>
              <a:t> </a:t>
            </a:r>
            <a:r>
              <a:rPr lang="en-US" altLang="en-US" sz="2000" dirty="0" err="1">
                <a:latin typeface="Times New Roman" panose="02020603050405020304" pitchFamily="18" charset="0"/>
                <a:cs typeface="Times New Roman" panose="02020603050405020304" pitchFamily="18" charset="0"/>
                <a:sym typeface="+mn-ea"/>
              </a:rPr>
              <a:t>đã</a:t>
            </a:r>
            <a:r>
              <a:rPr lang="en-US" altLang="en-US" sz="2000" dirty="0">
                <a:latin typeface="Times New Roman" panose="02020603050405020304" pitchFamily="18" charset="0"/>
                <a:cs typeface="Times New Roman" panose="02020603050405020304" pitchFamily="18" charset="0"/>
                <a:sym typeface="+mn-ea"/>
              </a:rPr>
              <a:t> </a:t>
            </a:r>
            <a:r>
              <a:rPr lang="en-US" altLang="en-US" sz="2000" dirty="0" err="1">
                <a:latin typeface="Times New Roman" panose="02020603050405020304" pitchFamily="18" charset="0"/>
                <a:cs typeface="Times New Roman" panose="02020603050405020304" pitchFamily="18" charset="0"/>
                <a:sym typeface="+mn-ea"/>
              </a:rPr>
              <a:t>ngưng</a:t>
            </a:r>
            <a:r>
              <a:rPr lang="en-US" altLang="en-US" sz="2000" dirty="0">
                <a:latin typeface="Times New Roman" panose="02020603050405020304" pitchFamily="18" charset="0"/>
                <a:cs typeface="Times New Roman" panose="02020603050405020304" pitchFamily="18" charset="0"/>
                <a:sym typeface="+mn-ea"/>
              </a:rPr>
              <a:t> </a:t>
            </a:r>
            <a:r>
              <a:rPr lang="en-US" altLang="en-US" sz="2000" dirty="0" err="1">
                <a:latin typeface="Times New Roman" panose="02020603050405020304" pitchFamily="18" charset="0"/>
                <a:cs typeface="Times New Roman" panose="02020603050405020304" pitchFamily="18" charset="0"/>
                <a:sym typeface="+mn-ea"/>
              </a:rPr>
              <a:t>hoạt</a:t>
            </a:r>
            <a:r>
              <a:rPr lang="en-US" altLang="en-US" sz="2000" dirty="0">
                <a:latin typeface="Times New Roman" panose="02020603050405020304" pitchFamily="18" charset="0"/>
                <a:cs typeface="Times New Roman" panose="02020603050405020304" pitchFamily="18" charset="0"/>
                <a:sym typeface="+mn-ea"/>
              </a:rPr>
              <a:t> </a:t>
            </a:r>
            <a:r>
              <a:rPr lang="en-US" altLang="en-US" sz="2000" dirty="0" err="1">
                <a:latin typeface="Times New Roman" panose="02020603050405020304" pitchFamily="18" charset="0"/>
                <a:cs typeface="Times New Roman" panose="02020603050405020304" pitchFamily="18" charset="0"/>
                <a:sym typeface="+mn-ea"/>
              </a:rPr>
              <a:t>động</a:t>
            </a:r>
            <a:r>
              <a:rPr lang="en-US" altLang="en-US" sz="2000" dirty="0">
                <a:latin typeface="Times New Roman" panose="02020603050405020304" pitchFamily="18" charset="0"/>
                <a:cs typeface="Times New Roman" panose="02020603050405020304" pitchFamily="18" charset="0"/>
                <a:sym typeface="+mn-ea"/>
              </a:rPr>
              <a:t> </a:t>
            </a:r>
            <a:r>
              <a:rPr lang="en-US" altLang="en-US" sz="2000" dirty="0" err="1">
                <a:latin typeface="Times New Roman" panose="02020603050405020304" pitchFamily="18" charset="0"/>
                <a:cs typeface="Times New Roman" panose="02020603050405020304" pitchFamily="18" charset="0"/>
                <a:sym typeface="+mn-ea"/>
              </a:rPr>
              <a:t>hoặc</a:t>
            </a:r>
            <a:r>
              <a:rPr lang="en-US" altLang="en-US" sz="2000" dirty="0">
                <a:latin typeface="Times New Roman" panose="02020603050405020304" pitchFamily="18" charset="0"/>
                <a:cs typeface="Times New Roman" panose="02020603050405020304" pitchFamily="18" charset="0"/>
                <a:sym typeface="+mn-ea"/>
              </a:rPr>
              <a:t> </a:t>
            </a:r>
            <a:r>
              <a:rPr lang="en-US" altLang="en-US" sz="2000" dirty="0" err="1">
                <a:latin typeface="Times New Roman" panose="02020603050405020304" pitchFamily="18" charset="0"/>
                <a:cs typeface="Times New Roman" panose="02020603050405020304" pitchFamily="18" charset="0"/>
                <a:sym typeface="+mn-ea"/>
              </a:rPr>
              <a:t>không</a:t>
            </a:r>
            <a:r>
              <a:rPr lang="en-US" altLang="en-US" sz="2000" dirty="0">
                <a:latin typeface="Times New Roman" panose="02020603050405020304" pitchFamily="18" charset="0"/>
                <a:cs typeface="Times New Roman" panose="02020603050405020304" pitchFamily="18" charset="0"/>
                <a:sym typeface="+mn-ea"/>
              </a:rPr>
              <a:t> </a:t>
            </a:r>
            <a:r>
              <a:rPr lang="en-US" altLang="en-US" sz="2000" dirty="0" err="1">
                <a:latin typeface="Times New Roman" panose="02020603050405020304" pitchFamily="18" charset="0"/>
                <a:cs typeface="Times New Roman" panose="02020603050405020304" pitchFamily="18" charset="0"/>
                <a:sym typeface="+mn-ea"/>
              </a:rPr>
              <a:t>còn</a:t>
            </a:r>
            <a:r>
              <a:rPr lang="en-US" altLang="en-US" sz="2000" dirty="0">
                <a:latin typeface="Times New Roman" panose="02020603050405020304" pitchFamily="18" charset="0"/>
                <a:cs typeface="Times New Roman" panose="02020603050405020304" pitchFamily="18" charset="0"/>
                <a:sym typeface="+mn-ea"/>
              </a:rPr>
              <a:t> </a:t>
            </a:r>
            <a:r>
              <a:rPr lang="en-US" altLang="en-US" sz="2000" dirty="0" err="1">
                <a:latin typeface="Times New Roman" panose="02020603050405020304" pitchFamily="18" charset="0"/>
                <a:cs typeface="Times New Roman" panose="02020603050405020304" pitchFamily="18" charset="0"/>
                <a:sym typeface="+mn-ea"/>
              </a:rPr>
              <a:t>được</a:t>
            </a:r>
            <a:r>
              <a:rPr lang="en-US" altLang="en-US" sz="2000" dirty="0">
                <a:latin typeface="Times New Roman" panose="02020603050405020304" pitchFamily="18" charset="0"/>
                <a:cs typeface="Times New Roman" panose="02020603050405020304" pitchFamily="18" charset="0"/>
                <a:sym typeface="+mn-ea"/>
              </a:rPr>
              <a:t> </a:t>
            </a:r>
            <a:r>
              <a:rPr lang="en-US" altLang="en-US" sz="2000" dirty="0" err="1">
                <a:latin typeface="Times New Roman" panose="02020603050405020304" pitchFamily="18" charset="0"/>
                <a:cs typeface="Times New Roman" panose="02020603050405020304" pitchFamily="18" charset="0"/>
                <a:sym typeface="+mn-ea"/>
              </a:rPr>
              <a:t>sử</a:t>
            </a:r>
            <a:r>
              <a:rPr lang="en-US" altLang="en-US" sz="2000" dirty="0">
                <a:latin typeface="Times New Roman" panose="02020603050405020304" pitchFamily="18" charset="0"/>
                <a:cs typeface="Times New Roman" panose="02020603050405020304" pitchFamily="18" charset="0"/>
                <a:sym typeface="+mn-ea"/>
              </a:rPr>
              <a:t> </a:t>
            </a:r>
            <a:r>
              <a:rPr lang="en-US" altLang="en-US" sz="2000" dirty="0" err="1">
                <a:latin typeface="Times New Roman" panose="02020603050405020304" pitchFamily="18" charset="0"/>
                <a:cs typeface="Times New Roman" panose="02020603050405020304" pitchFamily="18" charset="0"/>
                <a:sym typeface="+mn-ea"/>
              </a:rPr>
              <a:t>dụng</a:t>
            </a:r>
            <a:r>
              <a:rPr lang="en-US" altLang="en-US" sz="2000" dirty="0">
                <a:latin typeface="Times New Roman" panose="02020603050405020304" pitchFamily="18" charset="0"/>
                <a:cs typeface="Times New Roman" panose="02020603050405020304" pitchFamily="18" charset="0"/>
                <a:sym typeface="+mn-ea"/>
              </a:rPr>
              <a:t>.</a:t>
            </a:r>
          </a:p>
          <a:p>
            <a:pPr marL="457200" lvl="1" indent="457200"/>
            <a:endParaRPr lang="en-US" sz="2000" dirty="0">
              <a:solidFill>
                <a:schemeClr val="tx1"/>
              </a:solidFill>
              <a:latin typeface="Times New Roman" panose="02020603050405020304" pitchFamily="18" charset="0"/>
              <a:cs typeface="Times New Roman" panose="02020603050405020304" pitchFamily="18" charset="0"/>
              <a:sym typeface="+mn-ea"/>
            </a:endParaRPr>
          </a:p>
          <a:p>
            <a:pPr indent="457200"/>
            <a:r>
              <a:rPr lang="en-US" altLang="vi-VN" sz="2000" dirty="0">
                <a:latin typeface="Times New Roman" panose="02020603050405020304" pitchFamily="18" charset="0"/>
                <a:cs typeface="Times New Roman" panose="02020603050405020304" pitchFamily="18" charset="0"/>
                <a:sym typeface="+mn-ea"/>
              </a:rPr>
              <a:t>- </a:t>
            </a:r>
            <a:r>
              <a:rPr lang="vi-VN" sz="2000" dirty="0">
                <a:latin typeface="Times New Roman" panose="02020603050405020304" pitchFamily="18" charset="0"/>
                <a:cs typeface="Times New Roman" panose="02020603050405020304" pitchFamily="18" charset="0"/>
                <a:sym typeface="+mn-ea"/>
              </a:rPr>
              <a:t>Chặn cổng không cần thiết trên </a:t>
            </a:r>
            <a:r>
              <a:rPr lang="vi-VN" sz="2000" dirty="0" err="1">
                <a:latin typeface="Times New Roman" panose="02020603050405020304" pitchFamily="18" charset="0"/>
                <a:cs typeface="Times New Roman" panose="02020603050405020304" pitchFamily="18" charset="0"/>
                <a:sym typeface="+mn-ea"/>
              </a:rPr>
              <a:t>firewall</a:t>
            </a:r>
            <a:endParaRPr lang="vi-VN" sz="2000" dirty="0">
              <a:latin typeface="Times New Roman" panose="02020603050405020304" pitchFamily="18" charset="0"/>
              <a:cs typeface="Times New Roman" panose="02020603050405020304" pitchFamily="18" charset="0"/>
              <a:sym typeface="+mn-ea"/>
            </a:endParaRPr>
          </a:p>
          <a:p>
            <a:pPr indent="457200"/>
            <a:endParaRPr lang="vi-VN" sz="2000" dirty="0">
              <a:latin typeface="Times New Roman" panose="02020603050405020304" pitchFamily="18" charset="0"/>
              <a:cs typeface="Times New Roman" panose="02020603050405020304" pitchFamily="18" charset="0"/>
              <a:sym typeface="+mn-ea"/>
            </a:endParaRPr>
          </a:p>
          <a:p>
            <a:pPr indent="457200"/>
            <a:r>
              <a:rPr lang="en-US" altLang="vi-VN" sz="2000" dirty="0">
                <a:latin typeface="Times New Roman" panose="02020603050405020304" pitchFamily="18" charset="0"/>
                <a:cs typeface="Times New Roman" panose="02020603050405020304" pitchFamily="18" charset="0"/>
                <a:sym typeface="+mn-ea"/>
              </a:rPr>
              <a:t>- </a:t>
            </a:r>
            <a:r>
              <a:rPr lang="vi-VN" sz="2000" dirty="0">
                <a:latin typeface="Times New Roman" panose="02020603050405020304" pitchFamily="18" charset="0"/>
                <a:cs typeface="Times New Roman" panose="02020603050405020304" pitchFamily="18" charset="0"/>
                <a:sym typeface="+mn-ea"/>
              </a:rPr>
              <a:t>Quét hệ thống định kì để phát hiện dịch vụ dư thừa hoặc phân quyền sai</a:t>
            </a:r>
            <a:endParaRPr lang="vi-VN" sz="2000" dirty="0">
              <a:latin typeface="Times New Roman" panose="02020603050405020304" pitchFamily="18" charset="0"/>
              <a:cs typeface="Times New Roman" panose="02020603050405020304" pitchFamily="18" charset="0"/>
            </a:endParaRPr>
          </a:p>
          <a:p>
            <a:pPr indent="457200"/>
            <a:endParaRPr lang="en-US" sz="2000" dirty="0">
              <a:solidFill>
                <a:schemeClr val="tx1"/>
              </a:solidFill>
              <a:latin typeface="Times New Roman" panose="02020603050405020304" pitchFamily="18" charset="0"/>
              <a:cs typeface="Times New Roman" panose="02020603050405020304" pitchFamily="18" charset="0"/>
              <a:sym typeface="+mn-ea"/>
            </a:endParaRPr>
          </a:p>
          <a:p>
            <a:pPr marL="457200" lvl="1" indent="457200"/>
            <a:endParaRPr lang="en-US" altLang="en-US" sz="2200" dirty="0">
              <a:solidFill>
                <a:schemeClr val="tx1"/>
              </a:solidFill>
              <a:latin typeface="Times New Roman" panose="02020603050405020304" pitchFamily="18" charset="0"/>
              <a:cs typeface="Times New Roman" panose="02020603050405020304" pitchFamily="18" charset="0"/>
              <a:sym typeface="+mn-ea"/>
            </a:endParaRPr>
          </a:p>
        </p:txBody>
      </p:sp>
      <p:sp>
        <p:nvSpPr>
          <p:cNvPr id="3" name="Slide Number Placeholder 2">
            <a:extLst>
              <a:ext uri="{FF2B5EF4-FFF2-40B4-BE49-F238E27FC236}">
                <a16:creationId xmlns:a16="http://schemas.microsoft.com/office/drawing/2014/main" id="{000F7BAA-B654-7401-B62D-4FA83C977EE5}"/>
              </a:ext>
            </a:extLst>
          </p:cNvPr>
          <p:cNvSpPr>
            <a:spLocks noGrp="1"/>
          </p:cNvSpPr>
          <p:nvPr>
            <p:ph type="sldNum" sz="quarter" idx="12"/>
          </p:nvPr>
        </p:nvSpPr>
        <p:spPr/>
        <p:txBody>
          <a:bodyPr/>
          <a:lstStyle/>
          <a:p>
            <a:pPr lvl="0" eaLnBrk="1" hangingPunct="1"/>
            <a:fld id="{9A0DB2DC-4C9A-4742-B13C-FB6460FD3503}" type="slidenum">
              <a:rPr lang="en-US" altLang="ja-JP" smtClean="0">
                <a:latin typeface="Arial" panose="020B0604020202020204" pitchFamily="34" charset="0"/>
              </a:rPr>
              <a:t>10</a:t>
            </a:fld>
            <a:endParaRPr lang="en-US" altLang="ja-JP"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16386">
                                            <p:txEl>
                                              <p:pRg st="0" end="0"/>
                                            </p:txEl>
                                          </p:spTgt>
                                        </p:tgtEl>
                                        <p:attrNameLst>
                                          <p:attrName>style.visibility</p:attrName>
                                        </p:attrNameLst>
                                      </p:cBhvr>
                                      <p:to>
                                        <p:strVal val="visible"/>
                                      </p:to>
                                    </p:set>
                                    <p:anim calcmode="lin" valueType="num">
                                      <p:cBhvr additive="base">
                                        <p:cTn id="7" dur="500"/>
                                        <p:tgtEl>
                                          <p:spTgt spid="16386">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16386">
                                            <p:txEl>
                                              <p:pRg st="0" end="0"/>
                                            </p:txEl>
                                          </p:spTgt>
                                        </p:tgtEl>
                                      </p:cBhvr>
                                    </p:animEffect>
                                  </p:childTnLst>
                                </p:cTn>
                              </p:par>
                              <p:par>
                                <p:cTn id="9" presetID="12" presetClass="entr" presetSubtype="4" fill="hold" nodeType="withEffect">
                                  <p:stCondLst>
                                    <p:cond delay="0"/>
                                  </p:stCondLst>
                                  <p:childTnLst>
                                    <p:set>
                                      <p:cBhvr>
                                        <p:cTn id="10" dur="1" fill="hold">
                                          <p:stCondLst>
                                            <p:cond delay="0"/>
                                          </p:stCondLst>
                                        </p:cTn>
                                        <p:tgtEl>
                                          <p:spTgt spid="16386">
                                            <p:txEl>
                                              <p:pRg st="1" end="1"/>
                                            </p:txEl>
                                          </p:spTgt>
                                        </p:tgtEl>
                                        <p:attrNameLst>
                                          <p:attrName>style.visibility</p:attrName>
                                        </p:attrNameLst>
                                      </p:cBhvr>
                                      <p:to>
                                        <p:strVal val="visible"/>
                                      </p:to>
                                    </p:set>
                                    <p:anim calcmode="lin" valueType="num">
                                      <p:cBhvr additive="base">
                                        <p:cTn id="11" dur="500"/>
                                        <p:tgtEl>
                                          <p:spTgt spid="16386">
                                            <p:txEl>
                                              <p:pRg st="1" end="1"/>
                                            </p:txEl>
                                          </p:spTgt>
                                        </p:tgtEl>
                                        <p:attrNameLst>
                                          <p:attrName>ppt_y</p:attrName>
                                        </p:attrNameLst>
                                      </p:cBhvr>
                                      <p:tavLst>
                                        <p:tav tm="0">
                                          <p:val>
                                            <p:strVal val="#ppt_y+#ppt_h*1.125000"/>
                                          </p:val>
                                        </p:tav>
                                        <p:tav tm="100000">
                                          <p:val>
                                            <p:strVal val="#ppt_y"/>
                                          </p:val>
                                        </p:tav>
                                      </p:tavLst>
                                    </p:anim>
                                    <p:animEffect transition="in" filter="wipe(up)">
                                      <p:cBhvr>
                                        <p:cTn id="12" dur="500"/>
                                        <p:tgtEl>
                                          <p:spTgt spid="1638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テキスト ボックス 3"/>
          <p:cNvSpPr txBox="1"/>
          <p:nvPr/>
        </p:nvSpPr>
        <p:spPr>
          <a:xfrm>
            <a:off x="2181701" y="125730"/>
            <a:ext cx="5745480" cy="1076325"/>
          </a:xfrm>
          <a:prstGeom prst="rect">
            <a:avLst/>
          </a:prstGeom>
          <a:noFill/>
          <a:ln w="9525">
            <a:noFill/>
          </a:ln>
        </p:spPr>
        <p:txBody>
          <a:bodyPr wrap="none">
            <a:spAutoFit/>
          </a:bodyPr>
          <a:lstStyle/>
          <a:p>
            <a:pPr algn="ctr">
              <a:buNone/>
            </a:pPr>
            <a:r>
              <a:rPr lang="en-US" altLang="ja-JP" sz="3200" b="1" dirty="0">
                <a:solidFill>
                  <a:srgbClr val="FF0000"/>
                </a:solidFill>
                <a:latin typeface="Times New Roman" panose="02020603050405020304" pitchFamily="18" charset="0"/>
                <a:ea typeface="MS PGothic" panose="020B0600070205080204" pitchFamily="50" charset="-128"/>
                <a:sym typeface="+mn-ea"/>
              </a:rPr>
              <a:t>II. Cách thức tấn công </a:t>
            </a:r>
            <a:endParaRPr lang="en-US" altLang="ja-JP" sz="3200" b="1" dirty="0">
              <a:solidFill>
                <a:srgbClr val="FF0000"/>
              </a:solidFill>
              <a:latin typeface="Times New Roman" panose="02020603050405020304" pitchFamily="18" charset="0"/>
              <a:ea typeface="MS PGothic" panose="020B0600070205080204" pitchFamily="50" charset="-128"/>
            </a:endParaRPr>
          </a:p>
          <a:p>
            <a:pPr algn="ctr">
              <a:buNone/>
            </a:pPr>
            <a:r>
              <a:rPr lang="en-US" altLang="ja-JP" sz="3200" b="1" dirty="0">
                <a:solidFill>
                  <a:srgbClr val="FF0000"/>
                </a:solidFill>
                <a:latin typeface="Times New Roman" panose="02020603050405020304" pitchFamily="18" charset="0"/>
                <a:ea typeface="MS PGothic" panose="020B0600070205080204" pitchFamily="50" charset="-128"/>
                <a:sym typeface="+mn-ea"/>
              </a:rPr>
              <a:t>và cách phòng ngừa, ngăn chặn.</a:t>
            </a:r>
            <a:endParaRPr lang="ja-JP" altLang="en-US" sz="3200" b="1" dirty="0">
              <a:solidFill>
                <a:srgbClr val="FF0000"/>
              </a:solidFill>
              <a:latin typeface="Times New Roman" panose="02020603050405020304" pitchFamily="18" charset="0"/>
              <a:ea typeface="MS PGothic" panose="020B0600070205080204" pitchFamily="50" charset="-128"/>
            </a:endParaRPr>
          </a:p>
        </p:txBody>
      </p:sp>
      <p:sp>
        <p:nvSpPr>
          <p:cNvPr id="2" name="Text Box 1"/>
          <p:cNvSpPr txBox="1"/>
          <p:nvPr/>
        </p:nvSpPr>
        <p:spPr>
          <a:xfrm>
            <a:off x="263525" y="2053590"/>
            <a:ext cx="8608695" cy="4286250"/>
          </a:xfrm>
          <a:prstGeom prst="rect">
            <a:avLst/>
          </a:prstGeom>
          <a:noFill/>
        </p:spPr>
        <p:txBody>
          <a:bodyPr wrap="square" rtlCol="0">
            <a:noAutofit/>
          </a:bodyPr>
          <a:lstStyle/>
          <a:p>
            <a:r>
              <a:rPr lang="en-US" altLang="en-US" sz="2100">
                <a:latin typeface="Times New Roman" panose="02020603050405020304" pitchFamily="18" charset="0"/>
                <a:cs typeface="Times New Roman" panose="02020603050405020304" pitchFamily="18" charset="0"/>
              </a:rPr>
              <a:t>- HTTP Security Headers là các chỉ thị (directives) mà máy chủ web (server) gửi kèm theo trong các phản hồi HTTP (HTTP Response) tới trình duyệt của người dùng.</a:t>
            </a:r>
          </a:p>
          <a:p>
            <a:endParaRPr lang="en-US" altLang="en-US" sz="2100">
              <a:latin typeface="Times New Roman" panose="02020603050405020304" pitchFamily="18" charset="0"/>
              <a:cs typeface="Times New Roman" panose="02020603050405020304" pitchFamily="18" charset="0"/>
            </a:endParaRPr>
          </a:p>
          <a:p>
            <a:r>
              <a:rPr lang="en-US" sz="2100">
                <a:latin typeface="Times New Roman" panose="02020603050405020304" pitchFamily="18" charset="0"/>
                <a:cs typeface="Times New Roman" panose="02020603050405020304" pitchFamily="18" charset="0"/>
              </a:rPr>
              <a:t>- </a:t>
            </a:r>
            <a:r>
              <a:rPr lang="vi-VN" sz="2100">
                <a:latin typeface="Times New Roman" panose="02020603050405020304" pitchFamily="18" charset="0"/>
                <a:cs typeface="Times New Roman" panose="02020603050405020304" pitchFamily="18" charset="0"/>
                <a:sym typeface="+mn-ea"/>
              </a:rPr>
              <a:t>Nếu thiếu hoặc cấu hình sai các header này, ứng dụng sẽ:</a:t>
            </a:r>
            <a:endParaRPr lang="vi-VN" sz="2100">
              <a:latin typeface="Times New Roman" panose="02020603050405020304" pitchFamily="18" charset="0"/>
              <a:cs typeface="Times New Roman" panose="02020603050405020304" pitchFamily="18" charset="0"/>
            </a:endParaRPr>
          </a:p>
          <a:p>
            <a:pPr indent="457200"/>
            <a:r>
              <a:rPr lang="en-US" sz="2100">
                <a:latin typeface="Times New Roman" panose="02020603050405020304" pitchFamily="18" charset="0"/>
                <a:cs typeface="Times New Roman" panose="02020603050405020304" pitchFamily="18" charset="0"/>
              </a:rPr>
              <a:t>+ </a:t>
            </a:r>
            <a:r>
              <a:rPr lang="en-US" altLang="en-US" sz="2100">
                <a:latin typeface="Times New Roman" panose="02020603050405020304" pitchFamily="18" charset="0"/>
                <a:cs typeface="Times New Roman" panose="02020603050405020304" pitchFamily="18" charset="0"/>
              </a:rPr>
              <a:t>Tăng nguy cơ bị tấn công Cross-Site Scripting (XSS).</a:t>
            </a:r>
          </a:p>
          <a:p>
            <a:pPr indent="457200"/>
            <a:r>
              <a:rPr lang="en-US" altLang="en-US" sz="2100">
                <a:latin typeface="Times New Roman" panose="02020603050405020304" pitchFamily="18" charset="0"/>
                <a:cs typeface="Times New Roman" panose="02020603050405020304" pitchFamily="18" charset="0"/>
              </a:rPr>
              <a:t>+ Dễ bị tấn công Clickjacking.</a:t>
            </a:r>
          </a:p>
          <a:p>
            <a:pPr indent="457200"/>
            <a:r>
              <a:rPr lang="en-US" altLang="en-US" sz="2100">
                <a:latin typeface="Times New Roman" panose="02020603050405020304" pitchFamily="18" charset="0"/>
                <a:cs typeface="Times New Roman" panose="02020603050405020304" pitchFamily="18" charset="0"/>
              </a:rPr>
              <a:t>+ Nguy cơ hạ cấp kết nối và tấn công Man-in-the-Middle (MITM).</a:t>
            </a:r>
          </a:p>
          <a:p>
            <a:pPr indent="457200"/>
            <a:r>
              <a:rPr lang="en-US" altLang="en-US" sz="2100">
                <a:latin typeface="Times New Roman" panose="02020603050405020304" pitchFamily="18" charset="0"/>
                <a:cs typeface="Times New Roman" panose="02020603050405020304" pitchFamily="18" charset="0"/>
              </a:rPr>
              <a:t>+ Rò rỉ thông tin người dùng và phiên làm việc.</a:t>
            </a:r>
          </a:p>
          <a:p>
            <a:pPr indent="457200"/>
            <a:r>
              <a:rPr lang="en-US" altLang="en-US" sz="2100">
                <a:latin typeface="Times New Roman" panose="02020603050405020304" pitchFamily="18" charset="0"/>
                <a:cs typeface="Times New Roman" panose="02020603050405020304" pitchFamily="18" charset="0"/>
              </a:rPr>
              <a:t>+ Rủi ro từ MIME Sniffing, nếu thiếu X-Content-Type-Options: nosniff</a:t>
            </a:r>
          </a:p>
        </p:txBody>
      </p:sp>
      <p:sp>
        <p:nvSpPr>
          <p:cNvPr id="3" name="Text Box 2"/>
          <p:cNvSpPr txBox="1"/>
          <p:nvPr/>
        </p:nvSpPr>
        <p:spPr>
          <a:xfrm>
            <a:off x="645795" y="1464310"/>
            <a:ext cx="8404860" cy="589280"/>
          </a:xfrm>
          <a:prstGeom prst="rect">
            <a:avLst/>
          </a:prstGeom>
          <a:noFill/>
        </p:spPr>
        <p:txBody>
          <a:bodyPr wrap="square" rtlCol="0">
            <a:noAutofit/>
          </a:bodyPr>
          <a:lstStyle/>
          <a:p>
            <a:r>
              <a:rPr lang="en-US" sz="2600" b="1">
                <a:solidFill>
                  <a:srgbClr val="FF0000"/>
                </a:solidFill>
                <a:latin typeface="Times New Roman" panose="02020603050405020304" pitchFamily="18" charset="0"/>
                <a:cs typeface="Times New Roman" panose="02020603050405020304" pitchFamily="18" charset="0"/>
                <a:sym typeface="+mn-ea"/>
              </a:rPr>
              <a:t>2. Cấu hình sai và thiếu cấu hình HTTP Security Headers</a:t>
            </a:r>
          </a:p>
        </p:txBody>
      </p:sp>
      <p:sp>
        <p:nvSpPr>
          <p:cNvPr id="4" name="Slide Number Placeholder 3">
            <a:extLst>
              <a:ext uri="{FF2B5EF4-FFF2-40B4-BE49-F238E27FC236}">
                <a16:creationId xmlns:a16="http://schemas.microsoft.com/office/drawing/2014/main" id="{B5FB5DB5-BD6A-1647-44BD-F21913B98399}"/>
              </a:ext>
            </a:extLst>
          </p:cNvPr>
          <p:cNvSpPr>
            <a:spLocks noGrp="1"/>
          </p:cNvSpPr>
          <p:nvPr>
            <p:ph type="sldNum" sz="quarter" idx="12"/>
          </p:nvPr>
        </p:nvSpPr>
        <p:spPr/>
        <p:txBody>
          <a:bodyPr/>
          <a:lstStyle/>
          <a:p>
            <a:pPr lvl="0" eaLnBrk="1" hangingPunct="1"/>
            <a:fld id="{9A0DB2DC-4C9A-4742-B13C-FB6460FD3503}" type="slidenum">
              <a:rPr lang="en-US" altLang="ja-JP" smtClean="0">
                <a:latin typeface="Arial" panose="020B0604020202020204" pitchFamily="34" charset="0"/>
              </a:rPr>
              <a:t>11</a:t>
            </a:fld>
            <a:endParaRPr lang="en-US" altLang="ja-JP"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17410">
                                            <p:txEl>
                                              <p:pRg st="0" end="0"/>
                                            </p:txEl>
                                          </p:spTgt>
                                        </p:tgtEl>
                                        <p:attrNameLst>
                                          <p:attrName>style.visibility</p:attrName>
                                        </p:attrNameLst>
                                      </p:cBhvr>
                                      <p:to>
                                        <p:strVal val="visible"/>
                                      </p:to>
                                    </p:set>
                                    <p:anim calcmode="lin" valueType="num">
                                      <p:cBhvr additive="base">
                                        <p:cTn id="7" dur="500"/>
                                        <p:tgtEl>
                                          <p:spTgt spid="17410">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17410">
                                            <p:txEl>
                                              <p:pRg st="0" end="0"/>
                                            </p:txEl>
                                          </p:spTgt>
                                        </p:tgtEl>
                                      </p:cBhvr>
                                    </p:animEffect>
                                  </p:childTnLst>
                                </p:cTn>
                              </p:par>
                              <p:par>
                                <p:cTn id="9" presetID="12" presetClass="entr" presetSubtype="4" fill="hold" nodeType="withEffect">
                                  <p:stCondLst>
                                    <p:cond delay="0"/>
                                  </p:stCondLst>
                                  <p:childTnLst>
                                    <p:set>
                                      <p:cBhvr>
                                        <p:cTn id="10" dur="1" fill="hold">
                                          <p:stCondLst>
                                            <p:cond delay="0"/>
                                          </p:stCondLst>
                                        </p:cTn>
                                        <p:tgtEl>
                                          <p:spTgt spid="17410">
                                            <p:txEl>
                                              <p:pRg st="1" end="1"/>
                                            </p:txEl>
                                          </p:spTgt>
                                        </p:tgtEl>
                                        <p:attrNameLst>
                                          <p:attrName>style.visibility</p:attrName>
                                        </p:attrNameLst>
                                      </p:cBhvr>
                                      <p:to>
                                        <p:strVal val="visible"/>
                                      </p:to>
                                    </p:set>
                                    <p:anim calcmode="lin" valueType="num">
                                      <p:cBhvr additive="base">
                                        <p:cTn id="11" dur="500"/>
                                        <p:tgtEl>
                                          <p:spTgt spid="17410">
                                            <p:txEl>
                                              <p:pRg st="1" end="1"/>
                                            </p:txEl>
                                          </p:spTgt>
                                        </p:tgtEl>
                                        <p:attrNameLst>
                                          <p:attrName>ppt_y</p:attrName>
                                        </p:attrNameLst>
                                      </p:cBhvr>
                                      <p:tavLst>
                                        <p:tav tm="0">
                                          <p:val>
                                            <p:strVal val="#ppt_y+#ppt_h*1.125000"/>
                                          </p:val>
                                        </p:tav>
                                        <p:tav tm="100000">
                                          <p:val>
                                            <p:strVal val="#ppt_y"/>
                                          </p:val>
                                        </p:tav>
                                      </p:tavLst>
                                    </p:anim>
                                    <p:animEffect transition="in" filter="wipe(up)">
                                      <p:cBhvr>
                                        <p:cTn id="12" dur="500"/>
                                        <p:tgtEl>
                                          <p:spTgt spid="17410">
                                            <p:txEl>
                                              <p:pRg st="1" end="1"/>
                                            </p:txEl>
                                          </p:spTgt>
                                        </p:tgtEl>
                                      </p:cBhvr>
                                    </p:animEffect>
                                  </p:childTnLst>
                                </p:cTn>
                              </p:par>
                              <p:par>
                                <p:cTn id="13" presetID="12" presetClass="entr" presetSubtype="4" fill="hold" nodeType="with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additive="base">
                                        <p:cTn id="15" dur="500"/>
                                        <p:tgtEl>
                                          <p:spTgt spid="3">
                                            <p:txEl>
                                              <p:pRg st="0" end="0"/>
                                            </p:txEl>
                                          </p:spTgt>
                                        </p:tgtEl>
                                        <p:attrNameLst>
                                          <p:attrName>ppt_y</p:attrName>
                                        </p:attrNameLst>
                                      </p:cBhvr>
                                      <p:tavLst>
                                        <p:tav tm="0">
                                          <p:val>
                                            <p:strVal val="#ppt_y+#ppt_h*1.125000"/>
                                          </p:val>
                                        </p:tav>
                                        <p:tav tm="100000">
                                          <p:val>
                                            <p:strVal val="#ppt_y"/>
                                          </p:val>
                                        </p:tav>
                                      </p:tavLst>
                                    </p:anim>
                                    <p:animEffect transition="in" filter="wipe(up)">
                                      <p:cBhvr>
                                        <p:cTn id="16"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テキスト ボックス 3"/>
          <p:cNvSpPr txBox="1"/>
          <p:nvPr/>
        </p:nvSpPr>
        <p:spPr>
          <a:xfrm>
            <a:off x="2181701" y="125730"/>
            <a:ext cx="5745480" cy="1076325"/>
          </a:xfrm>
          <a:prstGeom prst="rect">
            <a:avLst/>
          </a:prstGeom>
          <a:noFill/>
          <a:ln w="9525">
            <a:noFill/>
          </a:ln>
        </p:spPr>
        <p:txBody>
          <a:bodyPr wrap="none">
            <a:spAutoFit/>
          </a:bodyPr>
          <a:lstStyle/>
          <a:p>
            <a:pPr algn="ctr">
              <a:buNone/>
            </a:pPr>
            <a:r>
              <a:rPr lang="en-US" altLang="ja-JP" sz="3200" b="1" dirty="0">
                <a:solidFill>
                  <a:srgbClr val="FF0000"/>
                </a:solidFill>
                <a:latin typeface="Times New Roman" panose="02020603050405020304" pitchFamily="18" charset="0"/>
                <a:ea typeface="MS PGothic" panose="020B0600070205080204" pitchFamily="50" charset="-128"/>
                <a:sym typeface="+mn-ea"/>
              </a:rPr>
              <a:t>II. Cách thức tấn công </a:t>
            </a:r>
            <a:endParaRPr lang="en-US" altLang="ja-JP" sz="3200" b="1" dirty="0">
              <a:solidFill>
                <a:srgbClr val="FF0000"/>
              </a:solidFill>
              <a:latin typeface="Times New Roman" panose="02020603050405020304" pitchFamily="18" charset="0"/>
              <a:ea typeface="MS PGothic" panose="020B0600070205080204" pitchFamily="50" charset="-128"/>
            </a:endParaRPr>
          </a:p>
          <a:p>
            <a:pPr algn="ctr">
              <a:buNone/>
            </a:pPr>
            <a:r>
              <a:rPr lang="en-US" altLang="ja-JP" sz="3200" b="1" dirty="0">
                <a:solidFill>
                  <a:srgbClr val="FF0000"/>
                </a:solidFill>
                <a:latin typeface="Times New Roman" panose="02020603050405020304" pitchFamily="18" charset="0"/>
                <a:ea typeface="MS PGothic" panose="020B0600070205080204" pitchFamily="50" charset="-128"/>
                <a:sym typeface="+mn-ea"/>
              </a:rPr>
              <a:t>và cách phòng ngừa, ngăn chặn.</a:t>
            </a:r>
            <a:endParaRPr lang="ja-JP" altLang="en-US" sz="3200" b="1" dirty="0">
              <a:solidFill>
                <a:srgbClr val="FF0000"/>
              </a:solidFill>
              <a:latin typeface="Times New Roman" panose="02020603050405020304" pitchFamily="18" charset="0"/>
              <a:ea typeface="MS PGothic" panose="020B0600070205080204" pitchFamily="50" charset="-128"/>
            </a:endParaRPr>
          </a:p>
        </p:txBody>
      </p:sp>
      <p:sp>
        <p:nvSpPr>
          <p:cNvPr id="2" name="Text Box 1"/>
          <p:cNvSpPr txBox="1"/>
          <p:nvPr/>
        </p:nvSpPr>
        <p:spPr>
          <a:xfrm>
            <a:off x="263525" y="1889760"/>
            <a:ext cx="8636635" cy="4612640"/>
          </a:xfrm>
          <a:prstGeom prst="rect">
            <a:avLst/>
          </a:prstGeom>
          <a:noFill/>
        </p:spPr>
        <p:txBody>
          <a:bodyPr wrap="square" rtlCol="0">
            <a:noAutofit/>
          </a:bodyPr>
          <a:lstStyle/>
          <a:p>
            <a:r>
              <a:rPr lang="en-US" sz="2300" b="1">
                <a:latin typeface="Times New Roman" panose="02020603050405020304" pitchFamily="18" charset="0"/>
                <a:cs typeface="Times New Roman" panose="02020603050405020304" pitchFamily="18" charset="0"/>
                <a:sym typeface="+mn-ea"/>
              </a:rPr>
              <a:t>Tấn công clickjacking</a:t>
            </a:r>
            <a:endParaRPr lang="en-US" sz="2300" b="1">
              <a:latin typeface="Times New Roman" panose="02020603050405020304" pitchFamily="18" charset="0"/>
              <a:cs typeface="Times New Roman" panose="02020603050405020304" pitchFamily="18" charset="0"/>
            </a:endParaRPr>
          </a:p>
          <a:p>
            <a:pPr indent="457200"/>
            <a:r>
              <a:rPr lang="en-US" altLang="en-US" sz="2000">
                <a:latin typeface="Times New Roman" panose="02020603050405020304" pitchFamily="18" charset="0"/>
                <a:cs typeface="Times New Roman" panose="02020603050405020304" pitchFamily="18" charset="0"/>
              </a:rPr>
              <a:t>- Kẻ tấn công sử dụng một trang web độc hại và khéo léo nhúng (embed) một trang web hợp lệ của bên thứ ba (ví dụ: ngân hàng, mạng xã hội) vào đó thông qua thẻ </a:t>
            </a:r>
            <a:r>
              <a:rPr lang="en-US" altLang="en-US" sz="2000">
                <a:solidFill>
                  <a:srgbClr val="FF0000"/>
                </a:solidFill>
                <a:latin typeface="Times New Roman" panose="02020603050405020304" pitchFamily="18" charset="0"/>
                <a:cs typeface="Times New Roman" panose="02020603050405020304" pitchFamily="18" charset="0"/>
              </a:rPr>
              <a:t>&lt;iframe&gt;</a:t>
            </a:r>
            <a:r>
              <a:rPr lang="en-US" altLang="en-US" sz="2000">
                <a:latin typeface="Times New Roman" panose="02020603050405020304" pitchFamily="18" charset="0"/>
                <a:cs typeface="Times New Roman" panose="02020603050405020304" pitchFamily="18" charset="0"/>
              </a:rPr>
              <a:t>, </a:t>
            </a:r>
            <a:r>
              <a:rPr lang="en-US" altLang="en-US" sz="2000">
                <a:solidFill>
                  <a:srgbClr val="FF0000"/>
                </a:solidFill>
                <a:latin typeface="Times New Roman" panose="02020603050405020304" pitchFamily="18" charset="0"/>
                <a:cs typeface="Times New Roman" panose="02020603050405020304" pitchFamily="18" charset="0"/>
              </a:rPr>
              <a:t>&lt;frame&gt;</a:t>
            </a:r>
            <a:r>
              <a:rPr lang="en-US" altLang="en-US" sz="2000">
                <a:latin typeface="Times New Roman" panose="02020603050405020304" pitchFamily="18" charset="0"/>
                <a:cs typeface="Times New Roman" panose="02020603050405020304" pitchFamily="18" charset="0"/>
              </a:rPr>
              <a:t>, hoặc </a:t>
            </a:r>
            <a:r>
              <a:rPr lang="en-US" altLang="en-US" sz="2000">
                <a:solidFill>
                  <a:srgbClr val="FF0000"/>
                </a:solidFill>
                <a:latin typeface="Times New Roman" panose="02020603050405020304" pitchFamily="18" charset="0"/>
                <a:cs typeface="Times New Roman" panose="02020603050405020304" pitchFamily="18" charset="0"/>
              </a:rPr>
              <a:t>&lt;object&gt;</a:t>
            </a:r>
            <a:r>
              <a:rPr lang="en-US" altLang="en-US" sz="2000">
                <a:latin typeface="Times New Roman" panose="02020603050405020304" pitchFamily="18" charset="0"/>
                <a:cs typeface="Times New Roman" panose="02020603050405020304" pitchFamily="18" charset="0"/>
              </a:rPr>
              <a:t>.</a:t>
            </a:r>
          </a:p>
          <a:p>
            <a:pPr indent="457200"/>
            <a:endParaRPr lang="en-US" altLang="en-US" sz="2000">
              <a:latin typeface="Times New Roman" panose="02020603050405020304" pitchFamily="18" charset="0"/>
              <a:cs typeface="Times New Roman" panose="02020603050405020304" pitchFamily="18" charset="0"/>
            </a:endParaRPr>
          </a:p>
          <a:p>
            <a:pPr indent="457200"/>
            <a:r>
              <a:rPr lang="en-US" altLang="en-US" sz="2000" b="1">
                <a:latin typeface="Times New Roman" panose="02020603050405020304" pitchFamily="18" charset="0"/>
                <a:cs typeface="Times New Roman" panose="02020603050405020304" pitchFamily="18" charset="0"/>
              </a:rPr>
              <a:t>Hậu quả thường gặp:</a:t>
            </a:r>
            <a:endParaRPr lang="en-US" altLang="en-US" sz="2000">
              <a:latin typeface="Times New Roman" panose="02020603050405020304" pitchFamily="18" charset="0"/>
              <a:cs typeface="Times New Roman" panose="02020603050405020304" pitchFamily="18" charset="0"/>
            </a:endParaRPr>
          </a:p>
          <a:p>
            <a:pPr indent="457200"/>
            <a:r>
              <a:rPr lang="en-US" altLang="en-US" sz="2000">
                <a:latin typeface="Times New Roman" panose="02020603050405020304" pitchFamily="18" charset="0"/>
                <a:cs typeface="Times New Roman" panose="02020603050405020304" pitchFamily="18" charset="0"/>
              </a:rPr>
              <a:t>- Thiệt hại Tài chính</a:t>
            </a:r>
          </a:p>
          <a:p>
            <a:pPr indent="457200"/>
            <a:r>
              <a:rPr lang="en-US" altLang="en-US" sz="2000">
                <a:latin typeface="Times New Roman" panose="02020603050405020304" pitchFamily="18" charset="0"/>
                <a:cs typeface="Times New Roman" panose="02020603050405020304" pitchFamily="18" charset="0"/>
              </a:rPr>
              <a:t>- Bị kiểm soát Tài khoản</a:t>
            </a:r>
          </a:p>
          <a:p>
            <a:pPr indent="457200"/>
            <a:r>
              <a:rPr lang="en-US" altLang="en-US" sz="2000">
                <a:latin typeface="Times New Roman" panose="02020603050405020304" pitchFamily="18" charset="0"/>
                <a:cs typeface="Times New Roman" panose="02020603050405020304" pitchFamily="18" charset="0"/>
              </a:rPr>
              <a:t>- Thực thi Lệnh Độc hại</a:t>
            </a:r>
          </a:p>
          <a:p>
            <a:pPr indent="457200"/>
            <a:r>
              <a:rPr lang="en-US" altLang="en-US" sz="2000">
                <a:latin typeface="Times New Roman" panose="02020603050405020304" pitchFamily="18" charset="0"/>
                <a:cs typeface="Times New Roman" panose="02020603050405020304" pitchFamily="18" charset="0"/>
              </a:rPr>
              <a:t>- Xâm phạm Quyền riêng tư</a:t>
            </a:r>
          </a:p>
          <a:p>
            <a:pPr indent="457200"/>
            <a:endParaRPr lang="en-US" altLang="en-US" sz="2000">
              <a:latin typeface="Times New Roman" panose="02020603050405020304" pitchFamily="18" charset="0"/>
              <a:cs typeface="Times New Roman" panose="02020603050405020304" pitchFamily="18" charset="0"/>
            </a:endParaRPr>
          </a:p>
        </p:txBody>
      </p:sp>
      <p:sp>
        <p:nvSpPr>
          <p:cNvPr id="3" name="Text Box 2"/>
          <p:cNvSpPr txBox="1"/>
          <p:nvPr/>
        </p:nvSpPr>
        <p:spPr>
          <a:xfrm>
            <a:off x="645795" y="1464310"/>
            <a:ext cx="8404860" cy="589280"/>
          </a:xfrm>
          <a:prstGeom prst="rect">
            <a:avLst/>
          </a:prstGeom>
          <a:noFill/>
        </p:spPr>
        <p:txBody>
          <a:bodyPr wrap="square" rtlCol="0">
            <a:noAutofit/>
          </a:bodyPr>
          <a:lstStyle/>
          <a:p>
            <a:r>
              <a:rPr lang="en-US" sz="2600" b="1">
                <a:solidFill>
                  <a:srgbClr val="FF0000"/>
                </a:solidFill>
                <a:latin typeface="Times New Roman" panose="02020603050405020304" pitchFamily="18" charset="0"/>
                <a:cs typeface="Times New Roman" panose="02020603050405020304" pitchFamily="18" charset="0"/>
                <a:sym typeface="+mn-ea"/>
              </a:rPr>
              <a:t>2. Cấu hình sai và thiếu cấu hình HTTP Security Headers</a:t>
            </a:r>
          </a:p>
        </p:txBody>
      </p:sp>
      <p:sp>
        <p:nvSpPr>
          <p:cNvPr id="4" name="Slide Number Placeholder 3">
            <a:extLst>
              <a:ext uri="{FF2B5EF4-FFF2-40B4-BE49-F238E27FC236}">
                <a16:creationId xmlns:a16="http://schemas.microsoft.com/office/drawing/2014/main" id="{D98390EF-EBEB-B5C9-14A7-D6B525B982B8}"/>
              </a:ext>
            </a:extLst>
          </p:cNvPr>
          <p:cNvSpPr>
            <a:spLocks noGrp="1"/>
          </p:cNvSpPr>
          <p:nvPr>
            <p:ph type="sldNum" sz="quarter" idx="12"/>
          </p:nvPr>
        </p:nvSpPr>
        <p:spPr/>
        <p:txBody>
          <a:bodyPr/>
          <a:lstStyle/>
          <a:p>
            <a:pPr lvl="0" eaLnBrk="1" hangingPunct="1"/>
            <a:fld id="{9A0DB2DC-4C9A-4742-B13C-FB6460FD3503}" type="slidenum">
              <a:rPr lang="en-US" altLang="ja-JP" smtClean="0">
                <a:latin typeface="Arial" panose="020B0604020202020204" pitchFamily="34" charset="0"/>
              </a:rPr>
              <a:t>12</a:t>
            </a:fld>
            <a:endParaRPr lang="en-US" altLang="ja-JP"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17410">
                                            <p:txEl>
                                              <p:pRg st="0" end="0"/>
                                            </p:txEl>
                                          </p:spTgt>
                                        </p:tgtEl>
                                        <p:attrNameLst>
                                          <p:attrName>style.visibility</p:attrName>
                                        </p:attrNameLst>
                                      </p:cBhvr>
                                      <p:to>
                                        <p:strVal val="visible"/>
                                      </p:to>
                                    </p:set>
                                    <p:anim calcmode="lin" valueType="num">
                                      <p:cBhvr additive="base">
                                        <p:cTn id="7" dur="500"/>
                                        <p:tgtEl>
                                          <p:spTgt spid="17410">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17410">
                                            <p:txEl>
                                              <p:pRg st="0" end="0"/>
                                            </p:txEl>
                                          </p:spTgt>
                                        </p:tgtEl>
                                      </p:cBhvr>
                                    </p:animEffect>
                                  </p:childTnLst>
                                </p:cTn>
                              </p:par>
                              <p:par>
                                <p:cTn id="9" presetID="12" presetClass="entr" presetSubtype="4" fill="hold" nodeType="withEffect">
                                  <p:stCondLst>
                                    <p:cond delay="0"/>
                                  </p:stCondLst>
                                  <p:childTnLst>
                                    <p:set>
                                      <p:cBhvr>
                                        <p:cTn id="10" dur="1" fill="hold">
                                          <p:stCondLst>
                                            <p:cond delay="0"/>
                                          </p:stCondLst>
                                        </p:cTn>
                                        <p:tgtEl>
                                          <p:spTgt spid="17410">
                                            <p:txEl>
                                              <p:pRg st="1" end="1"/>
                                            </p:txEl>
                                          </p:spTgt>
                                        </p:tgtEl>
                                        <p:attrNameLst>
                                          <p:attrName>style.visibility</p:attrName>
                                        </p:attrNameLst>
                                      </p:cBhvr>
                                      <p:to>
                                        <p:strVal val="visible"/>
                                      </p:to>
                                    </p:set>
                                    <p:anim calcmode="lin" valueType="num">
                                      <p:cBhvr additive="base">
                                        <p:cTn id="11" dur="500"/>
                                        <p:tgtEl>
                                          <p:spTgt spid="17410">
                                            <p:txEl>
                                              <p:pRg st="1" end="1"/>
                                            </p:txEl>
                                          </p:spTgt>
                                        </p:tgtEl>
                                        <p:attrNameLst>
                                          <p:attrName>ppt_y</p:attrName>
                                        </p:attrNameLst>
                                      </p:cBhvr>
                                      <p:tavLst>
                                        <p:tav tm="0">
                                          <p:val>
                                            <p:strVal val="#ppt_y+#ppt_h*1.125000"/>
                                          </p:val>
                                        </p:tav>
                                        <p:tav tm="100000">
                                          <p:val>
                                            <p:strVal val="#ppt_y"/>
                                          </p:val>
                                        </p:tav>
                                      </p:tavLst>
                                    </p:anim>
                                    <p:animEffect transition="in" filter="wipe(up)">
                                      <p:cBhvr>
                                        <p:cTn id="12" dur="500"/>
                                        <p:tgtEl>
                                          <p:spTgt spid="17410">
                                            <p:txEl>
                                              <p:pRg st="1" end="1"/>
                                            </p:txEl>
                                          </p:spTgt>
                                        </p:tgtEl>
                                      </p:cBhvr>
                                    </p:animEffect>
                                  </p:childTnLst>
                                </p:cTn>
                              </p:par>
                              <p:par>
                                <p:cTn id="13" presetID="12" presetClass="entr" presetSubtype="4" fill="hold" nodeType="with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additive="base">
                                        <p:cTn id="15" dur="500"/>
                                        <p:tgtEl>
                                          <p:spTgt spid="3">
                                            <p:txEl>
                                              <p:pRg st="0" end="0"/>
                                            </p:txEl>
                                          </p:spTgt>
                                        </p:tgtEl>
                                        <p:attrNameLst>
                                          <p:attrName>ppt_y</p:attrName>
                                        </p:attrNameLst>
                                      </p:cBhvr>
                                      <p:tavLst>
                                        <p:tav tm="0">
                                          <p:val>
                                            <p:strVal val="#ppt_y+#ppt_h*1.125000"/>
                                          </p:val>
                                        </p:tav>
                                        <p:tav tm="100000">
                                          <p:val>
                                            <p:strVal val="#ppt_y"/>
                                          </p:val>
                                        </p:tav>
                                      </p:tavLst>
                                    </p:anim>
                                    <p:animEffect transition="in" filter="wipe(up)">
                                      <p:cBhvr>
                                        <p:cTn id="16"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テキスト ボックス 3"/>
          <p:cNvSpPr txBox="1"/>
          <p:nvPr/>
        </p:nvSpPr>
        <p:spPr>
          <a:xfrm>
            <a:off x="2181701" y="125730"/>
            <a:ext cx="5745480" cy="1076325"/>
          </a:xfrm>
          <a:prstGeom prst="rect">
            <a:avLst/>
          </a:prstGeom>
          <a:noFill/>
          <a:ln w="9525">
            <a:noFill/>
          </a:ln>
        </p:spPr>
        <p:txBody>
          <a:bodyPr wrap="none">
            <a:spAutoFit/>
          </a:bodyPr>
          <a:lstStyle/>
          <a:p>
            <a:pPr algn="ctr">
              <a:buNone/>
            </a:pPr>
            <a:r>
              <a:rPr lang="en-US" altLang="ja-JP" sz="3200" b="1" dirty="0">
                <a:solidFill>
                  <a:srgbClr val="FF0000"/>
                </a:solidFill>
                <a:latin typeface="Times New Roman" panose="02020603050405020304" pitchFamily="18" charset="0"/>
                <a:ea typeface="MS PGothic" panose="020B0600070205080204" pitchFamily="50" charset="-128"/>
                <a:sym typeface="+mn-ea"/>
              </a:rPr>
              <a:t>II. Cách thức tấn công </a:t>
            </a:r>
            <a:endParaRPr lang="en-US" altLang="ja-JP" sz="3200" b="1" dirty="0">
              <a:solidFill>
                <a:srgbClr val="FF0000"/>
              </a:solidFill>
              <a:latin typeface="Times New Roman" panose="02020603050405020304" pitchFamily="18" charset="0"/>
              <a:ea typeface="MS PGothic" panose="020B0600070205080204" pitchFamily="50" charset="-128"/>
            </a:endParaRPr>
          </a:p>
          <a:p>
            <a:pPr algn="ctr">
              <a:buNone/>
            </a:pPr>
            <a:r>
              <a:rPr lang="en-US" altLang="ja-JP" sz="3200" b="1" dirty="0">
                <a:solidFill>
                  <a:srgbClr val="FF0000"/>
                </a:solidFill>
                <a:latin typeface="Times New Roman" panose="02020603050405020304" pitchFamily="18" charset="0"/>
                <a:ea typeface="MS PGothic" panose="020B0600070205080204" pitchFamily="50" charset="-128"/>
                <a:sym typeface="+mn-ea"/>
              </a:rPr>
              <a:t>và cách phòng ngừa, ngăn chặn.</a:t>
            </a:r>
            <a:endParaRPr lang="ja-JP" altLang="en-US" sz="3200" b="1" dirty="0">
              <a:solidFill>
                <a:srgbClr val="FF0000"/>
              </a:solidFill>
              <a:latin typeface="Times New Roman" panose="02020603050405020304" pitchFamily="18" charset="0"/>
              <a:ea typeface="MS PGothic" panose="020B0600070205080204" pitchFamily="50" charset="-128"/>
            </a:endParaRPr>
          </a:p>
        </p:txBody>
      </p:sp>
      <p:sp>
        <p:nvSpPr>
          <p:cNvPr id="2" name="Text Box 1"/>
          <p:cNvSpPr txBox="1"/>
          <p:nvPr/>
        </p:nvSpPr>
        <p:spPr>
          <a:xfrm>
            <a:off x="263525" y="1906905"/>
            <a:ext cx="8608695" cy="4432935"/>
          </a:xfrm>
          <a:prstGeom prst="rect">
            <a:avLst/>
          </a:prstGeom>
          <a:noFill/>
        </p:spPr>
        <p:txBody>
          <a:bodyPr wrap="square" rtlCol="0">
            <a:noAutofit/>
          </a:bodyPr>
          <a:lstStyle/>
          <a:p>
            <a:r>
              <a:rPr lang="en-US" sz="2300" b="1">
                <a:latin typeface="Times New Roman" panose="02020603050405020304" pitchFamily="18" charset="0"/>
                <a:cs typeface="Times New Roman" panose="02020603050405020304" pitchFamily="18" charset="0"/>
                <a:sym typeface="+mn-ea"/>
              </a:rPr>
              <a:t>Tấn công clickjacking</a:t>
            </a:r>
            <a:endParaRPr lang="en-US" sz="2300" b="1">
              <a:latin typeface="Times New Roman" panose="02020603050405020304" pitchFamily="18" charset="0"/>
              <a:cs typeface="Times New Roman" panose="02020603050405020304" pitchFamily="18" charset="0"/>
            </a:endParaRPr>
          </a:p>
          <a:p>
            <a:pPr indent="457200"/>
            <a:r>
              <a:rPr lang="vi-VN" sz="2300" b="1">
                <a:solidFill>
                  <a:srgbClr val="000000"/>
                </a:solidFill>
                <a:effectLst/>
                <a:latin typeface="Times New Roman" panose="02020603050405020304" pitchFamily="18" charset="0"/>
                <a:cs typeface="Times New Roman" panose="02020603050405020304" pitchFamily="18" charset="0"/>
                <a:sym typeface="+mn-ea"/>
              </a:rPr>
              <a:t>*</a:t>
            </a:r>
            <a:r>
              <a:rPr lang="vi-VN" sz="2300" b="1" i="1">
                <a:solidFill>
                  <a:srgbClr val="000000"/>
                </a:solidFill>
                <a:effectLst/>
                <a:latin typeface="Times New Roman" panose="02020603050405020304" pitchFamily="18" charset="0"/>
                <a:cs typeface="Times New Roman" panose="02020603050405020304" pitchFamily="18" charset="0"/>
                <a:sym typeface="+mn-ea"/>
              </a:rPr>
              <a:t>Đặc điểm khiến tấn công Clickjacking nguy hiểm</a:t>
            </a:r>
            <a:r>
              <a:rPr lang="en-US" altLang="vi-VN" sz="2300" b="1" i="1">
                <a:solidFill>
                  <a:srgbClr val="000000"/>
                </a:solidFill>
                <a:effectLst/>
                <a:latin typeface="Times New Roman" panose="02020603050405020304" pitchFamily="18" charset="0"/>
                <a:cs typeface="Times New Roman" panose="02020603050405020304" pitchFamily="18" charset="0"/>
                <a:sym typeface="+mn-ea"/>
              </a:rPr>
              <a:t>: </a:t>
            </a:r>
          </a:p>
          <a:p>
            <a:pPr indent="457200"/>
            <a:endParaRPr lang="en-US" altLang="vi-VN" sz="2100" b="1" i="1">
              <a:solidFill>
                <a:srgbClr val="000000"/>
              </a:solidFill>
              <a:effectLst/>
              <a:latin typeface="Times New Roman" panose="02020603050405020304" pitchFamily="18" charset="0"/>
              <a:cs typeface="Times New Roman" panose="02020603050405020304" pitchFamily="18" charset="0"/>
              <a:sym typeface="+mn-ea"/>
            </a:endParaRPr>
          </a:p>
          <a:p>
            <a:pPr indent="457200"/>
            <a:r>
              <a:rPr lang="en-US" altLang="vi-VN" sz="2000" b="1">
                <a:solidFill>
                  <a:srgbClr val="000000"/>
                </a:solidFill>
                <a:effectLst/>
                <a:latin typeface="Times New Roman" panose="02020603050405020304" pitchFamily="18" charset="0"/>
                <a:cs typeface="Times New Roman" panose="02020603050405020304" pitchFamily="18" charset="0"/>
                <a:sym typeface="+mn-ea"/>
              </a:rPr>
              <a:t>- </a:t>
            </a:r>
            <a:r>
              <a:rPr lang="en-US" altLang="en-US" sz="2000" b="0">
                <a:effectLst/>
                <a:latin typeface="Times New Roman" panose="02020603050405020304" pitchFamily="18" charset="0"/>
                <a:cs typeface="Times New Roman" panose="02020603050405020304" pitchFamily="18" charset="0"/>
              </a:rPr>
              <a:t>Cơ chế Tấn công Tàng hình (Khó Phát hiện): Không cần phần mềm độc hại, chỉ dựa vào việc thao túng giao diện (UI Redressing).</a:t>
            </a:r>
          </a:p>
          <a:p>
            <a:pPr indent="457200"/>
            <a:endParaRPr lang="en-US" altLang="en-US" sz="2000" b="0">
              <a:effectLst/>
              <a:latin typeface="Times New Roman" panose="02020603050405020304" pitchFamily="18" charset="0"/>
              <a:cs typeface="Times New Roman" panose="02020603050405020304" pitchFamily="18" charset="0"/>
            </a:endParaRPr>
          </a:p>
          <a:p>
            <a:pPr indent="457200"/>
            <a:r>
              <a:rPr lang="en-US" altLang="en-US" sz="2000" b="0" i="1">
                <a:effectLst/>
                <a:latin typeface="Times New Roman" panose="02020603050405020304" pitchFamily="18" charset="0"/>
                <a:cs typeface="Times New Roman" panose="02020603050405020304" pitchFamily="18" charset="0"/>
              </a:rPr>
              <a:t>- </a:t>
            </a:r>
            <a:r>
              <a:rPr lang="en-US" altLang="en-US" sz="2000">
                <a:latin typeface="Times New Roman" panose="02020603050405020304" pitchFamily="18" charset="0"/>
                <a:cs typeface="Times New Roman" panose="02020603050405020304" pitchFamily="18" charset="0"/>
              </a:rPr>
              <a:t>Bỏ qua Xác thực (Bypass Authentication): mọi cú nhấp chuột mà họ bị lừa thực hiện đều được coi là hợp pháp và có hiệu lực đối với ứng dụng.</a:t>
            </a:r>
          </a:p>
          <a:p>
            <a:pPr indent="457200"/>
            <a:endParaRPr lang="en-US" altLang="en-US" sz="2000">
              <a:latin typeface="Times New Roman" panose="02020603050405020304" pitchFamily="18" charset="0"/>
              <a:cs typeface="Times New Roman" panose="02020603050405020304" pitchFamily="18" charset="0"/>
            </a:endParaRPr>
          </a:p>
          <a:p>
            <a:pPr indent="457200"/>
            <a:r>
              <a:rPr lang="en-US" altLang="en-US" sz="2000">
                <a:latin typeface="Times New Roman" panose="02020603050405020304" pitchFamily="18" charset="0"/>
                <a:cs typeface="Times New Roman" panose="02020603050405020304" pitchFamily="18" charset="0"/>
              </a:rPr>
              <a:t>- Phạm vi Ảnh hưởng Sâu rộng (High Impact): </a:t>
            </a:r>
            <a:r>
              <a:rPr lang="vi-VN" sz="2000">
                <a:solidFill>
                  <a:srgbClr val="000000"/>
                </a:solidFill>
                <a:effectLst/>
                <a:latin typeface="Times New Roman" panose="02020603050405020304" pitchFamily="18" charset="0"/>
                <a:cs typeface="Times New Roman" panose="02020603050405020304" pitchFamily="18" charset="0"/>
                <a:sym typeface="+mn-ea"/>
              </a:rPr>
              <a:t>Có thể áp dụng đối với bất kì hành động nhạy cảm nào trên giao diện người dùn</a:t>
            </a:r>
            <a:r>
              <a:rPr lang="en-US" altLang="vi-VN" sz="2000">
                <a:solidFill>
                  <a:srgbClr val="000000"/>
                </a:solidFill>
                <a:effectLst/>
                <a:latin typeface="Times New Roman" panose="02020603050405020304" pitchFamily="18" charset="0"/>
                <a:cs typeface="Times New Roman" panose="02020603050405020304" pitchFamily="18" charset="0"/>
                <a:sym typeface="+mn-ea"/>
              </a:rPr>
              <a:t>g</a:t>
            </a:r>
            <a:endParaRPr lang="en-US" sz="2000" b="0" i="0" u="none" strike="noStrike">
              <a:solidFill>
                <a:srgbClr val="000000"/>
              </a:solidFill>
              <a:effectLst/>
              <a:latin typeface="Readex Pro" pitchFamily="2" charset="-78"/>
              <a:cs typeface="Readex Pro" pitchFamily="2" charset="-78"/>
            </a:endParaRPr>
          </a:p>
          <a:p>
            <a:pPr indent="457200"/>
            <a:endParaRPr lang="en-US" altLang="en-US" sz="2000">
              <a:latin typeface="Times New Roman" panose="02020603050405020304" pitchFamily="18" charset="0"/>
              <a:cs typeface="Times New Roman" panose="02020603050405020304" pitchFamily="18" charset="0"/>
            </a:endParaRPr>
          </a:p>
          <a:p>
            <a:pPr indent="457200"/>
            <a:r>
              <a:rPr lang="en-US" altLang="en-US" sz="2000">
                <a:latin typeface="Times New Roman" panose="02020603050405020304" pitchFamily="18" charset="0"/>
                <a:cs typeface="Times New Roman" panose="02020603050405020304" pitchFamily="18" charset="0"/>
              </a:rPr>
              <a:t>- Tăng cường bởi Kỹ thuật Xã hội (Social Engineering): gọi điện giả dạng shiper, thanh toán điện, nước,.. </a:t>
            </a:r>
          </a:p>
        </p:txBody>
      </p:sp>
      <p:sp>
        <p:nvSpPr>
          <p:cNvPr id="3" name="Text Box 2"/>
          <p:cNvSpPr txBox="1"/>
          <p:nvPr/>
        </p:nvSpPr>
        <p:spPr>
          <a:xfrm>
            <a:off x="645795" y="1464310"/>
            <a:ext cx="8404860" cy="589280"/>
          </a:xfrm>
          <a:prstGeom prst="rect">
            <a:avLst/>
          </a:prstGeom>
          <a:noFill/>
        </p:spPr>
        <p:txBody>
          <a:bodyPr wrap="square" rtlCol="0">
            <a:noAutofit/>
          </a:bodyPr>
          <a:lstStyle/>
          <a:p>
            <a:r>
              <a:rPr lang="en-US" sz="2600" b="1">
                <a:solidFill>
                  <a:srgbClr val="FF0000"/>
                </a:solidFill>
                <a:latin typeface="Times New Roman" panose="02020603050405020304" pitchFamily="18" charset="0"/>
                <a:cs typeface="Times New Roman" panose="02020603050405020304" pitchFamily="18" charset="0"/>
                <a:sym typeface="+mn-ea"/>
              </a:rPr>
              <a:t>2. Cấu hình sai và thiếu cấu hình HTTP Security Headers</a:t>
            </a:r>
          </a:p>
        </p:txBody>
      </p:sp>
      <p:sp>
        <p:nvSpPr>
          <p:cNvPr id="4" name="Slide Number Placeholder 3">
            <a:extLst>
              <a:ext uri="{FF2B5EF4-FFF2-40B4-BE49-F238E27FC236}">
                <a16:creationId xmlns:a16="http://schemas.microsoft.com/office/drawing/2014/main" id="{7CB51D1C-3C27-2774-9777-D3EEE00103A6}"/>
              </a:ext>
            </a:extLst>
          </p:cNvPr>
          <p:cNvSpPr>
            <a:spLocks noGrp="1"/>
          </p:cNvSpPr>
          <p:nvPr>
            <p:ph type="sldNum" sz="quarter" idx="12"/>
          </p:nvPr>
        </p:nvSpPr>
        <p:spPr/>
        <p:txBody>
          <a:bodyPr/>
          <a:lstStyle/>
          <a:p>
            <a:pPr lvl="0" eaLnBrk="1" hangingPunct="1"/>
            <a:fld id="{9A0DB2DC-4C9A-4742-B13C-FB6460FD3503}" type="slidenum">
              <a:rPr lang="en-US" altLang="ja-JP" smtClean="0">
                <a:latin typeface="Arial" panose="020B0604020202020204" pitchFamily="34" charset="0"/>
              </a:rPr>
              <a:t>13</a:t>
            </a:fld>
            <a:endParaRPr lang="en-US" altLang="ja-JP"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17410">
                                            <p:txEl>
                                              <p:pRg st="0" end="0"/>
                                            </p:txEl>
                                          </p:spTgt>
                                        </p:tgtEl>
                                        <p:attrNameLst>
                                          <p:attrName>style.visibility</p:attrName>
                                        </p:attrNameLst>
                                      </p:cBhvr>
                                      <p:to>
                                        <p:strVal val="visible"/>
                                      </p:to>
                                    </p:set>
                                    <p:anim calcmode="lin" valueType="num">
                                      <p:cBhvr additive="base">
                                        <p:cTn id="7" dur="500"/>
                                        <p:tgtEl>
                                          <p:spTgt spid="17410">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17410">
                                            <p:txEl>
                                              <p:pRg st="0" end="0"/>
                                            </p:txEl>
                                          </p:spTgt>
                                        </p:tgtEl>
                                      </p:cBhvr>
                                    </p:animEffect>
                                  </p:childTnLst>
                                </p:cTn>
                              </p:par>
                              <p:par>
                                <p:cTn id="9" presetID="12" presetClass="entr" presetSubtype="4" fill="hold" nodeType="withEffect">
                                  <p:stCondLst>
                                    <p:cond delay="0"/>
                                  </p:stCondLst>
                                  <p:childTnLst>
                                    <p:set>
                                      <p:cBhvr>
                                        <p:cTn id="10" dur="1" fill="hold">
                                          <p:stCondLst>
                                            <p:cond delay="0"/>
                                          </p:stCondLst>
                                        </p:cTn>
                                        <p:tgtEl>
                                          <p:spTgt spid="17410">
                                            <p:txEl>
                                              <p:pRg st="1" end="1"/>
                                            </p:txEl>
                                          </p:spTgt>
                                        </p:tgtEl>
                                        <p:attrNameLst>
                                          <p:attrName>style.visibility</p:attrName>
                                        </p:attrNameLst>
                                      </p:cBhvr>
                                      <p:to>
                                        <p:strVal val="visible"/>
                                      </p:to>
                                    </p:set>
                                    <p:anim calcmode="lin" valueType="num">
                                      <p:cBhvr additive="base">
                                        <p:cTn id="11" dur="500"/>
                                        <p:tgtEl>
                                          <p:spTgt spid="17410">
                                            <p:txEl>
                                              <p:pRg st="1" end="1"/>
                                            </p:txEl>
                                          </p:spTgt>
                                        </p:tgtEl>
                                        <p:attrNameLst>
                                          <p:attrName>ppt_y</p:attrName>
                                        </p:attrNameLst>
                                      </p:cBhvr>
                                      <p:tavLst>
                                        <p:tav tm="0">
                                          <p:val>
                                            <p:strVal val="#ppt_y+#ppt_h*1.125000"/>
                                          </p:val>
                                        </p:tav>
                                        <p:tav tm="100000">
                                          <p:val>
                                            <p:strVal val="#ppt_y"/>
                                          </p:val>
                                        </p:tav>
                                      </p:tavLst>
                                    </p:anim>
                                    <p:animEffect transition="in" filter="wipe(up)">
                                      <p:cBhvr>
                                        <p:cTn id="12" dur="500"/>
                                        <p:tgtEl>
                                          <p:spTgt spid="17410">
                                            <p:txEl>
                                              <p:pRg st="1" end="1"/>
                                            </p:txEl>
                                          </p:spTgt>
                                        </p:tgtEl>
                                      </p:cBhvr>
                                    </p:animEffect>
                                  </p:childTnLst>
                                </p:cTn>
                              </p:par>
                              <p:par>
                                <p:cTn id="13" presetID="12" presetClass="entr" presetSubtype="4" fill="hold" nodeType="with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additive="base">
                                        <p:cTn id="15" dur="500"/>
                                        <p:tgtEl>
                                          <p:spTgt spid="3">
                                            <p:txEl>
                                              <p:pRg st="0" end="0"/>
                                            </p:txEl>
                                          </p:spTgt>
                                        </p:tgtEl>
                                        <p:attrNameLst>
                                          <p:attrName>ppt_y</p:attrName>
                                        </p:attrNameLst>
                                      </p:cBhvr>
                                      <p:tavLst>
                                        <p:tav tm="0">
                                          <p:val>
                                            <p:strVal val="#ppt_y+#ppt_h*1.125000"/>
                                          </p:val>
                                        </p:tav>
                                        <p:tav tm="100000">
                                          <p:val>
                                            <p:strVal val="#ppt_y"/>
                                          </p:val>
                                        </p:tav>
                                      </p:tavLst>
                                    </p:anim>
                                    <p:animEffect transition="in" filter="wipe(up)">
                                      <p:cBhvr>
                                        <p:cTn id="16"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テキスト ボックス 3"/>
          <p:cNvSpPr txBox="1"/>
          <p:nvPr/>
        </p:nvSpPr>
        <p:spPr>
          <a:xfrm>
            <a:off x="2181701" y="125730"/>
            <a:ext cx="5745480" cy="1076325"/>
          </a:xfrm>
          <a:prstGeom prst="rect">
            <a:avLst/>
          </a:prstGeom>
          <a:noFill/>
          <a:ln w="9525">
            <a:noFill/>
          </a:ln>
        </p:spPr>
        <p:txBody>
          <a:bodyPr wrap="none">
            <a:spAutoFit/>
          </a:bodyPr>
          <a:lstStyle/>
          <a:p>
            <a:pPr algn="ctr">
              <a:buNone/>
            </a:pPr>
            <a:r>
              <a:rPr lang="en-US" altLang="ja-JP" sz="3200" b="1" dirty="0">
                <a:solidFill>
                  <a:srgbClr val="FF0000"/>
                </a:solidFill>
                <a:latin typeface="Times New Roman" panose="02020603050405020304" pitchFamily="18" charset="0"/>
                <a:ea typeface="MS PGothic" panose="020B0600070205080204" pitchFamily="50" charset="-128"/>
                <a:sym typeface="+mn-ea"/>
              </a:rPr>
              <a:t>II. Cách thức tấn công </a:t>
            </a:r>
            <a:endParaRPr lang="en-US" altLang="ja-JP" sz="3200" b="1" dirty="0">
              <a:solidFill>
                <a:srgbClr val="FF0000"/>
              </a:solidFill>
              <a:latin typeface="Times New Roman" panose="02020603050405020304" pitchFamily="18" charset="0"/>
              <a:ea typeface="MS PGothic" panose="020B0600070205080204" pitchFamily="50" charset="-128"/>
            </a:endParaRPr>
          </a:p>
          <a:p>
            <a:pPr algn="ctr">
              <a:buNone/>
            </a:pPr>
            <a:r>
              <a:rPr lang="en-US" altLang="ja-JP" sz="3200" b="1" dirty="0">
                <a:solidFill>
                  <a:srgbClr val="FF0000"/>
                </a:solidFill>
                <a:latin typeface="Times New Roman" panose="02020603050405020304" pitchFamily="18" charset="0"/>
                <a:ea typeface="MS PGothic" panose="020B0600070205080204" pitchFamily="50" charset="-128"/>
                <a:sym typeface="+mn-ea"/>
              </a:rPr>
              <a:t>và cách phòng ngừa, ngăn chặn.</a:t>
            </a:r>
            <a:endParaRPr lang="ja-JP" altLang="en-US" sz="3200" b="1" dirty="0">
              <a:solidFill>
                <a:srgbClr val="FF0000"/>
              </a:solidFill>
              <a:latin typeface="Times New Roman" panose="02020603050405020304" pitchFamily="18" charset="0"/>
              <a:ea typeface="MS PGothic" panose="020B0600070205080204" pitchFamily="50" charset="-128"/>
            </a:endParaRPr>
          </a:p>
        </p:txBody>
      </p:sp>
      <p:sp>
        <p:nvSpPr>
          <p:cNvPr id="2" name="Text Box 1"/>
          <p:cNvSpPr txBox="1"/>
          <p:nvPr/>
        </p:nvSpPr>
        <p:spPr>
          <a:xfrm>
            <a:off x="263525" y="1906905"/>
            <a:ext cx="3814445" cy="4432935"/>
          </a:xfrm>
          <a:prstGeom prst="rect">
            <a:avLst/>
          </a:prstGeom>
          <a:noFill/>
        </p:spPr>
        <p:txBody>
          <a:bodyPr wrap="square" rtlCol="0">
            <a:noAutofit/>
          </a:bodyPr>
          <a:lstStyle/>
          <a:p>
            <a:r>
              <a:rPr lang="en-US" sz="2300" b="1" dirty="0" err="1">
                <a:latin typeface="Times New Roman" panose="02020603050405020304" pitchFamily="18" charset="0"/>
                <a:cs typeface="Times New Roman" panose="02020603050405020304" pitchFamily="18" charset="0"/>
                <a:sym typeface="+mn-ea"/>
              </a:rPr>
              <a:t>Tấn</a:t>
            </a:r>
            <a:r>
              <a:rPr lang="en-US" sz="2300" b="1" dirty="0">
                <a:latin typeface="Times New Roman" panose="02020603050405020304" pitchFamily="18" charset="0"/>
                <a:cs typeface="Times New Roman" panose="02020603050405020304" pitchFamily="18" charset="0"/>
                <a:sym typeface="+mn-ea"/>
              </a:rPr>
              <a:t> </a:t>
            </a:r>
            <a:r>
              <a:rPr lang="en-US" sz="2300" b="1" dirty="0" err="1">
                <a:latin typeface="Times New Roman" panose="02020603050405020304" pitchFamily="18" charset="0"/>
                <a:cs typeface="Times New Roman" panose="02020603050405020304" pitchFamily="18" charset="0"/>
                <a:sym typeface="+mn-ea"/>
              </a:rPr>
              <a:t>công</a:t>
            </a:r>
            <a:r>
              <a:rPr lang="en-US" sz="2300" b="1" dirty="0">
                <a:latin typeface="Times New Roman" panose="02020603050405020304" pitchFamily="18" charset="0"/>
                <a:cs typeface="Times New Roman" panose="02020603050405020304" pitchFamily="18" charset="0"/>
                <a:sym typeface="+mn-ea"/>
              </a:rPr>
              <a:t> clickjacking </a:t>
            </a:r>
          </a:p>
          <a:p>
            <a:endParaRPr lang="en-US" sz="2300" b="1" dirty="0">
              <a:latin typeface="Times New Roman" panose="02020603050405020304" pitchFamily="18" charset="0"/>
              <a:cs typeface="Times New Roman" panose="02020603050405020304" pitchFamily="18" charset="0"/>
              <a:sym typeface="+mn-ea"/>
            </a:endParaRPr>
          </a:p>
          <a:p>
            <a:r>
              <a:rPr lang="en-US" altLang="en-US" sz="2300" b="1" dirty="0">
                <a:latin typeface="Times New Roman" panose="02020603050405020304" pitchFamily="18" charset="0"/>
                <a:cs typeface="Times New Roman" panose="02020603050405020304" pitchFamily="18" charset="0"/>
              </a:rPr>
              <a:t>Minh </a:t>
            </a:r>
            <a:r>
              <a:rPr lang="en-US" altLang="en-US" sz="2300" b="1" dirty="0" err="1">
                <a:latin typeface="Times New Roman" panose="02020603050405020304" pitchFamily="18" charset="0"/>
                <a:cs typeface="Times New Roman" panose="02020603050405020304" pitchFamily="18" charset="0"/>
              </a:rPr>
              <a:t>họa</a:t>
            </a:r>
            <a:r>
              <a:rPr lang="en-US" altLang="en-US" sz="2300" b="1" dirty="0">
                <a:latin typeface="Times New Roman" panose="02020603050405020304" pitchFamily="18" charset="0"/>
                <a:cs typeface="Times New Roman" panose="02020603050405020304" pitchFamily="18" charset="0"/>
              </a:rPr>
              <a:t> </a:t>
            </a:r>
            <a:r>
              <a:rPr lang="en-US" altLang="en-US" sz="2300" b="1" dirty="0" err="1">
                <a:latin typeface="Times New Roman" panose="02020603050405020304" pitchFamily="18" charset="0"/>
                <a:cs typeface="Times New Roman" panose="02020603050405020304" pitchFamily="18" charset="0"/>
              </a:rPr>
              <a:t>tấn</a:t>
            </a:r>
            <a:r>
              <a:rPr lang="en-US" altLang="en-US" sz="2300" b="1" dirty="0">
                <a:latin typeface="Times New Roman" panose="02020603050405020304" pitchFamily="18" charset="0"/>
                <a:cs typeface="Times New Roman" panose="02020603050405020304" pitchFamily="18" charset="0"/>
              </a:rPr>
              <a:t> </a:t>
            </a:r>
            <a:r>
              <a:rPr lang="en-US" altLang="en-US" sz="2300" b="1" dirty="0" err="1">
                <a:latin typeface="Times New Roman" panose="02020603050405020304" pitchFamily="18" charset="0"/>
                <a:cs typeface="Times New Roman" panose="02020603050405020304" pitchFamily="18" charset="0"/>
              </a:rPr>
              <a:t>công</a:t>
            </a:r>
            <a:r>
              <a:rPr lang="en-US" altLang="en-US" sz="2300" b="1" dirty="0">
                <a:latin typeface="Times New Roman" panose="02020603050405020304" pitchFamily="18" charset="0"/>
                <a:cs typeface="Times New Roman" panose="02020603050405020304" pitchFamily="18" charset="0"/>
              </a:rPr>
              <a:t>:</a:t>
            </a:r>
          </a:p>
          <a:p>
            <a:endParaRPr lang="en-US" altLang="en-US" sz="1800" b="1" dirty="0">
              <a:latin typeface="Times New Roman" panose="02020603050405020304" pitchFamily="18" charset="0"/>
              <a:cs typeface="Times New Roman" panose="02020603050405020304" pitchFamily="18" charset="0"/>
            </a:endParaRPr>
          </a:p>
          <a:p>
            <a:r>
              <a:rPr lang="en-US" altLang="en-US" sz="1800" b="1" dirty="0">
                <a:latin typeface="Times New Roman" panose="02020603050405020304" pitchFamily="18" charset="0"/>
                <a:cs typeface="Times New Roman" panose="02020603050405020304" pitchFamily="18" charset="0"/>
              </a:rPr>
              <a:t>Giai </a:t>
            </a:r>
            <a:r>
              <a:rPr lang="en-US" altLang="en-US" sz="1800" b="1" dirty="0" err="1">
                <a:latin typeface="Times New Roman" panose="02020603050405020304" pitchFamily="18" charset="0"/>
                <a:cs typeface="Times New Roman" panose="02020603050405020304" pitchFamily="18" charset="0"/>
              </a:rPr>
              <a:t>đoạn</a:t>
            </a:r>
            <a:r>
              <a:rPr lang="en-US" altLang="en-US" sz="1800" b="1" dirty="0">
                <a:latin typeface="Times New Roman" panose="02020603050405020304" pitchFamily="18" charset="0"/>
                <a:cs typeface="Times New Roman" panose="02020603050405020304" pitchFamily="18" charset="0"/>
              </a:rPr>
              <a:t> 1: </a:t>
            </a:r>
            <a:r>
              <a:rPr lang="en-US" altLang="en-US" sz="1800" b="1" dirty="0" err="1">
                <a:latin typeface="Times New Roman" panose="02020603050405020304" pitchFamily="18" charset="0"/>
                <a:cs typeface="Times New Roman" panose="02020603050405020304" pitchFamily="18" charset="0"/>
              </a:rPr>
              <a:t>Xác</a:t>
            </a:r>
            <a:r>
              <a:rPr lang="en-US" altLang="en-US" sz="1800" b="1" dirty="0">
                <a:latin typeface="Times New Roman" panose="02020603050405020304" pitchFamily="18" charset="0"/>
                <a:cs typeface="Times New Roman" panose="02020603050405020304" pitchFamily="18" charset="0"/>
              </a:rPr>
              <a:t> </a:t>
            </a:r>
            <a:r>
              <a:rPr lang="en-US" altLang="en-US" sz="1800" b="1" dirty="0" err="1">
                <a:latin typeface="Times New Roman" panose="02020603050405020304" pitchFamily="18" charset="0"/>
                <a:cs typeface="Times New Roman" panose="02020603050405020304" pitchFamily="18" charset="0"/>
              </a:rPr>
              <a:t>định</a:t>
            </a:r>
            <a:r>
              <a:rPr lang="en-US" altLang="en-US" sz="1800" b="1" dirty="0">
                <a:latin typeface="Times New Roman" panose="02020603050405020304" pitchFamily="18" charset="0"/>
                <a:cs typeface="Times New Roman" panose="02020603050405020304" pitchFamily="18" charset="0"/>
              </a:rPr>
              <a:t> </a:t>
            </a:r>
            <a:r>
              <a:rPr lang="en-US" altLang="en-US" sz="1800" b="1" dirty="0" err="1">
                <a:latin typeface="Times New Roman" panose="02020603050405020304" pitchFamily="18" charset="0"/>
                <a:cs typeface="Times New Roman" panose="02020603050405020304" pitchFamily="18" charset="0"/>
              </a:rPr>
              <a:t>mục</a:t>
            </a:r>
            <a:r>
              <a:rPr lang="en-US" altLang="en-US" sz="1800" b="1" dirty="0">
                <a:latin typeface="Times New Roman" panose="02020603050405020304" pitchFamily="18" charset="0"/>
                <a:cs typeface="Times New Roman" panose="02020603050405020304" pitchFamily="18" charset="0"/>
              </a:rPr>
              <a:t> </a:t>
            </a:r>
            <a:r>
              <a:rPr lang="en-US" altLang="en-US" sz="1800" b="1" dirty="0" err="1">
                <a:latin typeface="Times New Roman" panose="02020603050405020304" pitchFamily="18" charset="0"/>
                <a:cs typeface="Times New Roman" panose="02020603050405020304" pitchFamily="18" charset="0"/>
              </a:rPr>
              <a:t>tiêu</a:t>
            </a:r>
            <a:endParaRPr lang="en-US" altLang="en-US" sz="1800" dirty="0">
              <a:latin typeface="Times New Roman" panose="02020603050405020304" pitchFamily="18" charset="0"/>
              <a:cs typeface="Times New Roman" panose="02020603050405020304" pitchFamily="18" charset="0"/>
            </a:endParaRPr>
          </a:p>
          <a:p>
            <a:r>
              <a:rPr lang="en-US" altLang="en-US" sz="1800" dirty="0">
                <a:latin typeface="Times New Roman" panose="02020603050405020304" pitchFamily="18" charset="0"/>
                <a:cs typeface="Times New Roman" panose="02020603050405020304" pitchFamily="18" charset="0"/>
              </a:rPr>
              <a:t>- Hacker </a:t>
            </a:r>
            <a:r>
              <a:rPr lang="en-US" altLang="en-US" sz="1800" dirty="0" err="1">
                <a:latin typeface="Times New Roman" panose="02020603050405020304" pitchFamily="18" charset="0"/>
                <a:cs typeface="Times New Roman" panose="02020603050405020304" pitchFamily="18" charset="0"/>
              </a:rPr>
              <a:t>phát</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hiện</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ra</a:t>
            </a:r>
            <a:r>
              <a:rPr lang="en-US" altLang="en-US" sz="1800" dirty="0">
                <a:latin typeface="Times New Roman" panose="02020603050405020304" pitchFamily="18" charset="0"/>
                <a:cs typeface="Times New Roman" panose="02020603050405020304" pitchFamily="18" charset="0"/>
              </a:rPr>
              <a:t> website </a:t>
            </a:r>
            <a:r>
              <a:rPr lang="en-US" altLang="en-US" sz="1800" dirty="0" err="1">
                <a:latin typeface="Times New Roman" panose="02020603050405020304" pitchFamily="18" charset="0"/>
                <a:cs typeface="Times New Roman" panose="02020603050405020304" pitchFamily="18" charset="0"/>
              </a:rPr>
              <a:t>cấu</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hình</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sai</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hoặc</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thiếu</a:t>
            </a:r>
            <a:r>
              <a:rPr lang="en-US" altLang="en-US" sz="1800" dirty="0">
                <a:latin typeface="Times New Roman" panose="02020603050405020304" pitchFamily="18" charset="0"/>
                <a:cs typeface="Times New Roman" panose="02020603050405020304" pitchFamily="18" charset="0"/>
              </a:rPr>
              <a:t> Header </a:t>
            </a:r>
            <a:r>
              <a:rPr lang="en-US" altLang="en-US" sz="1800" dirty="0" err="1">
                <a:latin typeface="Times New Roman" panose="02020603050405020304" pitchFamily="18" charset="0"/>
                <a:cs typeface="Times New Roman" panose="02020603050405020304" pitchFamily="18" charset="0"/>
              </a:rPr>
              <a:t>bảo</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mật</a:t>
            </a:r>
            <a:r>
              <a:rPr lang="en-US" altLang="en-US" sz="1800" dirty="0">
                <a:latin typeface="Times New Roman" panose="02020603050405020304" pitchFamily="18" charset="0"/>
                <a:cs typeface="Times New Roman" panose="02020603050405020304" pitchFamily="18" charset="0"/>
              </a:rPr>
              <a:t> </a:t>
            </a:r>
          </a:p>
          <a:p>
            <a:r>
              <a:rPr lang="en-US" altLang="en-US" sz="1800" dirty="0">
                <a:latin typeface="Times New Roman" panose="02020603050405020304" pitchFamily="18" charset="0"/>
                <a:cs typeface="Times New Roman" panose="02020603050405020304" pitchFamily="18" charset="0"/>
              </a:rPr>
              <a:t>(X-Frame-Options </a:t>
            </a:r>
            <a:r>
              <a:rPr lang="en-US" altLang="en-US" sz="1800" dirty="0" err="1">
                <a:latin typeface="Times New Roman" panose="02020603050405020304" pitchFamily="18" charset="0"/>
                <a:cs typeface="Times New Roman" panose="02020603050405020304" pitchFamily="18" charset="0"/>
              </a:rPr>
              <a:t>hoặc</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CSP</a:t>
            </a:r>
            <a:r>
              <a:rPr lang="en-US" altLang="en-US" sz="1800" dirty="0">
                <a:latin typeface="Times New Roman" panose="02020603050405020304" pitchFamily="18" charset="0"/>
                <a:cs typeface="Times New Roman" panose="02020603050405020304" pitchFamily="18" charset="0"/>
              </a:rPr>
              <a:t>).</a:t>
            </a:r>
          </a:p>
          <a:p>
            <a:endParaRPr lang="en-US" altLang="en-US" sz="1800" dirty="0">
              <a:latin typeface="Times New Roman" panose="02020603050405020304" pitchFamily="18" charset="0"/>
              <a:cs typeface="Times New Roman" panose="02020603050405020304" pitchFamily="18" charset="0"/>
            </a:endParaRPr>
          </a:p>
          <a:p>
            <a:r>
              <a:rPr lang="en-US" altLang="en-US" sz="1800" dirty="0">
                <a:latin typeface="Times New Roman" panose="02020603050405020304" pitchFamily="18" charset="0"/>
                <a:cs typeface="Times New Roman" panose="02020603050405020304" pitchFamily="18" charset="0"/>
              </a:rPr>
              <a:t> </a:t>
            </a:r>
          </a:p>
          <a:p>
            <a:endParaRPr lang="en-US" altLang="en-US" sz="1800" dirty="0">
              <a:latin typeface="Times New Roman" panose="02020603050405020304" pitchFamily="18" charset="0"/>
              <a:cs typeface="Times New Roman" panose="02020603050405020304" pitchFamily="18" charset="0"/>
            </a:endParaRPr>
          </a:p>
        </p:txBody>
      </p:sp>
      <p:sp>
        <p:nvSpPr>
          <p:cNvPr id="3" name="Text Box 2"/>
          <p:cNvSpPr txBox="1"/>
          <p:nvPr/>
        </p:nvSpPr>
        <p:spPr>
          <a:xfrm>
            <a:off x="645795" y="1464310"/>
            <a:ext cx="8404860" cy="589280"/>
          </a:xfrm>
          <a:prstGeom prst="rect">
            <a:avLst/>
          </a:prstGeom>
          <a:noFill/>
        </p:spPr>
        <p:txBody>
          <a:bodyPr wrap="square" rtlCol="0">
            <a:noAutofit/>
          </a:bodyPr>
          <a:lstStyle/>
          <a:p>
            <a:r>
              <a:rPr lang="en-US" sz="2600" b="1">
                <a:solidFill>
                  <a:srgbClr val="FF0000"/>
                </a:solidFill>
                <a:latin typeface="Times New Roman" panose="02020603050405020304" pitchFamily="18" charset="0"/>
                <a:cs typeface="Times New Roman" panose="02020603050405020304" pitchFamily="18" charset="0"/>
                <a:sym typeface="+mn-ea"/>
              </a:rPr>
              <a:t>2. Cấu hình sai và thiếu cấu hình HTTP Security Headers</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7970" y="2315845"/>
            <a:ext cx="6101080" cy="3220720"/>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0AAA056B-A95F-A13C-131E-3523A47840DA}"/>
              </a:ext>
            </a:extLst>
          </p:cNvPr>
          <p:cNvSpPr>
            <a:spLocks noGrp="1"/>
          </p:cNvSpPr>
          <p:nvPr>
            <p:ph type="sldNum" sz="quarter" idx="12"/>
          </p:nvPr>
        </p:nvSpPr>
        <p:spPr/>
        <p:txBody>
          <a:bodyPr/>
          <a:lstStyle/>
          <a:p>
            <a:pPr lvl="0" eaLnBrk="1" hangingPunct="1"/>
            <a:fld id="{9A0DB2DC-4C9A-4742-B13C-FB6460FD3503}" type="slidenum">
              <a:rPr lang="en-US" altLang="ja-JP" smtClean="0">
                <a:latin typeface="Arial" panose="020B0604020202020204" pitchFamily="34" charset="0"/>
              </a:rPr>
              <a:t>14</a:t>
            </a:fld>
            <a:endParaRPr lang="en-US" altLang="ja-JP"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17410">
                                            <p:txEl>
                                              <p:pRg st="0" end="0"/>
                                            </p:txEl>
                                          </p:spTgt>
                                        </p:tgtEl>
                                        <p:attrNameLst>
                                          <p:attrName>style.visibility</p:attrName>
                                        </p:attrNameLst>
                                      </p:cBhvr>
                                      <p:to>
                                        <p:strVal val="visible"/>
                                      </p:to>
                                    </p:set>
                                    <p:anim calcmode="lin" valueType="num">
                                      <p:cBhvr additive="base">
                                        <p:cTn id="7" dur="500"/>
                                        <p:tgtEl>
                                          <p:spTgt spid="17410">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17410">
                                            <p:txEl>
                                              <p:pRg st="0" end="0"/>
                                            </p:txEl>
                                          </p:spTgt>
                                        </p:tgtEl>
                                      </p:cBhvr>
                                    </p:animEffect>
                                  </p:childTnLst>
                                </p:cTn>
                              </p:par>
                              <p:par>
                                <p:cTn id="9" presetID="12" presetClass="entr" presetSubtype="4" fill="hold" nodeType="withEffect">
                                  <p:stCondLst>
                                    <p:cond delay="0"/>
                                  </p:stCondLst>
                                  <p:childTnLst>
                                    <p:set>
                                      <p:cBhvr>
                                        <p:cTn id="10" dur="1" fill="hold">
                                          <p:stCondLst>
                                            <p:cond delay="0"/>
                                          </p:stCondLst>
                                        </p:cTn>
                                        <p:tgtEl>
                                          <p:spTgt spid="17410">
                                            <p:txEl>
                                              <p:pRg st="1" end="1"/>
                                            </p:txEl>
                                          </p:spTgt>
                                        </p:tgtEl>
                                        <p:attrNameLst>
                                          <p:attrName>style.visibility</p:attrName>
                                        </p:attrNameLst>
                                      </p:cBhvr>
                                      <p:to>
                                        <p:strVal val="visible"/>
                                      </p:to>
                                    </p:set>
                                    <p:anim calcmode="lin" valueType="num">
                                      <p:cBhvr additive="base">
                                        <p:cTn id="11" dur="500"/>
                                        <p:tgtEl>
                                          <p:spTgt spid="17410">
                                            <p:txEl>
                                              <p:pRg st="1" end="1"/>
                                            </p:txEl>
                                          </p:spTgt>
                                        </p:tgtEl>
                                        <p:attrNameLst>
                                          <p:attrName>ppt_y</p:attrName>
                                        </p:attrNameLst>
                                      </p:cBhvr>
                                      <p:tavLst>
                                        <p:tav tm="0">
                                          <p:val>
                                            <p:strVal val="#ppt_y+#ppt_h*1.125000"/>
                                          </p:val>
                                        </p:tav>
                                        <p:tav tm="100000">
                                          <p:val>
                                            <p:strVal val="#ppt_y"/>
                                          </p:val>
                                        </p:tav>
                                      </p:tavLst>
                                    </p:anim>
                                    <p:animEffect transition="in" filter="wipe(up)">
                                      <p:cBhvr>
                                        <p:cTn id="12" dur="500"/>
                                        <p:tgtEl>
                                          <p:spTgt spid="17410">
                                            <p:txEl>
                                              <p:pRg st="1" end="1"/>
                                            </p:txEl>
                                          </p:spTgt>
                                        </p:tgtEl>
                                      </p:cBhvr>
                                    </p:animEffect>
                                  </p:childTnLst>
                                </p:cTn>
                              </p:par>
                              <p:par>
                                <p:cTn id="13" presetID="12" presetClass="entr" presetSubtype="4" fill="hold" nodeType="with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additive="base">
                                        <p:cTn id="15" dur="500"/>
                                        <p:tgtEl>
                                          <p:spTgt spid="3">
                                            <p:txEl>
                                              <p:pRg st="0" end="0"/>
                                            </p:txEl>
                                          </p:spTgt>
                                        </p:tgtEl>
                                        <p:attrNameLst>
                                          <p:attrName>ppt_y</p:attrName>
                                        </p:attrNameLst>
                                      </p:cBhvr>
                                      <p:tavLst>
                                        <p:tav tm="0">
                                          <p:val>
                                            <p:strVal val="#ppt_y+#ppt_h*1.125000"/>
                                          </p:val>
                                        </p:tav>
                                        <p:tav tm="100000">
                                          <p:val>
                                            <p:strVal val="#ppt_y"/>
                                          </p:val>
                                        </p:tav>
                                      </p:tavLst>
                                    </p:anim>
                                    <p:animEffect transition="in" filter="wipe(up)">
                                      <p:cBhvr>
                                        <p:cTn id="16"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テキスト ボックス 3"/>
          <p:cNvSpPr txBox="1"/>
          <p:nvPr/>
        </p:nvSpPr>
        <p:spPr>
          <a:xfrm>
            <a:off x="2181701" y="125730"/>
            <a:ext cx="5745480" cy="1076325"/>
          </a:xfrm>
          <a:prstGeom prst="rect">
            <a:avLst/>
          </a:prstGeom>
          <a:noFill/>
          <a:ln w="9525">
            <a:noFill/>
          </a:ln>
        </p:spPr>
        <p:txBody>
          <a:bodyPr wrap="none">
            <a:spAutoFit/>
          </a:bodyPr>
          <a:lstStyle/>
          <a:p>
            <a:pPr algn="ctr">
              <a:buNone/>
            </a:pPr>
            <a:r>
              <a:rPr lang="en-US" altLang="ja-JP" sz="3200" b="1" dirty="0">
                <a:solidFill>
                  <a:srgbClr val="FF0000"/>
                </a:solidFill>
                <a:latin typeface="Times New Roman" panose="02020603050405020304" pitchFamily="18" charset="0"/>
                <a:ea typeface="MS PGothic" panose="020B0600070205080204" pitchFamily="50" charset="-128"/>
                <a:sym typeface="+mn-ea"/>
              </a:rPr>
              <a:t>II. Cách thức tấn công </a:t>
            </a:r>
            <a:endParaRPr lang="en-US" altLang="ja-JP" sz="3200" b="1" dirty="0">
              <a:solidFill>
                <a:srgbClr val="FF0000"/>
              </a:solidFill>
              <a:latin typeface="Times New Roman" panose="02020603050405020304" pitchFamily="18" charset="0"/>
              <a:ea typeface="MS PGothic" panose="020B0600070205080204" pitchFamily="50" charset="-128"/>
            </a:endParaRPr>
          </a:p>
          <a:p>
            <a:pPr algn="ctr">
              <a:buNone/>
            </a:pPr>
            <a:r>
              <a:rPr lang="en-US" altLang="ja-JP" sz="3200" b="1" dirty="0">
                <a:solidFill>
                  <a:srgbClr val="FF0000"/>
                </a:solidFill>
                <a:latin typeface="Times New Roman" panose="02020603050405020304" pitchFamily="18" charset="0"/>
                <a:ea typeface="MS PGothic" panose="020B0600070205080204" pitchFamily="50" charset="-128"/>
                <a:sym typeface="+mn-ea"/>
              </a:rPr>
              <a:t>và cách phòng ngừa, ngăn chặn.</a:t>
            </a:r>
            <a:endParaRPr lang="ja-JP" altLang="en-US" sz="3200" b="1" dirty="0">
              <a:solidFill>
                <a:srgbClr val="FF0000"/>
              </a:solidFill>
              <a:latin typeface="Times New Roman" panose="02020603050405020304" pitchFamily="18" charset="0"/>
              <a:ea typeface="MS PGothic" panose="020B0600070205080204" pitchFamily="50" charset="-128"/>
            </a:endParaRPr>
          </a:p>
        </p:txBody>
      </p:sp>
      <p:sp>
        <p:nvSpPr>
          <p:cNvPr id="2" name="Text Box 1"/>
          <p:cNvSpPr txBox="1"/>
          <p:nvPr/>
        </p:nvSpPr>
        <p:spPr>
          <a:xfrm>
            <a:off x="263525" y="1906905"/>
            <a:ext cx="3384550" cy="4432935"/>
          </a:xfrm>
          <a:prstGeom prst="rect">
            <a:avLst/>
          </a:prstGeom>
          <a:noFill/>
        </p:spPr>
        <p:txBody>
          <a:bodyPr wrap="square" rtlCol="0">
            <a:noAutofit/>
          </a:bodyPr>
          <a:lstStyle/>
          <a:p>
            <a:r>
              <a:rPr lang="en-US" sz="2300" b="1" dirty="0" err="1">
                <a:latin typeface="Times New Roman" panose="02020603050405020304" pitchFamily="18" charset="0"/>
                <a:cs typeface="Times New Roman" panose="02020603050405020304" pitchFamily="18" charset="0"/>
                <a:sym typeface="+mn-ea"/>
              </a:rPr>
              <a:t>Tấn</a:t>
            </a:r>
            <a:r>
              <a:rPr lang="en-US" sz="2300" b="1" dirty="0">
                <a:latin typeface="Times New Roman" panose="02020603050405020304" pitchFamily="18" charset="0"/>
                <a:cs typeface="Times New Roman" panose="02020603050405020304" pitchFamily="18" charset="0"/>
                <a:sym typeface="+mn-ea"/>
              </a:rPr>
              <a:t> </a:t>
            </a:r>
            <a:r>
              <a:rPr lang="en-US" sz="2300" b="1" dirty="0" err="1">
                <a:latin typeface="Times New Roman" panose="02020603050405020304" pitchFamily="18" charset="0"/>
                <a:cs typeface="Times New Roman" panose="02020603050405020304" pitchFamily="18" charset="0"/>
                <a:sym typeface="+mn-ea"/>
              </a:rPr>
              <a:t>công</a:t>
            </a:r>
            <a:r>
              <a:rPr lang="en-US" sz="2300" b="1" dirty="0">
                <a:latin typeface="Times New Roman" panose="02020603050405020304" pitchFamily="18" charset="0"/>
                <a:cs typeface="Times New Roman" panose="02020603050405020304" pitchFamily="18" charset="0"/>
                <a:sym typeface="+mn-ea"/>
              </a:rPr>
              <a:t> clickjacking</a:t>
            </a:r>
          </a:p>
          <a:p>
            <a:endParaRPr lang="en-US" sz="2100" b="1" dirty="0">
              <a:latin typeface="Times New Roman" panose="02020603050405020304" pitchFamily="18" charset="0"/>
              <a:cs typeface="Times New Roman" panose="02020603050405020304" pitchFamily="18" charset="0"/>
              <a:sym typeface="+mn-ea"/>
            </a:endParaRPr>
          </a:p>
          <a:p>
            <a:r>
              <a:rPr lang="en-US" sz="2100" b="1" dirty="0">
                <a:latin typeface="Times New Roman" panose="02020603050405020304" pitchFamily="18" charset="0"/>
                <a:cs typeface="Times New Roman" panose="02020603050405020304" pitchFamily="18" charset="0"/>
              </a:rPr>
              <a:t> Giai </a:t>
            </a:r>
            <a:r>
              <a:rPr lang="en-US" sz="2100" b="1" dirty="0" err="1">
                <a:latin typeface="Times New Roman" panose="02020603050405020304" pitchFamily="18" charset="0"/>
                <a:cs typeface="Times New Roman" panose="02020603050405020304" pitchFamily="18" charset="0"/>
              </a:rPr>
              <a:t>đoạn</a:t>
            </a:r>
            <a:r>
              <a:rPr lang="en-US" sz="2100" b="1" dirty="0">
                <a:latin typeface="Times New Roman" panose="02020603050405020304" pitchFamily="18" charset="0"/>
                <a:cs typeface="Times New Roman" panose="02020603050405020304" pitchFamily="18" charset="0"/>
              </a:rPr>
              <a:t> 2: </a:t>
            </a:r>
            <a:r>
              <a:rPr lang="en-US" sz="2100" b="1" dirty="0" err="1">
                <a:latin typeface="Times New Roman" panose="02020603050405020304" pitchFamily="18" charset="0"/>
                <a:cs typeface="Times New Roman" panose="02020603050405020304" pitchFamily="18" charset="0"/>
              </a:rPr>
              <a:t>xây</a:t>
            </a:r>
            <a:r>
              <a:rPr lang="en-US" sz="2100" b="1" dirty="0">
                <a:latin typeface="Times New Roman" panose="02020603050405020304" pitchFamily="18" charset="0"/>
                <a:cs typeface="Times New Roman" panose="02020603050405020304" pitchFamily="18" charset="0"/>
              </a:rPr>
              <a:t> </a:t>
            </a:r>
            <a:r>
              <a:rPr lang="en-US" sz="2100" b="1" dirty="0" err="1">
                <a:latin typeface="Times New Roman" panose="02020603050405020304" pitchFamily="18" charset="0"/>
                <a:cs typeface="Times New Roman" panose="02020603050405020304" pitchFamily="18" charset="0"/>
              </a:rPr>
              <a:t>dựng</a:t>
            </a:r>
            <a:r>
              <a:rPr lang="en-US" sz="2100" b="1" dirty="0">
                <a:latin typeface="Times New Roman" panose="02020603050405020304" pitchFamily="18" charset="0"/>
                <a:cs typeface="Times New Roman" panose="02020603050405020304" pitchFamily="18" charset="0"/>
              </a:rPr>
              <a:t> </a:t>
            </a:r>
            <a:r>
              <a:rPr lang="en-US" sz="2100" b="1" dirty="0" err="1">
                <a:latin typeface="Times New Roman" panose="02020603050405020304" pitchFamily="18" charset="0"/>
                <a:cs typeface="Times New Roman" panose="02020603050405020304" pitchFamily="18" charset="0"/>
              </a:rPr>
              <a:t>mồi</a:t>
            </a:r>
            <a:r>
              <a:rPr lang="en-US" sz="2100" b="1" dirty="0">
                <a:latin typeface="Times New Roman" panose="02020603050405020304" pitchFamily="18" charset="0"/>
                <a:cs typeface="Times New Roman" panose="02020603050405020304" pitchFamily="18" charset="0"/>
              </a:rPr>
              <a:t> </a:t>
            </a:r>
            <a:r>
              <a:rPr lang="en-US" sz="2100" b="1" dirty="0" err="1">
                <a:latin typeface="Times New Roman" panose="02020603050405020304" pitchFamily="18" charset="0"/>
                <a:cs typeface="Times New Roman" panose="02020603050405020304" pitchFamily="18" charset="0"/>
              </a:rPr>
              <a:t>nhử</a:t>
            </a:r>
            <a:endParaRPr lang="en-US" sz="2100" b="1"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Tạo</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một</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trang</a:t>
            </a:r>
            <a:r>
              <a:rPr lang="en-US" altLang="en-US" sz="1800" dirty="0">
                <a:latin typeface="Times New Roman" panose="02020603050405020304" pitchFamily="18" charset="0"/>
                <a:cs typeface="Times New Roman" panose="02020603050405020304" pitchFamily="18" charset="0"/>
              </a:rPr>
              <a:t> web </a:t>
            </a:r>
            <a:r>
              <a:rPr lang="en-US" altLang="en-US" sz="1800" dirty="0" err="1">
                <a:latin typeface="Times New Roman" panose="02020603050405020304" pitchFamily="18" charset="0"/>
                <a:cs typeface="Times New Roman" panose="02020603050405020304" pitchFamily="18" charset="0"/>
              </a:rPr>
              <a:t>cực</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kỳ</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hấp</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dẫn</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và</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không</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hề</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đáng</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ngờ</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để</a:t>
            </a:r>
            <a:r>
              <a:rPr lang="en-US" altLang="en-US" sz="1800" dirty="0">
                <a:latin typeface="Times New Roman" panose="02020603050405020304" pitchFamily="18" charset="0"/>
                <a:cs typeface="Times New Roman" panose="02020603050405020304" pitchFamily="18" charset="0"/>
              </a:rPr>
              <a:t> </a:t>
            </a:r>
            <a:r>
              <a:rPr lang="en-US" altLang="en-US" sz="1800" dirty="0" err="1">
                <a:solidFill>
                  <a:srgbClr val="FF0000"/>
                </a:solidFill>
                <a:latin typeface="Times New Roman" panose="02020603050405020304" pitchFamily="18" charset="0"/>
                <a:cs typeface="Times New Roman" panose="02020603050405020304" pitchFamily="18" charset="0"/>
              </a:rPr>
              <a:t>tăng</a:t>
            </a:r>
            <a:r>
              <a:rPr lang="en-US" altLang="en-US" sz="1800" dirty="0">
                <a:solidFill>
                  <a:srgbClr val="FF0000"/>
                </a:solidFill>
                <a:latin typeface="Times New Roman" panose="02020603050405020304" pitchFamily="18" charset="0"/>
                <a:cs typeface="Times New Roman" panose="02020603050405020304" pitchFamily="18" charset="0"/>
              </a:rPr>
              <a:t> </a:t>
            </a:r>
            <a:r>
              <a:rPr lang="en-US" altLang="en-US" sz="1800" dirty="0" err="1">
                <a:solidFill>
                  <a:srgbClr val="FF0000"/>
                </a:solidFill>
                <a:latin typeface="Times New Roman" panose="02020603050405020304" pitchFamily="18" charset="0"/>
                <a:cs typeface="Times New Roman" panose="02020603050405020304" pitchFamily="18" charset="0"/>
              </a:rPr>
              <a:t>cường</a:t>
            </a:r>
            <a:r>
              <a:rPr lang="en-US" altLang="en-US" sz="1800" dirty="0">
                <a:solidFill>
                  <a:srgbClr val="FF0000"/>
                </a:solidFill>
                <a:latin typeface="Times New Roman" panose="02020603050405020304" pitchFamily="18" charset="0"/>
                <a:cs typeface="Times New Roman" panose="02020603050405020304" pitchFamily="18" charset="0"/>
              </a:rPr>
              <a:t> </a:t>
            </a:r>
            <a:r>
              <a:rPr lang="en-US" altLang="en-US" sz="1800" dirty="0" err="1">
                <a:solidFill>
                  <a:srgbClr val="FF0000"/>
                </a:solidFill>
                <a:latin typeface="Times New Roman" panose="02020603050405020304" pitchFamily="18" charset="0"/>
                <a:cs typeface="Times New Roman" panose="02020603050405020304" pitchFamily="18" charset="0"/>
              </a:rPr>
              <a:t>kỹ</a:t>
            </a:r>
            <a:r>
              <a:rPr lang="en-US" altLang="en-US" sz="1800" dirty="0">
                <a:solidFill>
                  <a:srgbClr val="FF0000"/>
                </a:solidFill>
                <a:latin typeface="Times New Roman" panose="02020603050405020304" pitchFamily="18" charset="0"/>
                <a:cs typeface="Times New Roman" panose="02020603050405020304" pitchFamily="18" charset="0"/>
              </a:rPr>
              <a:t> </a:t>
            </a:r>
            <a:r>
              <a:rPr lang="en-US" altLang="en-US" sz="1800" dirty="0" err="1">
                <a:solidFill>
                  <a:srgbClr val="FF0000"/>
                </a:solidFill>
                <a:latin typeface="Times New Roman" panose="02020603050405020304" pitchFamily="18" charset="0"/>
                <a:cs typeface="Times New Roman" panose="02020603050405020304" pitchFamily="18" charset="0"/>
              </a:rPr>
              <a:t>năng</a:t>
            </a:r>
            <a:r>
              <a:rPr lang="en-US" altLang="en-US" sz="1800" dirty="0">
                <a:solidFill>
                  <a:srgbClr val="FF0000"/>
                </a:solidFill>
                <a:latin typeface="Times New Roman" panose="02020603050405020304" pitchFamily="18" charset="0"/>
                <a:cs typeface="Times New Roman" panose="02020603050405020304" pitchFamily="18" charset="0"/>
              </a:rPr>
              <a:t> </a:t>
            </a:r>
            <a:r>
              <a:rPr lang="en-US" altLang="en-US" sz="1800" dirty="0" err="1">
                <a:solidFill>
                  <a:srgbClr val="FF0000"/>
                </a:solidFill>
                <a:latin typeface="Times New Roman" panose="02020603050405020304" pitchFamily="18" charset="0"/>
                <a:cs typeface="Times New Roman" panose="02020603050405020304" pitchFamily="18" charset="0"/>
              </a:rPr>
              <a:t>xã</a:t>
            </a:r>
            <a:r>
              <a:rPr lang="en-US" altLang="en-US" sz="1800" dirty="0">
                <a:solidFill>
                  <a:srgbClr val="FF0000"/>
                </a:solidFill>
                <a:latin typeface="Times New Roman" panose="02020603050405020304" pitchFamily="18" charset="0"/>
                <a:cs typeface="Times New Roman" panose="02020603050405020304" pitchFamily="18" charset="0"/>
              </a:rPr>
              <a:t> </a:t>
            </a:r>
            <a:r>
              <a:rPr lang="en-US" altLang="en-US" sz="1800" dirty="0" err="1">
                <a:solidFill>
                  <a:srgbClr val="FF0000"/>
                </a:solidFill>
                <a:latin typeface="Times New Roman" panose="02020603050405020304" pitchFamily="18" charset="0"/>
                <a:cs typeface="Times New Roman" panose="02020603050405020304" pitchFamily="18" charset="0"/>
              </a:rPr>
              <a:t>hội</a:t>
            </a:r>
            <a:r>
              <a:rPr lang="en-US" altLang="en-US" sz="1800" dirty="0">
                <a:solidFill>
                  <a:srgbClr val="FF0000"/>
                </a:solidFill>
                <a:latin typeface="Times New Roman" panose="02020603050405020304" pitchFamily="18" charset="0"/>
                <a:cs typeface="Times New Roman" panose="02020603050405020304" pitchFamily="18" charset="0"/>
              </a:rPr>
              <a:t>.</a:t>
            </a:r>
          </a:p>
          <a:p>
            <a:endParaRPr lang="en-US" altLang="en-US" sz="1800" dirty="0">
              <a:solidFill>
                <a:srgbClr val="FF0000"/>
              </a:solidFill>
              <a:latin typeface="Times New Roman" panose="02020603050405020304" pitchFamily="18" charset="0"/>
              <a:cs typeface="Times New Roman" panose="02020603050405020304" pitchFamily="18" charset="0"/>
            </a:endParaRPr>
          </a:p>
          <a:p>
            <a:r>
              <a:rPr lang="en-US" altLang="en-US" sz="1800" dirty="0">
                <a:solidFill>
                  <a:schemeClr val="tx1"/>
                </a:solidFill>
                <a:latin typeface="Times New Roman" panose="02020603050405020304" pitchFamily="18" charset="0"/>
                <a:cs typeface="Times New Roman" panose="02020603050405020304" pitchFamily="18" charset="0"/>
              </a:rPr>
              <a:t>- </a:t>
            </a:r>
            <a:r>
              <a:rPr lang="en-US" altLang="en-US" sz="1800" dirty="0" err="1">
                <a:solidFill>
                  <a:schemeClr val="tx1"/>
                </a:solidFill>
                <a:latin typeface="Times New Roman" panose="02020603050405020304" pitchFamily="18" charset="0"/>
                <a:cs typeface="Times New Roman" panose="02020603050405020304" pitchFamily="18" charset="0"/>
              </a:rPr>
              <a:t>Ví</a:t>
            </a:r>
            <a:r>
              <a:rPr lang="en-US" altLang="en-US" sz="1800" dirty="0">
                <a:solidFill>
                  <a:schemeClr val="tx1"/>
                </a:solidFill>
                <a:latin typeface="Times New Roman" panose="02020603050405020304" pitchFamily="18" charset="0"/>
                <a:cs typeface="Times New Roman" panose="02020603050405020304" pitchFamily="18" charset="0"/>
              </a:rPr>
              <a:t> </a:t>
            </a:r>
            <a:r>
              <a:rPr lang="en-US" altLang="en-US" sz="1800" dirty="0" err="1">
                <a:solidFill>
                  <a:schemeClr val="tx1"/>
                </a:solidFill>
                <a:latin typeface="Times New Roman" panose="02020603050405020304" pitchFamily="18" charset="0"/>
                <a:cs typeface="Times New Roman" panose="02020603050405020304" pitchFamily="18" charset="0"/>
              </a:rPr>
              <a:t>dụ</a:t>
            </a:r>
            <a:r>
              <a:rPr lang="en-US" altLang="en-US" sz="1800" dirty="0">
                <a:solidFill>
                  <a:schemeClr val="tx1"/>
                </a:solidFill>
                <a:latin typeface="Times New Roman" panose="02020603050405020304" pitchFamily="18" charset="0"/>
                <a:cs typeface="Times New Roman" panose="02020603050405020304" pitchFamily="18" charset="0"/>
              </a:rPr>
              <a:t>: game, </a:t>
            </a:r>
            <a:r>
              <a:rPr lang="en-US" altLang="en-US" sz="1800" dirty="0" err="1">
                <a:solidFill>
                  <a:schemeClr val="tx1"/>
                </a:solidFill>
                <a:latin typeface="Times New Roman" panose="02020603050405020304" pitchFamily="18" charset="0"/>
                <a:cs typeface="Times New Roman" panose="02020603050405020304" pitchFamily="18" charset="0"/>
              </a:rPr>
              <a:t>khảo</a:t>
            </a:r>
            <a:r>
              <a:rPr lang="en-US" altLang="en-US" sz="1800" dirty="0">
                <a:solidFill>
                  <a:schemeClr val="tx1"/>
                </a:solidFill>
                <a:latin typeface="Times New Roman" panose="02020603050405020304" pitchFamily="18" charset="0"/>
                <a:cs typeface="Times New Roman" panose="02020603050405020304" pitchFamily="18" charset="0"/>
              </a:rPr>
              <a:t> </a:t>
            </a:r>
            <a:r>
              <a:rPr lang="en-US" altLang="en-US" sz="1800" dirty="0" err="1">
                <a:solidFill>
                  <a:schemeClr val="tx1"/>
                </a:solidFill>
                <a:latin typeface="Times New Roman" panose="02020603050405020304" pitchFamily="18" charset="0"/>
                <a:cs typeface="Times New Roman" panose="02020603050405020304" pitchFamily="18" charset="0"/>
              </a:rPr>
              <a:t>sát</a:t>
            </a:r>
            <a:r>
              <a:rPr lang="en-US" altLang="en-US" sz="1800" dirty="0">
                <a:solidFill>
                  <a:schemeClr val="tx1"/>
                </a:solidFill>
                <a:latin typeface="Times New Roman" panose="02020603050405020304" pitchFamily="18" charset="0"/>
                <a:cs typeface="Times New Roman" panose="02020603050405020304" pitchFamily="18" charset="0"/>
              </a:rPr>
              <a:t> </a:t>
            </a:r>
            <a:r>
              <a:rPr lang="en-US" altLang="en-US" sz="1800" dirty="0" err="1">
                <a:solidFill>
                  <a:schemeClr val="tx1"/>
                </a:solidFill>
                <a:latin typeface="Times New Roman" panose="02020603050405020304" pitchFamily="18" charset="0"/>
                <a:cs typeface="Times New Roman" panose="02020603050405020304" pitchFamily="18" charset="0"/>
              </a:rPr>
              <a:t>nhận</a:t>
            </a:r>
            <a:r>
              <a:rPr lang="en-US" altLang="en-US" sz="1800" dirty="0">
                <a:solidFill>
                  <a:schemeClr val="tx1"/>
                </a:solidFill>
                <a:latin typeface="Times New Roman" panose="02020603050405020304" pitchFamily="18" charset="0"/>
                <a:cs typeface="Times New Roman" panose="02020603050405020304" pitchFamily="18" charset="0"/>
              </a:rPr>
              <a:t> </a:t>
            </a:r>
            <a:r>
              <a:rPr lang="en-US" altLang="en-US" sz="1800" dirty="0" err="1">
                <a:solidFill>
                  <a:schemeClr val="tx1"/>
                </a:solidFill>
                <a:latin typeface="Times New Roman" panose="02020603050405020304" pitchFamily="18" charset="0"/>
                <a:cs typeface="Times New Roman" panose="02020603050405020304" pitchFamily="18" charset="0"/>
              </a:rPr>
              <a:t>thưởng</a:t>
            </a:r>
            <a:r>
              <a:rPr lang="en-US" altLang="en-US" sz="1800" dirty="0">
                <a:solidFill>
                  <a:schemeClr val="tx1"/>
                </a:solidFill>
                <a:latin typeface="Times New Roman" panose="02020603050405020304" pitchFamily="18" charset="0"/>
                <a:cs typeface="Times New Roman" panose="02020603050405020304" pitchFamily="18" charset="0"/>
              </a:rPr>
              <a:t>, tin </a:t>
            </a:r>
            <a:r>
              <a:rPr lang="en-US" altLang="en-US" sz="1800" dirty="0" err="1">
                <a:solidFill>
                  <a:schemeClr val="tx1"/>
                </a:solidFill>
                <a:latin typeface="Times New Roman" panose="02020603050405020304" pitchFamily="18" charset="0"/>
                <a:cs typeface="Times New Roman" panose="02020603050405020304" pitchFamily="18" charset="0"/>
              </a:rPr>
              <a:t>tức</a:t>
            </a:r>
            <a:r>
              <a:rPr lang="en-US" altLang="en-US" sz="1800" dirty="0">
                <a:solidFill>
                  <a:schemeClr val="tx1"/>
                </a:solidFill>
                <a:latin typeface="Times New Roman" panose="02020603050405020304" pitchFamily="18" charset="0"/>
                <a:cs typeface="Times New Roman" panose="02020603050405020304" pitchFamily="18" charset="0"/>
              </a:rPr>
              <a:t> </a:t>
            </a:r>
            <a:r>
              <a:rPr lang="en-US" altLang="en-US" sz="1800" dirty="0" err="1">
                <a:solidFill>
                  <a:schemeClr val="tx1"/>
                </a:solidFill>
                <a:latin typeface="Times New Roman" panose="02020603050405020304" pitchFamily="18" charset="0"/>
                <a:cs typeface="Times New Roman" panose="02020603050405020304" pitchFamily="18" charset="0"/>
              </a:rPr>
              <a:t>nóng</a:t>
            </a:r>
            <a:r>
              <a:rPr lang="en-US" altLang="en-US" sz="1800" dirty="0">
                <a:solidFill>
                  <a:schemeClr val="tx1"/>
                </a:solidFill>
                <a:latin typeface="Times New Roman" panose="02020603050405020304" pitchFamily="18" charset="0"/>
                <a:cs typeface="Times New Roman" panose="02020603050405020304" pitchFamily="18" charset="0"/>
              </a:rPr>
              <a:t>,...</a:t>
            </a:r>
          </a:p>
          <a:p>
            <a:endParaRPr lang="en-US" altLang="en-US" sz="1800" dirty="0">
              <a:solidFill>
                <a:schemeClr val="tx1"/>
              </a:solidFill>
              <a:latin typeface="Times New Roman" panose="02020603050405020304" pitchFamily="18" charset="0"/>
              <a:cs typeface="Times New Roman" panose="02020603050405020304" pitchFamily="18" charset="0"/>
            </a:endParaRPr>
          </a:p>
          <a:p>
            <a:endParaRPr lang="en-US" altLang="en-US" sz="2100" dirty="0">
              <a:solidFill>
                <a:srgbClr val="FF0000"/>
              </a:solidFill>
              <a:latin typeface="Times New Roman" panose="02020603050405020304" pitchFamily="18" charset="0"/>
              <a:cs typeface="Times New Roman" panose="02020603050405020304" pitchFamily="18" charset="0"/>
            </a:endParaRPr>
          </a:p>
          <a:p>
            <a:pPr indent="457200"/>
            <a:endParaRPr lang="en-US" altLang="en-US" sz="2100" dirty="0">
              <a:solidFill>
                <a:srgbClr val="FF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645795" y="1464310"/>
            <a:ext cx="8404860" cy="589280"/>
          </a:xfrm>
          <a:prstGeom prst="rect">
            <a:avLst/>
          </a:prstGeom>
          <a:noFill/>
        </p:spPr>
        <p:txBody>
          <a:bodyPr wrap="square" rtlCol="0">
            <a:noAutofit/>
          </a:bodyPr>
          <a:lstStyle/>
          <a:p>
            <a:r>
              <a:rPr lang="en-US" sz="2600" b="1">
                <a:solidFill>
                  <a:srgbClr val="FF0000"/>
                </a:solidFill>
                <a:latin typeface="Times New Roman" panose="02020603050405020304" pitchFamily="18" charset="0"/>
                <a:cs typeface="Times New Roman" panose="02020603050405020304" pitchFamily="18" charset="0"/>
                <a:sym typeface="+mn-ea"/>
              </a:rPr>
              <a:t>2. Cấu hình sai và thiếu cấu hình HTTP Security Headers</a:t>
            </a:r>
          </a:p>
        </p:txBody>
      </p:sp>
      <p:pic>
        <p:nvPicPr>
          <p:cNvPr id="1026" name="Picture 2" descr="ফেসবুকে ক্লিকজ্যাকিং আক্রমণ | ইনভিক্টি">
            <a:extLst>
              <a:ext uri="{FF2B5EF4-FFF2-40B4-BE49-F238E27FC236}">
                <a16:creationId xmlns:a16="http://schemas.microsoft.com/office/drawing/2014/main" id="{32AA09C2-BB14-E37A-2F80-763E4A148D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28571" y="2496185"/>
            <a:ext cx="5515429" cy="2895600"/>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E525E71-A161-D947-5BF8-ED35476414BF}"/>
              </a:ext>
            </a:extLst>
          </p:cNvPr>
          <p:cNvSpPr>
            <a:spLocks noGrp="1"/>
          </p:cNvSpPr>
          <p:nvPr>
            <p:ph type="sldNum" sz="quarter" idx="12"/>
          </p:nvPr>
        </p:nvSpPr>
        <p:spPr/>
        <p:txBody>
          <a:bodyPr/>
          <a:lstStyle/>
          <a:p>
            <a:pPr lvl="0" eaLnBrk="1" hangingPunct="1"/>
            <a:fld id="{9A0DB2DC-4C9A-4742-B13C-FB6460FD3503}" type="slidenum">
              <a:rPr lang="en-US" altLang="ja-JP" smtClean="0">
                <a:latin typeface="Arial" panose="020B0604020202020204" pitchFamily="34" charset="0"/>
              </a:rPr>
              <a:t>15</a:t>
            </a:fld>
            <a:endParaRPr lang="en-US" altLang="ja-JP"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17410">
                                            <p:txEl>
                                              <p:pRg st="0" end="0"/>
                                            </p:txEl>
                                          </p:spTgt>
                                        </p:tgtEl>
                                        <p:attrNameLst>
                                          <p:attrName>style.visibility</p:attrName>
                                        </p:attrNameLst>
                                      </p:cBhvr>
                                      <p:to>
                                        <p:strVal val="visible"/>
                                      </p:to>
                                    </p:set>
                                    <p:anim calcmode="lin" valueType="num">
                                      <p:cBhvr additive="base">
                                        <p:cTn id="7" dur="500"/>
                                        <p:tgtEl>
                                          <p:spTgt spid="17410">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17410">
                                            <p:txEl>
                                              <p:pRg st="0" end="0"/>
                                            </p:txEl>
                                          </p:spTgt>
                                        </p:tgtEl>
                                      </p:cBhvr>
                                    </p:animEffect>
                                  </p:childTnLst>
                                </p:cTn>
                              </p:par>
                              <p:par>
                                <p:cTn id="9" presetID="12" presetClass="entr" presetSubtype="4" fill="hold" nodeType="withEffect">
                                  <p:stCondLst>
                                    <p:cond delay="0"/>
                                  </p:stCondLst>
                                  <p:childTnLst>
                                    <p:set>
                                      <p:cBhvr>
                                        <p:cTn id="10" dur="1" fill="hold">
                                          <p:stCondLst>
                                            <p:cond delay="0"/>
                                          </p:stCondLst>
                                        </p:cTn>
                                        <p:tgtEl>
                                          <p:spTgt spid="17410">
                                            <p:txEl>
                                              <p:pRg st="1" end="1"/>
                                            </p:txEl>
                                          </p:spTgt>
                                        </p:tgtEl>
                                        <p:attrNameLst>
                                          <p:attrName>style.visibility</p:attrName>
                                        </p:attrNameLst>
                                      </p:cBhvr>
                                      <p:to>
                                        <p:strVal val="visible"/>
                                      </p:to>
                                    </p:set>
                                    <p:anim calcmode="lin" valueType="num">
                                      <p:cBhvr additive="base">
                                        <p:cTn id="11" dur="500"/>
                                        <p:tgtEl>
                                          <p:spTgt spid="17410">
                                            <p:txEl>
                                              <p:pRg st="1" end="1"/>
                                            </p:txEl>
                                          </p:spTgt>
                                        </p:tgtEl>
                                        <p:attrNameLst>
                                          <p:attrName>ppt_y</p:attrName>
                                        </p:attrNameLst>
                                      </p:cBhvr>
                                      <p:tavLst>
                                        <p:tav tm="0">
                                          <p:val>
                                            <p:strVal val="#ppt_y+#ppt_h*1.125000"/>
                                          </p:val>
                                        </p:tav>
                                        <p:tav tm="100000">
                                          <p:val>
                                            <p:strVal val="#ppt_y"/>
                                          </p:val>
                                        </p:tav>
                                      </p:tavLst>
                                    </p:anim>
                                    <p:animEffect transition="in" filter="wipe(up)">
                                      <p:cBhvr>
                                        <p:cTn id="12" dur="500"/>
                                        <p:tgtEl>
                                          <p:spTgt spid="17410">
                                            <p:txEl>
                                              <p:pRg st="1" end="1"/>
                                            </p:txEl>
                                          </p:spTgt>
                                        </p:tgtEl>
                                      </p:cBhvr>
                                    </p:animEffect>
                                  </p:childTnLst>
                                </p:cTn>
                              </p:par>
                              <p:par>
                                <p:cTn id="13" presetID="12" presetClass="entr" presetSubtype="4" fill="hold" nodeType="with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additive="base">
                                        <p:cTn id="15" dur="500"/>
                                        <p:tgtEl>
                                          <p:spTgt spid="3">
                                            <p:txEl>
                                              <p:pRg st="0" end="0"/>
                                            </p:txEl>
                                          </p:spTgt>
                                        </p:tgtEl>
                                        <p:attrNameLst>
                                          <p:attrName>ppt_y</p:attrName>
                                        </p:attrNameLst>
                                      </p:cBhvr>
                                      <p:tavLst>
                                        <p:tav tm="0">
                                          <p:val>
                                            <p:strVal val="#ppt_y+#ppt_h*1.125000"/>
                                          </p:val>
                                        </p:tav>
                                        <p:tav tm="100000">
                                          <p:val>
                                            <p:strVal val="#ppt_y"/>
                                          </p:val>
                                        </p:tav>
                                      </p:tavLst>
                                    </p:anim>
                                    <p:animEffect transition="in" filter="wipe(up)">
                                      <p:cBhvr>
                                        <p:cTn id="16"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テキスト ボックス 3"/>
          <p:cNvSpPr txBox="1"/>
          <p:nvPr/>
        </p:nvSpPr>
        <p:spPr>
          <a:xfrm>
            <a:off x="2181701" y="125730"/>
            <a:ext cx="5745480" cy="1076325"/>
          </a:xfrm>
          <a:prstGeom prst="rect">
            <a:avLst/>
          </a:prstGeom>
          <a:noFill/>
          <a:ln w="9525">
            <a:noFill/>
          </a:ln>
        </p:spPr>
        <p:txBody>
          <a:bodyPr wrap="none">
            <a:spAutoFit/>
          </a:bodyPr>
          <a:lstStyle/>
          <a:p>
            <a:pPr algn="ctr">
              <a:buNone/>
            </a:pPr>
            <a:r>
              <a:rPr lang="en-US" altLang="ja-JP" sz="3200" b="1" dirty="0">
                <a:solidFill>
                  <a:srgbClr val="FF0000"/>
                </a:solidFill>
                <a:latin typeface="Times New Roman" panose="02020603050405020304" pitchFamily="18" charset="0"/>
                <a:ea typeface="MS PGothic" panose="020B0600070205080204" pitchFamily="50" charset="-128"/>
                <a:sym typeface="+mn-ea"/>
              </a:rPr>
              <a:t>II. Cách thức tấn công </a:t>
            </a:r>
            <a:endParaRPr lang="en-US" altLang="ja-JP" sz="3200" b="1" dirty="0">
              <a:solidFill>
                <a:srgbClr val="FF0000"/>
              </a:solidFill>
              <a:latin typeface="Times New Roman" panose="02020603050405020304" pitchFamily="18" charset="0"/>
              <a:ea typeface="MS PGothic" panose="020B0600070205080204" pitchFamily="50" charset="-128"/>
            </a:endParaRPr>
          </a:p>
          <a:p>
            <a:pPr algn="ctr">
              <a:buNone/>
            </a:pPr>
            <a:r>
              <a:rPr lang="en-US" altLang="ja-JP" sz="3200" b="1" dirty="0">
                <a:solidFill>
                  <a:srgbClr val="FF0000"/>
                </a:solidFill>
                <a:latin typeface="Times New Roman" panose="02020603050405020304" pitchFamily="18" charset="0"/>
                <a:ea typeface="MS PGothic" panose="020B0600070205080204" pitchFamily="50" charset="-128"/>
                <a:sym typeface="+mn-ea"/>
              </a:rPr>
              <a:t>và cách phòng ngừa, ngăn chặn.</a:t>
            </a:r>
            <a:endParaRPr lang="ja-JP" altLang="en-US" sz="3200" b="1" dirty="0">
              <a:solidFill>
                <a:srgbClr val="FF0000"/>
              </a:solidFill>
              <a:latin typeface="Times New Roman" panose="02020603050405020304" pitchFamily="18" charset="0"/>
              <a:ea typeface="MS PGothic" panose="020B0600070205080204" pitchFamily="50" charset="-128"/>
            </a:endParaRPr>
          </a:p>
        </p:txBody>
      </p:sp>
      <p:sp>
        <p:nvSpPr>
          <p:cNvPr id="2" name="Text Box 1"/>
          <p:cNvSpPr txBox="1"/>
          <p:nvPr/>
        </p:nvSpPr>
        <p:spPr>
          <a:xfrm>
            <a:off x="263525" y="1906905"/>
            <a:ext cx="3747366" cy="4432935"/>
          </a:xfrm>
          <a:prstGeom prst="rect">
            <a:avLst/>
          </a:prstGeom>
          <a:noFill/>
        </p:spPr>
        <p:txBody>
          <a:bodyPr wrap="square" rtlCol="0">
            <a:noAutofit/>
          </a:bodyPr>
          <a:lstStyle/>
          <a:p>
            <a:r>
              <a:rPr lang="en-US" sz="2300" b="1" dirty="0" err="1">
                <a:latin typeface="Times New Roman" panose="02020603050405020304" pitchFamily="18" charset="0"/>
                <a:cs typeface="Times New Roman" panose="02020603050405020304" pitchFamily="18" charset="0"/>
                <a:sym typeface="+mn-ea"/>
              </a:rPr>
              <a:t>Tấn</a:t>
            </a:r>
            <a:r>
              <a:rPr lang="en-US" sz="2300" b="1" dirty="0">
                <a:latin typeface="Times New Roman" panose="02020603050405020304" pitchFamily="18" charset="0"/>
                <a:cs typeface="Times New Roman" panose="02020603050405020304" pitchFamily="18" charset="0"/>
                <a:sym typeface="+mn-ea"/>
              </a:rPr>
              <a:t> </a:t>
            </a:r>
            <a:r>
              <a:rPr lang="en-US" sz="2300" b="1" dirty="0" err="1">
                <a:latin typeface="Times New Roman" panose="02020603050405020304" pitchFamily="18" charset="0"/>
                <a:cs typeface="Times New Roman" panose="02020603050405020304" pitchFamily="18" charset="0"/>
                <a:sym typeface="+mn-ea"/>
              </a:rPr>
              <a:t>công</a:t>
            </a:r>
            <a:r>
              <a:rPr lang="en-US" sz="2300" b="1" dirty="0">
                <a:latin typeface="Times New Roman" panose="02020603050405020304" pitchFamily="18" charset="0"/>
                <a:cs typeface="Times New Roman" panose="02020603050405020304" pitchFamily="18" charset="0"/>
                <a:sym typeface="+mn-ea"/>
              </a:rPr>
              <a:t> clickjacking</a:t>
            </a:r>
          </a:p>
          <a:p>
            <a:endParaRPr lang="en-US" sz="2300" b="1" dirty="0">
              <a:latin typeface="Times New Roman" panose="02020603050405020304" pitchFamily="18" charset="0"/>
              <a:cs typeface="Times New Roman" panose="02020603050405020304" pitchFamily="18" charset="0"/>
              <a:sym typeface="+mn-ea"/>
            </a:endParaRPr>
          </a:p>
          <a:p>
            <a:r>
              <a:rPr lang="en-US" sz="2300" b="1" dirty="0">
                <a:latin typeface="Times New Roman" panose="02020603050405020304" pitchFamily="18" charset="0"/>
                <a:cs typeface="Times New Roman" panose="02020603050405020304" pitchFamily="18" charset="0"/>
                <a:sym typeface="+mn-ea"/>
              </a:rPr>
              <a:t>Giai </a:t>
            </a:r>
            <a:r>
              <a:rPr lang="en-US" sz="2300" b="1" dirty="0" err="1">
                <a:latin typeface="Times New Roman" panose="02020603050405020304" pitchFamily="18" charset="0"/>
                <a:cs typeface="Times New Roman" panose="02020603050405020304" pitchFamily="18" charset="0"/>
                <a:sym typeface="+mn-ea"/>
              </a:rPr>
              <a:t>đoạn</a:t>
            </a:r>
            <a:r>
              <a:rPr lang="en-US" sz="2300" b="1" dirty="0">
                <a:latin typeface="Times New Roman" panose="02020603050405020304" pitchFamily="18" charset="0"/>
                <a:cs typeface="Times New Roman" panose="02020603050405020304" pitchFamily="18" charset="0"/>
                <a:sym typeface="+mn-ea"/>
              </a:rPr>
              <a:t> 3: </a:t>
            </a:r>
            <a:r>
              <a:rPr lang="en-US" altLang="en-US" sz="2300" b="1" dirty="0">
                <a:latin typeface="Times New Roman" panose="02020603050405020304" pitchFamily="18" charset="0"/>
                <a:cs typeface="Times New Roman" panose="02020603050405020304" pitchFamily="18" charset="0"/>
              </a:rPr>
              <a:t>Thao </a:t>
            </a:r>
            <a:r>
              <a:rPr lang="en-US" altLang="en-US" sz="2300" b="1" dirty="0" err="1">
                <a:latin typeface="Times New Roman" panose="02020603050405020304" pitchFamily="18" charset="0"/>
                <a:cs typeface="Times New Roman" panose="02020603050405020304" pitchFamily="18" charset="0"/>
              </a:rPr>
              <a:t>túng</a:t>
            </a:r>
            <a:r>
              <a:rPr lang="en-US" altLang="en-US" sz="2300" b="1" dirty="0">
                <a:latin typeface="Times New Roman" panose="02020603050405020304" pitchFamily="18" charset="0"/>
                <a:cs typeface="Times New Roman" panose="02020603050405020304" pitchFamily="18" charset="0"/>
              </a:rPr>
              <a:t> Giao </a:t>
            </a:r>
            <a:r>
              <a:rPr lang="en-US" altLang="en-US" sz="2300" b="1" dirty="0" err="1">
                <a:latin typeface="Times New Roman" panose="02020603050405020304" pitchFamily="18" charset="0"/>
                <a:cs typeface="Times New Roman" panose="02020603050405020304" pitchFamily="18" charset="0"/>
              </a:rPr>
              <a:t>diện</a:t>
            </a:r>
            <a:r>
              <a:rPr lang="en-US" altLang="en-US" sz="2300" b="1" dirty="0">
                <a:latin typeface="Times New Roman" panose="02020603050405020304" pitchFamily="18" charset="0"/>
                <a:cs typeface="Times New Roman" panose="02020603050405020304" pitchFamily="18" charset="0"/>
              </a:rPr>
              <a:t> (UI Redressing</a:t>
            </a:r>
            <a:r>
              <a:rPr lang="en-US" altLang="en-US" sz="2100" b="1" dirty="0">
                <a:latin typeface="Times New Roman" panose="02020603050405020304" pitchFamily="18" charset="0"/>
                <a:cs typeface="Times New Roman" panose="02020603050405020304" pitchFamily="18" charset="0"/>
              </a:rPr>
              <a:t>)</a:t>
            </a:r>
          </a:p>
          <a:p>
            <a:endParaRPr lang="en-US" altLang="en-US" sz="2100" b="1" dirty="0">
              <a:latin typeface="Times New Roman" panose="02020603050405020304" pitchFamily="18" charset="0"/>
              <a:cs typeface="Times New Roman" panose="02020603050405020304" pitchFamily="18" charset="0"/>
            </a:endParaRPr>
          </a:p>
          <a:p>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Nhúng</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trang</a:t>
            </a:r>
            <a:r>
              <a:rPr lang="en-US" altLang="en-US" sz="1800" dirty="0">
                <a:latin typeface="Times New Roman" panose="02020603050405020304" pitchFamily="18" charset="0"/>
                <a:cs typeface="Times New Roman" panose="02020603050405020304" pitchFamily="18" charset="0"/>
              </a:rPr>
              <a:t> web </a:t>
            </a:r>
            <a:r>
              <a:rPr lang="en-US" altLang="en-US" sz="1800" dirty="0" err="1">
                <a:latin typeface="Times New Roman" panose="02020603050405020304" pitchFamily="18" charset="0"/>
                <a:cs typeface="Times New Roman" panose="02020603050405020304" pitchFamily="18" charset="0"/>
              </a:rPr>
              <a:t>mục</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tiêu</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vào</a:t>
            </a:r>
            <a:r>
              <a:rPr lang="en-US" altLang="en-US" sz="1800" dirty="0">
                <a:latin typeface="Times New Roman" panose="02020603050405020304" pitchFamily="18" charset="0"/>
                <a:cs typeface="Times New Roman" panose="02020603050405020304" pitchFamily="18" charset="0"/>
              </a:rPr>
              <a:t> &lt;</a:t>
            </a:r>
            <a:r>
              <a:rPr lang="en-US" altLang="en-US" sz="1800" dirty="0" err="1">
                <a:latin typeface="Times New Roman" panose="02020603050405020304" pitchFamily="18" charset="0"/>
                <a:cs typeface="Times New Roman" panose="02020603050405020304" pitchFamily="18" charset="0"/>
              </a:rPr>
              <a:t>iframe</a:t>
            </a:r>
            <a:r>
              <a:rPr lang="en-US" altLang="en-US" sz="1800" dirty="0">
                <a:latin typeface="Times New Roman" panose="02020603050405020304" pitchFamily="18" charset="0"/>
                <a:cs typeface="Times New Roman" panose="02020603050405020304" pitchFamily="18" charset="0"/>
              </a:rPr>
              <a:t>&gt;. </a:t>
            </a:r>
          </a:p>
          <a:p>
            <a:endParaRPr lang="en-US" altLang="en-US" sz="1800" dirty="0">
              <a:latin typeface="Times New Roman" panose="02020603050405020304" pitchFamily="18" charset="0"/>
              <a:cs typeface="Times New Roman" panose="02020603050405020304" pitchFamily="18" charset="0"/>
            </a:endParaRPr>
          </a:p>
          <a:p>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Sử</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dụng</a:t>
            </a:r>
            <a:r>
              <a:rPr lang="en-US" altLang="en-US" sz="1800" dirty="0">
                <a:latin typeface="Times New Roman" panose="02020603050405020304" pitchFamily="18" charset="0"/>
                <a:cs typeface="Times New Roman" panose="02020603050405020304" pitchFamily="18" charset="0"/>
              </a:rPr>
              <a:t> CSS </a:t>
            </a:r>
            <a:r>
              <a:rPr lang="en-US" altLang="en-US" sz="1800" dirty="0" err="1">
                <a:latin typeface="Times New Roman" panose="02020603050405020304" pitchFamily="18" charset="0"/>
                <a:cs typeface="Times New Roman" panose="02020603050405020304" pitchFamily="18" charset="0"/>
              </a:rPr>
              <a:t>và</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các</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thuộc</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tính</a:t>
            </a:r>
            <a:r>
              <a:rPr lang="en-US" altLang="en-US" sz="1800" dirty="0">
                <a:latin typeface="Times New Roman" panose="02020603050405020304" pitchFamily="18" charset="0"/>
                <a:cs typeface="Times New Roman" panose="02020603050405020304" pitchFamily="18" charset="0"/>
              </a:rPr>
              <a:t> opacity </a:t>
            </a:r>
            <a:r>
              <a:rPr lang="en-US" altLang="en-US" sz="1800" dirty="0" err="1">
                <a:latin typeface="Times New Roman" panose="02020603050405020304" pitchFamily="18" charset="0"/>
                <a:cs typeface="Times New Roman" panose="02020603050405020304" pitchFamily="18" charset="0"/>
              </a:rPr>
              <a:t>để</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làm</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cho</a:t>
            </a:r>
            <a:r>
              <a:rPr lang="en-US" altLang="en-US" sz="1800" dirty="0">
                <a:latin typeface="Times New Roman" panose="02020603050405020304" pitchFamily="18" charset="0"/>
                <a:cs typeface="Times New Roman" panose="02020603050405020304" pitchFamily="18" charset="0"/>
              </a:rPr>
              <a:t> frame </a:t>
            </a:r>
            <a:r>
              <a:rPr lang="en-US" altLang="en-US" sz="1800" dirty="0" err="1">
                <a:latin typeface="Times New Roman" panose="02020603050405020304" pitchFamily="18" charset="0"/>
                <a:cs typeface="Times New Roman" panose="02020603050405020304" pitchFamily="18" charset="0"/>
              </a:rPr>
              <a:t>này</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hoàn</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toàn</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trong</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suốt</a:t>
            </a:r>
            <a:r>
              <a:rPr lang="en-US" altLang="en-US" sz="1800" dirty="0">
                <a:latin typeface="Times New Roman" panose="02020603050405020304" pitchFamily="18" charset="0"/>
                <a:cs typeface="Times New Roman" panose="02020603050405020304" pitchFamily="18" charset="0"/>
              </a:rPr>
              <a:t> (Opacity: 0) </a:t>
            </a:r>
            <a:r>
              <a:rPr lang="en-US" altLang="en-US" sz="1800" dirty="0" err="1">
                <a:latin typeface="Times New Roman" panose="02020603050405020304" pitchFamily="18" charset="0"/>
                <a:cs typeface="Times New Roman" panose="02020603050405020304" pitchFamily="18" charset="0"/>
              </a:rPr>
              <a:t>và</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đặt</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nó</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chồng</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lên</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nút</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mồi</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nhử</a:t>
            </a:r>
            <a:r>
              <a:rPr lang="en-US" altLang="en-US" sz="1800" dirty="0">
                <a:latin typeface="Times New Roman" panose="02020603050405020304" pitchFamily="18" charset="0"/>
                <a:cs typeface="Times New Roman" panose="02020603050405020304" pitchFamily="18" charset="0"/>
              </a:rPr>
              <a:t>.</a:t>
            </a:r>
          </a:p>
          <a:p>
            <a:pPr indent="457200"/>
            <a:endParaRPr lang="en-US" altLang="en-US" sz="1800" dirty="0">
              <a:latin typeface="Times New Roman" panose="02020603050405020304" pitchFamily="18" charset="0"/>
              <a:cs typeface="Times New Roman" panose="02020603050405020304" pitchFamily="18" charset="0"/>
            </a:endParaRPr>
          </a:p>
        </p:txBody>
      </p:sp>
      <p:sp>
        <p:nvSpPr>
          <p:cNvPr id="3" name="Text Box 2"/>
          <p:cNvSpPr txBox="1"/>
          <p:nvPr/>
        </p:nvSpPr>
        <p:spPr>
          <a:xfrm>
            <a:off x="645795" y="1464310"/>
            <a:ext cx="8404860" cy="589280"/>
          </a:xfrm>
          <a:prstGeom prst="rect">
            <a:avLst/>
          </a:prstGeom>
          <a:noFill/>
        </p:spPr>
        <p:txBody>
          <a:bodyPr wrap="square" rtlCol="0">
            <a:noAutofit/>
          </a:bodyPr>
          <a:lstStyle/>
          <a:p>
            <a:r>
              <a:rPr lang="en-US" sz="2600" b="1">
                <a:solidFill>
                  <a:srgbClr val="FF0000"/>
                </a:solidFill>
                <a:latin typeface="Times New Roman" panose="02020603050405020304" pitchFamily="18" charset="0"/>
                <a:cs typeface="Times New Roman" panose="02020603050405020304" pitchFamily="18" charset="0"/>
                <a:sym typeface="+mn-ea"/>
              </a:rPr>
              <a:t>2. Cấu hình sai và thiếu cấu hình HTTP Security Headers</a:t>
            </a:r>
          </a:p>
        </p:txBody>
      </p:sp>
      <p:pic>
        <p:nvPicPr>
          <p:cNvPr id="2050" name="Picture 2" descr="Clickjacking: Classification, Origin, Clickjacking Attacks, Prevention |  Digital Gravity">
            <a:extLst>
              <a:ext uri="{FF2B5EF4-FFF2-40B4-BE49-F238E27FC236}">
                <a16:creationId xmlns:a16="http://schemas.microsoft.com/office/drawing/2014/main" id="{5B6F7D22-99F8-6E2F-9196-EBA4984315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10892" y="2345257"/>
            <a:ext cx="5039764" cy="3573333"/>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7ED16F1C-382E-96E2-9D14-547AD132F982}"/>
              </a:ext>
            </a:extLst>
          </p:cNvPr>
          <p:cNvSpPr>
            <a:spLocks noGrp="1"/>
          </p:cNvSpPr>
          <p:nvPr>
            <p:ph type="sldNum" sz="quarter" idx="12"/>
          </p:nvPr>
        </p:nvSpPr>
        <p:spPr/>
        <p:txBody>
          <a:bodyPr/>
          <a:lstStyle/>
          <a:p>
            <a:pPr lvl="0" eaLnBrk="1" hangingPunct="1"/>
            <a:fld id="{9A0DB2DC-4C9A-4742-B13C-FB6460FD3503}" type="slidenum">
              <a:rPr lang="en-US" altLang="ja-JP" smtClean="0">
                <a:latin typeface="Arial" panose="020B0604020202020204" pitchFamily="34" charset="0"/>
              </a:rPr>
              <a:t>16</a:t>
            </a:fld>
            <a:endParaRPr lang="en-US" altLang="ja-JP"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17410">
                                            <p:txEl>
                                              <p:pRg st="0" end="0"/>
                                            </p:txEl>
                                          </p:spTgt>
                                        </p:tgtEl>
                                        <p:attrNameLst>
                                          <p:attrName>style.visibility</p:attrName>
                                        </p:attrNameLst>
                                      </p:cBhvr>
                                      <p:to>
                                        <p:strVal val="visible"/>
                                      </p:to>
                                    </p:set>
                                    <p:anim calcmode="lin" valueType="num">
                                      <p:cBhvr additive="base">
                                        <p:cTn id="7" dur="500"/>
                                        <p:tgtEl>
                                          <p:spTgt spid="17410">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17410">
                                            <p:txEl>
                                              <p:pRg st="0" end="0"/>
                                            </p:txEl>
                                          </p:spTgt>
                                        </p:tgtEl>
                                      </p:cBhvr>
                                    </p:animEffect>
                                  </p:childTnLst>
                                </p:cTn>
                              </p:par>
                              <p:par>
                                <p:cTn id="9" presetID="12" presetClass="entr" presetSubtype="4" fill="hold" nodeType="withEffect">
                                  <p:stCondLst>
                                    <p:cond delay="0"/>
                                  </p:stCondLst>
                                  <p:childTnLst>
                                    <p:set>
                                      <p:cBhvr>
                                        <p:cTn id="10" dur="1" fill="hold">
                                          <p:stCondLst>
                                            <p:cond delay="0"/>
                                          </p:stCondLst>
                                        </p:cTn>
                                        <p:tgtEl>
                                          <p:spTgt spid="17410">
                                            <p:txEl>
                                              <p:pRg st="1" end="1"/>
                                            </p:txEl>
                                          </p:spTgt>
                                        </p:tgtEl>
                                        <p:attrNameLst>
                                          <p:attrName>style.visibility</p:attrName>
                                        </p:attrNameLst>
                                      </p:cBhvr>
                                      <p:to>
                                        <p:strVal val="visible"/>
                                      </p:to>
                                    </p:set>
                                    <p:anim calcmode="lin" valueType="num">
                                      <p:cBhvr additive="base">
                                        <p:cTn id="11" dur="500"/>
                                        <p:tgtEl>
                                          <p:spTgt spid="17410">
                                            <p:txEl>
                                              <p:pRg st="1" end="1"/>
                                            </p:txEl>
                                          </p:spTgt>
                                        </p:tgtEl>
                                        <p:attrNameLst>
                                          <p:attrName>ppt_y</p:attrName>
                                        </p:attrNameLst>
                                      </p:cBhvr>
                                      <p:tavLst>
                                        <p:tav tm="0">
                                          <p:val>
                                            <p:strVal val="#ppt_y+#ppt_h*1.125000"/>
                                          </p:val>
                                        </p:tav>
                                        <p:tav tm="100000">
                                          <p:val>
                                            <p:strVal val="#ppt_y"/>
                                          </p:val>
                                        </p:tav>
                                      </p:tavLst>
                                    </p:anim>
                                    <p:animEffect transition="in" filter="wipe(up)">
                                      <p:cBhvr>
                                        <p:cTn id="12" dur="500"/>
                                        <p:tgtEl>
                                          <p:spTgt spid="17410">
                                            <p:txEl>
                                              <p:pRg st="1" end="1"/>
                                            </p:txEl>
                                          </p:spTgt>
                                        </p:tgtEl>
                                      </p:cBhvr>
                                    </p:animEffect>
                                  </p:childTnLst>
                                </p:cTn>
                              </p:par>
                              <p:par>
                                <p:cTn id="13" presetID="12" presetClass="entr" presetSubtype="4" fill="hold" nodeType="with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additive="base">
                                        <p:cTn id="15" dur="500"/>
                                        <p:tgtEl>
                                          <p:spTgt spid="3">
                                            <p:txEl>
                                              <p:pRg st="0" end="0"/>
                                            </p:txEl>
                                          </p:spTgt>
                                        </p:tgtEl>
                                        <p:attrNameLst>
                                          <p:attrName>ppt_y</p:attrName>
                                        </p:attrNameLst>
                                      </p:cBhvr>
                                      <p:tavLst>
                                        <p:tav tm="0">
                                          <p:val>
                                            <p:strVal val="#ppt_y+#ppt_h*1.125000"/>
                                          </p:val>
                                        </p:tav>
                                        <p:tav tm="100000">
                                          <p:val>
                                            <p:strVal val="#ppt_y"/>
                                          </p:val>
                                        </p:tav>
                                      </p:tavLst>
                                    </p:anim>
                                    <p:animEffect transition="in" filter="wipe(up)">
                                      <p:cBhvr>
                                        <p:cTn id="16"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テキスト ボックス 3"/>
          <p:cNvSpPr txBox="1"/>
          <p:nvPr/>
        </p:nvSpPr>
        <p:spPr>
          <a:xfrm>
            <a:off x="2181701" y="125730"/>
            <a:ext cx="5745480" cy="1076325"/>
          </a:xfrm>
          <a:prstGeom prst="rect">
            <a:avLst/>
          </a:prstGeom>
          <a:noFill/>
          <a:ln w="9525">
            <a:noFill/>
          </a:ln>
        </p:spPr>
        <p:txBody>
          <a:bodyPr wrap="none">
            <a:spAutoFit/>
          </a:bodyPr>
          <a:lstStyle/>
          <a:p>
            <a:pPr algn="ctr">
              <a:buNone/>
            </a:pPr>
            <a:r>
              <a:rPr lang="en-US" altLang="ja-JP" sz="3200" b="1" dirty="0">
                <a:solidFill>
                  <a:srgbClr val="FF0000"/>
                </a:solidFill>
                <a:latin typeface="Times New Roman" panose="02020603050405020304" pitchFamily="18" charset="0"/>
                <a:ea typeface="MS PGothic" panose="020B0600070205080204" pitchFamily="50" charset="-128"/>
                <a:sym typeface="+mn-ea"/>
              </a:rPr>
              <a:t>II. Cách thức tấn công </a:t>
            </a:r>
            <a:endParaRPr lang="en-US" altLang="ja-JP" sz="3200" b="1" dirty="0">
              <a:solidFill>
                <a:srgbClr val="FF0000"/>
              </a:solidFill>
              <a:latin typeface="Times New Roman" panose="02020603050405020304" pitchFamily="18" charset="0"/>
              <a:ea typeface="MS PGothic" panose="020B0600070205080204" pitchFamily="50" charset="-128"/>
            </a:endParaRPr>
          </a:p>
          <a:p>
            <a:pPr algn="ctr">
              <a:buNone/>
            </a:pPr>
            <a:r>
              <a:rPr lang="en-US" altLang="ja-JP" sz="3200" b="1" dirty="0">
                <a:solidFill>
                  <a:srgbClr val="FF0000"/>
                </a:solidFill>
                <a:latin typeface="Times New Roman" panose="02020603050405020304" pitchFamily="18" charset="0"/>
                <a:ea typeface="MS PGothic" panose="020B0600070205080204" pitchFamily="50" charset="-128"/>
                <a:sym typeface="+mn-ea"/>
              </a:rPr>
              <a:t>và cách phòng ngừa, ngăn chặn.</a:t>
            </a:r>
            <a:endParaRPr lang="ja-JP" altLang="en-US" sz="3200" b="1" dirty="0">
              <a:solidFill>
                <a:srgbClr val="FF0000"/>
              </a:solidFill>
              <a:latin typeface="Times New Roman" panose="02020603050405020304" pitchFamily="18" charset="0"/>
              <a:ea typeface="MS PGothic" panose="020B0600070205080204" pitchFamily="50" charset="-128"/>
            </a:endParaRPr>
          </a:p>
        </p:txBody>
      </p:sp>
      <p:sp>
        <p:nvSpPr>
          <p:cNvPr id="2" name="Text Box 1"/>
          <p:cNvSpPr txBox="1"/>
          <p:nvPr/>
        </p:nvSpPr>
        <p:spPr>
          <a:xfrm>
            <a:off x="263525" y="1906905"/>
            <a:ext cx="3752215" cy="4432935"/>
          </a:xfrm>
          <a:prstGeom prst="rect">
            <a:avLst/>
          </a:prstGeom>
          <a:noFill/>
        </p:spPr>
        <p:txBody>
          <a:bodyPr wrap="square" rtlCol="0">
            <a:noAutofit/>
          </a:bodyPr>
          <a:lstStyle/>
          <a:p>
            <a:r>
              <a:rPr lang="en-US" sz="2300" b="1">
                <a:latin typeface="Times New Roman" panose="02020603050405020304" pitchFamily="18" charset="0"/>
                <a:cs typeface="Times New Roman" panose="02020603050405020304" pitchFamily="18" charset="0"/>
                <a:sym typeface="+mn-ea"/>
              </a:rPr>
              <a:t>Tấn công clickjacking</a:t>
            </a:r>
          </a:p>
          <a:p>
            <a:endParaRPr lang="en-US" sz="2300" b="1">
              <a:latin typeface="Times New Roman" panose="02020603050405020304" pitchFamily="18" charset="0"/>
              <a:cs typeface="Times New Roman" panose="02020603050405020304" pitchFamily="18" charset="0"/>
              <a:sym typeface="+mn-ea"/>
            </a:endParaRPr>
          </a:p>
          <a:p>
            <a:r>
              <a:rPr lang="en-US" sz="2300" b="1">
                <a:latin typeface="Times New Roman" panose="02020603050405020304" pitchFamily="18" charset="0"/>
                <a:cs typeface="Times New Roman" panose="02020603050405020304" pitchFamily="18" charset="0"/>
                <a:sym typeface="+mn-ea"/>
              </a:rPr>
              <a:t>Giai đoạn 4: Thu hoạch.</a:t>
            </a:r>
          </a:p>
          <a:p>
            <a:endParaRPr lang="en-US" sz="2100" b="1">
              <a:latin typeface="Times New Roman" panose="02020603050405020304" pitchFamily="18" charset="0"/>
              <a:cs typeface="Times New Roman" panose="02020603050405020304" pitchFamily="18" charset="0"/>
              <a:sym typeface="+mn-ea"/>
            </a:endParaRPr>
          </a:p>
          <a:p>
            <a:r>
              <a:rPr lang="en-US" sz="1800">
                <a:latin typeface="Times New Roman" panose="02020603050405020304" pitchFamily="18" charset="0"/>
                <a:cs typeface="Times New Roman" panose="02020603050405020304" pitchFamily="18" charset="0"/>
                <a:sym typeface="+mn-ea"/>
              </a:rPr>
              <a:t>- </a:t>
            </a:r>
            <a:r>
              <a:rPr lang="en-US" altLang="en-US" sz="1800">
                <a:latin typeface="Times New Roman" panose="02020603050405020304" pitchFamily="18" charset="0"/>
                <a:cs typeface="Times New Roman" panose="02020603050405020304" pitchFamily="18" charset="0"/>
                <a:sym typeface="+mn-ea"/>
              </a:rPr>
              <a:t>Khi nạn nhân nhấp chuột, lệnh (chuyển tiền, thay đổi mật khẩu, kích hoạt webcam) sẽ được gửi đi một cách hợp pháp nhờ vào cookie phiên của họ.</a:t>
            </a:r>
          </a:p>
          <a:p>
            <a:endParaRPr lang="en-US" sz="2100" b="1">
              <a:latin typeface="Times New Roman" panose="02020603050405020304" pitchFamily="18" charset="0"/>
              <a:cs typeface="Times New Roman" panose="02020603050405020304" pitchFamily="18" charset="0"/>
              <a:sym typeface="+mn-ea"/>
            </a:endParaRPr>
          </a:p>
          <a:p>
            <a:endParaRPr lang="en-US" sz="2100" b="1">
              <a:latin typeface="Times New Roman" panose="02020603050405020304" pitchFamily="18" charset="0"/>
              <a:cs typeface="Times New Roman" panose="02020603050405020304" pitchFamily="18" charset="0"/>
            </a:endParaRPr>
          </a:p>
          <a:p>
            <a:pPr indent="457200"/>
            <a:endParaRPr lang="en-US" altLang="en-US" sz="2100">
              <a:latin typeface="Times New Roman" panose="02020603050405020304" pitchFamily="18" charset="0"/>
              <a:cs typeface="Times New Roman" panose="02020603050405020304" pitchFamily="18" charset="0"/>
            </a:endParaRPr>
          </a:p>
        </p:txBody>
      </p:sp>
      <p:sp>
        <p:nvSpPr>
          <p:cNvPr id="3" name="Text Box 2"/>
          <p:cNvSpPr txBox="1"/>
          <p:nvPr/>
        </p:nvSpPr>
        <p:spPr>
          <a:xfrm>
            <a:off x="645795" y="1464310"/>
            <a:ext cx="8404860" cy="589280"/>
          </a:xfrm>
          <a:prstGeom prst="rect">
            <a:avLst/>
          </a:prstGeom>
          <a:noFill/>
        </p:spPr>
        <p:txBody>
          <a:bodyPr wrap="square" rtlCol="0">
            <a:noAutofit/>
          </a:bodyPr>
          <a:lstStyle/>
          <a:p>
            <a:r>
              <a:rPr lang="en-US" sz="2600" b="1">
                <a:solidFill>
                  <a:srgbClr val="FF0000"/>
                </a:solidFill>
                <a:latin typeface="Times New Roman" panose="02020603050405020304" pitchFamily="18" charset="0"/>
                <a:cs typeface="Times New Roman" panose="02020603050405020304" pitchFamily="18" charset="0"/>
                <a:sym typeface="+mn-ea"/>
              </a:rPr>
              <a:t>2. Cấu hình sai và thiếu cấu hình HTTP Security Headers</a:t>
            </a:r>
          </a:p>
        </p:txBody>
      </p:sp>
      <p:pic>
        <p:nvPicPr>
          <p:cNvPr id="6" name="Picture 5">
            <a:extLst>
              <a:ext uri="{FF2B5EF4-FFF2-40B4-BE49-F238E27FC236}">
                <a16:creationId xmlns:a16="http://schemas.microsoft.com/office/drawing/2014/main" id="{6143350C-7086-9DB0-3D79-AAA549B5DDD0}"/>
              </a:ext>
            </a:extLst>
          </p:cNvPr>
          <p:cNvPicPr>
            <a:picLocks noChangeAspect="1"/>
          </p:cNvPicPr>
          <p:nvPr/>
        </p:nvPicPr>
        <p:blipFill>
          <a:blip r:embed="rId2"/>
          <a:stretch>
            <a:fillRect/>
          </a:stretch>
        </p:blipFill>
        <p:spPr>
          <a:xfrm>
            <a:off x="4015740" y="2403617"/>
            <a:ext cx="5034915" cy="3571156"/>
          </a:xfrm>
          <a:prstGeom prst="rect">
            <a:avLst/>
          </a:prstGeom>
        </p:spPr>
      </p:pic>
      <p:sp>
        <p:nvSpPr>
          <p:cNvPr id="4" name="Slide Number Placeholder 3">
            <a:extLst>
              <a:ext uri="{FF2B5EF4-FFF2-40B4-BE49-F238E27FC236}">
                <a16:creationId xmlns:a16="http://schemas.microsoft.com/office/drawing/2014/main" id="{876DF325-16FA-FD33-0761-BB9C52567B67}"/>
              </a:ext>
            </a:extLst>
          </p:cNvPr>
          <p:cNvSpPr>
            <a:spLocks noGrp="1"/>
          </p:cNvSpPr>
          <p:nvPr>
            <p:ph type="sldNum" sz="quarter" idx="12"/>
          </p:nvPr>
        </p:nvSpPr>
        <p:spPr/>
        <p:txBody>
          <a:bodyPr/>
          <a:lstStyle/>
          <a:p>
            <a:pPr lvl="0" eaLnBrk="1" hangingPunct="1"/>
            <a:fld id="{9A0DB2DC-4C9A-4742-B13C-FB6460FD3503}" type="slidenum">
              <a:rPr lang="en-US" altLang="ja-JP" smtClean="0">
                <a:latin typeface="Arial" panose="020B0604020202020204" pitchFamily="34" charset="0"/>
              </a:rPr>
              <a:t>17</a:t>
            </a:fld>
            <a:endParaRPr lang="en-US" altLang="ja-JP"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17410">
                                            <p:txEl>
                                              <p:pRg st="0" end="0"/>
                                            </p:txEl>
                                          </p:spTgt>
                                        </p:tgtEl>
                                        <p:attrNameLst>
                                          <p:attrName>style.visibility</p:attrName>
                                        </p:attrNameLst>
                                      </p:cBhvr>
                                      <p:to>
                                        <p:strVal val="visible"/>
                                      </p:to>
                                    </p:set>
                                    <p:anim calcmode="lin" valueType="num">
                                      <p:cBhvr additive="base">
                                        <p:cTn id="7" dur="500"/>
                                        <p:tgtEl>
                                          <p:spTgt spid="17410">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17410">
                                            <p:txEl>
                                              <p:pRg st="0" end="0"/>
                                            </p:txEl>
                                          </p:spTgt>
                                        </p:tgtEl>
                                      </p:cBhvr>
                                    </p:animEffect>
                                  </p:childTnLst>
                                </p:cTn>
                              </p:par>
                              <p:par>
                                <p:cTn id="9" presetID="12" presetClass="entr" presetSubtype="4" fill="hold" nodeType="withEffect">
                                  <p:stCondLst>
                                    <p:cond delay="0"/>
                                  </p:stCondLst>
                                  <p:childTnLst>
                                    <p:set>
                                      <p:cBhvr>
                                        <p:cTn id="10" dur="1" fill="hold">
                                          <p:stCondLst>
                                            <p:cond delay="0"/>
                                          </p:stCondLst>
                                        </p:cTn>
                                        <p:tgtEl>
                                          <p:spTgt spid="17410">
                                            <p:txEl>
                                              <p:pRg st="1" end="1"/>
                                            </p:txEl>
                                          </p:spTgt>
                                        </p:tgtEl>
                                        <p:attrNameLst>
                                          <p:attrName>style.visibility</p:attrName>
                                        </p:attrNameLst>
                                      </p:cBhvr>
                                      <p:to>
                                        <p:strVal val="visible"/>
                                      </p:to>
                                    </p:set>
                                    <p:anim calcmode="lin" valueType="num">
                                      <p:cBhvr additive="base">
                                        <p:cTn id="11" dur="500"/>
                                        <p:tgtEl>
                                          <p:spTgt spid="17410">
                                            <p:txEl>
                                              <p:pRg st="1" end="1"/>
                                            </p:txEl>
                                          </p:spTgt>
                                        </p:tgtEl>
                                        <p:attrNameLst>
                                          <p:attrName>ppt_y</p:attrName>
                                        </p:attrNameLst>
                                      </p:cBhvr>
                                      <p:tavLst>
                                        <p:tav tm="0">
                                          <p:val>
                                            <p:strVal val="#ppt_y+#ppt_h*1.125000"/>
                                          </p:val>
                                        </p:tav>
                                        <p:tav tm="100000">
                                          <p:val>
                                            <p:strVal val="#ppt_y"/>
                                          </p:val>
                                        </p:tav>
                                      </p:tavLst>
                                    </p:anim>
                                    <p:animEffect transition="in" filter="wipe(up)">
                                      <p:cBhvr>
                                        <p:cTn id="12" dur="500"/>
                                        <p:tgtEl>
                                          <p:spTgt spid="17410">
                                            <p:txEl>
                                              <p:pRg st="1" end="1"/>
                                            </p:txEl>
                                          </p:spTgt>
                                        </p:tgtEl>
                                      </p:cBhvr>
                                    </p:animEffect>
                                  </p:childTnLst>
                                </p:cTn>
                              </p:par>
                              <p:par>
                                <p:cTn id="13" presetID="12" presetClass="entr" presetSubtype="4" fill="hold" nodeType="with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additive="base">
                                        <p:cTn id="15" dur="500"/>
                                        <p:tgtEl>
                                          <p:spTgt spid="3">
                                            <p:txEl>
                                              <p:pRg st="0" end="0"/>
                                            </p:txEl>
                                          </p:spTgt>
                                        </p:tgtEl>
                                        <p:attrNameLst>
                                          <p:attrName>ppt_y</p:attrName>
                                        </p:attrNameLst>
                                      </p:cBhvr>
                                      <p:tavLst>
                                        <p:tav tm="0">
                                          <p:val>
                                            <p:strVal val="#ppt_y+#ppt_h*1.125000"/>
                                          </p:val>
                                        </p:tav>
                                        <p:tav tm="100000">
                                          <p:val>
                                            <p:strVal val="#ppt_y"/>
                                          </p:val>
                                        </p:tav>
                                      </p:tavLst>
                                    </p:anim>
                                    <p:animEffect transition="in" filter="wipe(up)">
                                      <p:cBhvr>
                                        <p:cTn id="16"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テキスト ボックス 3"/>
          <p:cNvSpPr txBox="1"/>
          <p:nvPr/>
        </p:nvSpPr>
        <p:spPr>
          <a:xfrm>
            <a:off x="2181701" y="125730"/>
            <a:ext cx="5745480" cy="1076325"/>
          </a:xfrm>
          <a:prstGeom prst="rect">
            <a:avLst/>
          </a:prstGeom>
          <a:noFill/>
          <a:ln w="9525">
            <a:noFill/>
          </a:ln>
        </p:spPr>
        <p:txBody>
          <a:bodyPr wrap="none">
            <a:spAutoFit/>
          </a:bodyPr>
          <a:lstStyle/>
          <a:p>
            <a:pPr algn="ctr">
              <a:buNone/>
            </a:pPr>
            <a:r>
              <a:rPr lang="en-US" altLang="ja-JP" sz="3200" b="1" dirty="0">
                <a:solidFill>
                  <a:srgbClr val="FF0000"/>
                </a:solidFill>
                <a:latin typeface="Times New Roman" panose="02020603050405020304" pitchFamily="18" charset="0"/>
                <a:ea typeface="MS PGothic" panose="020B0600070205080204" pitchFamily="50" charset="-128"/>
                <a:sym typeface="+mn-ea"/>
              </a:rPr>
              <a:t>II. Cách thức tấn công </a:t>
            </a:r>
            <a:endParaRPr lang="en-US" altLang="ja-JP" sz="3200" b="1" dirty="0">
              <a:solidFill>
                <a:srgbClr val="FF0000"/>
              </a:solidFill>
              <a:latin typeface="Times New Roman" panose="02020603050405020304" pitchFamily="18" charset="0"/>
              <a:ea typeface="MS PGothic" panose="020B0600070205080204" pitchFamily="50" charset="-128"/>
            </a:endParaRPr>
          </a:p>
          <a:p>
            <a:pPr algn="ctr">
              <a:buNone/>
            </a:pPr>
            <a:r>
              <a:rPr lang="en-US" altLang="ja-JP" sz="3200" b="1" dirty="0">
                <a:solidFill>
                  <a:srgbClr val="FF0000"/>
                </a:solidFill>
                <a:latin typeface="Times New Roman" panose="02020603050405020304" pitchFamily="18" charset="0"/>
                <a:ea typeface="MS PGothic" panose="020B0600070205080204" pitchFamily="50" charset="-128"/>
                <a:sym typeface="+mn-ea"/>
              </a:rPr>
              <a:t>và cách phòng ngừa, ngăn chặn.</a:t>
            </a:r>
            <a:endParaRPr lang="ja-JP" altLang="en-US" sz="3200" b="1" dirty="0">
              <a:solidFill>
                <a:srgbClr val="FF0000"/>
              </a:solidFill>
              <a:latin typeface="Times New Roman" panose="02020603050405020304" pitchFamily="18" charset="0"/>
              <a:ea typeface="MS PGothic" panose="020B0600070205080204" pitchFamily="50" charset="-128"/>
            </a:endParaRPr>
          </a:p>
        </p:txBody>
      </p:sp>
      <p:sp>
        <p:nvSpPr>
          <p:cNvPr id="2" name="Text Box 1"/>
          <p:cNvSpPr txBox="1"/>
          <p:nvPr/>
        </p:nvSpPr>
        <p:spPr>
          <a:xfrm>
            <a:off x="263525" y="1906905"/>
            <a:ext cx="3820102" cy="4432935"/>
          </a:xfrm>
          <a:prstGeom prst="rect">
            <a:avLst/>
          </a:prstGeom>
          <a:noFill/>
        </p:spPr>
        <p:txBody>
          <a:bodyPr wrap="square" rtlCol="0">
            <a:noAutofit/>
          </a:bodyPr>
          <a:lstStyle/>
          <a:p>
            <a:r>
              <a:rPr lang="en-US" sz="2300" b="1" dirty="0" err="1">
                <a:latin typeface="Times New Roman" panose="02020603050405020304" pitchFamily="18" charset="0"/>
                <a:cs typeface="Times New Roman" panose="02020603050405020304" pitchFamily="18" charset="0"/>
                <a:sym typeface="+mn-ea"/>
              </a:rPr>
              <a:t>Tấn</a:t>
            </a:r>
            <a:r>
              <a:rPr lang="en-US" sz="2300" b="1" dirty="0">
                <a:latin typeface="Times New Roman" panose="02020603050405020304" pitchFamily="18" charset="0"/>
                <a:cs typeface="Times New Roman" panose="02020603050405020304" pitchFamily="18" charset="0"/>
                <a:sym typeface="+mn-ea"/>
              </a:rPr>
              <a:t> </a:t>
            </a:r>
            <a:r>
              <a:rPr lang="en-US" sz="2300" b="1" dirty="0" err="1">
                <a:latin typeface="Times New Roman" panose="02020603050405020304" pitchFamily="18" charset="0"/>
                <a:cs typeface="Times New Roman" panose="02020603050405020304" pitchFamily="18" charset="0"/>
                <a:sym typeface="+mn-ea"/>
              </a:rPr>
              <a:t>công</a:t>
            </a:r>
            <a:r>
              <a:rPr lang="en-US" sz="2300" b="1" dirty="0">
                <a:latin typeface="Times New Roman" panose="02020603050405020304" pitchFamily="18" charset="0"/>
                <a:cs typeface="Times New Roman" panose="02020603050405020304" pitchFamily="18" charset="0"/>
                <a:sym typeface="+mn-ea"/>
              </a:rPr>
              <a:t> clickjacking</a:t>
            </a:r>
          </a:p>
          <a:p>
            <a:endParaRPr lang="en-US" sz="2100" b="1" dirty="0">
              <a:latin typeface="Times New Roman" panose="02020603050405020304" pitchFamily="18" charset="0"/>
              <a:cs typeface="Times New Roman" panose="02020603050405020304" pitchFamily="18" charset="0"/>
              <a:sym typeface="+mn-ea"/>
            </a:endParaRPr>
          </a:p>
          <a:p>
            <a:r>
              <a:rPr lang="en-US" sz="2100" b="1" dirty="0">
                <a:latin typeface="Times New Roman" panose="02020603050405020304" pitchFamily="18" charset="0"/>
                <a:cs typeface="Times New Roman" panose="02020603050405020304" pitchFamily="18" charset="0"/>
                <a:sym typeface="+mn-ea"/>
              </a:rPr>
              <a:t>Giai </a:t>
            </a:r>
            <a:r>
              <a:rPr lang="en-US" sz="2100" b="1" dirty="0" err="1">
                <a:latin typeface="Times New Roman" panose="02020603050405020304" pitchFamily="18" charset="0"/>
                <a:cs typeface="Times New Roman" panose="02020603050405020304" pitchFamily="18" charset="0"/>
                <a:sym typeface="+mn-ea"/>
              </a:rPr>
              <a:t>đoạn</a:t>
            </a:r>
            <a:r>
              <a:rPr lang="en-US" sz="2100" b="1" dirty="0">
                <a:latin typeface="Times New Roman" panose="02020603050405020304" pitchFamily="18" charset="0"/>
                <a:cs typeface="Times New Roman" panose="02020603050405020304" pitchFamily="18" charset="0"/>
                <a:sym typeface="+mn-ea"/>
              </a:rPr>
              <a:t> 5: Hậu </a:t>
            </a:r>
            <a:r>
              <a:rPr lang="en-US" sz="2100" b="1" dirty="0" err="1">
                <a:latin typeface="Times New Roman" panose="02020603050405020304" pitchFamily="18" charset="0"/>
                <a:cs typeface="Times New Roman" panose="02020603050405020304" pitchFamily="18" charset="0"/>
                <a:sym typeface="+mn-ea"/>
              </a:rPr>
              <a:t>quả</a:t>
            </a:r>
            <a:r>
              <a:rPr lang="en-US" sz="2100" b="1" dirty="0">
                <a:latin typeface="Times New Roman" panose="02020603050405020304" pitchFamily="18" charset="0"/>
                <a:cs typeface="Times New Roman" panose="02020603050405020304" pitchFamily="18" charset="0"/>
                <a:sym typeface="+mn-ea"/>
              </a:rPr>
              <a:t>.</a:t>
            </a:r>
          </a:p>
          <a:p>
            <a:endParaRPr lang="en-US" sz="2100" b="1" dirty="0">
              <a:latin typeface="Times New Roman" panose="02020603050405020304" pitchFamily="18" charset="0"/>
              <a:cs typeface="Times New Roman" panose="02020603050405020304" pitchFamily="18" charset="0"/>
              <a:sym typeface="+mn-ea"/>
            </a:endParaRPr>
          </a:p>
          <a:p>
            <a:r>
              <a:rPr 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rPr>
              <a:t>Thiệt</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hại</a:t>
            </a:r>
            <a:r>
              <a:rPr lang="en-US" altLang="en-US" sz="1800" dirty="0">
                <a:latin typeface="Times New Roman" panose="02020603050405020304" pitchFamily="18" charset="0"/>
                <a:cs typeface="Times New Roman" panose="02020603050405020304" pitchFamily="18" charset="0"/>
              </a:rPr>
              <a:t> Tài </a:t>
            </a:r>
            <a:r>
              <a:rPr lang="en-US" altLang="en-US" sz="1800" dirty="0" err="1">
                <a:latin typeface="Times New Roman" panose="02020603050405020304" pitchFamily="18" charset="0"/>
                <a:cs typeface="Times New Roman" panose="02020603050405020304" pitchFamily="18" charset="0"/>
              </a:rPr>
              <a:t>chính</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và</a:t>
            </a:r>
            <a:r>
              <a:rPr lang="en-US" altLang="en-US" sz="1800" dirty="0">
                <a:latin typeface="Times New Roman" panose="02020603050405020304" pitchFamily="18" charset="0"/>
                <a:cs typeface="Times New Roman" panose="02020603050405020304" pitchFamily="18" charset="0"/>
              </a:rPr>
              <a:t> Tài </a:t>
            </a:r>
            <a:r>
              <a:rPr lang="en-US" altLang="en-US" sz="1800" dirty="0" err="1">
                <a:latin typeface="Times New Roman" panose="02020603050405020304" pitchFamily="18" charset="0"/>
                <a:cs typeface="Times New Roman" panose="02020603050405020304" pitchFamily="18" charset="0"/>
              </a:rPr>
              <a:t>khoản</a:t>
            </a:r>
            <a:r>
              <a:rPr lang="en-US" altLang="en-US" sz="1800" dirty="0">
                <a:latin typeface="Times New Roman" panose="02020603050405020304" pitchFamily="18" charset="0"/>
                <a:cs typeface="Times New Roman" panose="02020603050405020304" pitchFamily="18" charset="0"/>
              </a:rPr>
              <a:t>.</a:t>
            </a:r>
          </a:p>
          <a:p>
            <a:endParaRPr lang="en-US" altLang="en-US" sz="1800" dirty="0">
              <a:latin typeface="Times New Roman" panose="02020603050405020304" pitchFamily="18" charset="0"/>
              <a:cs typeface="Times New Roman" panose="02020603050405020304" pitchFamily="18" charset="0"/>
            </a:endParaRPr>
          </a:p>
          <a:p>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Xâm</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phạm</a:t>
            </a:r>
            <a:r>
              <a:rPr lang="en-US" altLang="en-US" sz="1800" dirty="0">
                <a:latin typeface="Times New Roman" panose="02020603050405020304" pitchFamily="18" charset="0"/>
                <a:cs typeface="Times New Roman" panose="02020603050405020304" pitchFamily="18" charset="0"/>
              </a:rPr>
              <a:t> Quyền </a:t>
            </a:r>
            <a:r>
              <a:rPr lang="en-US" altLang="en-US" sz="1800" dirty="0" err="1">
                <a:latin typeface="Times New Roman" panose="02020603050405020304" pitchFamily="18" charset="0"/>
                <a:cs typeface="Times New Roman" panose="02020603050405020304" pitchFamily="18" charset="0"/>
              </a:rPr>
              <a:t>riêng</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tư</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và</a:t>
            </a:r>
            <a:r>
              <a:rPr lang="en-US" altLang="en-US" sz="1800" dirty="0">
                <a:latin typeface="Times New Roman" panose="02020603050405020304" pitchFamily="18" charset="0"/>
                <a:cs typeface="Times New Roman" panose="02020603050405020304" pitchFamily="18" charset="0"/>
              </a:rPr>
              <a:t> Lan </a:t>
            </a:r>
            <a:r>
              <a:rPr lang="en-US" altLang="en-US" sz="1800" dirty="0" err="1">
                <a:latin typeface="Times New Roman" panose="02020603050405020304" pitchFamily="18" charset="0"/>
                <a:cs typeface="Times New Roman" panose="02020603050405020304" pitchFamily="18" charset="0"/>
              </a:rPr>
              <a:t>truyền</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Mã</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độc</a:t>
            </a:r>
            <a:r>
              <a:rPr lang="en-US" altLang="en-US" sz="1800" dirty="0">
                <a:latin typeface="Times New Roman" panose="02020603050405020304" pitchFamily="18" charset="0"/>
                <a:cs typeface="Times New Roman" panose="02020603050405020304" pitchFamily="18" charset="0"/>
              </a:rPr>
              <a:t>.</a:t>
            </a:r>
          </a:p>
          <a:p>
            <a:endParaRPr lang="en-US" altLang="en-US" sz="1800" dirty="0">
              <a:latin typeface="Times New Roman" panose="02020603050405020304" pitchFamily="18" charset="0"/>
              <a:cs typeface="Times New Roman" panose="02020603050405020304" pitchFamily="18" charset="0"/>
            </a:endParaRPr>
          </a:p>
          <a:p>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Phá</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hoại</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và</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Làm</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suy</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yếu</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Hệ</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thống</a:t>
            </a:r>
            <a:r>
              <a:rPr lang="en-US" altLang="en-US" sz="1800" dirty="0">
                <a:latin typeface="Times New Roman" panose="02020603050405020304" pitchFamily="18" charset="0"/>
                <a:cs typeface="Times New Roman" panose="02020603050405020304" pitchFamily="18" charset="0"/>
              </a:rPr>
              <a:t>.</a:t>
            </a:r>
          </a:p>
          <a:p>
            <a:pPr indent="457200"/>
            <a:endParaRPr lang="en-US" altLang="en-US" sz="1800" dirty="0">
              <a:latin typeface="Times New Roman" panose="02020603050405020304" pitchFamily="18" charset="0"/>
              <a:cs typeface="Times New Roman" panose="02020603050405020304" pitchFamily="18" charset="0"/>
            </a:endParaRPr>
          </a:p>
        </p:txBody>
      </p:sp>
      <p:sp>
        <p:nvSpPr>
          <p:cNvPr id="3" name="Text Box 2"/>
          <p:cNvSpPr txBox="1"/>
          <p:nvPr/>
        </p:nvSpPr>
        <p:spPr>
          <a:xfrm>
            <a:off x="645795" y="1464310"/>
            <a:ext cx="8404860" cy="589280"/>
          </a:xfrm>
          <a:prstGeom prst="rect">
            <a:avLst/>
          </a:prstGeom>
          <a:noFill/>
        </p:spPr>
        <p:txBody>
          <a:bodyPr wrap="square" rtlCol="0">
            <a:noAutofit/>
          </a:bodyPr>
          <a:lstStyle/>
          <a:p>
            <a:r>
              <a:rPr lang="en-US" sz="2600" b="1">
                <a:solidFill>
                  <a:srgbClr val="FF0000"/>
                </a:solidFill>
                <a:latin typeface="Times New Roman" panose="02020603050405020304" pitchFamily="18" charset="0"/>
                <a:cs typeface="Times New Roman" panose="02020603050405020304" pitchFamily="18" charset="0"/>
                <a:sym typeface="+mn-ea"/>
              </a:rPr>
              <a:t>2. Cấu hình sai và thiếu cấu hình HTTP Security Headers</a:t>
            </a:r>
          </a:p>
        </p:txBody>
      </p:sp>
      <p:pic>
        <p:nvPicPr>
          <p:cNvPr id="6" name="Picture 5">
            <a:extLst>
              <a:ext uri="{FF2B5EF4-FFF2-40B4-BE49-F238E27FC236}">
                <a16:creationId xmlns:a16="http://schemas.microsoft.com/office/drawing/2014/main" id="{DE3584B1-FC26-2B93-9425-D901EAB3E354}"/>
              </a:ext>
            </a:extLst>
          </p:cNvPr>
          <p:cNvPicPr>
            <a:picLocks noChangeAspect="1"/>
          </p:cNvPicPr>
          <p:nvPr/>
        </p:nvPicPr>
        <p:blipFill>
          <a:blip r:embed="rId2"/>
          <a:stretch>
            <a:fillRect/>
          </a:stretch>
        </p:blipFill>
        <p:spPr>
          <a:xfrm>
            <a:off x="3911525" y="2315845"/>
            <a:ext cx="5139130" cy="3645074"/>
          </a:xfrm>
          <a:prstGeom prst="rect">
            <a:avLst/>
          </a:prstGeom>
        </p:spPr>
      </p:pic>
      <p:sp>
        <p:nvSpPr>
          <p:cNvPr id="4" name="Slide Number Placeholder 3">
            <a:extLst>
              <a:ext uri="{FF2B5EF4-FFF2-40B4-BE49-F238E27FC236}">
                <a16:creationId xmlns:a16="http://schemas.microsoft.com/office/drawing/2014/main" id="{9CB6FC0F-55F1-9B45-9B3F-86A1536196F1}"/>
              </a:ext>
            </a:extLst>
          </p:cNvPr>
          <p:cNvSpPr>
            <a:spLocks noGrp="1"/>
          </p:cNvSpPr>
          <p:nvPr>
            <p:ph type="sldNum" sz="quarter" idx="12"/>
          </p:nvPr>
        </p:nvSpPr>
        <p:spPr/>
        <p:txBody>
          <a:bodyPr/>
          <a:lstStyle/>
          <a:p>
            <a:pPr lvl="0" eaLnBrk="1" hangingPunct="1"/>
            <a:fld id="{9A0DB2DC-4C9A-4742-B13C-FB6460FD3503}" type="slidenum">
              <a:rPr lang="en-US" altLang="ja-JP" smtClean="0">
                <a:latin typeface="Arial" panose="020B0604020202020204" pitchFamily="34" charset="0"/>
              </a:rPr>
              <a:t>18</a:t>
            </a:fld>
            <a:endParaRPr lang="en-US" altLang="ja-JP"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17410">
                                            <p:txEl>
                                              <p:pRg st="0" end="0"/>
                                            </p:txEl>
                                          </p:spTgt>
                                        </p:tgtEl>
                                        <p:attrNameLst>
                                          <p:attrName>style.visibility</p:attrName>
                                        </p:attrNameLst>
                                      </p:cBhvr>
                                      <p:to>
                                        <p:strVal val="visible"/>
                                      </p:to>
                                    </p:set>
                                    <p:anim calcmode="lin" valueType="num">
                                      <p:cBhvr additive="base">
                                        <p:cTn id="7" dur="500"/>
                                        <p:tgtEl>
                                          <p:spTgt spid="17410">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17410">
                                            <p:txEl>
                                              <p:pRg st="0" end="0"/>
                                            </p:txEl>
                                          </p:spTgt>
                                        </p:tgtEl>
                                      </p:cBhvr>
                                    </p:animEffect>
                                  </p:childTnLst>
                                </p:cTn>
                              </p:par>
                              <p:par>
                                <p:cTn id="9" presetID="12" presetClass="entr" presetSubtype="4" fill="hold" nodeType="withEffect">
                                  <p:stCondLst>
                                    <p:cond delay="0"/>
                                  </p:stCondLst>
                                  <p:childTnLst>
                                    <p:set>
                                      <p:cBhvr>
                                        <p:cTn id="10" dur="1" fill="hold">
                                          <p:stCondLst>
                                            <p:cond delay="0"/>
                                          </p:stCondLst>
                                        </p:cTn>
                                        <p:tgtEl>
                                          <p:spTgt spid="17410">
                                            <p:txEl>
                                              <p:pRg st="1" end="1"/>
                                            </p:txEl>
                                          </p:spTgt>
                                        </p:tgtEl>
                                        <p:attrNameLst>
                                          <p:attrName>style.visibility</p:attrName>
                                        </p:attrNameLst>
                                      </p:cBhvr>
                                      <p:to>
                                        <p:strVal val="visible"/>
                                      </p:to>
                                    </p:set>
                                    <p:anim calcmode="lin" valueType="num">
                                      <p:cBhvr additive="base">
                                        <p:cTn id="11" dur="500"/>
                                        <p:tgtEl>
                                          <p:spTgt spid="17410">
                                            <p:txEl>
                                              <p:pRg st="1" end="1"/>
                                            </p:txEl>
                                          </p:spTgt>
                                        </p:tgtEl>
                                        <p:attrNameLst>
                                          <p:attrName>ppt_y</p:attrName>
                                        </p:attrNameLst>
                                      </p:cBhvr>
                                      <p:tavLst>
                                        <p:tav tm="0">
                                          <p:val>
                                            <p:strVal val="#ppt_y+#ppt_h*1.125000"/>
                                          </p:val>
                                        </p:tav>
                                        <p:tav tm="100000">
                                          <p:val>
                                            <p:strVal val="#ppt_y"/>
                                          </p:val>
                                        </p:tav>
                                      </p:tavLst>
                                    </p:anim>
                                    <p:animEffect transition="in" filter="wipe(up)">
                                      <p:cBhvr>
                                        <p:cTn id="12" dur="500"/>
                                        <p:tgtEl>
                                          <p:spTgt spid="17410">
                                            <p:txEl>
                                              <p:pRg st="1" end="1"/>
                                            </p:txEl>
                                          </p:spTgt>
                                        </p:tgtEl>
                                      </p:cBhvr>
                                    </p:animEffect>
                                  </p:childTnLst>
                                </p:cTn>
                              </p:par>
                              <p:par>
                                <p:cTn id="13" presetID="12" presetClass="entr" presetSubtype="4" fill="hold" nodeType="with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additive="base">
                                        <p:cTn id="15" dur="500"/>
                                        <p:tgtEl>
                                          <p:spTgt spid="3">
                                            <p:txEl>
                                              <p:pRg st="0" end="0"/>
                                            </p:txEl>
                                          </p:spTgt>
                                        </p:tgtEl>
                                        <p:attrNameLst>
                                          <p:attrName>ppt_y</p:attrName>
                                        </p:attrNameLst>
                                      </p:cBhvr>
                                      <p:tavLst>
                                        <p:tav tm="0">
                                          <p:val>
                                            <p:strVal val="#ppt_y+#ppt_h*1.125000"/>
                                          </p:val>
                                        </p:tav>
                                        <p:tav tm="100000">
                                          <p:val>
                                            <p:strVal val="#ppt_y"/>
                                          </p:val>
                                        </p:tav>
                                      </p:tavLst>
                                    </p:anim>
                                    <p:animEffect transition="in" filter="wipe(up)">
                                      <p:cBhvr>
                                        <p:cTn id="16"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テキスト ボックス 3"/>
          <p:cNvSpPr txBox="1"/>
          <p:nvPr/>
        </p:nvSpPr>
        <p:spPr>
          <a:xfrm>
            <a:off x="2181701" y="125730"/>
            <a:ext cx="5745480" cy="1076325"/>
          </a:xfrm>
          <a:prstGeom prst="rect">
            <a:avLst/>
          </a:prstGeom>
          <a:noFill/>
          <a:ln w="9525">
            <a:noFill/>
          </a:ln>
        </p:spPr>
        <p:txBody>
          <a:bodyPr wrap="none">
            <a:spAutoFit/>
          </a:bodyPr>
          <a:lstStyle/>
          <a:p>
            <a:pPr algn="ctr">
              <a:buNone/>
            </a:pPr>
            <a:r>
              <a:rPr lang="en-US" altLang="ja-JP" sz="3200" b="1" dirty="0">
                <a:solidFill>
                  <a:srgbClr val="FF0000"/>
                </a:solidFill>
                <a:latin typeface="Times New Roman" panose="02020603050405020304" pitchFamily="18" charset="0"/>
                <a:ea typeface="MS PGothic" panose="020B0600070205080204" pitchFamily="50" charset="-128"/>
                <a:sym typeface="+mn-ea"/>
              </a:rPr>
              <a:t>II. Cách thức tấn công </a:t>
            </a:r>
            <a:endParaRPr lang="en-US" altLang="ja-JP" sz="3200" b="1" dirty="0">
              <a:solidFill>
                <a:srgbClr val="FF0000"/>
              </a:solidFill>
              <a:latin typeface="Times New Roman" panose="02020603050405020304" pitchFamily="18" charset="0"/>
              <a:ea typeface="MS PGothic" panose="020B0600070205080204" pitchFamily="50" charset="-128"/>
            </a:endParaRPr>
          </a:p>
          <a:p>
            <a:pPr algn="ctr">
              <a:buNone/>
            </a:pPr>
            <a:r>
              <a:rPr lang="en-US" altLang="ja-JP" sz="3200" b="1" dirty="0">
                <a:solidFill>
                  <a:srgbClr val="FF0000"/>
                </a:solidFill>
                <a:latin typeface="Times New Roman" panose="02020603050405020304" pitchFamily="18" charset="0"/>
                <a:ea typeface="MS PGothic" panose="020B0600070205080204" pitchFamily="50" charset="-128"/>
                <a:sym typeface="+mn-ea"/>
              </a:rPr>
              <a:t>và cách phòng ngừa, ngăn chặn.</a:t>
            </a:r>
            <a:endParaRPr lang="ja-JP" altLang="en-US" sz="3200" b="1" dirty="0">
              <a:solidFill>
                <a:srgbClr val="FF0000"/>
              </a:solidFill>
              <a:latin typeface="Times New Roman" panose="02020603050405020304" pitchFamily="18" charset="0"/>
              <a:ea typeface="MS PGothic" panose="020B0600070205080204" pitchFamily="50" charset="-128"/>
            </a:endParaRPr>
          </a:p>
        </p:txBody>
      </p:sp>
      <p:sp>
        <p:nvSpPr>
          <p:cNvPr id="2" name="Text Box 1"/>
          <p:cNvSpPr txBox="1"/>
          <p:nvPr/>
        </p:nvSpPr>
        <p:spPr>
          <a:xfrm>
            <a:off x="263525" y="1906905"/>
            <a:ext cx="8608695" cy="4612005"/>
          </a:xfrm>
          <a:prstGeom prst="rect">
            <a:avLst/>
          </a:prstGeom>
          <a:noFill/>
        </p:spPr>
        <p:txBody>
          <a:bodyPr wrap="square" rtlCol="0">
            <a:noAutofit/>
          </a:bodyPr>
          <a:lstStyle/>
          <a:p>
            <a:r>
              <a:rPr lang="en-US" altLang="en-US" sz="2300" b="1">
                <a:latin typeface="Times New Roman" panose="02020603050405020304" pitchFamily="18" charset="0"/>
                <a:cs typeface="Times New Roman" panose="02020603050405020304" pitchFamily="18" charset="0"/>
                <a:sym typeface="+mn-ea"/>
              </a:rPr>
              <a:t>a</a:t>
            </a:r>
            <a:r>
              <a:rPr lang="en-US" altLang="en-US" sz="2300">
                <a:latin typeface="Times New Roman" panose="02020603050405020304" pitchFamily="18" charset="0"/>
                <a:cs typeface="Times New Roman" panose="02020603050405020304" pitchFamily="18" charset="0"/>
                <a:sym typeface="+mn-ea"/>
              </a:rPr>
              <a:t>. </a:t>
            </a:r>
            <a:r>
              <a:rPr lang="en-US" sz="2300" b="1">
                <a:latin typeface="Times New Roman" panose="02020603050405020304" pitchFamily="18" charset="0"/>
                <a:cs typeface="Times New Roman" panose="02020603050405020304" pitchFamily="18" charset="0"/>
                <a:sym typeface="+mn-ea"/>
              </a:rPr>
              <a:t>Tấn công clickjacking</a:t>
            </a:r>
          </a:p>
          <a:p>
            <a:r>
              <a:rPr lang="en-US" sz="2300" b="1">
                <a:latin typeface="Times New Roman" panose="02020603050405020304" pitchFamily="18" charset="0"/>
                <a:cs typeface="Times New Roman" panose="02020603050405020304" pitchFamily="18" charset="0"/>
              </a:rPr>
              <a:t>* Cách phòng ngừa và ngăn chặn </a:t>
            </a:r>
          </a:p>
          <a:p>
            <a:endParaRPr lang="en-US" sz="2100" b="1">
              <a:latin typeface="Times New Roman" panose="02020603050405020304" pitchFamily="18" charset="0"/>
              <a:cs typeface="Times New Roman" panose="02020603050405020304" pitchFamily="18" charset="0"/>
            </a:endParaRPr>
          </a:p>
          <a:p>
            <a:r>
              <a:rPr lang="en-US" altLang="en-US" sz="2100">
                <a:latin typeface="Times New Roman" panose="02020603050405020304" pitchFamily="18" charset="0"/>
                <a:cs typeface="Times New Roman" panose="02020603050405020304" pitchFamily="18" charset="0"/>
              </a:rPr>
              <a:t>- Biện pháp Bắt buộc (Sử dụng HTTP Security Headers)</a:t>
            </a:r>
          </a:p>
          <a:p>
            <a:pPr indent="457200"/>
            <a:r>
              <a:rPr lang="en-US" altLang="en-US" sz="2100">
                <a:latin typeface="Times New Roman" panose="02020603050405020304" pitchFamily="18" charset="0"/>
                <a:cs typeface="Times New Roman" panose="02020603050405020304" pitchFamily="18" charset="0"/>
                <a:sym typeface="+mn-ea"/>
              </a:rPr>
              <a:t>+ </a:t>
            </a:r>
            <a:r>
              <a:rPr lang="en-US" altLang="en-US" sz="2100" b="1">
                <a:latin typeface="Times New Roman" panose="02020603050405020304" pitchFamily="18" charset="0"/>
                <a:cs typeface="Times New Roman" panose="02020603050405020304" pitchFamily="18" charset="0"/>
                <a:sym typeface="+mn-ea"/>
              </a:rPr>
              <a:t>Content-Security-Policy: frame-ancestors 'none'</a:t>
            </a:r>
            <a:r>
              <a:rPr lang="en-US" altLang="en-US" sz="2100">
                <a:latin typeface="Times New Roman" panose="02020603050405020304" pitchFamily="18" charset="0"/>
                <a:cs typeface="Times New Roman" panose="02020603050405020304" pitchFamily="18" charset="0"/>
                <a:sym typeface="+mn-ea"/>
              </a:rPr>
              <a:t> : Ngăn chặn tuyệt đối việc bất kỳ domain nào nhúng trang web</a:t>
            </a:r>
            <a:endParaRPr lang="en-US" altLang="en-US" sz="2100">
              <a:latin typeface="Times New Roman" panose="02020603050405020304" pitchFamily="18" charset="0"/>
              <a:cs typeface="Times New Roman" panose="02020603050405020304" pitchFamily="18" charset="0"/>
            </a:endParaRPr>
          </a:p>
          <a:p>
            <a:pPr indent="457200"/>
            <a:endParaRPr lang="en-US" altLang="en-US" sz="2100">
              <a:latin typeface="Times New Roman" panose="02020603050405020304" pitchFamily="18" charset="0"/>
              <a:cs typeface="Times New Roman" panose="02020603050405020304" pitchFamily="18" charset="0"/>
            </a:endParaRPr>
          </a:p>
          <a:p>
            <a:pPr indent="457200"/>
            <a:r>
              <a:rPr lang="en-US" altLang="en-US" sz="2100">
                <a:latin typeface="Times New Roman" panose="02020603050405020304" pitchFamily="18" charset="0"/>
                <a:cs typeface="Times New Roman" panose="02020603050405020304" pitchFamily="18" charset="0"/>
                <a:sym typeface="+mn-ea"/>
              </a:rPr>
              <a:t>+ </a:t>
            </a:r>
            <a:r>
              <a:rPr lang="en-US" altLang="en-US" sz="2100" b="1">
                <a:latin typeface="Times New Roman" panose="02020603050405020304" pitchFamily="18" charset="0"/>
                <a:cs typeface="Times New Roman" panose="02020603050405020304" pitchFamily="18" charset="0"/>
                <a:sym typeface="+mn-ea"/>
              </a:rPr>
              <a:t>X-Frame-Options: DENY: </a:t>
            </a:r>
            <a:r>
              <a:rPr lang="en-US" altLang="en-US" sz="2100">
                <a:latin typeface="Times New Roman" panose="02020603050405020304" pitchFamily="18" charset="0"/>
                <a:cs typeface="Times New Roman" panose="02020603050405020304" pitchFamily="18" charset="0"/>
                <a:sym typeface="+mn-ea"/>
              </a:rPr>
              <a:t>Ngăn chặn mọi domain nhúng trang web (kể cả domain của bạn).</a:t>
            </a:r>
            <a:endParaRPr lang="en-US" altLang="en-US" sz="2100">
              <a:latin typeface="Times New Roman" panose="02020603050405020304" pitchFamily="18" charset="0"/>
              <a:cs typeface="Times New Roman" panose="02020603050405020304" pitchFamily="18" charset="0"/>
            </a:endParaRPr>
          </a:p>
          <a:p>
            <a:pPr indent="457200"/>
            <a:endParaRPr lang="en-US" altLang="en-US" sz="2100">
              <a:latin typeface="Times New Roman" panose="02020603050405020304" pitchFamily="18" charset="0"/>
              <a:cs typeface="Times New Roman" panose="02020603050405020304" pitchFamily="18" charset="0"/>
            </a:endParaRPr>
          </a:p>
          <a:p>
            <a:pPr indent="457200"/>
            <a:r>
              <a:rPr lang="en-US" altLang="en-US" sz="2100">
                <a:latin typeface="Times New Roman" panose="02020603050405020304" pitchFamily="18" charset="0"/>
                <a:cs typeface="Times New Roman" panose="02020603050405020304" pitchFamily="18" charset="0"/>
                <a:sym typeface="+mn-ea"/>
              </a:rPr>
              <a:t>+ </a:t>
            </a:r>
            <a:r>
              <a:rPr lang="en-US" altLang="en-US" sz="2100" b="1">
                <a:latin typeface="Times New Roman" panose="02020603050405020304" pitchFamily="18" charset="0"/>
                <a:cs typeface="Times New Roman" panose="02020603050405020304" pitchFamily="18" charset="0"/>
                <a:sym typeface="+mn-ea"/>
              </a:rPr>
              <a:t>X-Frame-Options: SAMEORIGIN: </a:t>
            </a:r>
            <a:r>
              <a:rPr lang="en-US" altLang="en-US" sz="2100">
                <a:latin typeface="Times New Roman" panose="02020603050405020304" pitchFamily="18" charset="0"/>
                <a:cs typeface="Times New Roman" panose="02020603050405020304" pitchFamily="18" charset="0"/>
                <a:sym typeface="+mn-ea"/>
              </a:rPr>
              <a:t>Cho phép trang web của bạn chỉ được nhúng vào frame bởi các trang nằm trên cùng một tên miền (same origin).</a:t>
            </a:r>
            <a:endParaRPr lang="en-US" altLang="en-US" sz="2100">
              <a:latin typeface="Times New Roman" panose="02020603050405020304" pitchFamily="18" charset="0"/>
              <a:cs typeface="Times New Roman" panose="02020603050405020304" pitchFamily="18" charset="0"/>
            </a:endParaRPr>
          </a:p>
          <a:p>
            <a:endParaRPr lang="en-US" altLang="en-US" sz="1800">
              <a:latin typeface="Times New Roman" panose="02020603050405020304" pitchFamily="18" charset="0"/>
              <a:cs typeface="Times New Roman" panose="02020603050405020304" pitchFamily="18" charset="0"/>
            </a:endParaRPr>
          </a:p>
          <a:p>
            <a:pPr indent="457200"/>
            <a:endParaRPr lang="en-US" altLang="en-US" sz="1800">
              <a:latin typeface="Times New Roman" panose="02020603050405020304" pitchFamily="18" charset="0"/>
              <a:cs typeface="Times New Roman" panose="02020603050405020304" pitchFamily="18" charset="0"/>
            </a:endParaRPr>
          </a:p>
        </p:txBody>
      </p:sp>
      <p:sp>
        <p:nvSpPr>
          <p:cNvPr id="3" name="Text Box 2"/>
          <p:cNvSpPr txBox="1"/>
          <p:nvPr/>
        </p:nvSpPr>
        <p:spPr>
          <a:xfrm>
            <a:off x="645795" y="1464310"/>
            <a:ext cx="8404860" cy="589280"/>
          </a:xfrm>
          <a:prstGeom prst="rect">
            <a:avLst/>
          </a:prstGeom>
          <a:noFill/>
        </p:spPr>
        <p:txBody>
          <a:bodyPr wrap="square" rtlCol="0">
            <a:noAutofit/>
          </a:bodyPr>
          <a:lstStyle/>
          <a:p>
            <a:r>
              <a:rPr lang="en-US" sz="2600" b="1">
                <a:solidFill>
                  <a:srgbClr val="FF0000"/>
                </a:solidFill>
                <a:latin typeface="Times New Roman" panose="02020603050405020304" pitchFamily="18" charset="0"/>
                <a:cs typeface="Times New Roman" panose="02020603050405020304" pitchFamily="18" charset="0"/>
                <a:sym typeface="+mn-ea"/>
              </a:rPr>
              <a:t>2. Cấu hình sai và thiếu cấu hình HTTP Security Headers</a:t>
            </a:r>
          </a:p>
        </p:txBody>
      </p:sp>
      <p:sp>
        <p:nvSpPr>
          <p:cNvPr id="4" name="Slide Number Placeholder 3">
            <a:extLst>
              <a:ext uri="{FF2B5EF4-FFF2-40B4-BE49-F238E27FC236}">
                <a16:creationId xmlns:a16="http://schemas.microsoft.com/office/drawing/2014/main" id="{59892BD0-2005-FC4B-1CE6-C3569583AA4C}"/>
              </a:ext>
            </a:extLst>
          </p:cNvPr>
          <p:cNvSpPr>
            <a:spLocks noGrp="1"/>
          </p:cNvSpPr>
          <p:nvPr>
            <p:ph type="sldNum" sz="quarter" idx="12"/>
          </p:nvPr>
        </p:nvSpPr>
        <p:spPr/>
        <p:txBody>
          <a:bodyPr/>
          <a:lstStyle/>
          <a:p>
            <a:pPr lvl="0" eaLnBrk="1" hangingPunct="1"/>
            <a:fld id="{9A0DB2DC-4C9A-4742-B13C-FB6460FD3503}" type="slidenum">
              <a:rPr lang="en-US" altLang="ja-JP" smtClean="0">
                <a:latin typeface="Arial" panose="020B0604020202020204" pitchFamily="34" charset="0"/>
              </a:rPr>
              <a:t>19</a:t>
            </a:fld>
            <a:endParaRPr lang="en-US" altLang="ja-JP"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17410">
                                            <p:txEl>
                                              <p:pRg st="0" end="0"/>
                                            </p:txEl>
                                          </p:spTgt>
                                        </p:tgtEl>
                                        <p:attrNameLst>
                                          <p:attrName>style.visibility</p:attrName>
                                        </p:attrNameLst>
                                      </p:cBhvr>
                                      <p:to>
                                        <p:strVal val="visible"/>
                                      </p:to>
                                    </p:set>
                                    <p:anim calcmode="lin" valueType="num">
                                      <p:cBhvr additive="base">
                                        <p:cTn id="7" dur="500"/>
                                        <p:tgtEl>
                                          <p:spTgt spid="17410">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17410">
                                            <p:txEl>
                                              <p:pRg st="0" end="0"/>
                                            </p:txEl>
                                          </p:spTgt>
                                        </p:tgtEl>
                                      </p:cBhvr>
                                    </p:animEffect>
                                  </p:childTnLst>
                                </p:cTn>
                              </p:par>
                              <p:par>
                                <p:cTn id="9" presetID="12" presetClass="entr" presetSubtype="4" fill="hold" nodeType="withEffect">
                                  <p:stCondLst>
                                    <p:cond delay="0"/>
                                  </p:stCondLst>
                                  <p:childTnLst>
                                    <p:set>
                                      <p:cBhvr>
                                        <p:cTn id="10" dur="1" fill="hold">
                                          <p:stCondLst>
                                            <p:cond delay="0"/>
                                          </p:stCondLst>
                                        </p:cTn>
                                        <p:tgtEl>
                                          <p:spTgt spid="17410">
                                            <p:txEl>
                                              <p:pRg st="1" end="1"/>
                                            </p:txEl>
                                          </p:spTgt>
                                        </p:tgtEl>
                                        <p:attrNameLst>
                                          <p:attrName>style.visibility</p:attrName>
                                        </p:attrNameLst>
                                      </p:cBhvr>
                                      <p:to>
                                        <p:strVal val="visible"/>
                                      </p:to>
                                    </p:set>
                                    <p:anim calcmode="lin" valueType="num">
                                      <p:cBhvr additive="base">
                                        <p:cTn id="11" dur="500"/>
                                        <p:tgtEl>
                                          <p:spTgt spid="17410">
                                            <p:txEl>
                                              <p:pRg st="1" end="1"/>
                                            </p:txEl>
                                          </p:spTgt>
                                        </p:tgtEl>
                                        <p:attrNameLst>
                                          <p:attrName>ppt_y</p:attrName>
                                        </p:attrNameLst>
                                      </p:cBhvr>
                                      <p:tavLst>
                                        <p:tav tm="0">
                                          <p:val>
                                            <p:strVal val="#ppt_y+#ppt_h*1.125000"/>
                                          </p:val>
                                        </p:tav>
                                        <p:tav tm="100000">
                                          <p:val>
                                            <p:strVal val="#ppt_y"/>
                                          </p:val>
                                        </p:tav>
                                      </p:tavLst>
                                    </p:anim>
                                    <p:animEffect transition="in" filter="wipe(up)">
                                      <p:cBhvr>
                                        <p:cTn id="12" dur="500"/>
                                        <p:tgtEl>
                                          <p:spTgt spid="17410">
                                            <p:txEl>
                                              <p:pRg st="1" end="1"/>
                                            </p:txEl>
                                          </p:spTgt>
                                        </p:tgtEl>
                                      </p:cBhvr>
                                    </p:animEffect>
                                  </p:childTnLst>
                                </p:cTn>
                              </p:par>
                              <p:par>
                                <p:cTn id="13" presetID="12" presetClass="entr" presetSubtype="4" fill="hold" nodeType="with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additive="base">
                                        <p:cTn id="15" dur="500"/>
                                        <p:tgtEl>
                                          <p:spTgt spid="3">
                                            <p:txEl>
                                              <p:pRg st="0" end="0"/>
                                            </p:txEl>
                                          </p:spTgt>
                                        </p:tgtEl>
                                        <p:attrNameLst>
                                          <p:attrName>ppt_y</p:attrName>
                                        </p:attrNameLst>
                                      </p:cBhvr>
                                      <p:tavLst>
                                        <p:tav tm="0">
                                          <p:val>
                                            <p:strVal val="#ppt_y+#ppt_h*1.125000"/>
                                          </p:val>
                                        </p:tav>
                                        <p:tav tm="100000">
                                          <p:val>
                                            <p:strVal val="#ppt_y"/>
                                          </p:val>
                                        </p:tav>
                                      </p:tavLst>
                                    </p:anim>
                                    <p:animEffect transition="in" filter="wipe(up)">
                                      <p:cBhvr>
                                        <p:cTn id="16"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テキスト ボックス 3"/>
          <p:cNvSpPr txBox="1"/>
          <p:nvPr/>
        </p:nvSpPr>
        <p:spPr>
          <a:xfrm>
            <a:off x="2181701" y="125730"/>
            <a:ext cx="5745480" cy="1076325"/>
          </a:xfrm>
          <a:prstGeom prst="rect">
            <a:avLst/>
          </a:prstGeom>
          <a:noFill/>
          <a:ln w="9525">
            <a:noFill/>
          </a:ln>
        </p:spPr>
        <p:txBody>
          <a:bodyPr wrap="none">
            <a:spAutoFit/>
          </a:bodyPr>
          <a:lstStyle/>
          <a:p>
            <a:pPr algn="ctr">
              <a:buNone/>
            </a:pPr>
            <a:r>
              <a:rPr lang="en-US" altLang="ja-JP" sz="3200" b="1" dirty="0">
                <a:solidFill>
                  <a:srgbClr val="FF0000"/>
                </a:solidFill>
                <a:latin typeface="Times New Roman" panose="02020603050405020304" pitchFamily="18" charset="0"/>
                <a:ea typeface="MS PGothic" panose="020B0600070205080204" pitchFamily="50" charset="-128"/>
                <a:sym typeface="+mn-ea"/>
              </a:rPr>
              <a:t>II. Cách thức tấn công </a:t>
            </a:r>
            <a:endParaRPr lang="en-US" altLang="ja-JP" sz="3200" b="1" dirty="0">
              <a:solidFill>
                <a:srgbClr val="FF0000"/>
              </a:solidFill>
              <a:latin typeface="Times New Roman" panose="02020603050405020304" pitchFamily="18" charset="0"/>
              <a:ea typeface="MS PGothic" panose="020B0600070205080204" pitchFamily="50" charset="-128"/>
            </a:endParaRPr>
          </a:p>
          <a:p>
            <a:pPr algn="ctr">
              <a:buNone/>
            </a:pPr>
            <a:r>
              <a:rPr lang="en-US" altLang="ja-JP" sz="3200" b="1" dirty="0">
                <a:solidFill>
                  <a:srgbClr val="FF0000"/>
                </a:solidFill>
                <a:latin typeface="Times New Roman" panose="02020603050405020304" pitchFamily="18" charset="0"/>
                <a:ea typeface="MS PGothic" panose="020B0600070205080204" pitchFamily="50" charset="-128"/>
                <a:sym typeface="+mn-ea"/>
              </a:rPr>
              <a:t>và cách phòng ngừa, ngăn chặn.</a:t>
            </a:r>
            <a:endParaRPr lang="ja-JP" altLang="en-US" sz="3200" b="1" dirty="0">
              <a:solidFill>
                <a:srgbClr val="FF0000"/>
              </a:solidFill>
              <a:latin typeface="Times New Roman" panose="02020603050405020304" pitchFamily="18" charset="0"/>
              <a:ea typeface="MS PGothic" panose="020B0600070205080204" pitchFamily="50" charset="-128"/>
            </a:endParaRPr>
          </a:p>
        </p:txBody>
      </p:sp>
      <p:sp>
        <p:nvSpPr>
          <p:cNvPr id="2" name="Text Box 1"/>
          <p:cNvSpPr txBox="1"/>
          <p:nvPr/>
        </p:nvSpPr>
        <p:spPr>
          <a:xfrm>
            <a:off x="263525" y="1906905"/>
            <a:ext cx="8608695" cy="4432935"/>
          </a:xfrm>
          <a:prstGeom prst="rect">
            <a:avLst/>
          </a:prstGeom>
          <a:noFill/>
        </p:spPr>
        <p:txBody>
          <a:bodyPr wrap="square" rtlCol="0">
            <a:noAutofit/>
          </a:bodyPr>
          <a:lstStyle/>
          <a:p>
            <a:r>
              <a:rPr lang="en-US" altLang="en-US" sz="2300" b="1" dirty="0">
                <a:latin typeface="Times New Roman" panose="02020603050405020304" pitchFamily="18" charset="0"/>
                <a:cs typeface="Times New Roman" panose="02020603050405020304" pitchFamily="18" charset="0"/>
                <a:sym typeface="+mn-ea"/>
              </a:rPr>
              <a:t>a. </a:t>
            </a:r>
            <a:r>
              <a:rPr lang="en-US" sz="2300" b="1" dirty="0" err="1">
                <a:latin typeface="Times New Roman" panose="02020603050405020304" pitchFamily="18" charset="0"/>
                <a:cs typeface="Times New Roman" panose="02020603050405020304" pitchFamily="18" charset="0"/>
                <a:sym typeface="+mn-ea"/>
              </a:rPr>
              <a:t>Tấn</a:t>
            </a:r>
            <a:r>
              <a:rPr lang="en-US" sz="2300" b="1" dirty="0">
                <a:latin typeface="Times New Roman" panose="02020603050405020304" pitchFamily="18" charset="0"/>
                <a:cs typeface="Times New Roman" panose="02020603050405020304" pitchFamily="18" charset="0"/>
                <a:sym typeface="+mn-ea"/>
              </a:rPr>
              <a:t> </a:t>
            </a:r>
            <a:r>
              <a:rPr lang="en-US" sz="2300" b="1" dirty="0" err="1">
                <a:latin typeface="Times New Roman" panose="02020603050405020304" pitchFamily="18" charset="0"/>
                <a:cs typeface="Times New Roman" panose="02020603050405020304" pitchFamily="18" charset="0"/>
                <a:sym typeface="+mn-ea"/>
              </a:rPr>
              <a:t>công</a:t>
            </a:r>
            <a:r>
              <a:rPr lang="en-US" sz="2300" b="1" dirty="0">
                <a:latin typeface="Times New Roman" panose="02020603050405020304" pitchFamily="18" charset="0"/>
                <a:cs typeface="Times New Roman" panose="02020603050405020304" pitchFamily="18" charset="0"/>
                <a:sym typeface="+mn-ea"/>
              </a:rPr>
              <a:t> clickjacking</a:t>
            </a:r>
          </a:p>
          <a:p>
            <a:r>
              <a:rPr lang="en-US" sz="2300" b="1" dirty="0">
                <a:latin typeface="Times New Roman" panose="02020603050405020304" pitchFamily="18" charset="0"/>
                <a:cs typeface="Times New Roman" panose="02020603050405020304" pitchFamily="18" charset="0"/>
                <a:sym typeface="+mn-ea"/>
              </a:rPr>
              <a:t>* </a:t>
            </a:r>
            <a:r>
              <a:rPr lang="en-US" sz="2300" b="1" dirty="0" err="1">
                <a:latin typeface="Times New Roman" panose="02020603050405020304" pitchFamily="18" charset="0"/>
                <a:cs typeface="Times New Roman" panose="02020603050405020304" pitchFamily="18" charset="0"/>
                <a:sym typeface="+mn-ea"/>
              </a:rPr>
              <a:t>Cách</a:t>
            </a:r>
            <a:r>
              <a:rPr lang="en-US" sz="2300" b="1" dirty="0">
                <a:latin typeface="Times New Roman" panose="02020603050405020304" pitchFamily="18" charset="0"/>
                <a:cs typeface="Times New Roman" panose="02020603050405020304" pitchFamily="18" charset="0"/>
                <a:sym typeface="+mn-ea"/>
              </a:rPr>
              <a:t> </a:t>
            </a:r>
            <a:r>
              <a:rPr lang="en-US" sz="2300" b="1" dirty="0" err="1">
                <a:latin typeface="Times New Roman" panose="02020603050405020304" pitchFamily="18" charset="0"/>
                <a:cs typeface="Times New Roman" panose="02020603050405020304" pitchFamily="18" charset="0"/>
                <a:sym typeface="+mn-ea"/>
              </a:rPr>
              <a:t>phòng</a:t>
            </a:r>
            <a:r>
              <a:rPr lang="en-US" sz="2300" b="1" dirty="0">
                <a:latin typeface="Times New Roman" panose="02020603050405020304" pitchFamily="18" charset="0"/>
                <a:cs typeface="Times New Roman" panose="02020603050405020304" pitchFamily="18" charset="0"/>
                <a:sym typeface="+mn-ea"/>
              </a:rPr>
              <a:t> </a:t>
            </a:r>
            <a:r>
              <a:rPr lang="en-US" sz="2300" b="1" dirty="0" err="1">
                <a:latin typeface="Times New Roman" panose="02020603050405020304" pitchFamily="18" charset="0"/>
                <a:cs typeface="Times New Roman" panose="02020603050405020304" pitchFamily="18" charset="0"/>
                <a:sym typeface="+mn-ea"/>
              </a:rPr>
              <a:t>ngừa</a:t>
            </a:r>
            <a:r>
              <a:rPr lang="en-US" sz="2300" b="1" dirty="0">
                <a:latin typeface="Times New Roman" panose="02020603050405020304" pitchFamily="18" charset="0"/>
                <a:cs typeface="Times New Roman" panose="02020603050405020304" pitchFamily="18" charset="0"/>
                <a:sym typeface="+mn-ea"/>
              </a:rPr>
              <a:t> </a:t>
            </a:r>
            <a:r>
              <a:rPr lang="en-US" sz="2300" b="1" dirty="0" err="1">
                <a:latin typeface="Times New Roman" panose="02020603050405020304" pitchFamily="18" charset="0"/>
                <a:cs typeface="Times New Roman" panose="02020603050405020304" pitchFamily="18" charset="0"/>
                <a:sym typeface="+mn-ea"/>
              </a:rPr>
              <a:t>và</a:t>
            </a:r>
            <a:r>
              <a:rPr lang="en-US" sz="2300" b="1" dirty="0">
                <a:latin typeface="Times New Roman" panose="02020603050405020304" pitchFamily="18" charset="0"/>
                <a:cs typeface="Times New Roman" panose="02020603050405020304" pitchFamily="18" charset="0"/>
                <a:sym typeface="+mn-ea"/>
              </a:rPr>
              <a:t> </a:t>
            </a:r>
            <a:r>
              <a:rPr lang="en-US" sz="2300" b="1" dirty="0" err="1">
                <a:latin typeface="Times New Roman" panose="02020603050405020304" pitchFamily="18" charset="0"/>
                <a:cs typeface="Times New Roman" panose="02020603050405020304" pitchFamily="18" charset="0"/>
                <a:sym typeface="+mn-ea"/>
              </a:rPr>
              <a:t>ngăn</a:t>
            </a:r>
            <a:r>
              <a:rPr lang="en-US" sz="2300" b="1" dirty="0">
                <a:latin typeface="Times New Roman" panose="02020603050405020304" pitchFamily="18" charset="0"/>
                <a:cs typeface="Times New Roman" panose="02020603050405020304" pitchFamily="18" charset="0"/>
                <a:sym typeface="+mn-ea"/>
              </a:rPr>
              <a:t> </a:t>
            </a:r>
            <a:r>
              <a:rPr lang="en-US" sz="2300" b="1" dirty="0" err="1">
                <a:latin typeface="Times New Roman" panose="02020603050405020304" pitchFamily="18" charset="0"/>
                <a:cs typeface="Times New Roman" panose="02020603050405020304" pitchFamily="18" charset="0"/>
                <a:sym typeface="+mn-ea"/>
              </a:rPr>
              <a:t>chặn</a:t>
            </a:r>
            <a:r>
              <a:rPr lang="en-US" sz="2300" b="1" dirty="0">
                <a:latin typeface="Times New Roman" panose="02020603050405020304" pitchFamily="18" charset="0"/>
                <a:cs typeface="Times New Roman" panose="02020603050405020304" pitchFamily="18" charset="0"/>
                <a:sym typeface="+mn-ea"/>
              </a:rPr>
              <a:t> </a:t>
            </a:r>
          </a:p>
          <a:p>
            <a:endParaRPr lang="en-US" sz="2100" b="1" dirty="0">
              <a:latin typeface="Times New Roman" panose="02020603050405020304" pitchFamily="18" charset="0"/>
              <a:cs typeface="Times New Roman" panose="02020603050405020304" pitchFamily="18" charset="0"/>
            </a:endParaRPr>
          </a:p>
          <a:p>
            <a:r>
              <a:rPr 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Cách</a:t>
            </a:r>
            <a:r>
              <a:rPr lang="en-US" alt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hiệu</a:t>
            </a:r>
            <a:r>
              <a:rPr lang="en-US" alt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quả</a:t>
            </a:r>
            <a:r>
              <a:rPr lang="en-US" alt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nhất</a:t>
            </a:r>
            <a:r>
              <a:rPr lang="en-US" alt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để</a:t>
            </a:r>
            <a:r>
              <a:rPr lang="en-US" alt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ngăn</a:t>
            </a:r>
            <a:r>
              <a:rPr lang="en-US" alt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chặn</a:t>
            </a:r>
            <a:r>
              <a:rPr lang="en-US" altLang="en-US" sz="2100" dirty="0">
                <a:latin typeface="Times New Roman" panose="02020603050405020304" pitchFamily="18" charset="0"/>
                <a:cs typeface="Times New Roman" panose="02020603050405020304" pitchFamily="18" charset="0"/>
                <a:sym typeface="+mn-ea"/>
              </a:rPr>
              <a:t> Clickjacking </a:t>
            </a:r>
            <a:r>
              <a:rPr lang="en-US" altLang="en-US" sz="2100" dirty="0" err="1">
                <a:latin typeface="Times New Roman" panose="02020603050405020304" pitchFamily="18" charset="0"/>
                <a:cs typeface="Times New Roman" panose="02020603050405020304" pitchFamily="18" charset="0"/>
                <a:sym typeface="+mn-ea"/>
              </a:rPr>
              <a:t>là</a:t>
            </a:r>
            <a:r>
              <a:rPr lang="en-US" alt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kiểm</a:t>
            </a:r>
            <a:r>
              <a:rPr lang="en-US" alt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soát</a:t>
            </a:r>
            <a:r>
              <a:rPr lang="en-US" alt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khả</a:t>
            </a:r>
            <a:r>
              <a:rPr lang="en-US" alt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năng</a:t>
            </a:r>
            <a:r>
              <a:rPr lang="en-US" alt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trang</a:t>
            </a:r>
            <a:r>
              <a:rPr lang="en-US" altLang="en-US" sz="2100" dirty="0">
                <a:latin typeface="Times New Roman" panose="02020603050405020304" pitchFamily="18" charset="0"/>
                <a:cs typeface="Times New Roman" panose="02020603050405020304" pitchFamily="18" charset="0"/>
                <a:sym typeface="+mn-ea"/>
              </a:rPr>
              <a:t> web </a:t>
            </a:r>
            <a:r>
              <a:rPr lang="en-US" altLang="en-US" sz="2100" dirty="0" err="1">
                <a:latin typeface="Times New Roman" panose="02020603050405020304" pitchFamily="18" charset="0"/>
                <a:cs typeface="Times New Roman" panose="02020603050405020304" pitchFamily="18" charset="0"/>
                <a:sym typeface="+mn-ea"/>
              </a:rPr>
              <a:t>nhúng</a:t>
            </a:r>
            <a:r>
              <a:rPr lang="en-US" alt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vào</a:t>
            </a:r>
            <a:r>
              <a:rPr lang="en-US" altLang="en-US" sz="2100" dirty="0">
                <a:latin typeface="Times New Roman" panose="02020603050405020304" pitchFamily="18" charset="0"/>
                <a:cs typeface="Times New Roman" panose="02020603050405020304" pitchFamily="18" charset="0"/>
                <a:sym typeface="+mn-ea"/>
              </a:rPr>
              <a:t> frame </a:t>
            </a:r>
            <a:r>
              <a:rPr lang="en-US" altLang="en-US" sz="2100" dirty="0" err="1">
                <a:latin typeface="Times New Roman" panose="02020603050405020304" pitchFamily="18" charset="0"/>
                <a:cs typeface="Times New Roman" panose="02020603050405020304" pitchFamily="18" charset="0"/>
                <a:sym typeface="+mn-ea"/>
              </a:rPr>
              <a:t>của</a:t>
            </a:r>
            <a:r>
              <a:rPr lang="en-US" alt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các</a:t>
            </a:r>
            <a:r>
              <a:rPr lang="en-US" alt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trang</a:t>
            </a:r>
            <a:r>
              <a:rPr lang="en-US" altLang="en-US" sz="2100" dirty="0">
                <a:latin typeface="Times New Roman" panose="02020603050405020304" pitchFamily="18" charset="0"/>
                <a:cs typeface="Times New Roman" panose="02020603050405020304" pitchFamily="18" charset="0"/>
                <a:sym typeface="+mn-ea"/>
              </a:rPr>
              <a:t> web </a:t>
            </a:r>
            <a:r>
              <a:rPr lang="en-US" altLang="en-US" sz="2100" dirty="0" err="1">
                <a:latin typeface="Times New Roman" panose="02020603050405020304" pitchFamily="18" charset="0"/>
                <a:cs typeface="Times New Roman" panose="02020603050405020304" pitchFamily="18" charset="0"/>
                <a:sym typeface="+mn-ea"/>
              </a:rPr>
              <a:t>khác</a:t>
            </a:r>
            <a:endParaRPr lang="en-US" altLang="en-US" sz="2100" dirty="0">
              <a:latin typeface="Times New Roman" panose="02020603050405020304" pitchFamily="18" charset="0"/>
              <a:cs typeface="Times New Roman" panose="02020603050405020304" pitchFamily="18" charset="0"/>
              <a:sym typeface="+mn-ea"/>
            </a:endParaRPr>
          </a:p>
          <a:p>
            <a:endParaRPr lang="en-US" altLang="en-US" sz="2100" dirty="0">
              <a:latin typeface="Times New Roman" panose="02020603050405020304" pitchFamily="18" charset="0"/>
              <a:cs typeface="Times New Roman" panose="02020603050405020304" pitchFamily="18" charset="0"/>
              <a:sym typeface="+mn-ea"/>
            </a:endParaRPr>
          </a:p>
          <a:p>
            <a:r>
              <a:rPr lang="en-US" alt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Nâng</a:t>
            </a:r>
            <a:r>
              <a:rPr lang="en-US" alt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cao</a:t>
            </a:r>
            <a:r>
              <a:rPr lang="en-US" alt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nhận</a:t>
            </a:r>
            <a:r>
              <a:rPr lang="en-US" alt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thức</a:t>
            </a:r>
            <a:r>
              <a:rPr lang="en-US" alt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người</a:t>
            </a:r>
            <a:r>
              <a:rPr lang="en-US" alt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dùng</a:t>
            </a:r>
            <a:r>
              <a:rPr lang="en-US" alt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là</a:t>
            </a:r>
            <a:r>
              <a:rPr lang="en-US" alt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lớp</a:t>
            </a:r>
            <a:r>
              <a:rPr lang="en-US" alt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phòng</a:t>
            </a:r>
            <a:r>
              <a:rPr lang="en-US" alt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thủ</a:t>
            </a:r>
            <a:r>
              <a:rPr lang="en-US" alt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quan</a:t>
            </a:r>
            <a:r>
              <a:rPr lang="en-US" alt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trọng</a:t>
            </a:r>
            <a:r>
              <a:rPr lang="en-US" alt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nhất</a:t>
            </a:r>
            <a:r>
              <a:rPr lang="en-US" alt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Người</a:t>
            </a:r>
            <a:r>
              <a:rPr lang="en-US" alt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dùng</a:t>
            </a:r>
            <a:r>
              <a:rPr lang="en-US" alt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cần</a:t>
            </a:r>
            <a:r>
              <a:rPr lang="en-US" alt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cảnh</a:t>
            </a:r>
            <a:r>
              <a:rPr lang="en-US" alt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giác</a:t>
            </a:r>
            <a:r>
              <a:rPr lang="en-US" alt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với</a:t>
            </a:r>
            <a:r>
              <a:rPr lang="en-US" alt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các</a:t>
            </a:r>
            <a:r>
              <a:rPr lang="en-US" alt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mồi</a:t>
            </a:r>
            <a:r>
              <a:rPr lang="en-US" alt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nhử</a:t>
            </a:r>
            <a:r>
              <a:rPr lang="en-US" altLang="en-US" sz="2100" dirty="0">
                <a:latin typeface="Times New Roman" panose="02020603050405020304" pitchFamily="18" charset="0"/>
                <a:cs typeface="Times New Roman" panose="02020603050405020304" pitchFamily="18" charset="0"/>
                <a:sym typeface="+mn-ea"/>
              </a:rPr>
              <a:t> "clickbait" </a:t>
            </a:r>
            <a:r>
              <a:rPr lang="en-US" altLang="en-US" sz="2100" dirty="0" err="1">
                <a:latin typeface="Times New Roman" panose="02020603050405020304" pitchFamily="18" charset="0"/>
                <a:cs typeface="Times New Roman" panose="02020603050405020304" pitchFamily="18" charset="0"/>
                <a:sym typeface="+mn-ea"/>
              </a:rPr>
              <a:t>để</a:t>
            </a:r>
            <a:r>
              <a:rPr lang="en-US" alt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tránh</a:t>
            </a:r>
            <a:r>
              <a:rPr lang="en-US" alt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vô</a:t>
            </a:r>
            <a:r>
              <a:rPr lang="en-US" alt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tình</a:t>
            </a:r>
            <a:r>
              <a:rPr lang="en-US" alt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kích</a:t>
            </a:r>
            <a:r>
              <a:rPr lang="en-US" alt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hoạt</a:t>
            </a:r>
            <a:r>
              <a:rPr lang="en-US" alt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lệnh</a:t>
            </a:r>
            <a:r>
              <a:rPr lang="en-US" alt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độc</a:t>
            </a:r>
            <a:r>
              <a:rPr lang="en-US" altLang="en-US" sz="2100" dirty="0">
                <a:latin typeface="Times New Roman" panose="02020603050405020304" pitchFamily="18" charset="0"/>
                <a:cs typeface="Times New Roman" panose="02020603050405020304" pitchFamily="18" charset="0"/>
                <a:sym typeface="+mn-ea"/>
              </a:rPr>
              <a:t> </a:t>
            </a:r>
            <a:r>
              <a:rPr lang="en-US" altLang="en-US" sz="2100" dirty="0" err="1">
                <a:latin typeface="Times New Roman" panose="02020603050405020304" pitchFamily="18" charset="0"/>
                <a:cs typeface="Times New Roman" panose="02020603050405020304" pitchFamily="18" charset="0"/>
                <a:sym typeface="+mn-ea"/>
              </a:rPr>
              <a:t>hại</a:t>
            </a:r>
            <a:r>
              <a:rPr lang="en-US" altLang="en-US" sz="2100" dirty="0">
                <a:latin typeface="Times New Roman" panose="02020603050405020304" pitchFamily="18" charset="0"/>
                <a:cs typeface="Times New Roman" panose="02020603050405020304" pitchFamily="18" charset="0"/>
                <a:sym typeface="+mn-ea"/>
              </a:rPr>
              <a:t>.</a:t>
            </a:r>
            <a:endParaRPr lang="en-US" altLang="en-US" sz="2100" dirty="0">
              <a:latin typeface="Times New Roman" panose="02020603050405020304" pitchFamily="18" charset="0"/>
              <a:cs typeface="Times New Roman" panose="02020603050405020304" pitchFamily="18" charset="0"/>
            </a:endParaRPr>
          </a:p>
          <a:p>
            <a:endParaRPr lang="en-US" altLang="en-US" sz="2100" dirty="0">
              <a:latin typeface="Times New Roman" panose="02020603050405020304" pitchFamily="18" charset="0"/>
              <a:cs typeface="Times New Roman" panose="02020603050405020304" pitchFamily="18" charset="0"/>
            </a:endParaRPr>
          </a:p>
          <a:p>
            <a:endParaRPr lang="en-US" sz="2100" b="1" dirty="0">
              <a:latin typeface="Times New Roman" panose="02020603050405020304" pitchFamily="18" charset="0"/>
              <a:cs typeface="Times New Roman" panose="02020603050405020304" pitchFamily="18" charset="0"/>
            </a:endParaRPr>
          </a:p>
          <a:p>
            <a:pPr indent="457200"/>
            <a:endParaRPr lang="en-US" altLang="en-US" sz="2100" dirty="0">
              <a:latin typeface="Times New Roman" panose="02020603050405020304" pitchFamily="18" charset="0"/>
              <a:cs typeface="Times New Roman" panose="02020603050405020304" pitchFamily="18" charset="0"/>
            </a:endParaRPr>
          </a:p>
        </p:txBody>
      </p:sp>
      <p:sp>
        <p:nvSpPr>
          <p:cNvPr id="3" name="Text Box 2"/>
          <p:cNvSpPr txBox="1"/>
          <p:nvPr/>
        </p:nvSpPr>
        <p:spPr>
          <a:xfrm>
            <a:off x="645795" y="1464310"/>
            <a:ext cx="8404860" cy="589280"/>
          </a:xfrm>
          <a:prstGeom prst="rect">
            <a:avLst/>
          </a:prstGeom>
          <a:noFill/>
        </p:spPr>
        <p:txBody>
          <a:bodyPr wrap="square" rtlCol="0">
            <a:noAutofit/>
          </a:bodyPr>
          <a:lstStyle/>
          <a:p>
            <a:r>
              <a:rPr lang="en-US" sz="2600" b="1">
                <a:solidFill>
                  <a:srgbClr val="FF0000"/>
                </a:solidFill>
                <a:latin typeface="Times New Roman" panose="02020603050405020304" pitchFamily="18" charset="0"/>
                <a:cs typeface="Times New Roman" panose="02020603050405020304" pitchFamily="18" charset="0"/>
                <a:sym typeface="+mn-ea"/>
              </a:rPr>
              <a:t>2. Cấu hình sai và thiếu cấu hình HTTP Security Headers</a:t>
            </a:r>
          </a:p>
        </p:txBody>
      </p:sp>
      <p:sp>
        <p:nvSpPr>
          <p:cNvPr id="4" name="Slide Number Placeholder 3">
            <a:extLst>
              <a:ext uri="{FF2B5EF4-FFF2-40B4-BE49-F238E27FC236}">
                <a16:creationId xmlns:a16="http://schemas.microsoft.com/office/drawing/2014/main" id="{2922C457-9D3F-7DA8-5F77-734ADA701143}"/>
              </a:ext>
            </a:extLst>
          </p:cNvPr>
          <p:cNvSpPr>
            <a:spLocks noGrp="1"/>
          </p:cNvSpPr>
          <p:nvPr>
            <p:ph type="sldNum" sz="quarter" idx="12"/>
          </p:nvPr>
        </p:nvSpPr>
        <p:spPr/>
        <p:txBody>
          <a:bodyPr/>
          <a:lstStyle/>
          <a:p>
            <a:pPr lvl="0" eaLnBrk="1" hangingPunct="1"/>
            <a:fld id="{9A0DB2DC-4C9A-4742-B13C-FB6460FD3503}" type="slidenum">
              <a:rPr lang="en-US" altLang="ja-JP" smtClean="0">
                <a:latin typeface="Arial" panose="020B0604020202020204" pitchFamily="34" charset="0"/>
              </a:rPr>
              <a:t>20</a:t>
            </a:fld>
            <a:endParaRPr lang="en-US" altLang="ja-JP"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17410">
                                            <p:txEl>
                                              <p:pRg st="0" end="0"/>
                                            </p:txEl>
                                          </p:spTgt>
                                        </p:tgtEl>
                                        <p:attrNameLst>
                                          <p:attrName>style.visibility</p:attrName>
                                        </p:attrNameLst>
                                      </p:cBhvr>
                                      <p:to>
                                        <p:strVal val="visible"/>
                                      </p:to>
                                    </p:set>
                                    <p:anim calcmode="lin" valueType="num">
                                      <p:cBhvr additive="base">
                                        <p:cTn id="7" dur="500"/>
                                        <p:tgtEl>
                                          <p:spTgt spid="17410">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17410">
                                            <p:txEl>
                                              <p:pRg st="0" end="0"/>
                                            </p:txEl>
                                          </p:spTgt>
                                        </p:tgtEl>
                                      </p:cBhvr>
                                    </p:animEffect>
                                  </p:childTnLst>
                                </p:cTn>
                              </p:par>
                              <p:par>
                                <p:cTn id="9" presetID="12" presetClass="entr" presetSubtype="4" fill="hold" nodeType="withEffect">
                                  <p:stCondLst>
                                    <p:cond delay="0"/>
                                  </p:stCondLst>
                                  <p:childTnLst>
                                    <p:set>
                                      <p:cBhvr>
                                        <p:cTn id="10" dur="1" fill="hold">
                                          <p:stCondLst>
                                            <p:cond delay="0"/>
                                          </p:stCondLst>
                                        </p:cTn>
                                        <p:tgtEl>
                                          <p:spTgt spid="17410">
                                            <p:txEl>
                                              <p:pRg st="1" end="1"/>
                                            </p:txEl>
                                          </p:spTgt>
                                        </p:tgtEl>
                                        <p:attrNameLst>
                                          <p:attrName>style.visibility</p:attrName>
                                        </p:attrNameLst>
                                      </p:cBhvr>
                                      <p:to>
                                        <p:strVal val="visible"/>
                                      </p:to>
                                    </p:set>
                                    <p:anim calcmode="lin" valueType="num">
                                      <p:cBhvr additive="base">
                                        <p:cTn id="11" dur="500"/>
                                        <p:tgtEl>
                                          <p:spTgt spid="17410">
                                            <p:txEl>
                                              <p:pRg st="1" end="1"/>
                                            </p:txEl>
                                          </p:spTgt>
                                        </p:tgtEl>
                                        <p:attrNameLst>
                                          <p:attrName>ppt_y</p:attrName>
                                        </p:attrNameLst>
                                      </p:cBhvr>
                                      <p:tavLst>
                                        <p:tav tm="0">
                                          <p:val>
                                            <p:strVal val="#ppt_y+#ppt_h*1.125000"/>
                                          </p:val>
                                        </p:tav>
                                        <p:tav tm="100000">
                                          <p:val>
                                            <p:strVal val="#ppt_y"/>
                                          </p:val>
                                        </p:tav>
                                      </p:tavLst>
                                    </p:anim>
                                    <p:animEffect transition="in" filter="wipe(up)">
                                      <p:cBhvr>
                                        <p:cTn id="12" dur="500"/>
                                        <p:tgtEl>
                                          <p:spTgt spid="17410">
                                            <p:txEl>
                                              <p:pRg st="1" end="1"/>
                                            </p:txEl>
                                          </p:spTgt>
                                        </p:tgtEl>
                                      </p:cBhvr>
                                    </p:animEffect>
                                  </p:childTnLst>
                                </p:cTn>
                              </p:par>
                              <p:par>
                                <p:cTn id="13" presetID="12" presetClass="entr" presetSubtype="4" fill="hold" nodeType="with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additive="base">
                                        <p:cTn id="15" dur="500"/>
                                        <p:tgtEl>
                                          <p:spTgt spid="3">
                                            <p:txEl>
                                              <p:pRg st="0" end="0"/>
                                            </p:txEl>
                                          </p:spTgt>
                                        </p:tgtEl>
                                        <p:attrNameLst>
                                          <p:attrName>ppt_y</p:attrName>
                                        </p:attrNameLst>
                                      </p:cBhvr>
                                      <p:tavLst>
                                        <p:tav tm="0">
                                          <p:val>
                                            <p:strVal val="#ppt_y+#ppt_h*1.125000"/>
                                          </p:val>
                                        </p:tav>
                                        <p:tav tm="100000">
                                          <p:val>
                                            <p:strVal val="#ppt_y"/>
                                          </p:val>
                                        </p:tav>
                                      </p:tavLst>
                                    </p:anim>
                                    <p:animEffect transition="in" filter="wipe(up)">
                                      <p:cBhvr>
                                        <p:cTn id="16"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テキスト ボックス 3"/>
          <p:cNvSpPr txBox="1"/>
          <p:nvPr/>
        </p:nvSpPr>
        <p:spPr>
          <a:xfrm>
            <a:off x="2181701" y="125730"/>
            <a:ext cx="5745480" cy="1076325"/>
          </a:xfrm>
          <a:prstGeom prst="rect">
            <a:avLst/>
          </a:prstGeom>
          <a:noFill/>
          <a:ln w="9525">
            <a:noFill/>
          </a:ln>
        </p:spPr>
        <p:txBody>
          <a:bodyPr wrap="none">
            <a:spAutoFit/>
          </a:bodyPr>
          <a:lstStyle/>
          <a:p>
            <a:pPr algn="ctr">
              <a:buNone/>
            </a:pPr>
            <a:r>
              <a:rPr lang="en-US" altLang="ja-JP" sz="3200" b="1" dirty="0">
                <a:solidFill>
                  <a:srgbClr val="FF0000"/>
                </a:solidFill>
                <a:latin typeface="Times New Roman" panose="02020603050405020304" pitchFamily="18" charset="0"/>
                <a:ea typeface="MS PGothic" panose="020B0600070205080204" pitchFamily="50" charset="-128"/>
                <a:sym typeface="+mn-ea"/>
              </a:rPr>
              <a:t>II. Cách thức tấn công </a:t>
            </a:r>
            <a:endParaRPr lang="en-US" altLang="ja-JP" sz="3200" b="1" dirty="0">
              <a:solidFill>
                <a:srgbClr val="FF0000"/>
              </a:solidFill>
              <a:latin typeface="Times New Roman" panose="02020603050405020304" pitchFamily="18" charset="0"/>
              <a:ea typeface="MS PGothic" panose="020B0600070205080204" pitchFamily="50" charset="-128"/>
            </a:endParaRPr>
          </a:p>
          <a:p>
            <a:pPr algn="ctr">
              <a:buNone/>
            </a:pPr>
            <a:r>
              <a:rPr lang="en-US" altLang="ja-JP" sz="3200" b="1" dirty="0">
                <a:solidFill>
                  <a:srgbClr val="FF0000"/>
                </a:solidFill>
                <a:latin typeface="Times New Roman" panose="02020603050405020304" pitchFamily="18" charset="0"/>
                <a:ea typeface="MS PGothic" panose="020B0600070205080204" pitchFamily="50" charset="-128"/>
                <a:sym typeface="+mn-ea"/>
              </a:rPr>
              <a:t>và cách phòng ngừa, ngăn chặn.</a:t>
            </a:r>
            <a:endParaRPr lang="ja-JP" altLang="en-US" sz="3200" b="1" dirty="0">
              <a:solidFill>
                <a:srgbClr val="FF0000"/>
              </a:solidFill>
              <a:latin typeface="Times New Roman" panose="02020603050405020304" pitchFamily="18" charset="0"/>
              <a:ea typeface="MS PGothic" panose="020B0600070205080204" pitchFamily="50" charset="-128"/>
            </a:endParaRPr>
          </a:p>
        </p:txBody>
      </p:sp>
      <p:sp>
        <p:nvSpPr>
          <p:cNvPr id="2" name="Text Box 1"/>
          <p:cNvSpPr txBox="1"/>
          <p:nvPr/>
        </p:nvSpPr>
        <p:spPr>
          <a:xfrm>
            <a:off x="263525" y="1906905"/>
            <a:ext cx="8608695" cy="4432935"/>
          </a:xfrm>
          <a:prstGeom prst="rect">
            <a:avLst/>
          </a:prstGeom>
          <a:noFill/>
        </p:spPr>
        <p:txBody>
          <a:bodyPr wrap="square" rtlCol="0">
            <a:noAutofit/>
          </a:bodyPr>
          <a:lstStyle/>
          <a:p>
            <a:r>
              <a:rPr lang="en-US" altLang="en-US" sz="2300" dirty="0">
                <a:latin typeface="Times New Roman" panose="02020603050405020304" pitchFamily="18" charset="0"/>
                <a:cs typeface="Times New Roman" panose="02020603050405020304" pitchFamily="18" charset="0"/>
                <a:sym typeface="+mn-ea"/>
              </a:rPr>
              <a:t> </a:t>
            </a:r>
            <a:r>
              <a:rPr lang="en-US" altLang="en-US" b="1" dirty="0">
                <a:latin typeface="Times New Roman" panose="02020603050405020304" pitchFamily="18" charset="0"/>
                <a:cs typeface="Times New Roman" panose="02020603050405020304" pitchFamily="18" charset="0"/>
                <a:sym typeface="+mn-ea"/>
              </a:rPr>
              <a:t>Định </a:t>
            </a:r>
            <a:r>
              <a:rPr lang="en-US" altLang="en-US" b="1" dirty="0" err="1">
                <a:latin typeface="Times New Roman" panose="02020603050405020304" pitchFamily="18" charset="0"/>
                <a:cs typeface="Times New Roman" panose="02020603050405020304" pitchFamily="18" charset="0"/>
                <a:sym typeface="+mn-ea"/>
              </a:rPr>
              <a:t>nghĩa</a:t>
            </a:r>
            <a:r>
              <a:rPr lang="en-US" altLang="en-US" b="1" dirty="0">
                <a:latin typeface="Times New Roman" panose="02020603050405020304" pitchFamily="18" charset="0"/>
                <a:cs typeface="Times New Roman" panose="02020603050405020304" pitchFamily="18" charset="0"/>
                <a:sym typeface="+mn-ea"/>
              </a:rPr>
              <a:t>: </a:t>
            </a:r>
          </a:p>
          <a:p>
            <a:endParaRPr lang="en-US" altLang="en-US" b="1" dirty="0">
              <a:latin typeface="Times New Roman" panose="02020603050405020304" pitchFamily="18" charset="0"/>
              <a:cs typeface="Times New Roman" panose="02020603050405020304" pitchFamily="18" charset="0"/>
              <a:sym typeface="+mn-ea"/>
            </a:endParaRPr>
          </a:p>
          <a:p>
            <a:r>
              <a:rPr lang="en-US" altLang="en-US" dirty="0">
                <a:latin typeface="Times New Roman" panose="02020603050405020304" pitchFamily="18" charset="0"/>
                <a:cs typeface="Times New Roman" panose="02020603050405020304" pitchFamily="18" charset="0"/>
                <a:sym typeface="+mn-ea"/>
              </a:rPr>
              <a:t>-</a:t>
            </a:r>
            <a:r>
              <a:rPr lang="en-US" altLang="en-US" b="1" dirty="0">
                <a:latin typeface="Times New Roman" panose="02020603050405020304" pitchFamily="18" charset="0"/>
                <a:cs typeface="Times New Roman" panose="02020603050405020304" pitchFamily="18" charset="0"/>
                <a:sym typeface="+mn-ea"/>
              </a:rPr>
              <a:t> </a:t>
            </a:r>
            <a:r>
              <a:rPr lang="en-US" altLang="en-US" b="1" dirty="0">
                <a:solidFill>
                  <a:schemeClr val="tx2"/>
                </a:solidFill>
                <a:latin typeface="Times New Roman" panose="02020603050405020304" pitchFamily="18" charset="0"/>
                <a:cs typeface="Times New Roman" panose="02020603050405020304" pitchFamily="18" charset="0"/>
                <a:sym typeface="+mn-ea"/>
              </a:rPr>
              <a:t>Error </a:t>
            </a:r>
            <a:r>
              <a:rPr lang="en-US" altLang="en-US" b="1" dirty="0" err="1">
                <a:solidFill>
                  <a:schemeClr val="tx2"/>
                </a:solidFill>
                <a:latin typeface="Times New Roman" panose="02020603050405020304" pitchFamily="18" charset="0"/>
                <a:cs typeface="Times New Roman" panose="02020603050405020304" pitchFamily="18" charset="0"/>
                <a:sym typeface="+mn-ea"/>
              </a:rPr>
              <a:t>Hadling</a:t>
            </a:r>
            <a:r>
              <a:rPr lang="en-US" altLang="en-US" b="1" dirty="0">
                <a:solidFill>
                  <a:schemeClr val="tx2"/>
                </a:solidFill>
                <a:latin typeface="Times New Roman" panose="02020603050405020304" pitchFamily="18" charset="0"/>
                <a:cs typeface="Times New Roman" panose="02020603050405020304" pitchFamily="18" charset="0"/>
                <a:sym typeface="+mn-ea"/>
              </a:rPr>
              <a:t> (</a:t>
            </a:r>
            <a:r>
              <a:rPr lang="en-US" altLang="en-US" dirty="0" err="1">
                <a:latin typeface="Times New Roman" panose="02020603050405020304" pitchFamily="18" charset="0"/>
                <a:cs typeface="Times New Roman" panose="02020603050405020304" pitchFamily="18" charset="0"/>
                <a:sym typeface="+mn-ea"/>
              </a:rPr>
              <a:t>lộ</a:t>
            </a:r>
            <a:r>
              <a:rPr lang="en-US" altLang="en-US" dirty="0">
                <a:latin typeface="Times New Roman" panose="02020603050405020304" pitchFamily="18" charset="0"/>
                <a:cs typeface="Times New Roman" panose="02020603050405020304" pitchFamily="18" charset="0"/>
                <a:sym typeface="+mn-ea"/>
              </a:rPr>
              <a:t> </a:t>
            </a:r>
            <a:r>
              <a:rPr lang="en-US" altLang="en-US" dirty="0" err="1">
                <a:latin typeface="Times New Roman" panose="02020603050405020304" pitchFamily="18" charset="0"/>
                <a:cs typeface="Times New Roman" panose="02020603050405020304" pitchFamily="18" charset="0"/>
                <a:sym typeface="+mn-ea"/>
              </a:rPr>
              <a:t>thông</a:t>
            </a:r>
            <a:r>
              <a:rPr lang="en-US" altLang="en-US" dirty="0">
                <a:latin typeface="Times New Roman" panose="02020603050405020304" pitchFamily="18" charset="0"/>
                <a:cs typeface="Times New Roman" panose="02020603050405020304" pitchFamily="18" charset="0"/>
                <a:sym typeface="+mn-ea"/>
              </a:rPr>
              <a:t> tin </a:t>
            </a:r>
            <a:r>
              <a:rPr lang="en-US" altLang="en-US" dirty="0" err="1">
                <a:latin typeface="Times New Roman" panose="02020603050405020304" pitchFamily="18" charset="0"/>
                <a:cs typeface="Times New Roman" panose="02020603050405020304" pitchFamily="18" charset="0"/>
                <a:sym typeface="+mn-ea"/>
              </a:rPr>
              <a:t>kỹ</a:t>
            </a:r>
            <a:r>
              <a:rPr lang="en-US" altLang="en-US" dirty="0">
                <a:latin typeface="Times New Roman" panose="02020603050405020304" pitchFamily="18" charset="0"/>
                <a:cs typeface="Times New Roman" panose="02020603050405020304" pitchFamily="18" charset="0"/>
                <a:sym typeface="+mn-ea"/>
              </a:rPr>
              <a:t> </a:t>
            </a:r>
            <a:r>
              <a:rPr lang="en-US" altLang="en-US" dirty="0" err="1">
                <a:latin typeface="Times New Roman" panose="02020603050405020304" pitchFamily="18" charset="0"/>
                <a:cs typeface="Times New Roman" panose="02020603050405020304" pitchFamily="18" charset="0"/>
                <a:sym typeface="+mn-ea"/>
              </a:rPr>
              <a:t>thuật</a:t>
            </a:r>
            <a:r>
              <a:rPr lang="en-US" altLang="en-US" dirty="0">
                <a:latin typeface="Times New Roman" panose="02020603050405020304" pitchFamily="18" charset="0"/>
                <a:cs typeface="Times New Roman" panose="02020603050405020304" pitchFamily="18" charset="0"/>
                <a:sym typeface="+mn-ea"/>
              </a:rPr>
              <a:t>) </a:t>
            </a:r>
            <a:r>
              <a:rPr lang="vi-VN" dirty="0">
                <a:latin typeface="Times New Roman" panose="02020603050405020304" pitchFamily="18" charset="0"/>
                <a:cs typeface="Times New Roman" panose="02020603050405020304" pitchFamily="18" charset="0"/>
              </a:rPr>
              <a:t>Đây là lỗ hổng xảy ra khi ứng dụng, thay vì hiển thị một thông báo lỗi chung chung, lại hiển thị quá nhiều chi tiết nội bộ như </a:t>
            </a:r>
            <a:r>
              <a:rPr lang="vi-VN" dirty="0" err="1">
                <a:latin typeface="Times New Roman" panose="02020603050405020304" pitchFamily="18" charset="0"/>
                <a:cs typeface="Times New Roman" panose="02020603050405020304" pitchFamily="18" charset="0"/>
              </a:rPr>
              <a:t>Stack</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Traces</a:t>
            </a:r>
            <a:r>
              <a:rPr lang="vi-VN" dirty="0">
                <a:latin typeface="Times New Roman" panose="02020603050405020304" pitchFamily="18" charset="0"/>
                <a:cs typeface="Times New Roman" panose="02020603050405020304" pitchFamily="18" charset="0"/>
              </a:rPr>
              <a:t>, phiên bản phần mềm, hoặc đường dẫn tệp trên máy chủ</a:t>
            </a:r>
            <a:r>
              <a:rPr lang="en-US" altLang="en-US" dirty="0">
                <a:latin typeface="Times New Roman" panose="02020603050405020304" pitchFamily="18" charset="0"/>
                <a:cs typeface="Times New Roman" panose="02020603050405020304" pitchFamily="18" charset="0"/>
                <a:sym typeface="+mn-ea"/>
              </a:rPr>
              <a:t>.</a:t>
            </a:r>
          </a:p>
          <a:p>
            <a:endParaRPr lang="en-US" altLang="en-US" dirty="0">
              <a:latin typeface="Times New Roman" panose="02020603050405020304" pitchFamily="18" charset="0"/>
              <a:cs typeface="Times New Roman" panose="02020603050405020304" pitchFamily="18" charset="0"/>
              <a:sym typeface="+mn-ea"/>
            </a:endParaRPr>
          </a:p>
          <a:p>
            <a:endParaRPr lang="en-US" altLang="en-US" dirty="0">
              <a:latin typeface="Times New Roman" panose="02020603050405020304" pitchFamily="18" charset="0"/>
              <a:cs typeface="Times New Roman" panose="02020603050405020304" pitchFamily="18" charset="0"/>
              <a:sym typeface="+mn-ea"/>
            </a:endParaRPr>
          </a:p>
          <a:p>
            <a:r>
              <a:rPr lang="en-US" altLang="en-US" b="1" dirty="0">
                <a:latin typeface="Times New Roman" panose="02020603050405020304" pitchFamily="18" charset="0"/>
                <a:cs typeface="Times New Roman" panose="02020603050405020304" pitchFamily="18" charset="0"/>
                <a:sym typeface="+mn-ea"/>
              </a:rPr>
              <a:t>- </a:t>
            </a:r>
            <a:r>
              <a:rPr lang="en-US" altLang="en-US" b="1" dirty="0" err="1">
                <a:latin typeface="Times New Roman" panose="02020603050405020304" pitchFamily="18" charset="0"/>
                <a:cs typeface="Times New Roman" panose="02020603050405020304" pitchFamily="18" charset="0"/>
                <a:sym typeface="+mn-ea"/>
              </a:rPr>
              <a:t>Mục</a:t>
            </a:r>
            <a:r>
              <a:rPr lang="en-US" altLang="en-US" b="1" dirty="0">
                <a:latin typeface="Times New Roman" panose="02020603050405020304" pitchFamily="18" charset="0"/>
                <a:cs typeface="Times New Roman" panose="02020603050405020304" pitchFamily="18" charset="0"/>
                <a:sym typeface="+mn-ea"/>
              </a:rPr>
              <a:t> </a:t>
            </a:r>
            <a:r>
              <a:rPr lang="en-US" altLang="en-US" b="1" dirty="0" err="1">
                <a:latin typeface="Times New Roman" panose="02020603050405020304" pitchFamily="18" charset="0"/>
                <a:cs typeface="Times New Roman" panose="02020603050405020304" pitchFamily="18" charset="0"/>
                <a:sym typeface="+mn-ea"/>
              </a:rPr>
              <a:t>đích</a:t>
            </a:r>
            <a:r>
              <a:rPr lang="en-US" altLang="en-US" b="1" dirty="0">
                <a:latin typeface="Times New Roman" panose="02020603050405020304" pitchFamily="18" charset="0"/>
                <a:cs typeface="Times New Roman" panose="02020603050405020304" pitchFamily="18" charset="0"/>
                <a:sym typeface="+mn-ea"/>
              </a:rPr>
              <a:t> </a:t>
            </a:r>
            <a:r>
              <a:rPr lang="en-US" altLang="en-US" b="1" dirty="0" err="1">
                <a:latin typeface="Times New Roman" panose="02020603050405020304" pitchFamily="18" charset="0"/>
                <a:cs typeface="Times New Roman" panose="02020603050405020304" pitchFamily="18" charset="0"/>
                <a:sym typeface="+mn-ea"/>
              </a:rPr>
              <a:t>của</a:t>
            </a:r>
            <a:r>
              <a:rPr lang="en-US" altLang="en-US" b="1" dirty="0">
                <a:latin typeface="Times New Roman" panose="02020603050405020304" pitchFamily="18" charset="0"/>
                <a:cs typeface="Times New Roman" panose="02020603050405020304" pitchFamily="18" charset="0"/>
                <a:sym typeface="+mn-ea"/>
              </a:rPr>
              <a:t> Hacker:</a:t>
            </a:r>
          </a:p>
          <a:p>
            <a:pPr indent="457200"/>
            <a:r>
              <a:rPr lang="en-US" dirty="0" err="1">
                <a:latin typeface="Times New Roman" panose="02020603050405020304" pitchFamily="18" charset="0"/>
                <a:cs typeface="Times New Roman" panose="02020603050405020304" pitchFamily="18" charset="0"/>
              </a:rPr>
              <a:t>Mục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đích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hacker </a:t>
            </a:r>
            <a:r>
              <a:rPr lang="en-US" dirty="0" err="1">
                <a:latin typeface="Times New Roman" panose="02020603050405020304" pitchFamily="18" charset="0"/>
                <a:cs typeface="Times New Roman" panose="02020603050405020304" pitchFamily="18" charset="0"/>
              </a:rPr>
              <a:t>khi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thấy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lỗi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này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để</a:t>
            </a:r>
            <a:r>
              <a:rPr lang="en-US" dirty="0">
                <a:latin typeface="Times New Roman" panose="02020603050405020304" pitchFamily="18" charset="0"/>
                <a:cs typeface="Times New Roman" panose="02020603050405020304" pitchFamily="18" charset="0"/>
              </a:rPr>
              <a:t> Thu </a:t>
            </a:r>
            <a:r>
              <a:rPr lang="en-US" dirty="0" err="1">
                <a:latin typeface="Times New Roman" panose="02020603050405020304" pitchFamily="18" charset="0"/>
                <a:cs typeface="Times New Roman" panose="02020603050405020304" pitchFamily="18" charset="0"/>
              </a:rPr>
              <a:t>thập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thông</a:t>
            </a:r>
            <a:r>
              <a:rPr lang="en-US" dirty="0">
                <a:latin typeface="Times New Roman" panose="02020603050405020304" pitchFamily="18" charset="0"/>
                <a:cs typeface="Times New Roman" panose="02020603050405020304" pitchFamily="18" charset="0"/>
              </a:rPr>
              <a:t> tin, </a:t>
            </a:r>
            <a:r>
              <a:rPr lang="en-US" dirty="0" err="1">
                <a:latin typeface="Times New Roman" panose="02020603050405020304" pitchFamily="18" charset="0"/>
                <a:cs typeface="Times New Roman" panose="02020603050405020304" pitchFamily="18" charset="0"/>
              </a:rPr>
              <a:t>lập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đồ</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cấu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trúc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hệ</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thống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tìm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kiếm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lỗ</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hổng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biết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dựa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phiên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mềm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ra.</a:t>
            </a:r>
            <a:endParaRPr lang="en-US" b="1" dirty="0">
              <a:latin typeface="Times New Roman" panose="02020603050405020304" pitchFamily="18" charset="0"/>
              <a:cs typeface="Times New Roman" panose="02020603050405020304" pitchFamily="18" charset="0"/>
            </a:endParaRPr>
          </a:p>
          <a:p>
            <a:endParaRPr lang="en-US" altLang="en-US" sz="2100" dirty="0">
              <a:latin typeface="Times New Roman" panose="02020603050405020304" pitchFamily="18" charset="0"/>
              <a:cs typeface="Times New Roman" panose="02020603050405020304" pitchFamily="18" charset="0"/>
            </a:endParaRPr>
          </a:p>
          <a:p>
            <a:endParaRPr lang="en-US" sz="2100" b="1" dirty="0">
              <a:latin typeface="Times New Roman" panose="02020603050405020304" pitchFamily="18" charset="0"/>
              <a:cs typeface="Times New Roman" panose="02020603050405020304" pitchFamily="18" charset="0"/>
            </a:endParaRPr>
          </a:p>
          <a:p>
            <a:pPr indent="457200"/>
            <a:endParaRPr lang="en-US" altLang="en-US" sz="2100" dirty="0">
              <a:latin typeface="Times New Roman" panose="02020603050405020304" pitchFamily="18" charset="0"/>
              <a:cs typeface="Times New Roman" panose="02020603050405020304" pitchFamily="18" charset="0"/>
            </a:endParaRPr>
          </a:p>
        </p:txBody>
      </p:sp>
      <p:sp>
        <p:nvSpPr>
          <p:cNvPr id="3" name="Text Box 2"/>
          <p:cNvSpPr txBox="1"/>
          <p:nvPr/>
        </p:nvSpPr>
        <p:spPr>
          <a:xfrm>
            <a:off x="645795" y="1464310"/>
            <a:ext cx="8404860" cy="589280"/>
          </a:xfrm>
          <a:prstGeom prst="rect">
            <a:avLst/>
          </a:prstGeom>
          <a:noFill/>
        </p:spPr>
        <p:txBody>
          <a:bodyPr wrap="square" rtlCol="0">
            <a:noAutofit/>
          </a:bodyPr>
          <a:lstStyle/>
          <a:p>
            <a:r>
              <a:rPr lang="en-US" sz="2600" b="1" dirty="0">
                <a:solidFill>
                  <a:srgbClr val="FF0000"/>
                </a:solidFill>
                <a:latin typeface="Times New Roman" panose="02020603050405020304" pitchFamily="18" charset="0"/>
                <a:cs typeface="Times New Roman" panose="02020603050405020304" pitchFamily="18" charset="0"/>
                <a:sym typeface="+mn-ea"/>
              </a:rPr>
              <a:t>3. </a:t>
            </a:r>
            <a:r>
              <a:rPr lang="en-US" altLang="en-US" sz="2600" b="1" dirty="0">
                <a:solidFill>
                  <a:srgbClr val="FF0000"/>
                </a:solidFill>
                <a:latin typeface="Times New Roman" panose="02020603050405020304" pitchFamily="18" charset="0"/>
                <a:cs typeface="Times New Roman" panose="02020603050405020304" pitchFamily="18" charset="0"/>
                <a:sym typeface="+mn-ea"/>
              </a:rPr>
              <a:t>Error Handling (</a:t>
            </a:r>
            <a:r>
              <a:rPr lang="en-US" altLang="en-US" sz="2600" b="1" dirty="0" err="1">
                <a:solidFill>
                  <a:srgbClr val="FF0000"/>
                </a:solidFill>
                <a:latin typeface="Times New Roman" panose="02020603050405020304" pitchFamily="18" charset="0"/>
                <a:cs typeface="Times New Roman" panose="02020603050405020304" pitchFamily="18" charset="0"/>
                <a:sym typeface="+mn-ea"/>
              </a:rPr>
              <a:t>lộ</a:t>
            </a:r>
            <a:r>
              <a:rPr lang="en-US" altLang="en-US" sz="2600" b="1" dirty="0">
                <a:solidFill>
                  <a:srgbClr val="FF0000"/>
                </a:solidFill>
                <a:latin typeface="Times New Roman" panose="02020603050405020304" pitchFamily="18" charset="0"/>
                <a:cs typeface="Times New Roman" panose="02020603050405020304" pitchFamily="18" charset="0"/>
                <a:sym typeface="+mn-ea"/>
              </a:rPr>
              <a:t> </a:t>
            </a:r>
            <a:r>
              <a:rPr lang="en-US" altLang="en-US" sz="2600" b="1" dirty="0" err="1">
                <a:solidFill>
                  <a:srgbClr val="FF0000"/>
                </a:solidFill>
                <a:latin typeface="Times New Roman" panose="02020603050405020304" pitchFamily="18" charset="0"/>
                <a:cs typeface="Times New Roman" panose="02020603050405020304" pitchFamily="18" charset="0"/>
                <a:sym typeface="+mn-ea"/>
              </a:rPr>
              <a:t>thông</a:t>
            </a:r>
            <a:r>
              <a:rPr lang="en-US" altLang="en-US" sz="2600" b="1" dirty="0">
                <a:solidFill>
                  <a:srgbClr val="FF0000"/>
                </a:solidFill>
                <a:latin typeface="Times New Roman" panose="02020603050405020304" pitchFamily="18" charset="0"/>
                <a:cs typeface="Times New Roman" panose="02020603050405020304" pitchFamily="18" charset="0"/>
                <a:sym typeface="+mn-ea"/>
              </a:rPr>
              <a:t> tin </a:t>
            </a:r>
            <a:r>
              <a:rPr lang="en-US" altLang="en-US" sz="2600" b="1" dirty="0" err="1">
                <a:solidFill>
                  <a:srgbClr val="FF0000"/>
                </a:solidFill>
                <a:latin typeface="Times New Roman" panose="02020603050405020304" pitchFamily="18" charset="0"/>
                <a:cs typeface="Times New Roman" panose="02020603050405020304" pitchFamily="18" charset="0"/>
                <a:sym typeface="+mn-ea"/>
              </a:rPr>
              <a:t>kỹ</a:t>
            </a:r>
            <a:r>
              <a:rPr lang="en-US" altLang="en-US" sz="2600" b="1" dirty="0">
                <a:solidFill>
                  <a:srgbClr val="FF0000"/>
                </a:solidFill>
                <a:latin typeface="Times New Roman" panose="02020603050405020304" pitchFamily="18" charset="0"/>
                <a:cs typeface="Times New Roman" panose="02020603050405020304" pitchFamily="18" charset="0"/>
                <a:sym typeface="+mn-ea"/>
              </a:rPr>
              <a:t> </a:t>
            </a:r>
            <a:r>
              <a:rPr lang="en-US" altLang="en-US" sz="2600" b="1" dirty="0" err="1">
                <a:solidFill>
                  <a:srgbClr val="FF0000"/>
                </a:solidFill>
                <a:latin typeface="Times New Roman" panose="02020603050405020304" pitchFamily="18" charset="0"/>
                <a:cs typeface="Times New Roman" panose="02020603050405020304" pitchFamily="18" charset="0"/>
                <a:sym typeface="+mn-ea"/>
              </a:rPr>
              <a:t>thuật</a:t>
            </a:r>
            <a:r>
              <a:rPr lang="en-US" altLang="en-US" sz="2600" b="1" dirty="0">
                <a:solidFill>
                  <a:srgbClr val="FF0000"/>
                </a:solidFill>
                <a:latin typeface="Times New Roman" panose="02020603050405020304" pitchFamily="18" charset="0"/>
                <a:cs typeface="Times New Roman" panose="02020603050405020304" pitchFamily="18" charset="0"/>
                <a:sym typeface="+mn-ea"/>
              </a:rPr>
              <a:t>)</a:t>
            </a:r>
          </a:p>
        </p:txBody>
      </p:sp>
      <p:sp>
        <p:nvSpPr>
          <p:cNvPr id="4" name="Slide Number Placeholder 3">
            <a:extLst>
              <a:ext uri="{FF2B5EF4-FFF2-40B4-BE49-F238E27FC236}">
                <a16:creationId xmlns:a16="http://schemas.microsoft.com/office/drawing/2014/main" id="{4D208F83-F09E-B42F-2CAD-457F078D03D9}"/>
              </a:ext>
            </a:extLst>
          </p:cNvPr>
          <p:cNvSpPr>
            <a:spLocks noGrp="1"/>
          </p:cNvSpPr>
          <p:nvPr>
            <p:ph type="sldNum" sz="quarter" idx="12"/>
          </p:nvPr>
        </p:nvSpPr>
        <p:spPr/>
        <p:txBody>
          <a:bodyPr/>
          <a:lstStyle/>
          <a:p>
            <a:pPr lvl="0" eaLnBrk="1" hangingPunct="1"/>
            <a:fld id="{9A0DB2DC-4C9A-4742-B13C-FB6460FD3503}" type="slidenum">
              <a:rPr lang="en-US" altLang="ja-JP" smtClean="0">
                <a:latin typeface="Arial" panose="020B0604020202020204" pitchFamily="34" charset="0"/>
              </a:rPr>
              <a:t>21</a:t>
            </a:fld>
            <a:endParaRPr lang="en-US" altLang="ja-JP"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17410">
                                            <p:txEl>
                                              <p:pRg st="0" end="0"/>
                                            </p:txEl>
                                          </p:spTgt>
                                        </p:tgtEl>
                                        <p:attrNameLst>
                                          <p:attrName>style.visibility</p:attrName>
                                        </p:attrNameLst>
                                      </p:cBhvr>
                                      <p:to>
                                        <p:strVal val="visible"/>
                                      </p:to>
                                    </p:set>
                                    <p:anim calcmode="lin" valueType="num">
                                      <p:cBhvr additive="base">
                                        <p:cTn id="7" dur="500"/>
                                        <p:tgtEl>
                                          <p:spTgt spid="17410">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17410">
                                            <p:txEl>
                                              <p:pRg st="0" end="0"/>
                                            </p:txEl>
                                          </p:spTgt>
                                        </p:tgtEl>
                                      </p:cBhvr>
                                    </p:animEffect>
                                  </p:childTnLst>
                                </p:cTn>
                              </p:par>
                              <p:par>
                                <p:cTn id="9" presetID="12" presetClass="entr" presetSubtype="4" fill="hold" nodeType="withEffect">
                                  <p:stCondLst>
                                    <p:cond delay="0"/>
                                  </p:stCondLst>
                                  <p:childTnLst>
                                    <p:set>
                                      <p:cBhvr>
                                        <p:cTn id="10" dur="1" fill="hold">
                                          <p:stCondLst>
                                            <p:cond delay="0"/>
                                          </p:stCondLst>
                                        </p:cTn>
                                        <p:tgtEl>
                                          <p:spTgt spid="17410">
                                            <p:txEl>
                                              <p:pRg st="1" end="1"/>
                                            </p:txEl>
                                          </p:spTgt>
                                        </p:tgtEl>
                                        <p:attrNameLst>
                                          <p:attrName>style.visibility</p:attrName>
                                        </p:attrNameLst>
                                      </p:cBhvr>
                                      <p:to>
                                        <p:strVal val="visible"/>
                                      </p:to>
                                    </p:set>
                                    <p:anim calcmode="lin" valueType="num">
                                      <p:cBhvr additive="base">
                                        <p:cTn id="11" dur="500"/>
                                        <p:tgtEl>
                                          <p:spTgt spid="17410">
                                            <p:txEl>
                                              <p:pRg st="1" end="1"/>
                                            </p:txEl>
                                          </p:spTgt>
                                        </p:tgtEl>
                                        <p:attrNameLst>
                                          <p:attrName>ppt_y</p:attrName>
                                        </p:attrNameLst>
                                      </p:cBhvr>
                                      <p:tavLst>
                                        <p:tav tm="0">
                                          <p:val>
                                            <p:strVal val="#ppt_y+#ppt_h*1.125000"/>
                                          </p:val>
                                        </p:tav>
                                        <p:tav tm="100000">
                                          <p:val>
                                            <p:strVal val="#ppt_y"/>
                                          </p:val>
                                        </p:tav>
                                      </p:tavLst>
                                    </p:anim>
                                    <p:animEffect transition="in" filter="wipe(up)">
                                      <p:cBhvr>
                                        <p:cTn id="12" dur="500"/>
                                        <p:tgtEl>
                                          <p:spTgt spid="17410">
                                            <p:txEl>
                                              <p:pRg st="1" end="1"/>
                                            </p:txEl>
                                          </p:spTgt>
                                        </p:tgtEl>
                                      </p:cBhvr>
                                    </p:animEffect>
                                  </p:childTnLst>
                                </p:cTn>
                              </p:par>
                              <p:par>
                                <p:cTn id="13" presetID="12" presetClass="entr" presetSubtype="4" fill="hold" nodeType="with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additive="base">
                                        <p:cTn id="15" dur="500"/>
                                        <p:tgtEl>
                                          <p:spTgt spid="3">
                                            <p:txEl>
                                              <p:pRg st="0" end="0"/>
                                            </p:txEl>
                                          </p:spTgt>
                                        </p:tgtEl>
                                        <p:attrNameLst>
                                          <p:attrName>ppt_y</p:attrName>
                                        </p:attrNameLst>
                                      </p:cBhvr>
                                      <p:tavLst>
                                        <p:tav tm="0">
                                          <p:val>
                                            <p:strVal val="#ppt_y+#ppt_h*1.125000"/>
                                          </p:val>
                                        </p:tav>
                                        <p:tav tm="100000">
                                          <p:val>
                                            <p:strVal val="#ppt_y"/>
                                          </p:val>
                                        </p:tav>
                                      </p:tavLst>
                                    </p:anim>
                                    <p:animEffect transition="in" filter="wipe(up)">
                                      <p:cBhvr>
                                        <p:cTn id="16"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テキスト ボックス 3"/>
          <p:cNvSpPr txBox="1"/>
          <p:nvPr/>
        </p:nvSpPr>
        <p:spPr>
          <a:xfrm>
            <a:off x="2181701" y="125730"/>
            <a:ext cx="5745480" cy="1076325"/>
          </a:xfrm>
          <a:prstGeom prst="rect">
            <a:avLst/>
          </a:prstGeom>
          <a:noFill/>
          <a:ln w="9525">
            <a:noFill/>
          </a:ln>
        </p:spPr>
        <p:txBody>
          <a:bodyPr wrap="none">
            <a:spAutoFit/>
          </a:bodyPr>
          <a:lstStyle/>
          <a:p>
            <a:pPr algn="ctr">
              <a:buNone/>
            </a:pPr>
            <a:r>
              <a:rPr lang="en-US" altLang="ja-JP" sz="3200" b="1" dirty="0">
                <a:solidFill>
                  <a:srgbClr val="FF0000"/>
                </a:solidFill>
                <a:latin typeface="Times New Roman" panose="02020603050405020304" pitchFamily="18" charset="0"/>
                <a:ea typeface="MS PGothic" panose="020B0600070205080204" pitchFamily="50" charset="-128"/>
                <a:sym typeface="+mn-ea"/>
              </a:rPr>
              <a:t>II. Cách thức tấn công </a:t>
            </a:r>
            <a:endParaRPr lang="en-US" altLang="ja-JP" sz="3200" b="1" dirty="0">
              <a:solidFill>
                <a:srgbClr val="FF0000"/>
              </a:solidFill>
              <a:latin typeface="Times New Roman" panose="02020603050405020304" pitchFamily="18" charset="0"/>
              <a:ea typeface="MS PGothic" panose="020B0600070205080204" pitchFamily="50" charset="-128"/>
            </a:endParaRPr>
          </a:p>
          <a:p>
            <a:pPr algn="ctr">
              <a:buNone/>
            </a:pPr>
            <a:r>
              <a:rPr lang="en-US" altLang="ja-JP" sz="3200" b="1" dirty="0">
                <a:solidFill>
                  <a:srgbClr val="FF0000"/>
                </a:solidFill>
                <a:latin typeface="Times New Roman" panose="02020603050405020304" pitchFamily="18" charset="0"/>
                <a:ea typeface="MS PGothic" panose="020B0600070205080204" pitchFamily="50" charset="-128"/>
                <a:sym typeface="+mn-ea"/>
              </a:rPr>
              <a:t>và cách phòng ngừa, ngăn chặn.</a:t>
            </a:r>
            <a:endParaRPr lang="ja-JP" altLang="en-US" sz="3200" b="1" dirty="0">
              <a:solidFill>
                <a:srgbClr val="FF0000"/>
              </a:solidFill>
              <a:latin typeface="Times New Roman" panose="02020603050405020304" pitchFamily="18" charset="0"/>
              <a:ea typeface="MS PGothic" panose="020B0600070205080204" pitchFamily="50" charset="-128"/>
            </a:endParaRPr>
          </a:p>
        </p:txBody>
      </p:sp>
      <p:sp>
        <p:nvSpPr>
          <p:cNvPr id="2" name="Text Box 1"/>
          <p:cNvSpPr txBox="1"/>
          <p:nvPr/>
        </p:nvSpPr>
        <p:spPr>
          <a:xfrm>
            <a:off x="82954" y="1906903"/>
            <a:ext cx="4998201" cy="4432935"/>
          </a:xfrm>
          <a:prstGeom prst="rect">
            <a:avLst/>
          </a:prstGeom>
          <a:noFill/>
        </p:spPr>
        <p:txBody>
          <a:bodyPr wrap="square" rtlCol="0">
            <a:noAutofit/>
          </a:bodyPr>
          <a:lstStyle/>
          <a:p>
            <a:r>
              <a:rPr lang="en-US" altLang="en-US" sz="2300" b="1" dirty="0">
                <a:latin typeface="Times New Roman" panose="02020603050405020304" pitchFamily="18" charset="0"/>
                <a:cs typeface="Times New Roman" panose="02020603050405020304" pitchFamily="18" charset="0"/>
                <a:sym typeface="+mn-ea"/>
              </a:rPr>
              <a:t>Minh </a:t>
            </a:r>
            <a:r>
              <a:rPr lang="en-US" altLang="en-US" sz="2300" b="1" dirty="0" err="1">
                <a:latin typeface="Times New Roman" panose="02020603050405020304" pitchFamily="18" charset="0"/>
                <a:cs typeface="Times New Roman" panose="02020603050405020304" pitchFamily="18" charset="0"/>
                <a:sym typeface="+mn-ea"/>
              </a:rPr>
              <a:t>Họa</a:t>
            </a:r>
            <a:r>
              <a:rPr lang="en-US" altLang="en-US" sz="2300" b="1" dirty="0">
                <a:latin typeface="Times New Roman" panose="02020603050405020304" pitchFamily="18" charset="0"/>
                <a:cs typeface="Times New Roman" panose="02020603050405020304" pitchFamily="18" charset="0"/>
                <a:sym typeface="+mn-ea"/>
              </a:rPr>
              <a:t> </a:t>
            </a:r>
            <a:r>
              <a:rPr lang="en-US" altLang="en-US" sz="2300" b="1" dirty="0" err="1">
                <a:latin typeface="Times New Roman" panose="02020603050405020304" pitchFamily="18" charset="0"/>
                <a:cs typeface="Times New Roman" panose="02020603050405020304" pitchFamily="18" charset="0"/>
                <a:sym typeface="+mn-ea"/>
              </a:rPr>
              <a:t>Tấn</a:t>
            </a:r>
            <a:r>
              <a:rPr lang="en-US" altLang="en-US" sz="2300" b="1" dirty="0">
                <a:latin typeface="Times New Roman" panose="02020603050405020304" pitchFamily="18" charset="0"/>
                <a:cs typeface="Times New Roman" panose="02020603050405020304" pitchFamily="18" charset="0"/>
                <a:sym typeface="+mn-ea"/>
              </a:rPr>
              <a:t> Công:</a:t>
            </a:r>
          </a:p>
          <a:p>
            <a:endParaRPr lang="en-US" altLang="en-US" sz="2300" b="1" dirty="0">
              <a:latin typeface="Times New Roman" panose="02020603050405020304" pitchFamily="18" charset="0"/>
              <a:cs typeface="Times New Roman" panose="02020603050405020304" pitchFamily="18" charset="0"/>
              <a:sym typeface="+mn-ea"/>
            </a:endParaRPr>
          </a:p>
          <a:p>
            <a:r>
              <a:rPr lang="en-US" altLang="en-US" sz="1800" b="1" dirty="0">
                <a:latin typeface="Times New Roman" panose="02020603050405020304" pitchFamily="18" charset="0"/>
                <a:cs typeface="Times New Roman" panose="02020603050405020304" pitchFamily="18" charset="0"/>
                <a:sym typeface="+mn-ea"/>
              </a:rPr>
              <a:t>Giai </a:t>
            </a:r>
            <a:r>
              <a:rPr lang="en-US" altLang="en-US" sz="1800" b="1" dirty="0" err="1">
                <a:latin typeface="Times New Roman" panose="02020603050405020304" pitchFamily="18" charset="0"/>
                <a:cs typeface="Times New Roman" panose="02020603050405020304" pitchFamily="18" charset="0"/>
                <a:sym typeface="+mn-ea"/>
              </a:rPr>
              <a:t>đoạn</a:t>
            </a:r>
            <a:r>
              <a:rPr lang="en-US" altLang="en-US" sz="1800" b="1" dirty="0">
                <a:latin typeface="Times New Roman" panose="02020603050405020304" pitchFamily="18" charset="0"/>
                <a:cs typeface="Times New Roman" panose="02020603050405020304" pitchFamily="18" charset="0"/>
                <a:sym typeface="+mn-ea"/>
              </a:rPr>
              <a:t> 1: </a:t>
            </a:r>
            <a:r>
              <a:rPr lang="en-US" dirty="0">
                <a:latin typeface="Times New Roman" panose="02020603050405020304" pitchFamily="18" charset="0"/>
                <a:cs typeface="Times New Roman" panose="02020603050405020304" pitchFamily="18" charset="0"/>
              </a:rPr>
              <a:t>Thu </a:t>
            </a:r>
            <a:r>
              <a:rPr lang="en-US" dirty="0" err="1">
                <a:latin typeface="Times New Roman" panose="02020603050405020304" pitchFamily="18" charset="0"/>
                <a:cs typeface="Times New Roman" panose="02020603050405020304" pitchFamily="18" charset="0"/>
              </a:rPr>
              <a:t>Thập</a:t>
            </a:r>
            <a:r>
              <a:rPr lang="en-US" dirty="0">
                <a:latin typeface="Times New Roman" panose="02020603050405020304" pitchFamily="18" charset="0"/>
                <a:cs typeface="Times New Roman" panose="02020603050405020304" pitchFamily="18" charset="0"/>
              </a:rPr>
              <a:t> Thông Tin </a:t>
            </a:r>
          </a:p>
          <a:p>
            <a:endParaRPr lang="en-US" dirty="0">
              <a:latin typeface="Times New Roman" panose="02020603050405020304" pitchFamily="18" charset="0"/>
              <a:cs typeface="Times New Roman" panose="02020603050405020304" pitchFamily="18" charset="0"/>
            </a:endParaRPr>
          </a:p>
          <a:p>
            <a:r>
              <a:rPr lang="en-US" b="1" dirty="0" err="1">
                <a:latin typeface="Times New Roman" panose="02020603050405020304" pitchFamily="18" charset="0"/>
                <a:cs typeface="Times New Roman" panose="02020603050405020304" pitchFamily="18" charset="0"/>
              </a:rPr>
              <a:t>Mục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tiêu</a:t>
            </a:r>
            <a:r>
              <a:rPr lang="en-US" b="1"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Lấy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thông</a:t>
            </a:r>
            <a:r>
              <a:rPr lang="en-US" dirty="0">
                <a:latin typeface="Times New Roman" panose="02020603050405020304" pitchFamily="18" charset="0"/>
                <a:cs typeface="Times New Roman" panose="02020603050405020304" pitchFamily="18" charset="0"/>
              </a:rPr>
              <a:t> tin </a:t>
            </a:r>
            <a:r>
              <a:rPr lang="en-US" dirty="0" err="1">
                <a:latin typeface="Times New Roman" panose="02020603050405020304" pitchFamily="18" charset="0"/>
                <a:cs typeface="Times New Roman" panose="02020603050405020304" pitchFamily="18" charset="0"/>
              </a:rPr>
              <a:t>nhạy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cảm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đọc</a:t>
            </a:r>
            <a:r>
              <a:rPr lang="en-US" dirty="0">
                <a:latin typeface="Times New Roman" panose="02020603050405020304" pitchFamily="18" charset="0"/>
                <a:cs typeface="Times New Roman" panose="02020603050405020304" pitchFamily="18" charset="0"/>
              </a:rPr>
              <a:t> file </a:t>
            </a:r>
            <a:r>
              <a:rPr lang="en-US" dirty="0" err="1">
                <a:latin typeface="Times New Roman" panose="02020603050405020304" pitchFamily="18" charset="0"/>
                <a:cs typeface="Times New Roman" panose="02020603050405020304" pitchFamily="18" charset="0"/>
              </a:rPr>
              <a:t>hệ</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thống</a:t>
            </a:r>
            <a:r>
              <a:rPr lang="en-US" dirty="0">
                <a:latin typeface="Times New Roman" panose="02020603050405020304" pitchFamily="18" charset="0"/>
                <a:cs typeface="Times New Roman" panose="02020603050405020304" pitchFamily="18" charset="0"/>
              </a:rPr>
              <a:t>.</a:t>
            </a:r>
          </a:p>
          <a:p>
            <a:r>
              <a:rPr lang="vi-VN" b="1" dirty="0">
                <a:latin typeface="Times New Roman" panose="02020603050405020304" pitchFamily="18" charset="0"/>
                <a:cs typeface="Times New Roman" panose="02020603050405020304" pitchFamily="18" charset="0"/>
              </a:rPr>
              <a:t>Bước 1: </a:t>
            </a:r>
            <a:r>
              <a:rPr lang="vi-VN" dirty="0">
                <a:latin typeface="Times New Roman" panose="02020603050405020304" pitchFamily="18" charset="0"/>
                <a:cs typeface="Times New Roman" panose="02020603050405020304" pitchFamily="18" charset="0"/>
              </a:rPr>
              <a:t>Cố tình gây lỗi bằng cách truy cập </a:t>
            </a:r>
            <a:r>
              <a:rPr lang="vi-VN" dirty="0" err="1">
                <a:latin typeface="Times New Roman" panose="02020603050405020304" pitchFamily="18" charset="0"/>
                <a:cs typeface="Times New Roman" panose="02020603050405020304" pitchFamily="18" charset="0"/>
              </a:rPr>
              <a:t>file</a:t>
            </a:r>
            <a:r>
              <a:rPr lang="vi-VN" dirty="0">
                <a:latin typeface="Times New Roman" panose="02020603050405020304" pitchFamily="18" charset="0"/>
                <a:cs typeface="Times New Roman" panose="02020603050405020304" pitchFamily="18" charset="0"/>
              </a:rPr>
              <a:t> không tồn tại (?</a:t>
            </a:r>
            <a:r>
              <a:rPr lang="vi-VN" dirty="0" err="1">
                <a:latin typeface="Times New Roman" panose="02020603050405020304" pitchFamily="18" charset="0"/>
                <a:cs typeface="Times New Roman" panose="02020603050405020304" pitchFamily="18" charset="0"/>
              </a:rPr>
              <a:t>file</a:t>
            </a:r>
            <a:r>
              <a:rPr lang="vi-VN" dirty="0">
                <a:latin typeface="Times New Roman" panose="02020603050405020304" pitchFamily="18" charset="0"/>
                <a:cs typeface="Times New Roman" panose="02020603050405020304" pitchFamily="18" charset="0"/>
              </a:rPr>
              <a:t>=</a:t>
            </a:r>
            <a:r>
              <a:rPr lang="vi-VN" dirty="0" err="1">
                <a:latin typeface="Times New Roman" panose="02020603050405020304" pitchFamily="18" charset="0"/>
                <a:cs typeface="Times New Roman" panose="02020603050405020304" pitchFamily="18" charset="0"/>
              </a:rPr>
              <a:t>hehe.txt</a:t>
            </a:r>
            <a:r>
              <a:rPr lang="vi-VN"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r>
              <a:rPr lang="vi-VN" b="1" dirty="0">
                <a:latin typeface="Times New Roman" panose="02020603050405020304" pitchFamily="18" charset="0"/>
                <a:cs typeface="Times New Roman" panose="02020603050405020304" pitchFamily="18" charset="0"/>
              </a:rPr>
              <a:t>Bước 2: </a:t>
            </a:r>
            <a:r>
              <a:rPr lang="vi-VN" dirty="0">
                <a:latin typeface="Times New Roman" panose="02020603050405020304" pitchFamily="18" charset="0"/>
                <a:cs typeface="Times New Roman" panose="02020603050405020304" pitchFamily="18" charset="0"/>
              </a:rPr>
              <a:t>Lỗi </a:t>
            </a:r>
            <a:r>
              <a:rPr lang="vi-VN" dirty="0" err="1">
                <a:latin typeface="Times New Roman" panose="02020603050405020304" pitchFamily="18" charset="0"/>
                <a:cs typeface="Times New Roman" panose="02020603050405020304" pitchFamily="18" charset="0"/>
              </a:rPr>
              <a:t>display_errors</a:t>
            </a:r>
            <a:r>
              <a:rPr lang="vi-VN" dirty="0">
                <a:latin typeface="Times New Roman" panose="02020603050405020304" pitchFamily="18" charset="0"/>
                <a:cs typeface="Times New Roman" panose="02020603050405020304" pitchFamily="18" charset="0"/>
              </a:rPr>
              <a:t>=</a:t>
            </a:r>
            <a:r>
              <a:rPr lang="vi-VN" dirty="0" err="1">
                <a:latin typeface="Times New Roman" panose="02020603050405020304" pitchFamily="18" charset="0"/>
                <a:cs typeface="Times New Roman" panose="02020603050405020304" pitchFamily="18" charset="0"/>
              </a:rPr>
              <a:t>On</a:t>
            </a:r>
            <a:r>
              <a:rPr lang="vi-VN" dirty="0">
                <a:latin typeface="Times New Roman" panose="02020603050405020304" pitchFamily="18" charset="0"/>
                <a:cs typeface="Times New Roman" panose="02020603050405020304" pitchFamily="18" charset="0"/>
              </a:rPr>
              <a:t> làm lộ 2 thông tin:</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 </a:t>
            </a:r>
            <a:r>
              <a:rPr lang="vi-VN" dirty="0">
                <a:latin typeface="Times New Roman" panose="02020603050405020304" pitchFamily="18" charset="0"/>
                <a:cs typeface="Times New Roman" panose="02020603050405020304" pitchFamily="18" charset="0"/>
              </a:rPr>
              <a:t>Đường dẫn tuyệt đối:</a:t>
            </a: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a:t>
            </a:r>
            <a:r>
              <a:rPr lang="vi-VN" dirty="0" err="1">
                <a:latin typeface="Times New Roman" panose="02020603050405020304" pitchFamily="18" charset="0"/>
                <a:cs typeface="Times New Roman" panose="02020603050405020304" pitchFamily="18" charset="0"/>
              </a:rPr>
              <a:t>var</a:t>
            </a:r>
            <a:r>
              <a:rPr lang="vi-VN" dirty="0">
                <a:latin typeface="Times New Roman" panose="02020603050405020304" pitchFamily="18" charset="0"/>
                <a:cs typeface="Times New Roman" panose="02020603050405020304" pitchFamily="18" charset="0"/>
              </a:rPr>
              <a:t>/</a:t>
            </a:r>
            <a:r>
              <a:rPr lang="vi-VN" dirty="0" err="1">
                <a:latin typeface="Times New Roman" panose="02020603050405020304" pitchFamily="18" charset="0"/>
                <a:cs typeface="Times New Roman" panose="02020603050405020304" pitchFamily="18" charset="0"/>
              </a:rPr>
              <a:t>www</a:t>
            </a:r>
            <a:r>
              <a:rPr lang="vi-VN" dirty="0">
                <a:latin typeface="Times New Roman" panose="02020603050405020304" pitchFamily="18" charset="0"/>
                <a:cs typeface="Times New Roman" panose="02020603050405020304" pitchFamily="18" charset="0"/>
              </a:rPr>
              <a:t>/</a:t>
            </a:r>
            <a:r>
              <a:rPr lang="vi-VN" dirty="0" err="1">
                <a:latin typeface="Times New Roman" panose="02020603050405020304" pitchFamily="18" charset="0"/>
                <a:cs typeface="Times New Roman" panose="02020603050405020304" pitchFamily="18" charset="0"/>
              </a:rPr>
              <a:t>html</a:t>
            </a:r>
            <a:r>
              <a:rPr lang="vi-VN" dirty="0">
                <a:latin typeface="Times New Roman" panose="02020603050405020304" pitchFamily="18" charset="0"/>
                <a:cs typeface="Times New Roman" panose="02020603050405020304" pitchFamily="18" charset="0"/>
              </a:rPr>
              <a:t>/</a:t>
            </a:r>
            <a:r>
              <a:rPr lang="vi-VN" dirty="0" err="1">
                <a:latin typeface="Times New Roman" panose="02020603050405020304" pitchFamily="18" charset="0"/>
                <a:cs typeface="Times New Roman" panose="02020603050405020304" pitchFamily="18" charset="0"/>
              </a:rPr>
              <a:t>index.php</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 </a:t>
            </a:r>
            <a:r>
              <a:rPr lang="vi-VN" dirty="0">
                <a:latin typeface="Times New Roman" panose="02020603050405020304" pitchFamily="18" charset="0"/>
                <a:cs typeface="Times New Roman" panose="02020603050405020304" pitchFamily="18" charset="0"/>
              </a:rPr>
              <a:t>Thư mục con: /</a:t>
            </a:r>
            <a:r>
              <a:rPr lang="vi-VN" dirty="0" err="1">
                <a:latin typeface="Times New Roman" panose="02020603050405020304" pitchFamily="18" charset="0"/>
                <a:cs typeface="Times New Roman" panose="02020603050405020304" pitchFamily="18" charset="0"/>
              </a:rPr>
              <a:t>uploads</a:t>
            </a:r>
            <a:endParaRPr lang="en-US" dirty="0">
              <a:latin typeface="Times New Roman" panose="02020603050405020304" pitchFamily="18" charset="0"/>
              <a:cs typeface="Times New Roman" panose="02020603050405020304" pitchFamily="18" charset="0"/>
            </a:endParaRPr>
          </a:p>
          <a:p>
            <a:r>
              <a:rPr lang="vi-VN" b="1" dirty="0">
                <a:latin typeface="Times New Roman" panose="02020603050405020304" pitchFamily="18" charset="0"/>
                <a:cs typeface="Times New Roman" panose="02020603050405020304" pitchFamily="18" charset="0"/>
              </a:rPr>
              <a:t>Bước 3: </a:t>
            </a:r>
            <a:r>
              <a:rPr lang="vi-VN" dirty="0">
                <a:latin typeface="Times New Roman" panose="02020603050405020304" pitchFamily="18" charset="0"/>
                <a:cs typeface="Times New Roman" panose="02020603050405020304" pitchFamily="18" charset="0"/>
              </a:rPr>
              <a:t>Lợi dụng thông tin, khai thác</a:t>
            </a:r>
            <a:r>
              <a:rPr lang="en-US"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payload</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file</a:t>
            </a:r>
            <a:r>
              <a:rPr lang="vi-VN"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a:t>
            </a:r>
            <a:r>
              <a:rPr lang="vi-VN" dirty="0">
                <a:latin typeface="Times New Roman" panose="02020603050405020304" pitchFamily="18" charset="0"/>
                <a:cs typeface="Times New Roman" panose="02020603050405020304" pitchFamily="18" charset="0"/>
              </a:rPr>
              <a:t>../../../</a:t>
            </a:r>
            <a:r>
              <a:rPr lang="vi-VN" dirty="0" err="1">
                <a:latin typeface="Times New Roman" panose="02020603050405020304" pitchFamily="18" charset="0"/>
                <a:cs typeface="Times New Roman" panose="02020603050405020304" pitchFamily="18" charset="0"/>
              </a:rPr>
              <a:t>etc</a:t>
            </a:r>
            <a:r>
              <a:rPr lang="vi-VN" dirty="0">
                <a:latin typeface="Times New Roman" panose="02020603050405020304" pitchFamily="18" charset="0"/>
                <a:cs typeface="Times New Roman" panose="02020603050405020304" pitchFamily="18" charset="0"/>
              </a:rPr>
              <a:t>/</a:t>
            </a:r>
            <a:r>
              <a:rPr lang="vi-VN" dirty="0" err="1">
                <a:latin typeface="Times New Roman" panose="02020603050405020304" pitchFamily="18" charset="0"/>
                <a:cs typeface="Times New Roman" panose="02020603050405020304" pitchFamily="18" charset="0"/>
              </a:rPr>
              <a:t>passwd</a:t>
            </a:r>
            <a:r>
              <a:rPr lang="vi-VN"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vi-VN" dirty="0">
                <a:latin typeface="Times New Roman" panose="02020603050405020304" pitchFamily="18" charset="0"/>
                <a:cs typeface="Times New Roman" panose="02020603050405020304" pitchFamily="18" charset="0"/>
              </a:rPr>
              <a:t>Kết quả: Đọc thành công </a:t>
            </a:r>
            <a:r>
              <a:rPr lang="vi-VN" dirty="0" err="1">
                <a:latin typeface="Times New Roman" panose="02020603050405020304" pitchFamily="18" charset="0"/>
                <a:cs typeface="Times New Roman" panose="02020603050405020304" pitchFamily="18" charset="0"/>
              </a:rPr>
              <a:t>file</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etc</a:t>
            </a:r>
            <a:r>
              <a:rPr lang="vi-VN" dirty="0">
                <a:latin typeface="Times New Roman" panose="02020603050405020304" pitchFamily="18" charset="0"/>
                <a:cs typeface="Times New Roman" panose="02020603050405020304" pitchFamily="18" charset="0"/>
              </a:rPr>
              <a:t>/</a:t>
            </a:r>
            <a:r>
              <a:rPr lang="vi-VN" dirty="0" err="1">
                <a:latin typeface="Times New Roman" panose="02020603050405020304" pitchFamily="18" charset="0"/>
                <a:cs typeface="Times New Roman" panose="02020603050405020304" pitchFamily="18" charset="0"/>
              </a:rPr>
              <a:t>passwd</a:t>
            </a:r>
            <a:endParaRPr lang="en-US" dirty="0">
              <a:latin typeface="Times New Roman" panose="02020603050405020304" pitchFamily="18" charset="0"/>
              <a:cs typeface="Times New Roman" panose="02020603050405020304" pitchFamily="18" charset="0"/>
            </a:endParaRPr>
          </a:p>
        </p:txBody>
      </p:sp>
      <p:sp>
        <p:nvSpPr>
          <p:cNvPr id="3" name="Text Box 2"/>
          <p:cNvSpPr txBox="1"/>
          <p:nvPr/>
        </p:nvSpPr>
        <p:spPr>
          <a:xfrm>
            <a:off x="645795" y="1464310"/>
            <a:ext cx="8404860" cy="589280"/>
          </a:xfrm>
          <a:prstGeom prst="rect">
            <a:avLst/>
          </a:prstGeom>
          <a:noFill/>
        </p:spPr>
        <p:txBody>
          <a:bodyPr wrap="square" rtlCol="0">
            <a:noAutofit/>
          </a:bodyPr>
          <a:lstStyle/>
          <a:p>
            <a:r>
              <a:rPr lang="en-US" sz="2600" b="1" dirty="0">
                <a:solidFill>
                  <a:srgbClr val="FF0000"/>
                </a:solidFill>
                <a:latin typeface="Times New Roman" panose="02020603050405020304" pitchFamily="18" charset="0"/>
                <a:cs typeface="Times New Roman" panose="02020603050405020304" pitchFamily="18" charset="0"/>
                <a:sym typeface="+mn-ea"/>
              </a:rPr>
              <a:t>3. </a:t>
            </a:r>
            <a:r>
              <a:rPr lang="en-US" altLang="en-US" sz="2600" b="1" dirty="0">
                <a:solidFill>
                  <a:srgbClr val="FF0000"/>
                </a:solidFill>
                <a:latin typeface="Times New Roman" panose="02020603050405020304" pitchFamily="18" charset="0"/>
                <a:cs typeface="Times New Roman" panose="02020603050405020304" pitchFamily="18" charset="0"/>
                <a:sym typeface="+mn-ea"/>
              </a:rPr>
              <a:t>Error Handling ( </a:t>
            </a:r>
            <a:r>
              <a:rPr lang="en-US" altLang="en-US" sz="2600" b="1" dirty="0" err="1">
                <a:solidFill>
                  <a:srgbClr val="FF0000"/>
                </a:solidFill>
                <a:latin typeface="Times New Roman" panose="02020603050405020304" pitchFamily="18" charset="0"/>
                <a:cs typeface="Times New Roman" panose="02020603050405020304" pitchFamily="18" charset="0"/>
                <a:sym typeface="+mn-ea"/>
              </a:rPr>
              <a:t>lộ</a:t>
            </a:r>
            <a:r>
              <a:rPr lang="en-US" altLang="en-US" sz="2600" b="1" dirty="0">
                <a:solidFill>
                  <a:srgbClr val="FF0000"/>
                </a:solidFill>
                <a:latin typeface="Times New Roman" panose="02020603050405020304" pitchFamily="18" charset="0"/>
                <a:cs typeface="Times New Roman" panose="02020603050405020304" pitchFamily="18" charset="0"/>
                <a:sym typeface="+mn-ea"/>
              </a:rPr>
              <a:t> </a:t>
            </a:r>
            <a:r>
              <a:rPr lang="en-US" altLang="en-US" sz="2600" b="1" dirty="0" err="1">
                <a:solidFill>
                  <a:srgbClr val="FF0000"/>
                </a:solidFill>
                <a:latin typeface="Times New Roman" panose="02020603050405020304" pitchFamily="18" charset="0"/>
                <a:cs typeface="Times New Roman" panose="02020603050405020304" pitchFamily="18" charset="0"/>
                <a:sym typeface="+mn-ea"/>
              </a:rPr>
              <a:t>thông</a:t>
            </a:r>
            <a:r>
              <a:rPr lang="en-US" altLang="en-US" sz="2600" b="1" dirty="0">
                <a:solidFill>
                  <a:srgbClr val="FF0000"/>
                </a:solidFill>
                <a:latin typeface="Times New Roman" panose="02020603050405020304" pitchFamily="18" charset="0"/>
                <a:cs typeface="Times New Roman" panose="02020603050405020304" pitchFamily="18" charset="0"/>
                <a:sym typeface="+mn-ea"/>
              </a:rPr>
              <a:t> tin </a:t>
            </a:r>
            <a:r>
              <a:rPr lang="en-US" altLang="en-US" sz="2600" b="1" dirty="0" err="1">
                <a:solidFill>
                  <a:srgbClr val="FF0000"/>
                </a:solidFill>
                <a:latin typeface="Times New Roman" panose="02020603050405020304" pitchFamily="18" charset="0"/>
                <a:cs typeface="Times New Roman" panose="02020603050405020304" pitchFamily="18" charset="0"/>
                <a:sym typeface="+mn-ea"/>
              </a:rPr>
              <a:t>kỹ</a:t>
            </a:r>
            <a:r>
              <a:rPr lang="en-US" altLang="en-US" sz="2600" b="1" dirty="0">
                <a:solidFill>
                  <a:srgbClr val="FF0000"/>
                </a:solidFill>
                <a:latin typeface="Times New Roman" panose="02020603050405020304" pitchFamily="18" charset="0"/>
                <a:cs typeface="Times New Roman" panose="02020603050405020304" pitchFamily="18" charset="0"/>
                <a:sym typeface="+mn-ea"/>
              </a:rPr>
              <a:t> </a:t>
            </a:r>
            <a:r>
              <a:rPr lang="en-US" altLang="en-US" sz="2600" b="1" dirty="0" err="1">
                <a:solidFill>
                  <a:srgbClr val="FF0000"/>
                </a:solidFill>
                <a:latin typeface="Times New Roman" panose="02020603050405020304" pitchFamily="18" charset="0"/>
                <a:cs typeface="Times New Roman" panose="02020603050405020304" pitchFamily="18" charset="0"/>
                <a:sym typeface="+mn-ea"/>
              </a:rPr>
              <a:t>thuật</a:t>
            </a:r>
            <a:r>
              <a:rPr lang="en-US" altLang="en-US" sz="2600" b="1" dirty="0">
                <a:solidFill>
                  <a:srgbClr val="FF0000"/>
                </a:solidFill>
                <a:latin typeface="Times New Roman" panose="02020603050405020304" pitchFamily="18" charset="0"/>
                <a:cs typeface="Times New Roman" panose="02020603050405020304" pitchFamily="18" charset="0"/>
                <a:sym typeface="+mn-ea"/>
              </a:rPr>
              <a:t> )</a:t>
            </a:r>
            <a:endParaRPr lang="en-US" sz="2600" b="1" dirty="0">
              <a:solidFill>
                <a:srgbClr val="FF0000"/>
              </a:solidFill>
              <a:latin typeface="Times New Roman" panose="02020603050405020304" pitchFamily="18" charset="0"/>
              <a:cs typeface="Times New Roman" panose="02020603050405020304" pitchFamily="18" charset="0"/>
              <a:sym typeface="+mn-ea"/>
            </a:endParaRPr>
          </a:p>
        </p:txBody>
      </p:sp>
      <p:pic>
        <p:nvPicPr>
          <p:cNvPr id="6" name="Picture 5" descr="A computer screen shot of a diagram&#10;&#10;AI-generated content may be incorrect.">
            <a:extLst>
              <a:ext uri="{FF2B5EF4-FFF2-40B4-BE49-F238E27FC236}">
                <a16:creationId xmlns:a16="http://schemas.microsoft.com/office/drawing/2014/main" id="{E1C9FA87-8870-1CAF-BBB4-5DF7C036B12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86137" y="2130136"/>
            <a:ext cx="4373504" cy="4209702"/>
          </a:xfrm>
          <a:prstGeom prst="rect">
            <a:avLst/>
          </a:prstGeom>
        </p:spPr>
      </p:pic>
      <p:sp>
        <p:nvSpPr>
          <p:cNvPr id="4" name="Slide Number Placeholder 3">
            <a:extLst>
              <a:ext uri="{FF2B5EF4-FFF2-40B4-BE49-F238E27FC236}">
                <a16:creationId xmlns:a16="http://schemas.microsoft.com/office/drawing/2014/main" id="{63879D28-03F3-6CC0-8CDD-1B710656BB5B}"/>
              </a:ext>
            </a:extLst>
          </p:cNvPr>
          <p:cNvSpPr>
            <a:spLocks noGrp="1"/>
          </p:cNvSpPr>
          <p:nvPr>
            <p:ph type="sldNum" sz="quarter" idx="12"/>
          </p:nvPr>
        </p:nvSpPr>
        <p:spPr/>
        <p:txBody>
          <a:bodyPr/>
          <a:lstStyle/>
          <a:p>
            <a:pPr lvl="0" eaLnBrk="1" hangingPunct="1"/>
            <a:fld id="{9A0DB2DC-4C9A-4742-B13C-FB6460FD3503}" type="slidenum">
              <a:rPr lang="en-US" altLang="ja-JP" smtClean="0">
                <a:latin typeface="Arial" panose="020B0604020202020204" pitchFamily="34" charset="0"/>
              </a:rPr>
              <a:t>22</a:t>
            </a:fld>
            <a:endParaRPr lang="en-US" altLang="ja-JP"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17410">
                                            <p:txEl>
                                              <p:pRg st="0" end="0"/>
                                            </p:txEl>
                                          </p:spTgt>
                                        </p:tgtEl>
                                        <p:attrNameLst>
                                          <p:attrName>style.visibility</p:attrName>
                                        </p:attrNameLst>
                                      </p:cBhvr>
                                      <p:to>
                                        <p:strVal val="visible"/>
                                      </p:to>
                                    </p:set>
                                    <p:anim calcmode="lin" valueType="num">
                                      <p:cBhvr additive="base">
                                        <p:cTn id="7" dur="500"/>
                                        <p:tgtEl>
                                          <p:spTgt spid="17410">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17410">
                                            <p:txEl>
                                              <p:pRg st="0" end="0"/>
                                            </p:txEl>
                                          </p:spTgt>
                                        </p:tgtEl>
                                      </p:cBhvr>
                                    </p:animEffect>
                                  </p:childTnLst>
                                </p:cTn>
                              </p:par>
                              <p:par>
                                <p:cTn id="9" presetID="12" presetClass="entr" presetSubtype="4" fill="hold" nodeType="withEffect">
                                  <p:stCondLst>
                                    <p:cond delay="0"/>
                                  </p:stCondLst>
                                  <p:childTnLst>
                                    <p:set>
                                      <p:cBhvr>
                                        <p:cTn id="10" dur="1" fill="hold">
                                          <p:stCondLst>
                                            <p:cond delay="0"/>
                                          </p:stCondLst>
                                        </p:cTn>
                                        <p:tgtEl>
                                          <p:spTgt spid="17410">
                                            <p:txEl>
                                              <p:pRg st="1" end="1"/>
                                            </p:txEl>
                                          </p:spTgt>
                                        </p:tgtEl>
                                        <p:attrNameLst>
                                          <p:attrName>style.visibility</p:attrName>
                                        </p:attrNameLst>
                                      </p:cBhvr>
                                      <p:to>
                                        <p:strVal val="visible"/>
                                      </p:to>
                                    </p:set>
                                    <p:anim calcmode="lin" valueType="num">
                                      <p:cBhvr additive="base">
                                        <p:cTn id="11" dur="500"/>
                                        <p:tgtEl>
                                          <p:spTgt spid="17410">
                                            <p:txEl>
                                              <p:pRg st="1" end="1"/>
                                            </p:txEl>
                                          </p:spTgt>
                                        </p:tgtEl>
                                        <p:attrNameLst>
                                          <p:attrName>ppt_y</p:attrName>
                                        </p:attrNameLst>
                                      </p:cBhvr>
                                      <p:tavLst>
                                        <p:tav tm="0">
                                          <p:val>
                                            <p:strVal val="#ppt_y+#ppt_h*1.125000"/>
                                          </p:val>
                                        </p:tav>
                                        <p:tav tm="100000">
                                          <p:val>
                                            <p:strVal val="#ppt_y"/>
                                          </p:val>
                                        </p:tav>
                                      </p:tavLst>
                                    </p:anim>
                                    <p:animEffect transition="in" filter="wipe(up)">
                                      <p:cBhvr>
                                        <p:cTn id="12" dur="500"/>
                                        <p:tgtEl>
                                          <p:spTgt spid="17410">
                                            <p:txEl>
                                              <p:pRg st="1" end="1"/>
                                            </p:txEl>
                                          </p:spTgt>
                                        </p:tgtEl>
                                      </p:cBhvr>
                                    </p:animEffect>
                                  </p:childTnLst>
                                </p:cTn>
                              </p:par>
                              <p:par>
                                <p:cTn id="13" presetID="12" presetClass="entr" presetSubtype="4" fill="hold" nodeType="with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additive="base">
                                        <p:cTn id="15" dur="500"/>
                                        <p:tgtEl>
                                          <p:spTgt spid="3">
                                            <p:txEl>
                                              <p:pRg st="0" end="0"/>
                                            </p:txEl>
                                          </p:spTgt>
                                        </p:tgtEl>
                                        <p:attrNameLst>
                                          <p:attrName>ppt_y</p:attrName>
                                        </p:attrNameLst>
                                      </p:cBhvr>
                                      <p:tavLst>
                                        <p:tav tm="0">
                                          <p:val>
                                            <p:strVal val="#ppt_y+#ppt_h*1.125000"/>
                                          </p:val>
                                        </p:tav>
                                        <p:tav tm="100000">
                                          <p:val>
                                            <p:strVal val="#ppt_y"/>
                                          </p:val>
                                        </p:tav>
                                      </p:tavLst>
                                    </p:anim>
                                    <p:animEffect transition="in" filter="wipe(up)">
                                      <p:cBhvr>
                                        <p:cTn id="16"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テキスト ボックス 3"/>
          <p:cNvSpPr txBox="1"/>
          <p:nvPr/>
        </p:nvSpPr>
        <p:spPr>
          <a:xfrm>
            <a:off x="2181701" y="125730"/>
            <a:ext cx="5745480" cy="1076325"/>
          </a:xfrm>
          <a:prstGeom prst="rect">
            <a:avLst/>
          </a:prstGeom>
          <a:noFill/>
          <a:ln w="9525">
            <a:noFill/>
          </a:ln>
        </p:spPr>
        <p:txBody>
          <a:bodyPr wrap="none">
            <a:spAutoFit/>
          </a:bodyPr>
          <a:lstStyle/>
          <a:p>
            <a:pPr algn="ctr">
              <a:buNone/>
            </a:pPr>
            <a:r>
              <a:rPr lang="en-US" altLang="ja-JP" sz="3200" b="1" dirty="0">
                <a:solidFill>
                  <a:srgbClr val="FF0000"/>
                </a:solidFill>
                <a:latin typeface="Times New Roman" panose="02020603050405020304" pitchFamily="18" charset="0"/>
                <a:ea typeface="MS PGothic" panose="020B0600070205080204" pitchFamily="50" charset="-128"/>
                <a:sym typeface="+mn-ea"/>
              </a:rPr>
              <a:t>II. Cách thức tấn công </a:t>
            </a:r>
            <a:endParaRPr lang="en-US" altLang="ja-JP" sz="3200" b="1" dirty="0">
              <a:solidFill>
                <a:srgbClr val="FF0000"/>
              </a:solidFill>
              <a:latin typeface="Times New Roman" panose="02020603050405020304" pitchFamily="18" charset="0"/>
              <a:ea typeface="MS PGothic" panose="020B0600070205080204" pitchFamily="50" charset="-128"/>
            </a:endParaRPr>
          </a:p>
          <a:p>
            <a:pPr algn="ctr">
              <a:buNone/>
            </a:pPr>
            <a:r>
              <a:rPr lang="en-US" altLang="ja-JP" sz="3200" b="1" dirty="0">
                <a:solidFill>
                  <a:srgbClr val="FF0000"/>
                </a:solidFill>
                <a:latin typeface="Times New Roman" panose="02020603050405020304" pitchFamily="18" charset="0"/>
                <a:ea typeface="MS PGothic" panose="020B0600070205080204" pitchFamily="50" charset="-128"/>
                <a:sym typeface="+mn-ea"/>
              </a:rPr>
              <a:t>và cách phòng ngừa, ngăn chặn.</a:t>
            </a:r>
            <a:endParaRPr lang="ja-JP" altLang="en-US" sz="3200" b="1" dirty="0">
              <a:solidFill>
                <a:srgbClr val="FF0000"/>
              </a:solidFill>
              <a:latin typeface="Times New Roman" panose="02020603050405020304" pitchFamily="18" charset="0"/>
              <a:ea typeface="MS PGothic" panose="020B0600070205080204" pitchFamily="50" charset="-128"/>
            </a:endParaRPr>
          </a:p>
        </p:txBody>
      </p:sp>
      <p:sp>
        <p:nvSpPr>
          <p:cNvPr id="2" name="Text Box 1"/>
          <p:cNvSpPr txBox="1"/>
          <p:nvPr/>
        </p:nvSpPr>
        <p:spPr>
          <a:xfrm>
            <a:off x="263524" y="1906905"/>
            <a:ext cx="5382895" cy="4727575"/>
          </a:xfrm>
          <a:prstGeom prst="rect">
            <a:avLst/>
          </a:prstGeom>
          <a:noFill/>
        </p:spPr>
        <p:txBody>
          <a:bodyPr wrap="square" rtlCol="0">
            <a:noAutofit/>
          </a:bodyPr>
          <a:lstStyle/>
          <a:p>
            <a:r>
              <a:rPr lang="en-US" altLang="en-US" sz="2300" b="1" dirty="0">
                <a:latin typeface="Times New Roman" panose="02020603050405020304" pitchFamily="18" charset="0"/>
                <a:cs typeface="Times New Roman" panose="02020603050405020304" pitchFamily="18" charset="0"/>
                <a:sym typeface="+mn-ea"/>
              </a:rPr>
              <a:t>Minh </a:t>
            </a:r>
            <a:r>
              <a:rPr lang="en-US" altLang="en-US" sz="2300" b="1" dirty="0" err="1">
                <a:latin typeface="Times New Roman" panose="02020603050405020304" pitchFamily="18" charset="0"/>
                <a:cs typeface="Times New Roman" panose="02020603050405020304" pitchFamily="18" charset="0"/>
                <a:sym typeface="+mn-ea"/>
              </a:rPr>
              <a:t>Họa</a:t>
            </a:r>
            <a:r>
              <a:rPr lang="en-US" altLang="en-US" sz="2300" b="1" dirty="0">
                <a:latin typeface="Times New Roman" panose="02020603050405020304" pitchFamily="18" charset="0"/>
                <a:cs typeface="Times New Roman" panose="02020603050405020304" pitchFamily="18" charset="0"/>
                <a:sym typeface="+mn-ea"/>
              </a:rPr>
              <a:t> </a:t>
            </a:r>
            <a:r>
              <a:rPr lang="en-US" altLang="en-US" sz="2300" b="1" dirty="0" err="1">
                <a:latin typeface="Times New Roman" panose="02020603050405020304" pitchFamily="18" charset="0"/>
                <a:cs typeface="Times New Roman" panose="02020603050405020304" pitchFamily="18" charset="0"/>
                <a:sym typeface="+mn-ea"/>
              </a:rPr>
              <a:t>Tấn</a:t>
            </a:r>
            <a:r>
              <a:rPr lang="en-US" altLang="en-US" sz="2300" b="1" dirty="0">
                <a:latin typeface="Times New Roman" panose="02020603050405020304" pitchFamily="18" charset="0"/>
                <a:cs typeface="Times New Roman" panose="02020603050405020304" pitchFamily="18" charset="0"/>
                <a:sym typeface="+mn-ea"/>
              </a:rPr>
              <a:t> Công:</a:t>
            </a:r>
          </a:p>
          <a:p>
            <a:endParaRPr lang="en-US" altLang="en-US" sz="2300" b="1" dirty="0">
              <a:latin typeface="Times New Roman" panose="02020603050405020304" pitchFamily="18" charset="0"/>
              <a:cs typeface="Times New Roman" panose="02020603050405020304" pitchFamily="18" charset="0"/>
              <a:sym typeface="+mn-ea"/>
            </a:endParaRPr>
          </a:p>
          <a:p>
            <a:r>
              <a:rPr lang="en-US" altLang="en-US" sz="1800" b="1" dirty="0">
                <a:latin typeface="Times New Roman" panose="02020603050405020304" pitchFamily="18" charset="0"/>
                <a:cs typeface="Times New Roman" panose="02020603050405020304" pitchFamily="18" charset="0"/>
                <a:sym typeface="+mn-ea"/>
              </a:rPr>
              <a:t>Giai </a:t>
            </a:r>
            <a:r>
              <a:rPr lang="en-US" altLang="en-US" sz="1800" b="1" dirty="0" err="1">
                <a:latin typeface="Times New Roman" panose="02020603050405020304" pitchFamily="18" charset="0"/>
                <a:cs typeface="Times New Roman" panose="02020603050405020304" pitchFamily="18" charset="0"/>
                <a:sym typeface="+mn-ea"/>
              </a:rPr>
              <a:t>đoạn</a:t>
            </a:r>
            <a:r>
              <a:rPr lang="en-US" altLang="en-US" sz="1800" b="1" dirty="0">
                <a:latin typeface="Times New Roman" panose="02020603050405020304" pitchFamily="18" charset="0"/>
                <a:cs typeface="Times New Roman" panose="02020603050405020304" pitchFamily="18" charset="0"/>
                <a:sym typeface="+mn-ea"/>
              </a:rPr>
              <a:t> 2: </a:t>
            </a:r>
            <a:r>
              <a:rPr lang="en-US" dirty="0" err="1">
                <a:latin typeface="Times New Roman" panose="02020603050405020304" pitchFamily="18" charset="0"/>
                <a:cs typeface="Times New Roman" panose="02020603050405020304" pitchFamily="18" charset="0"/>
              </a:rPr>
              <a:t>Tìm</a:t>
            </a:r>
            <a:r>
              <a:rPr lang="en-US" dirty="0">
                <a:latin typeface="Times New Roman" panose="02020603050405020304" pitchFamily="18" charset="0"/>
                <a:cs typeface="Times New Roman" panose="02020603050405020304" pitchFamily="18" charset="0"/>
              </a:rPr>
              <a:t> Kiếm "</a:t>
            </a:r>
            <a:r>
              <a:rPr lang="en-US" dirty="0" err="1">
                <a:latin typeface="Times New Roman" panose="02020603050405020304" pitchFamily="18" charset="0"/>
                <a:cs typeface="Times New Roman" panose="02020603050405020304" pitchFamily="18" charset="0"/>
              </a:rPr>
              <a:t>Cửa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Quét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Gobuster</a:t>
            </a:r>
            <a:r>
              <a:rPr lang="en-US" dirty="0">
                <a:latin typeface="Times New Roman" panose="02020603050405020304" pitchFamily="18" charset="0"/>
                <a:cs typeface="Times New Roman" panose="02020603050405020304" pitchFamily="18" charset="0"/>
              </a:rPr>
              <a:t>)</a:t>
            </a:r>
          </a:p>
          <a:p>
            <a:endParaRPr lang="en-US" b="1" dirty="0">
              <a:latin typeface="Times New Roman" panose="02020603050405020304" pitchFamily="18" charset="0"/>
              <a:cs typeface="Times New Roman" panose="02020603050405020304" pitchFamily="18" charset="0"/>
              <a:sym typeface="+mn-ea"/>
            </a:endParaRPr>
          </a:p>
          <a:p>
            <a:r>
              <a:rPr lang="vi-VN" altLang="en-US" sz="1800" b="1" dirty="0">
                <a:latin typeface="Times New Roman" panose="02020603050405020304" pitchFamily="18" charset="0"/>
                <a:cs typeface="Times New Roman" panose="02020603050405020304" pitchFamily="18" charset="0"/>
              </a:rPr>
              <a:t>Mục tiêu: </a:t>
            </a:r>
            <a:r>
              <a:rPr lang="vi-VN" altLang="en-US" sz="1800" dirty="0">
                <a:latin typeface="Times New Roman" panose="02020603050405020304" pitchFamily="18" charset="0"/>
                <a:cs typeface="Times New Roman" panose="02020603050405020304" pitchFamily="18" charset="0"/>
              </a:rPr>
              <a:t>Tìm chức năng </a:t>
            </a:r>
            <a:r>
              <a:rPr lang="vi-VN" altLang="en-US" sz="1800" dirty="0" err="1">
                <a:latin typeface="Times New Roman" panose="02020603050405020304" pitchFamily="18" charset="0"/>
                <a:cs typeface="Times New Roman" panose="02020603050405020304" pitchFamily="18" charset="0"/>
              </a:rPr>
              <a:t>upload</a:t>
            </a:r>
            <a:r>
              <a:rPr lang="vi-VN" altLang="en-US" sz="1800" dirty="0">
                <a:latin typeface="Times New Roman" panose="02020603050405020304" pitchFamily="18" charset="0"/>
                <a:cs typeface="Times New Roman" panose="02020603050405020304" pitchFamily="18" charset="0"/>
              </a:rPr>
              <a:t> </a:t>
            </a:r>
            <a:r>
              <a:rPr lang="vi-VN" altLang="en-US" sz="1800" dirty="0" err="1">
                <a:latin typeface="Times New Roman" panose="02020603050405020304" pitchFamily="18" charset="0"/>
                <a:cs typeface="Times New Roman" panose="02020603050405020304" pitchFamily="18" charset="0"/>
              </a:rPr>
              <a:t>file</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upload.php</a:t>
            </a:r>
            <a:r>
              <a:rPr lang="en-US" altLang="en-US" sz="1800" dirty="0">
                <a:latin typeface="Times New Roman" panose="02020603050405020304" pitchFamily="18" charset="0"/>
                <a:cs typeface="Times New Roman" panose="02020603050405020304" pitchFamily="18" charset="0"/>
              </a:rPr>
              <a:t>)</a:t>
            </a:r>
            <a:r>
              <a:rPr lang="vi-VN" altLang="en-US" sz="1800" dirty="0">
                <a:latin typeface="Times New Roman" panose="02020603050405020304" pitchFamily="18" charset="0"/>
                <a:cs typeface="Times New Roman" panose="02020603050405020304" pitchFamily="18" charset="0"/>
              </a:rPr>
              <a:t>.</a:t>
            </a:r>
            <a:endParaRPr lang="en-US" altLang="en-US" sz="1800"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a:p>
            <a:r>
              <a:rPr lang="vi-VN" altLang="en-US" sz="1800" b="1" dirty="0">
                <a:latin typeface="Times New Roman" panose="02020603050405020304" pitchFamily="18" charset="0"/>
                <a:cs typeface="Times New Roman" panose="02020603050405020304" pitchFamily="18" charset="0"/>
              </a:rPr>
              <a:t>Bước 1: </a:t>
            </a:r>
            <a:r>
              <a:rPr lang="vi-VN" altLang="en-US" sz="1800" dirty="0">
                <a:latin typeface="Times New Roman" panose="02020603050405020304" pitchFamily="18" charset="0"/>
                <a:cs typeface="Times New Roman" panose="02020603050405020304" pitchFamily="18" charset="0"/>
              </a:rPr>
              <a:t>Chạy </a:t>
            </a:r>
            <a:r>
              <a:rPr lang="vi-VN" altLang="en-US" sz="1800" dirty="0" err="1">
                <a:latin typeface="Times New Roman" panose="02020603050405020304" pitchFamily="18" charset="0"/>
                <a:cs typeface="Times New Roman" panose="02020603050405020304" pitchFamily="18" charset="0"/>
              </a:rPr>
              <a:t>gobuster</a:t>
            </a:r>
            <a:r>
              <a:rPr lang="vi-VN" altLang="en-US" sz="1800" dirty="0">
                <a:latin typeface="Times New Roman" panose="02020603050405020304" pitchFamily="18" charset="0"/>
                <a:cs typeface="Times New Roman" panose="02020603050405020304" pitchFamily="18" charset="0"/>
              </a:rPr>
              <a:t> quét thư mục gốc (/).</a:t>
            </a:r>
            <a:endParaRPr lang="en-US" altLang="en-US" sz="1800"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a:p>
            <a:r>
              <a:rPr lang="vi-VN" altLang="en-US" sz="1800" b="1" dirty="0">
                <a:latin typeface="Times New Roman" panose="02020603050405020304" pitchFamily="18" charset="0"/>
                <a:cs typeface="Times New Roman" panose="02020603050405020304" pitchFamily="18" charset="0"/>
              </a:rPr>
              <a:t>Bước 2: </a:t>
            </a:r>
            <a:r>
              <a:rPr lang="vi-VN" altLang="en-US" sz="1800" dirty="0">
                <a:latin typeface="Times New Roman" panose="02020603050405020304" pitchFamily="18" charset="0"/>
                <a:cs typeface="Times New Roman" panose="02020603050405020304" pitchFamily="18" charset="0"/>
              </a:rPr>
              <a:t>Phát hiện thư mục /</a:t>
            </a:r>
            <a:r>
              <a:rPr lang="vi-VN" altLang="en-US" sz="1800" dirty="0" err="1">
                <a:latin typeface="Times New Roman" panose="02020603050405020304" pitchFamily="18" charset="0"/>
                <a:cs typeface="Times New Roman" panose="02020603050405020304" pitchFamily="18" charset="0"/>
              </a:rPr>
              <a:t>uploads</a:t>
            </a:r>
            <a:r>
              <a:rPr lang="vi-VN" altLang="en-US" sz="1800" dirty="0">
                <a:latin typeface="Times New Roman" panose="02020603050405020304" pitchFamily="18" charset="0"/>
                <a:cs typeface="Times New Roman" panose="02020603050405020304" pitchFamily="18" charset="0"/>
              </a:rPr>
              <a:t> và /</a:t>
            </a:r>
            <a:r>
              <a:rPr lang="vi-VN" altLang="en-US" sz="1800" dirty="0" err="1">
                <a:latin typeface="Times New Roman" panose="02020603050405020304" pitchFamily="18" charset="0"/>
                <a:cs typeface="Times New Roman" panose="02020603050405020304" pitchFamily="18" charset="0"/>
              </a:rPr>
              <a:t>routes</a:t>
            </a:r>
            <a:r>
              <a:rPr lang="vi-VN" altLang="en-US" sz="1800" dirty="0">
                <a:latin typeface="Times New Roman" panose="02020603050405020304" pitchFamily="18" charset="0"/>
                <a:cs typeface="Times New Roman" panose="02020603050405020304" pitchFamily="18" charset="0"/>
              </a:rPr>
              <a:t>.</a:t>
            </a:r>
            <a:endParaRPr lang="en-US" altLang="en-US" sz="1800"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a:p>
            <a:r>
              <a:rPr lang="vi-VN" altLang="en-US" sz="1800" b="1" dirty="0">
                <a:latin typeface="Times New Roman" panose="02020603050405020304" pitchFamily="18" charset="0"/>
                <a:cs typeface="Times New Roman" panose="02020603050405020304" pitchFamily="18" charset="0"/>
              </a:rPr>
              <a:t>Bước 3: </a:t>
            </a:r>
            <a:r>
              <a:rPr lang="vi-VN" altLang="en-US" sz="1800" dirty="0">
                <a:latin typeface="Times New Roman" panose="02020603050405020304" pitchFamily="18" charset="0"/>
                <a:cs typeface="Times New Roman" panose="02020603050405020304" pitchFamily="18" charset="0"/>
              </a:rPr>
              <a:t>Chạy </a:t>
            </a:r>
            <a:r>
              <a:rPr lang="vi-VN" altLang="en-US" sz="1800" dirty="0" err="1">
                <a:latin typeface="Times New Roman" panose="02020603050405020304" pitchFamily="18" charset="0"/>
                <a:cs typeface="Times New Roman" panose="02020603050405020304" pitchFamily="18" charset="0"/>
              </a:rPr>
              <a:t>gobuster</a:t>
            </a:r>
            <a:r>
              <a:rPr lang="vi-VN" altLang="en-US" sz="1800" dirty="0">
                <a:latin typeface="Times New Roman" panose="02020603050405020304" pitchFamily="18" charset="0"/>
                <a:cs typeface="Times New Roman" panose="02020603050405020304" pitchFamily="18" charset="0"/>
              </a:rPr>
              <a:t> lần 2, quét sâu vào /</a:t>
            </a:r>
            <a:r>
              <a:rPr lang="vi-VN" altLang="en-US" sz="1800" dirty="0" err="1">
                <a:latin typeface="Times New Roman" panose="02020603050405020304" pitchFamily="18" charset="0"/>
                <a:cs typeface="Times New Roman" panose="02020603050405020304" pitchFamily="18" charset="0"/>
              </a:rPr>
              <a:t>routes</a:t>
            </a:r>
            <a:r>
              <a:rPr lang="vi-VN" altLang="en-US" sz="1800" dirty="0">
                <a:latin typeface="Times New Roman" panose="02020603050405020304" pitchFamily="18" charset="0"/>
                <a:cs typeface="Times New Roman" panose="02020603050405020304" pitchFamily="18" charset="0"/>
              </a:rPr>
              <a:t> (với tùy chọn -x </a:t>
            </a:r>
            <a:r>
              <a:rPr lang="vi-VN" altLang="en-US" sz="1800" dirty="0" err="1">
                <a:latin typeface="Times New Roman" panose="02020603050405020304" pitchFamily="18" charset="0"/>
                <a:cs typeface="Times New Roman" panose="02020603050405020304" pitchFamily="18" charset="0"/>
              </a:rPr>
              <a:t>php</a:t>
            </a:r>
            <a:r>
              <a:rPr lang="vi-VN" altLang="en-US" sz="1800" dirty="0">
                <a:latin typeface="Times New Roman" panose="02020603050405020304" pitchFamily="18" charset="0"/>
                <a:cs typeface="Times New Roman" panose="02020603050405020304" pitchFamily="18" charset="0"/>
              </a:rPr>
              <a:t>).</a:t>
            </a:r>
            <a:endParaRPr lang="en-US" altLang="en-US" dirty="0">
              <a:latin typeface="Times New Roman" panose="02020603050405020304" pitchFamily="18" charset="0"/>
              <a:cs typeface="Times New Roman" panose="02020603050405020304" pitchFamily="18" charset="0"/>
            </a:endParaRPr>
          </a:p>
          <a:p>
            <a:endParaRPr lang="en-US" altLang="en-US" sz="1800" dirty="0">
              <a:latin typeface="Times New Roman" panose="02020603050405020304" pitchFamily="18" charset="0"/>
              <a:cs typeface="Times New Roman" panose="02020603050405020304" pitchFamily="18" charset="0"/>
            </a:endParaRPr>
          </a:p>
          <a:p>
            <a:r>
              <a:rPr lang="vi-VN" altLang="en-US" sz="1800" dirty="0">
                <a:latin typeface="Times New Roman" panose="02020603050405020304" pitchFamily="18" charset="0"/>
                <a:cs typeface="Times New Roman" panose="02020603050405020304" pitchFamily="18" charset="0"/>
              </a:rPr>
              <a:t>Kết quả: Tìm thấy </a:t>
            </a:r>
            <a:r>
              <a:rPr lang="vi-VN" altLang="en-US" sz="1800" dirty="0" err="1">
                <a:latin typeface="Times New Roman" panose="02020603050405020304" pitchFamily="18" charset="0"/>
                <a:cs typeface="Times New Roman" panose="02020603050405020304" pitchFamily="18" charset="0"/>
              </a:rPr>
              <a:t>file</a:t>
            </a:r>
            <a:r>
              <a:rPr lang="vi-VN" altLang="en-US" sz="1800" dirty="0">
                <a:latin typeface="Times New Roman" panose="02020603050405020304" pitchFamily="18" charset="0"/>
                <a:cs typeface="Times New Roman" panose="02020603050405020304" pitchFamily="18" charset="0"/>
              </a:rPr>
              <a:t> </a:t>
            </a:r>
            <a:r>
              <a:rPr lang="vi-VN" altLang="en-US" sz="1800" dirty="0" err="1">
                <a:latin typeface="Times New Roman" panose="02020603050405020304" pitchFamily="18" charset="0"/>
                <a:cs typeface="Times New Roman" panose="02020603050405020304" pitchFamily="18" charset="0"/>
              </a:rPr>
              <a:t>upload.php</a:t>
            </a:r>
            <a:r>
              <a:rPr lang="vi-VN" altLang="en-US" sz="1800" dirty="0">
                <a:latin typeface="Times New Roman" panose="02020603050405020304" pitchFamily="18" charset="0"/>
                <a:cs typeface="Times New Roman" panose="02020603050405020304" pitchFamily="18" charset="0"/>
              </a:rPr>
              <a:t>.</a:t>
            </a:r>
            <a:endParaRPr lang="en-US" altLang="en-US" sz="1800" dirty="0">
              <a:latin typeface="Times New Roman" panose="02020603050405020304" pitchFamily="18" charset="0"/>
              <a:cs typeface="Times New Roman" panose="02020603050405020304" pitchFamily="18" charset="0"/>
            </a:endParaRPr>
          </a:p>
        </p:txBody>
      </p:sp>
      <p:sp>
        <p:nvSpPr>
          <p:cNvPr id="3" name="Text Box 2"/>
          <p:cNvSpPr txBox="1"/>
          <p:nvPr/>
        </p:nvSpPr>
        <p:spPr>
          <a:xfrm>
            <a:off x="645795" y="1464310"/>
            <a:ext cx="8404860" cy="589280"/>
          </a:xfrm>
          <a:prstGeom prst="rect">
            <a:avLst/>
          </a:prstGeom>
          <a:noFill/>
        </p:spPr>
        <p:txBody>
          <a:bodyPr wrap="square" rtlCol="0">
            <a:noAutofit/>
          </a:bodyPr>
          <a:lstStyle/>
          <a:p>
            <a:r>
              <a:rPr lang="en-US" sz="2600" b="1">
                <a:solidFill>
                  <a:srgbClr val="FF0000"/>
                </a:solidFill>
                <a:latin typeface="Times New Roman" panose="02020603050405020304" pitchFamily="18" charset="0"/>
                <a:cs typeface="Times New Roman" panose="02020603050405020304" pitchFamily="18" charset="0"/>
                <a:sym typeface="+mn-ea"/>
              </a:rPr>
              <a:t>3. </a:t>
            </a:r>
            <a:r>
              <a:rPr lang="en-US" altLang="en-US" sz="2600" b="1">
                <a:solidFill>
                  <a:srgbClr val="FF0000"/>
                </a:solidFill>
                <a:latin typeface="Times New Roman" panose="02020603050405020304" pitchFamily="18" charset="0"/>
                <a:cs typeface="Times New Roman" panose="02020603050405020304" pitchFamily="18" charset="0"/>
                <a:sym typeface="+mn-ea"/>
              </a:rPr>
              <a:t>Error Handling tiết lộ thông tin kỹ thuật</a:t>
            </a:r>
            <a:endParaRPr lang="en-US" sz="2600" b="1">
              <a:solidFill>
                <a:srgbClr val="FF0000"/>
              </a:solidFill>
              <a:latin typeface="Times New Roman" panose="02020603050405020304" pitchFamily="18" charset="0"/>
              <a:cs typeface="Times New Roman" panose="02020603050405020304" pitchFamily="18" charset="0"/>
              <a:sym typeface="+mn-ea"/>
            </a:endParaRPr>
          </a:p>
        </p:txBody>
      </p:sp>
      <p:pic>
        <p:nvPicPr>
          <p:cNvPr id="6" name="Picture 5" descr="A screenshot of a computer screen&#10;&#10;AI-generated content may be incorrect.">
            <a:extLst>
              <a:ext uri="{FF2B5EF4-FFF2-40B4-BE49-F238E27FC236}">
                <a16:creationId xmlns:a16="http://schemas.microsoft.com/office/drawing/2014/main" id="{0DB96968-55FF-A481-E396-A72AA1B43A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61057" y="1798665"/>
            <a:ext cx="2395263" cy="4609120"/>
          </a:xfrm>
          <a:prstGeom prst="rect">
            <a:avLst/>
          </a:prstGeom>
        </p:spPr>
      </p:pic>
      <p:sp>
        <p:nvSpPr>
          <p:cNvPr id="4" name="Slide Number Placeholder 3">
            <a:extLst>
              <a:ext uri="{FF2B5EF4-FFF2-40B4-BE49-F238E27FC236}">
                <a16:creationId xmlns:a16="http://schemas.microsoft.com/office/drawing/2014/main" id="{B7F01CEB-5FD3-E452-F43E-15A706833A8C}"/>
              </a:ext>
            </a:extLst>
          </p:cNvPr>
          <p:cNvSpPr>
            <a:spLocks noGrp="1"/>
          </p:cNvSpPr>
          <p:nvPr>
            <p:ph type="sldNum" sz="quarter" idx="12"/>
          </p:nvPr>
        </p:nvSpPr>
        <p:spPr/>
        <p:txBody>
          <a:bodyPr/>
          <a:lstStyle/>
          <a:p>
            <a:pPr lvl="0" eaLnBrk="1" hangingPunct="1"/>
            <a:fld id="{9A0DB2DC-4C9A-4742-B13C-FB6460FD3503}" type="slidenum">
              <a:rPr lang="en-US" altLang="ja-JP" smtClean="0">
                <a:latin typeface="Arial" panose="020B0604020202020204" pitchFamily="34" charset="0"/>
              </a:rPr>
              <a:t>23</a:t>
            </a:fld>
            <a:endParaRPr lang="en-US" altLang="ja-JP"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17410">
                                            <p:txEl>
                                              <p:pRg st="0" end="0"/>
                                            </p:txEl>
                                          </p:spTgt>
                                        </p:tgtEl>
                                        <p:attrNameLst>
                                          <p:attrName>style.visibility</p:attrName>
                                        </p:attrNameLst>
                                      </p:cBhvr>
                                      <p:to>
                                        <p:strVal val="visible"/>
                                      </p:to>
                                    </p:set>
                                    <p:anim calcmode="lin" valueType="num">
                                      <p:cBhvr additive="base">
                                        <p:cTn id="7" dur="500"/>
                                        <p:tgtEl>
                                          <p:spTgt spid="17410">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17410">
                                            <p:txEl>
                                              <p:pRg st="0" end="0"/>
                                            </p:txEl>
                                          </p:spTgt>
                                        </p:tgtEl>
                                      </p:cBhvr>
                                    </p:animEffect>
                                  </p:childTnLst>
                                </p:cTn>
                              </p:par>
                              <p:par>
                                <p:cTn id="9" presetID="12" presetClass="entr" presetSubtype="4" fill="hold" nodeType="withEffect">
                                  <p:stCondLst>
                                    <p:cond delay="0"/>
                                  </p:stCondLst>
                                  <p:childTnLst>
                                    <p:set>
                                      <p:cBhvr>
                                        <p:cTn id="10" dur="1" fill="hold">
                                          <p:stCondLst>
                                            <p:cond delay="0"/>
                                          </p:stCondLst>
                                        </p:cTn>
                                        <p:tgtEl>
                                          <p:spTgt spid="17410">
                                            <p:txEl>
                                              <p:pRg st="1" end="1"/>
                                            </p:txEl>
                                          </p:spTgt>
                                        </p:tgtEl>
                                        <p:attrNameLst>
                                          <p:attrName>style.visibility</p:attrName>
                                        </p:attrNameLst>
                                      </p:cBhvr>
                                      <p:to>
                                        <p:strVal val="visible"/>
                                      </p:to>
                                    </p:set>
                                    <p:anim calcmode="lin" valueType="num">
                                      <p:cBhvr additive="base">
                                        <p:cTn id="11" dur="500"/>
                                        <p:tgtEl>
                                          <p:spTgt spid="17410">
                                            <p:txEl>
                                              <p:pRg st="1" end="1"/>
                                            </p:txEl>
                                          </p:spTgt>
                                        </p:tgtEl>
                                        <p:attrNameLst>
                                          <p:attrName>ppt_y</p:attrName>
                                        </p:attrNameLst>
                                      </p:cBhvr>
                                      <p:tavLst>
                                        <p:tav tm="0">
                                          <p:val>
                                            <p:strVal val="#ppt_y+#ppt_h*1.125000"/>
                                          </p:val>
                                        </p:tav>
                                        <p:tav tm="100000">
                                          <p:val>
                                            <p:strVal val="#ppt_y"/>
                                          </p:val>
                                        </p:tav>
                                      </p:tavLst>
                                    </p:anim>
                                    <p:animEffect transition="in" filter="wipe(up)">
                                      <p:cBhvr>
                                        <p:cTn id="12" dur="500"/>
                                        <p:tgtEl>
                                          <p:spTgt spid="17410">
                                            <p:txEl>
                                              <p:pRg st="1" end="1"/>
                                            </p:txEl>
                                          </p:spTgt>
                                        </p:tgtEl>
                                      </p:cBhvr>
                                    </p:animEffect>
                                  </p:childTnLst>
                                </p:cTn>
                              </p:par>
                              <p:par>
                                <p:cTn id="13" presetID="12" presetClass="entr" presetSubtype="4" fill="hold" nodeType="with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additive="base">
                                        <p:cTn id="15" dur="500"/>
                                        <p:tgtEl>
                                          <p:spTgt spid="3">
                                            <p:txEl>
                                              <p:pRg st="0" end="0"/>
                                            </p:txEl>
                                          </p:spTgt>
                                        </p:tgtEl>
                                        <p:attrNameLst>
                                          <p:attrName>ppt_y</p:attrName>
                                        </p:attrNameLst>
                                      </p:cBhvr>
                                      <p:tavLst>
                                        <p:tav tm="0">
                                          <p:val>
                                            <p:strVal val="#ppt_y+#ppt_h*1.125000"/>
                                          </p:val>
                                        </p:tav>
                                        <p:tav tm="100000">
                                          <p:val>
                                            <p:strVal val="#ppt_y"/>
                                          </p:val>
                                        </p:tav>
                                      </p:tavLst>
                                    </p:anim>
                                    <p:animEffect transition="in" filter="wipe(up)">
                                      <p:cBhvr>
                                        <p:cTn id="16"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テキスト ボックス 3"/>
          <p:cNvSpPr txBox="1"/>
          <p:nvPr/>
        </p:nvSpPr>
        <p:spPr>
          <a:xfrm>
            <a:off x="2181701" y="125730"/>
            <a:ext cx="5745480" cy="1076325"/>
          </a:xfrm>
          <a:prstGeom prst="rect">
            <a:avLst/>
          </a:prstGeom>
          <a:noFill/>
          <a:ln w="9525">
            <a:noFill/>
          </a:ln>
        </p:spPr>
        <p:txBody>
          <a:bodyPr wrap="none">
            <a:spAutoFit/>
          </a:bodyPr>
          <a:lstStyle/>
          <a:p>
            <a:pPr algn="ctr">
              <a:buNone/>
            </a:pPr>
            <a:r>
              <a:rPr lang="en-US" altLang="ja-JP" sz="3200" b="1" dirty="0">
                <a:solidFill>
                  <a:srgbClr val="FF0000"/>
                </a:solidFill>
                <a:latin typeface="Times New Roman" panose="02020603050405020304" pitchFamily="18" charset="0"/>
                <a:ea typeface="MS PGothic" panose="020B0600070205080204" pitchFamily="50" charset="-128"/>
                <a:sym typeface="+mn-ea"/>
              </a:rPr>
              <a:t>II. Cách thức tấn công </a:t>
            </a:r>
            <a:endParaRPr lang="en-US" altLang="ja-JP" sz="3200" b="1" dirty="0">
              <a:solidFill>
                <a:srgbClr val="FF0000"/>
              </a:solidFill>
              <a:latin typeface="Times New Roman" panose="02020603050405020304" pitchFamily="18" charset="0"/>
              <a:ea typeface="MS PGothic" panose="020B0600070205080204" pitchFamily="50" charset="-128"/>
            </a:endParaRPr>
          </a:p>
          <a:p>
            <a:pPr algn="ctr">
              <a:buNone/>
            </a:pPr>
            <a:r>
              <a:rPr lang="en-US" altLang="ja-JP" sz="3200" b="1" dirty="0">
                <a:solidFill>
                  <a:srgbClr val="FF0000"/>
                </a:solidFill>
                <a:latin typeface="Times New Roman" panose="02020603050405020304" pitchFamily="18" charset="0"/>
                <a:ea typeface="MS PGothic" panose="020B0600070205080204" pitchFamily="50" charset="-128"/>
                <a:sym typeface="+mn-ea"/>
              </a:rPr>
              <a:t>và cách phòng ngừa, ngăn chặn.</a:t>
            </a:r>
            <a:endParaRPr lang="ja-JP" altLang="en-US" sz="3200" b="1" dirty="0">
              <a:solidFill>
                <a:srgbClr val="FF0000"/>
              </a:solidFill>
              <a:latin typeface="Times New Roman" panose="02020603050405020304" pitchFamily="18" charset="0"/>
              <a:ea typeface="MS PGothic" panose="020B0600070205080204" pitchFamily="50" charset="-128"/>
            </a:endParaRPr>
          </a:p>
        </p:txBody>
      </p:sp>
      <p:sp>
        <p:nvSpPr>
          <p:cNvPr id="2" name="Text Box 1"/>
          <p:cNvSpPr txBox="1"/>
          <p:nvPr/>
        </p:nvSpPr>
        <p:spPr>
          <a:xfrm>
            <a:off x="286384" y="1845945"/>
            <a:ext cx="6116493" cy="4747895"/>
          </a:xfrm>
          <a:prstGeom prst="rect">
            <a:avLst/>
          </a:prstGeom>
          <a:noFill/>
        </p:spPr>
        <p:txBody>
          <a:bodyPr wrap="square" rtlCol="0">
            <a:noAutofit/>
          </a:bodyPr>
          <a:lstStyle/>
          <a:p>
            <a:r>
              <a:rPr lang="en-US" altLang="en-US" sz="2300" b="1" dirty="0">
                <a:latin typeface="Times New Roman" panose="02020603050405020304" pitchFamily="18" charset="0"/>
                <a:cs typeface="Times New Roman" panose="02020603050405020304" pitchFamily="18" charset="0"/>
                <a:sym typeface="+mn-ea"/>
              </a:rPr>
              <a:t>Minh </a:t>
            </a:r>
            <a:r>
              <a:rPr lang="en-US" altLang="en-US" sz="2300" b="1" dirty="0" err="1">
                <a:latin typeface="Times New Roman" panose="02020603050405020304" pitchFamily="18" charset="0"/>
                <a:cs typeface="Times New Roman" panose="02020603050405020304" pitchFamily="18" charset="0"/>
                <a:sym typeface="+mn-ea"/>
              </a:rPr>
              <a:t>Họa</a:t>
            </a:r>
            <a:r>
              <a:rPr lang="en-US" altLang="en-US" sz="2300" b="1" dirty="0">
                <a:latin typeface="Times New Roman" panose="02020603050405020304" pitchFamily="18" charset="0"/>
                <a:cs typeface="Times New Roman" panose="02020603050405020304" pitchFamily="18" charset="0"/>
                <a:sym typeface="+mn-ea"/>
              </a:rPr>
              <a:t> </a:t>
            </a:r>
            <a:r>
              <a:rPr lang="en-US" altLang="en-US" sz="2300" b="1" dirty="0" err="1">
                <a:latin typeface="Times New Roman" panose="02020603050405020304" pitchFamily="18" charset="0"/>
                <a:cs typeface="Times New Roman" panose="02020603050405020304" pitchFamily="18" charset="0"/>
                <a:sym typeface="+mn-ea"/>
              </a:rPr>
              <a:t>Tấn</a:t>
            </a:r>
            <a:r>
              <a:rPr lang="en-US" altLang="en-US" sz="2300" b="1" dirty="0">
                <a:latin typeface="Times New Roman" panose="02020603050405020304" pitchFamily="18" charset="0"/>
                <a:cs typeface="Times New Roman" panose="02020603050405020304" pitchFamily="18" charset="0"/>
                <a:sym typeface="+mn-ea"/>
              </a:rPr>
              <a:t> Công:</a:t>
            </a:r>
          </a:p>
          <a:p>
            <a:r>
              <a:rPr lang="en-US" altLang="en-US" b="1" dirty="0">
                <a:latin typeface="Times New Roman" panose="02020603050405020304" pitchFamily="18" charset="0"/>
                <a:cs typeface="Times New Roman" panose="02020603050405020304" pitchFamily="18" charset="0"/>
                <a:sym typeface="+mn-ea"/>
              </a:rPr>
              <a:t>Giai </a:t>
            </a:r>
            <a:r>
              <a:rPr lang="en-US" altLang="en-US" b="1" dirty="0" err="1">
                <a:latin typeface="Times New Roman" panose="02020603050405020304" pitchFamily="18" charset="0"/>
                <a:cs typeface="Times New Roman" panose="02020603050405020304" pitchFamily="18" charset="0"/>
                <a:sym typeface="+mn-ea"/>
              </a:rPr>
              <a:t>đoạn</a:t>
            </a:r>
            <a:r>
              <a:rPr lang="en-US" altLang="en-US" b="1" dirty="0">
                <a:latin typeface="Times New Roman" panose="02020603050405020304" pitchFamily="18" charset="0"/>
                <a:cs typeface="Times New Roman" panose="02020603050405020304" pitchFamily="18" charset="0"/>
                <a:sym typeface="+mn-ea"/>
              </a:rPr>
              <a:t> 3: </a:t>
            </a:r>
            <a:r>
              <a:rPr lang="en-US" altLang="en-US" b="1" dirty="0" err="1">
                <a:latin typeface="Times New Roman" panose="02020603050405020304" pitchFamily="18" charset="0"/>
                <a:cs typeface="Times New Roman" panose="02020603050405020304" pitchFamily="18" charset="0"/>
                <a:sym typeface="+mn-ea"/>
              </a:rPr>
              <a:t>Chiếm</a:t>
            </a:r>
            <a:r>
              <a:rPr lang="en-US" altLang="en-US" b="1" dirty="0">
                <a:latin typeface="Times New Roman" panose="02020603050405020304" pitchFamily="18" charset="0"/>
                <a:cs typeface="Times New Roman" panose="02020603050405020304" pitchFamily="18" charset="0"/>
                <a:sym typeface="+mn-ea"/>
              </a:rPr>
              <a:t> </a:t>
            </a:r>
            <a:r>
              <a:rPr lang="en-US" altLang="en-US" b="1" dirty="0" err="1">
                <a:latin typeface="Times New Roman" panose="02020603050405020304" pitchFamily="18" charset="0"/>
                <a:cs typeface="Times New Roman" panose="02020603050405020304" pitchFamily="18" charset="0"/>
                <a:sym typeface="+mn-ea"/>
              </a:rPr>
              <a:t>quyền</a:t>
            </a:r>
            <a:r>
              <a:rPr lang="en-US" altLang="en-US" b="1" dirty="0">
                <a:latin typeface="Times New Roman" panose="02020603050405020304" pitchFamily="18" charset="0"/>
                <a:cs typeface="Times New Roman" panose="02020603050405020304" pitchFamily="18" charset="0"/>
                <a:sym typeface="+mn-ea"/>
              </a:rPr>
              <a:t> </a:t>
            </a:r>
            <a:r>
              <a:rPr lang="en-US" altLang="en-US" b="1" dirty="0" err="1">
                <a:latin typeface="Times New Roman" panose="02020603050405020304" pitchFamily="18" charset="0"/>
                <a:cs typeface="Times New Roman" panose="02020603050405020304" pitchFamily="18" charset="0"/>
                <a:sym typeface="+mn-ea"/>
              </a:rPr>
              <a:t>điều</a:t>
            </a:r>
            <a:r>
              <a:rPr lang="en-US" altLang="en-US" b="1" dirty="0">
                <a:latin typeface="Times New Roman" panose="02020603050405020304" pitchFamily="18" charset="0"/>
                <a:cs typeface="Times New Roman" panose="02020603050405020304" pitchFamily="18" charset="0"/>
                <a:sym typeface="+mn-ea"/>
              </a:rPr>
              <a:t> </a:t>
            </a:r>
            <a:r>
              <a:rPr lang="en-US" altLang="en-US" b="1" dirty="0" err="1">
                <a:latin typeface="Times New Roman" panose="02020603050405020304" pitchFamily="18" charset="0"/>
                <a:cs typeface="Times New Roman" panose="02020603050405020304" pitchFamily="18" charset="0"/>
                <a:sym typeface="+mn-ea"/>
              </a:rPr>
              <a:t>khiển</a:t>
            </a:r>
            <a:endParaRPr lang="en-US" altLang="en-US" b="1" dirty="0">
              <a:latin typeface="Times New Roman" panose="02020603050405020304" pitchFamily="18" charset="0"/>
              <a:cs typeface="Times New Roman" panose="02020603050405020304" pitchFamily="18" charset="0"/>
              <a:sym typeface="+mn-ea"/>
            </a:endParaRPr>
          </a:p>
          <a:p>
            <a:r>
              <a:rPr lang="vi-VN" altLang="en-US" b="1" dirty="0">
                <a:latin typeface="Times New Roman" panose="02020603050405020304" pitchFamily="18" charset="0"/>
                <a:cs typeface="Times New Roman" panose="02020603050405020304" pitchFamily="18" charset="0"/>
                <a:sym typeface="+mn-ea"/>
              </a:rPr>
              <a:t>Mục tiêu: </a:t>
            </a:r>
            <a:r>
              <a:rPr lang="vi-VN" altLang="en-US" dirty="0">
                <a:latin typeface="Times New Roman" panose="02020603050405020304" pitchFamily="18" charset="0"/>
                <a:cs typeface="Times New Roman" panose="02020603050405020304" pitchFamily="18" charset="0"/>
                <a:sym typeface="+mn-ea"/>
              </a:rPr>
              <a:t>Chiếm quyền điều khiển (</a:t>
            </a:r>
            <a:r>
              <a:rPr lang="vi-VN" altLang="en-US" dirty="0" err="1">
                <a:latin typeface="Times New Roman" panose="02020603050405020304" pitchFamily="18" charset="0"/>
                <a:cs typeface="Times New Roman" panose="02020603050405020304" pitchFamily="18" charset="0"/>
                <a:sym typeface="+mn-ea"/>
              </a:rPr>
              <a:t>shell</a:t>
            </a:r>
            <a:r>
              <a:rPr lang="vi-VN" altLang="en-US" dirty="0">
                <a:latin typeface="Times New Roman" panose="02020603050405020304" pitchFamily="18" charset="0"/>
                <a:cs typeface="Times New Roman" panose="02020603050405020304" pitchFamily="18" charset="0"/>
                <a:sym typeface="+mn-ea"/>
              </a:rPr>
              <a:t>) máy chủ.</a:t>
            </a:r>
            <a:endParaRPr lang="en-US" altLang="en-US" dirty="0">
              <a:latin typeface="Times New Roman" panose="02020603050405020304" pitchFamily="18" charset="0"/>
              <a:cs typeface="Times New Roman" panose="02020603050405020304" pitchFamily="18" charset="0"/>
              <a:sym typeface="+mn-ea"/>
            </a:endParaRPr>
          </a:p>
          <a:p>
            <a:endParaRPr lang="en-US" altLang="en-US" dirty="0">
              <a:latin typeface="Times New Roman" panose="02020603050405020304" pitchFamily="18" charset="0"/>
              <a:cs typeface="Times New Roman" panose="02020603050405020304" pitchFamily="18" charset="0"/>
              <a:sym typeface="+mn-ea"/>
            </a:endParaRPr>
          </a:p>
          <a:p>
            <a:r>
              <a:rPr lang="vi-VN" altLang="en-US" b="1" dirty="0">
                <a:latin typeface="Times New Roman" panose="02020603050405020304" pitchFamily="18" charset="0"/>
                <a:cs typeface="Times New Roman" panose="02020603050405020304" pitchFamily="18" charset="0"/>
                <a:sym typeface="+mn-ea"/>
              </a:rPr>
              <a:t>Bước 1:</a:t>
            </a:r>
            <a:r>
              <a:rPr lang="en-US" altLang="en-US" b="1" dirty="0">
                <a:latin typeface="Times New Roman" panose="02020603050405020304" pitchFamily="18" charset="0"/>
                <a:cs typeface="Times New Roman" panose="02020603050405020304" pitchFamily="18" charset="0"/>
                <a:sym typeface="+mn-ea"/>
              </a:rPr>
              <a:t> </a:t>
            </a:r>
            <a:r>
              <a:rPr lang="en-US" altLang="en-US" dirty="0">
                <a:latin typeface="Times New Roman" panose="02020603050405020304" pitchFamily="18" charset="0"/>
                <a:cs typeface="Times New Roman" panose="02020603050405020304" pitchFamily="18" charset="0"/>
                <a:sym typeface="+mn-ea"/>
              </a:rPr>
              <a:t>T</a:t>
            </a:r>
            <a:r>
              <a:rPr lang="vi-VN" altLang="en-US" dirty="0" err="1">
                <a:latin typeface="Times New Roman" panose="02020603050405020304" pitchFamily="18" charset="0"/>
                <a:cs typeface="Times New Roman" panose="02020603050405020304" pitchFamily="18" charset="0"/>
                <a:sym typeface="+mn-ea"/>
              </a:rPr>
              <a:t>ạo</a:t>
            </a:r>
            <a:r>
              <a:rPr lang="vi-VN" altLang="en-US" dirty="0">
                <a:latin typeface="Times New Roman" panose="02020603050405020304" pitchFamily="18" charset="0"/>
                <a:cs typeface="Times New Roman" panose="02020603050405020304" pitchFamily="18" charset="0"/>
                <a:sym typeface="+mn-ea"/>
              </a:rPr>
              <a:t> </a:t>
            </a:r>
            <a:r>
              <a:rPr lang="vi-VN" altLang="en-US" dirty="0" err="1">
                <a:latin typeface="Times New Roman" panose="02020603050405020304" pitchFamily="18" charset="0"/>
                <a:cs typeface="Times New Roman" panose="02020603050405020304" pitchFamily="18" charset="0"/>
                <a:sym typeface="+mn-ea"/>
              </a:rPr>
              <a:t>file</a:t>
            </a:r>
            <a:r>
              <a:rPr lang="vi-VN" altLang="en-US" dirty="0">
                <a:latin typeface="Times New Roman" panose="02020603050405020304" pitchFamily="18" charset="0"/>
                <a:cs typeface="Times New Roman" panose="02020603050405020304" pitchFamily="18" charset="0"/>
                <a:sym typeface="+mn-ea"/>
              </a:rPr>
              <a:t> </a:t>
            </a:r>
            <a:r>
              <a:rPr lang="en-US" altLang="en-US" dirty="0">
                <a:latin typeface="Times New Roman" panose="02020603050405020304" pitchFamily="18" charset="0"/>
                <a:cs typeface="Times New Roman" panose="02020603050405020304" pitchFamily="18" charset="0"/>
                <a:sym typeface="+mn-ea"/>
              </a:rPr>
              <a:t>mã </a:t>
            </a:r>
            <a:r>
              <a:rPr lang="en-US" altLang="en-US" dirty="0" err="1">
                <a:latin typeface="Times New Roman" panose="02020603050405020304" pitchFamily="18" charset="0"/>
                <a:cs typeface="Times New Roman" panose="02020603050405020304" pitchFamily="18" charset="0"/>
                <a:sym typeface="+mn-ea"/>
              </a:rPr>
              <a:t>độc</a:t>
            </a:r>
            <a:r>
              <a:rPr lang="en-US" altLang="en-US" dirty="0">
                <a:latin typeface="Times New Roman" panose="02020603050405020304" pitchFamily="18" charset="0"/>
                <a:cs typeface="Times New Roman" panose="02020603050405020304" pitchFamily="18" charset="0"/>
                <a:sym typeface="+mn-ea"/>
              </a:rPr>
              <a:t> </a:t>
            </a:r>
            <a:r>
              <a:rPr lang="vi-VN" altLang="en-US" dirty="0">
                <a:latin typeface="Times New Roman" panose="02020603050405020304" pitchFamily="18" charset="0"/>
                <a:cs typeface="Times New Roman" panose="02020603050405020304" pitchFamily="18" charset="0"/>
                <a:sym typeface="+mn-ea"/>
              </a:rPr>
              <a:t>(trỏ về </a:t>
            </a:r>
            <a:r>
              <a:rPr lang="en-US" altLang="en-US" dirty="0">
                <a:latin typeface="Times New Roman" panose="02020603050405020304" pitchFamily="18" charset="0"/>
                <a:cs typeface="Times New Roman" panose="02020603050405020304" pitchFamily="18" charset="0"/>
                <a:sym typeface="+mn-ea"/>
              </a:rPr>
              <a:t>“</a:t>
            </a:r>
            <a:r>
              <a:rPr lang="vi-VN" altLang="en-US" dirty="0" err="1">
                <a:latin typeface="Times New Roman" panose="02020603050405020304" pitchFamily="18" charset="0"/>
                <a:cs typeface="Times New Roman" panose="02020603050405020304" pitchFamily="18" charset="0"/>
                <a:sym typeface="+mn-ea"/>
              </a:rPr>
              <a:t>IP</a:t>
            </a:r>
            <a:r>
              <a:rPr lang="vi-VN" altLang="en-US" dirty="0">
                <a:latin typeface="Times New Roman" panose="02020603050405020304" pitchFamily="18" charset="0"/>
                <a:cs typeface="Times New Roman" panose="02020603050405020304" pitchFamily="18" charset="0"/>
                <a:sym typeface="+mn-ea"/>
              </a:rPr>
              <a:t> </a:t>
            </a:r>
            <a:r>
              <a:rPr lang="en-US" dirty="0" err="1">
                <a:latin typeface="Times New Roman" panose="02020603050405020304" pitchFamily="18" charset="0"/>
                <a:cs typeface="Times New Roman" panose="02020603050405020304" pitchFamily="18" charset="0"/>
              </a:rPr>
              <a:t>máy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tấn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công</a:t>
            </a:r>
            <a:r>
              <a:rPr lang="en-US" dirty="0">
                <a:latin typeface="Times New Roman" panose="02020603050405020304" pitchFamily="18" charset="0"/>
                <a:cs typeface="Times New Roman" panose="02020603050405020304" pitchFamily="18" charset="0"/>
              </a:rPr>
              <a:t>”</a:t>
            </a:r>
            <a:r>
              <a:rPr lang="vi-VN"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sym typeface="+mn-ea"/>
              </a:rPr>
              <a:t>va</a:t>
            </a:r>
            <a:r>
              <a:rPr lang="en-US" dirty="0">
                <a:latin typeface="Times New Roman" panose="02020603050405020304" pitchFamily="18" charset="0"/>
                <a:cs typeface="Times New Roman" panose="02020603050405020304" pitchFamily="18" charset="0"/>
                <a:sym typeface="+mn-ea"/>
              </a:rPr>
              <a:t>̀ “P</a:t>
            </a:r>
            <a:r>
              <a:rPr lang="vi-VN" altLang="en-US" dirty="0" err="1">
                <a:latin typeface="Times New Roman" panose="02020603050405020304" pitchFamily="18" charset="0"/>
                <a:cs typeface="Times New Roman" panose="02020603050405020304" pitchFamily="18" charset="0"/>
                <a:sym typeface="+mn-ea"/>
              </a:rPr>
              <a:t>ort</a:t>
            </a:r>
            <a:r>
              <a:rPr lang="en-US" altLang="en-US" dirty="0">
                <a:latin typeface="Times New Roman" panose="02020603050405020304" pitchFamily="18" charset="0"/>
                <a:cs typeface="Times New Roman" panose="02020603050405020304" pitchFamily="18" charset="0"/>
                <a:sym typeface="+mn-ea"/>
              </a:rPr>
              <a:t>”</a:t>
            </a:r>
            <a:r>
              <a:rPr lang="vi-VN" altLang="en-US" dirty="0">
                <a:latin typeface="Times New Roman" panose="02020603050405020304" pitchFamily="18" charset="0"/>
                <a:cs typeface="Times New Roman" panose="02020603050405020304" pitchFamily="18" charset="0"/>
                <a:sym typeface="+mn-ea"/>
              </a:rPr>
              <a:t> </a:t>
            </a:r>
            <a:r>
              <a:rPr lang="en-US" altLang="en-US" dirty="0" err="1">
                <a:latin typeface="Times New Roman" panose="02020603050405020304" pitchFamily="18" charset="0"/>
                <a:cs typeface="Times New Roman" panose="02020603050405020304" pitchFamily="18" charset="0"/>
                <a:sym typeface="+mn-ea"/>
              </a:rPr>
              <a:t>đê</a:t>
            </a:r>
            <a:r>
              <a:rPr lang="en-US" altLang="en-US" dirty="0">
                <a:latin typeface="Times New Roman" panose="02020603050405020304" pitchFamily="18" charset="0"/>
                <a:cs typeface="Times New Roman" panose="02020603050405020304" pitchFamily="18" charset="0"/>
                <a:sym typeface="+mn-ea"/>
              </a:rPr>
              <a:t>̉ </a:t>
            </a:r>
            <a:r>
              <a:rPr lang="en-US" altLang="en-US" dirty="0" err="1">
                <a:latin typeface="Times New Roman" panose="02020603050405020304" pitchFamily="18" charset="0"/>
                <a:cs typeface="Times New Roman" panose="02020603050405020304" pitchFamily="18" charset="0"/>
                <a:sym typeface="+mn-ea"/>
              </a:rPr>
              <a:t>chạy</a:t>
            </a:r>
            <a:r>
              <a:rPr lang="en-US" altLang="en-US" dirty="0">
                <a:latin typeface="Times New Roman" panose="02020603050405020304" pitchFamily="18" charset="0"/>
                <a:cs typeface="Times New Roman" panose="02020603050405020304" pitchFamily="18" charset="0"/>
                <a:sym typeface="+mn-ea"/>
              </a:rPr>
              <a:t> </a:t>
            </a:r>
            <a:r>
              <a:rPr lang="en-US" altLang="en-US" dirty="0" err="1">
                <a:latin typeface="Times New Roman" panose="02020603050405020304" pitchFamily="18" charset="0"/>
                <a:cs typeface="Times New Roman" panose="02020603050405020304" pitchFamily="18" charset="0"/>
                <a:sym typeface="+mn-ea"/>
              </a:rPr>
              <a:t>lệnh</a:t>
            </a:r>
            <a:r>
              <a:rPr lang="en-US" altLang="en-US" dirty="0">
                <a:latin typeface="Times New Roman" panose="02020603050405020304" pitchFamily="18" charset="0"/>
                <a:cs typeface="Times New Roman" panose="02020603050405020304" pitchFamily="18" charset="0"/>
                <a:sym typeface="+mn-ea"/>
              </a:rPr>
              <a:t> </a:t>
            </a:r>
            <a:r>
              <a:rPr lang="en-US" altLang="en-US" dirty="0" err="1">
                <a:latin typeface="Times New Roman" panose="02020603050405020304" pitchFamily="18" charset="0"/>
                <a:cs typeface="Times New Roman" panose="02020603050405020304" pitchFamily="18" charset="0"/>
                <a:sym typeface="+mn-ea"/>
              </a:rPr>
              <a:t>netcat</a:t>
            </a:r>
            <a:r>
              <a:rPr lang="en-US" altLang="en-US" dirty="0">
                <a:latin typeface="Times New Roman" panose="02020603050405020304" pitchFamily="18" charset="0"/>
                <a:cs typeface="Times New Roman" panose="02020603050405020304" pitchFamily="18" charset="0"/>
                <a:sym typeface="+mn-ea"/>
              </a:rPr>
              <a:t> </a:t>
            </a:r>
            <a:r>
              <a:rPr lang="en-US" altLang="en-US" dirty="0" err="1">
                <a:latin typeface="Times New Roman" panose="02020603050405020304" pitchFamily="18" charset="0"/>
                <a:cs typeface="Times New Roman" panose="02020603050405020304" pitchFamily="18" charset="0"/>
                <a:sym typeface="+mn-ea"/>
              </a:rPr>
              <a:t>lắng</a:t>
            </a:r>
            <a:r>
              <a:rPr lang="en-US" altLang="en-US" dirty="0">
                <a:latin typeface="Times New Roman" panose="02020603050405020304" pitchFamily="18" charset="0"/>
                <a:cs typeface="Times New Roman" panose="02020603050405020304" pitchFamily="18" charset="0"/>
                <a:sym typeface="+mn-ea"/>
              </a:rPr>
              <a:t> </a:t>
            </a:r>
            <a:r>
              <a:rPr lang="en-US" altLang="en-US" dirty="0" err="1">
                <a:latin typeface="Times New Roman" panose="02020603050405020304" pitchFamily="18" charset="0"/>
                <a:cs typeface="Times New Roman" panose="02020603050405020304" pitchFamily="18" charset="0"/>
                <a:sym typeface="+mn-ea"/>
              </a:rPr>
              <a:t>nghe</a:t>
            </a:r>
            <a:r>
              <a:rPr lang="en-US" altLang="en-US" dirty="0">
                <a:latin typeface="Times New Roman" panose="02020603050405020304" pitchFamily="18" charset="0"/>
                <a:cs typeface="Times New Roman" panose="02020603050405020304" pitchFamily="18" charset="0"/>
                <a:sym typeface="+mn-ea"/>
              </a:rPr>
              <a:t> ở port </a:t>
            </a:r>
            <a:r>
              <a:rPr lang="en-US" altLang="en-US" dirty="0" err="1">
                <a:latin typeface="Times New Roman" panose="02020603050405020304" pitchFamily="18" charset="0"/>
                <a:cs typeface="Times New Roman" panose="02020603050405020304" pitchFamily="18" charset="0"/>
                <a:sym typeface="+mn-ea"/>
              </a:rPr>
              <a:t>đo</a:t>
            </a:r>
            <a:r>
              <a:rPr lang="en-US" altLang="en-US" dirty="0">
                <a:latin typeface="Times New Roman" panose="02020603050405020304" pitchFamily="18" charset="0"/>
                <a:cs typeface="Times New Roman" panose="02020603050405020304" pitchFamily="18" charset="0"/>
                <a:sym typeface="+mn-ea"/>
              </a:rPr>
              <a:t>́ [</a:t>
            </a:r>
            <a:r>
              <a:rPr lang="en-US" altLang="en-US" dirty="0" err="1">
                <a:latin typeface="Times New Roman" panose="02020603050405020304" pitchFamily="18" charset="0"/>
                <a:cs typeface="Times New Roman" panose="02020603050405020304" pitchFamily="18" charset="0"/>
                <a:sym typeface="+mn-ea"/>
              </a:rPr>
              <a:t>nc</a:t>
            </a:r>
            <a:r>
              <a:rPr lang="en-US" altLang="en-US" dirty="0">
                <a:latin typeface="Times New Roman" panose="02020603050405020304" pitchFamily="18" charset="0"/>
                <a:cs typeface="Times New Roman" panose="02020603050405020304" pitchFamily="18" charset="0"/>
                <a:sym typeface="+mn-ea"/>
              </a:rPr>
              <a:t> -</a:t>
            </a:r>
            <a:r>
              <a:rPr lang="en-US" altLang="en-US" dirty="0" err="1">
                <a:latin typeface="Times New Roman" panose="02020603050405020304" pitchFamily="18" charset="0"/>
                <a:cs typeface="Times New Roman" panose="02020603050405020304" pitchFamily="18" charset="0"/>
                <a:sym typeface="+mn-ea"/>
              </a:rPr>
              <a:t>lvnp</a:t>
            </a:r>
            <a:r>
              <a:rPr lang="en-US" altLang="en-US" dirty="0">
                <a:latin typeface="Times New Roman" panose="02020603050405020304" pitchFamily="18" charset="0"/>
                <a:cs typeface="Times New Roman" panose="02020603050405020304" pitchFamily="18" charset="0"/>
                <a:sym typeface="+mn-ea"/>
              </a:rPr>
              <a:t> &lt;Port&gt;])</a:t>
            </a:r>
          </a:p>
          <a:p>
            <a:endParaRPr lang="en-US" altLang="en-US" dirty="0">
              <a:latin typeface="Times New Roman" panose="02020603050405020304" pitchFamily="18" charset="0"/>
              <a:cs typeface="Times New Roman" panose="02020603050405020304" pitchFamily="18" charset="0"/>
              <a:sym typeface="+mn-ea"/>
            </a:endParaRPr>
          </a:p>
          <a:p>
            <a:r>
              <a:rPr lang="vi-VN" altLang="en-US" b="1" dirty="0">
                <a:latin typeface="Times New Roman" panose="02020603050405020304" pitchFamily="18" charset="0"/>
                <a:cs typeface="Times New Roman" panose="02020603050405020304" pitchFamily="18" charset="0"/>
                <a:sym typeface="+mn-ea"/>
              </a:rPr>
              <a:t>Bước 2: </a:t>
            </a:r>
            <a:r>
              <a:rPr lang="en-US" altLang="en-US" dirty="0" err="1">
                <a:latin typeface="Times New Roman" panose="02020603050405020304" pitchFamily="18" charset="0"/>
                <a:cs typeface="Times New Roman" panose="02020603050405020304" pitchFamily="18" charset="0"/>
                <a:sym typeface="+mn-ea"/>
              </a:rPr>
              <a:t>Truy</a:t>
            </a:r>
            <a:r>
              <a:rPr lang="en-US" altLang="en-US" dirty="0">
                <a:latin typeface="Times New Roman" panose="02020603050405020304" pitchFamily="18" charset="0"/>
                <a:cs typeface="Times New Roman" panose="02020603050405020304" pitchFamily="18" charset="0"/>
                <a:sym typeface="+mn-ea"/>
              </a:rPr>
              <a:t> </a:t>
            </a:r>
            <a:r>
              <a:rPr lang="en-US" altLang="en-US" dirty="0" err="1">
                <a:latin typeface="Times New Roman" panose="02020603050405020304" pitchFamily="18" charset="0"/>
                <a:cs typeface="Times New Roman" panose="02020603050405020304" pitchFamily="18" charset="0"/>
                <a:sym typeface="+mn-ea"/>
              </a:rPr>
              <a:t>cập</a:t>
            </a:r>
            <a:r>
              <a:rPr lang="en-US" altLang="en-US" dirty="0">
                <a:latin typeface="Times New Roman" panose="02020603050405020304" pitchFamily="18" charset="0"/>
                <a:cs typeface="Times New Roman" panose="02020603050405020304" pitchFamily="18" charset="0"/>
                <a:sym typeface="+mn-ea"/>
              </a:rPr>
              <a:t> </a:t>
            </a:r>
            <a:r>
              <a:rPr lang="en-US" dirty="0">
                <a:latin typeface="Times New Roman" panose="02020603050405020304" pitchFamily="18" charset="0"/>
                <a:cs typeface="Times New Roman" panose="02020603050405020304" pitchFamily="18" charset="0"/>
              </a:rPr>
              <a:t>http://&lt;</a:t>
            </a:r>
            <a:r>
              <a:rPr lang="en-US" dirty="0" err="1">
                <a:latin typeface="Times New Roman" panose="02020603050405020304" pitchFamily="18" charset="0"/>
                <a:cs typeface="Times New Roman" panose="02020603050405020304" pitchFamily="18" charset="0"/>
              </a:rPr>
              <a:t>IPmáyWebServer</a:t>
            </a:r>
            <a:r>
              <a:rPr lang="en-US" dirty="0">
                <a:latin typeface="Times New Roman" panose="02020603050405020304" pitchFamily="18" charset="0"/>
                <a:cs typeface="Times New Roman" panose="02020603050405020304" pitchFamily="18" charset="0"/>
              </a:rPr>
              <a:t>&gt;</a:t>
            </a:r>
            <a:r>
              <a:rPr lang="en-US" altLang="en-US" dirty="0">
                <a:latin typeface="Times New Roman" panose="02020603050405020304" pitchFamily="18" charset="0"/>
                <a:cs typeface="Times New Roman" panose="02020603050405020304" pitchFamily="18" charset="0"/>
                <a:sym typeface="+mn-ea"/>
              </a:rPr>
              <a:t>/</a:t>
            </a:r>
            <a:r>
              <a:rPr lang="en-US" dirty="0">
                <a:latin typeface="Times New Roman" panose="02020603050405020304" pitchFamily="18" charset="0"/>
                <a:cs typeface="Times New Roman" panose="02020603050405020304" pitchFamily="18" charset="0"/>
              </a:rPr>
              <a:t>routes/</a:t>
            </a:r>
            <a:r>
              <a:rPr lang="vi-VN" altLang="en-US" dirty="0" err="1">
                <a:latin typeface="Times New Roman" panose="02020603050405020304" pitchFamily="18" charset="0"/>
                <a:cs typeface="Times New Roman" panose="02020603050405020304" pitchFamily="18" charset="0"/>
                <a:sym typeface="+mn-ea"/>
              </a:rPr>
              <a:t>upload.php</a:t>
            </a:r>
            <a:r>
              <a:rPr lang="vi-VN" altLang="en-US" dirty="0">
                <a:latin typeface="Times New Roman" panose="02020603050405020304" pitchFamily="18" charset="0"/>
                <a:cs typeface="Times New Roman" panose="02020603050405020304" pitchFamily="18" charset="0"/>
                <a:sym typeface="+mn-ea"/>
              </a:rPr>
              <a:t> để tải </a:t>
            </a:r>
            <a:r>
              <a:rPr lang="vi-VN" altLang="en-US" dirty="0" err="1">
                <a:latin typeface="Times New Roman" panose="02020603050405020304" pitchFamily="18" charset="0"/>
                <a:cs typeface="Times New Roman" panose="02020603050405020304" pitchFamily="18" charset="0"/>
                <a:sym typeface="+mn-ea"/>
              </a:rPr>
              <a:t>file</a:t>
            </a:r>
            <a:r>
              <a:rPr lang="vi-VN" altLang="en-US" dirty="0">
                <a:latin typeface="Times New Roman" panose="02020603050405020304" pitchFamily="18" charset="0"/>
                <a:cs typeface="Times New Roman" panose="02020603050405020304" pitchFamily="18" charset="0"/>
                <a:sym typeface="+mn-ea"/>
              </a:rPr>
              <a:t> </a:t>
            </a:r>
            <a:r>
              <a:rPr lang="vi-VN" altLang="en-US" dirty="0" err="1">
                <a:latin typeface="Times New Roman" panose="02020603050405020304" pitchFamily="18" charset="0"/>
                <a:cs typeface="Times New Roman" panose="02020603050405020304" pitchFamily="18" charset="0"/>
                <a:sym typeface="+mn-ea"/>
              </a:rPr>
              <a:t>shell.php</a:t>
            </a:r>
            <a:r>
              <a:rPr lang="vi-VN" altLang="en-US" dirty="0">
                <a:latin typeface="Times New Roman" panose="02020603050405020304" pitchFamily="18" charset="0"/>
                <a:cs typeface="Times New Roman" panose="02020603050405020304" pitchFamily="18" charset="0"/>
                <a:sym typeface="+mn-ea"/>
              </a:rPr>
              <a:t> lên.</a:t>
            </a:r>
            <a:r>
              <a:rPr lang="en-US" altLang="en-US" dirty="0">
                <a:latin typeface="Times New Roman" panose="02020603050405020304" pitchFamily="18" charset="0"/>
                <a:cs typeface="Times New Roman" panose="02020603050405020304" pitchFamily="18" charset="0"/>
                <a:sym typeface="+mn-ea"/>
              </a:rPr>
              <a:t> </a:t>
            </a:r>
          </a:p>
          <a:p>
            <a:endParaRPr lang="en-US" altLang="en-US" dirty="0">
              <a:latin typeface="Times New Roman" panose="02020603050405020304" pitchFamily="18" charset="0"/>
              <a:cs typeface="Times New Roman" panose="02020603050405020304" pitchFamily="18" charset="0"/>
              <a:sym typeface="+mn-ea"/>
            </a:endParaRPr>
          </a:p>
          <a:p>
            <a:r>
              <a:rPr lang="vi-VN" altLang="en-US" b="1" dirty="0">
                <a:latin typeface="Times New Roman" panose="02020603050405020304" pitchFamily="18" charset="0"/>
                <a:cs typeface="Times New Roman" panose="02020603050405020304" pitchFamily="18" charset="0"/>
                <a:sym typeface="+mn-ea"/>
              </a:rPr>
              <a:t>Bước 3: </a:t>
            </a:r>
            <a:r>
              <a:rPr lang="en-US" altLang="en-US" dirty="0">
                <a:latin typeface="Times New Roman" panose="02020603050405020304" pitchFamily="18" charset="0"/>
                <a:cs typeface="Times New Roman" panose="02020603050405020304" pitchFamily="18" charset="0"/>
                <a:sym typeface="+mn-ea"/>
              </a:rPr>
              <a:t>Sau </a:t>
            </a:r>
            <a:r>
              <a:rPr lang="en-US" altLang="en-US" dirty="0" err="1">
                <a:latin typeface="Times New Roman" panose="02020603050405020304" pitchFamily="18" charset="0"/>
                <a:cs typeface="Times New Roman" panose="02020603050405020304" pitchFamily="18" charset="0"/>
                <a:sym typeface="+mn-ea"/>
              </a:rPr>
              <a:t>khi</a:t>
            </a:r>
            <a:r>
              <a:rPr lang="en-US" altLang="en-US" dirty="0">
                <a:latin typeface="Times New Roman" panose="02020603050405020304" pitchFamily="18" charset="0"/>
                <a:cs typeface="Times New Roman" panose="02020603050405020304" pitchFamily="18" charset="0"/>
                <a:sym typeface="+mn-ea"/>
              </a:rPr>
              <a:t> </a:t>
            </a:r>
            <a:r>
              <a:rPr lang="vi-VN" dirty="0">
                <a:latin typeface="Times New Roman" panose="02020603050405020304" pitchFamily="18" charset="0"/>
                <a:cs typeface="Times New Roman" panose="02020603050405020304" pitchFamily="18" charset="0"/>
              </a:rPr>
              <a:t>Máy chủ</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đa</a:t>
            </a:r>
            <a:r>
              <a:rPr lang="en-US" dirty="0">
                <a:latin typeface="Times New Roman" panose="02020603050405020304" pitchFamily="18" charset="0"/>
                <a:cs typeface="Times New Roman" panose="02020603050405020304" pitchFamily="18" charset="0"/>
              </a:rPr>
              <a:t>̃</a:t>
            </a:r>
            <a:r>
              <a:rPr lang="vi-VN" dirty="0">
                <a:latin typeface="Times New Roman" panose="02020603050405020304" pitchFamily="18" charset="0"/>
                <a:cs typeface="Times New Roman" panose="02020603050405020304" pitchFamily="18" charset="0"/>
              </a:rPr>
              <a:t> lưu </a:t>
            </a:r>
            <a:r>
              <a:rPr lang="vi-VN" dirty="0" err="1">
                <a:latin typeface="Times New Roman" panose="02020603050405020304" pitchFamily="18" charset="0"/>
                <a:cs typeface="Times New Roman" panose="02020603050405020304" pitchFamily="18" charset="0"/>
              </a:rPr>
              <a:t>file</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shell.php</a:t>
            </a:r>
            <a:r>
              <a:rPr lang="en-US" dirty="0">
                <a:latin typeface="Times New Roman" panose="02020603050405020304" pitchFamily="18" charset="0"/>
                <a:cs typeface="Times New Roman" panose="02020603050405020304" pitchFamily="18" charset="0"/>
              </a:rPr>
              <a:t> =&gt;</a:t>
            </a:r>
          </a:p>
          <a:p>
            <a:r>
              <a:rPr lang="vi-VN" altLang="en-US" dirty="0">
                <a:latin typeface="Times New Roman" panose="02020603050405020304" pitchFamily="18" charset="0"/>
                <a:cs typeface="Times New Roman" panose="02020603050405020304" pitchFamily="18" charset="0"/>
                <a:sym typeface="+mn-ea"/>
              </a:rPr>
              <a:t>Truy cập </a:t>
            </a:r>
            <a:r>
              <a:rPr lang="en-US" dirty="0">
                <a:latin typeface="Times New Roman" panose="02020603050405020304" pitchFamily="18" charset="0"/>
                <a:cs typeface="Times New Roman" panose="02020603050405020304" pitchFamily="18" charset="0"/>
              </a:rPr>
              <a:t>http://&lt;</a:t>
            </a:r>
            <a:r>
              <a:rPr lang="en-US" dirty="0" err="1">
                <a:latin typeface="Times New Roman" panose="02020603050405020304" pitchFamily="18" charset="0"/>
                <a:cs typeface="Times New Roman" panose="02020603050405020304" pitchFamily="18" charset="0"/>
              </a:rPr>
              <a:t>IPmáyWebServer</a:t>
            </a:r>
            <a:r>
              <a:rPr lang="en-US" dirty="0">
                <a:latin typeface="Times New Roman" panose="02020603050405020304" pitchFamily="18" charset="0"/>
                <a:cs typeface="Times New Roman" panose="02020603050405020304" pitchFamily="18" charset="0"/>
              </a:rPr>
              <a:t>&gt;/uploads/</a:t>
            </a:r>
            <a:r>
              <a:rPr lang="en-US" dirty="0" err="1">
                <a:latin typeface="Times New Roman" panose="02020603050405020304" pitchFamily="18" charset="0"/>
                <a:cs typeface="Times New Roman" panose="02020603050405020304" pitchFamily="18" charset="0"/>
              </a:rPr>
              <a:t>shell.php</a:t>
            </a:r>
            <a:r>
              <a:rPr lang="en-US" dirty="0">
                <a:latin typeface="Times New Roman" panose="02020603050405020304" pitchFamily="18" charset="0"/>
                <a:cs typeface="Times New Roman" panose="02020603050405020304" pitchFamily="18" charset="0"/>
              </a:rPr>
              <a:t> </a:t>
            </a:r>
            <a:r>
              <a:rPr lang="vi-VN" altLang="en-US" dirty="0">
                <a:latin typeface="Times New Roman" panose="02020603050405020304" pitchFamily="18" charset="0"/>
                <a:cs typeface="Times New Roman" panose="02020603050405020304" pitchFamily="18" charset="0"/>
                <a:sym typeface="+mn-ea"/>
              </a:rPr>
              <a:t>bằng trình duyệt.</a:t>
            </a:r>
            <a:endParaRPr lang="en-US" altLang="en-US" dirty="0">
              <a:latin typeface="Times New Roman" panose="02020603050405020304" pitchFamily="18" charset="0"/>
              <a:cs typeface="Times New Roman" panose="02020603050405020304" pitchFamily="18" charset="0"/>
              <a:sym typeface="+mn-ea"/>
            </a:endParaRPr>
          </a:p>
          <a:p>
            <a:endParaRPr lang="en-US" altLang="en-US" dirty="0">
              <a:latin typeface="Times New Roman" panose="02020603050405020304" pitchFamily="18" charset="0"/>
              <a:cs typeface="Times New Roman" panose="02020603050405020304" pitchFamily="18" charset="0"/>
              <a:sym typeface="+mn-ea"/>
            </a:endParaRPr>
          </a:p>
          <a:p>
            <a:r>
              <a:rPr lang="vi-VN" altLang="en-US" dirty="0">
                <a:latin typeface="Times New Roman" panose="02020603050405020304" pitchFamily="18" charset="0"/>
                <a:cs typeface="Times New Roman" panose="02020603050405020304" pitchFamily="18" charset="0"/>
                <a:sym typeface="+mn-ea"/>
              </a:rPr>
              <a:t>Kết quả: Máy chủ thực thi </a:t>
            </a:r>
            <a:r>
              <a:rPr lang="vi-VN" altLang="en-US" dirty="0" err="1">
                <a:latin typeface="Times New Roman" panose="02020603050405020304" pitchFamily="18" charset="0"/>
                <a:cs typeface="Times New Roman" panose="02020603050405020304" pitchFamily="18" charset="0"/>
                <a:sym typeface="+mn-ea"/>
              </a:rPr>
              <a:t>code</a:t>
            </a:r>
            <a:r>
              <a:rPr lang="vi-VN" altLang="en-US" dirty="0">
                <a:latin typeface="Times New Roman" panose="02020603050405020304" pitchFamily="18" charset="0"/>
                <a:cs typeface="Times New Roman" panose="02020603050405020304" pitchFamily="18" charset="0"/>
                <a:sym typeface="+mn-ea"/>
              </a:rPr>
              <a:t>, tạo kết nối ngược về </a:t>
            </a:r>
            <a:r>
              <a:rPr lang="vi-VN" altLang="en-US" dirty="0" err="1">
                <a:latin typeface="Times New Roman" panose="02020603050405020304" pitchFamily="18" charset="0"/>
                <a:cs typeface="Times New Roman" panose="02020603050405020304" pitchFamily="18" charset="0"/>
                <a:sym typeface="+mn-ea"/>
              </a:rPr>
              <a:t>Netcat</a:t>
            </a:r>
            <a:r>
              <a:rPr lang="vi-VN" altLang="en-US" dirty="0">
                <a:latin typeface="Times New Roman" panose="02020603050405020304" pitchFamily="18" charset="0"/>
                <a:cs typeface="Times New Roman" panose="02020603050405020304" pitchFamily="18" charset="0"/>
                <a:sym typeface="+mn-ea"/>
              </a:rPr>
              <a:t>. Kẻ tấn công </a:t>
            </a:r>
            <a:r>
              <a:rPr lang="en-US" altLang="en-US" dirty="0" err="1">
                <a:latin typeface="Times New Roman" panose="02020603050405020304" pitchFamily="18" charset="0"/>
                <a:cs typeface="Times New Roman" panose="02020603050405020304" pitchFamily="18" charset="0"/>
                <a:sym typeface="+mn-ea"/>
              </a:rPr>
              <a:t>chiếm</a:t>
            </a:r>
            <a:r>
              <a:rPr lang="en-US" altLang="en-US" dirty="0">
                <a:latin typeface="Times New Roman" panose="02020603050405020304" pitchFamily="18" charset="0"/>
                <a:cs typeface="Times New Roman" panose="02020603050405020304" pitchFamily="18" charset="0"/>
                <a:sym typeface="+mn-ea"/>
              </a:rPr>
              <a:t> </a:t>
            </a:r>
            <a:r>
              <a:rPr lang="en-US" altLang="en-US" dirty="0" err="1">
                <a:latin typeface="Times New Roman" panose="02020603050405020304" pitchFamily="18" charset="0"/>
                <a:cs typeface="Times New Roman" panose="02020603050405020304" pitchFamily="18" charset="0"/>
                <a:sym typeface="+mn-ea"/>
              </a:rPr>
              <a:t>quyền</a:t>
            </a:r>
            <a:r>
              <a:rPr lang="en-US" altLang="en-US" dirty="0">
                <a:latin typeface="Times New Roman" panose="02020603050405020304" pitchFamily="18" charset="0"/>
                <a:cs typeface="Times New Roman" panose="02020603050405020304" pitchFamily="18" charset="0"/>
                <a:sym typeface="+mn-ea"/>
              </a:rPr>
              <a:t> </a:t>
            </a:r>
            <a:r>
              <a:rPr lang="en-US" altLang="en-US" dirty="0" err="1">
                <a:latin typeface="Times New Roman" panose="02020603050405020304" pitchFamily="18" charset="0"/>
                <a:cs typeface="Times New Roman" panose="02020603050405020304" pitchFamily="18" charset="0"/>
                <a:sym typeface="+mn-ea"/>
              </a:rPr>
              <a:t>điều</a:t>
            </a:r>
            <a:r>
              <a:rPr lang="en-US" altLang="en-US" dirty="0">
                <a:latin typeface="Times New Roman" panose="02020603050405020304" pitchFamily="18" charset="0"/>
                <a:cs typeface="Times New Roman" panose="02020603050405020304" pitchFamily="18" charset="0"/>
                <a:sym typeface="+mn-ea"/>
              </a:rPr>
              <a:t> </a:t>
            </a:r>
            <a:r>
              <a:rPr lang="en-US" altLang="en-US" dirty="0" err="1">
                <a:latin typeface="Times New Roman" panose="02020603050405020304" pitchFamily="18" charset="0"/>
                <a:cs typeface="Times New Roman" panose="02020603050405020304" pitchFamily="18" charset="0"/>
                <a:sym typeface="+mn-ea"/>
              </a:rPr>
              <a:t>khiển</a:t>
            </a:r>
            <a:r>
              <a:rPr lang="vi-VN" altLang="en-US" dirty="0">
                <a:latin typeface="Times New Roman" panose="02020603050405020304" pitchFamily="18" charset="0"/>
                <a:cs typeface="Times New Roman" panose="02020603050405020304" pitchFamily="18" charset="0"/>
                <a:sym typeface="+mn-ea"/>
              </a:rPr>
              <a:t>.</a:t>
            </a:r>
            <a:endParaRPr lang="en-US" altLang="en-US" dirty="0">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645795" y="1464310"/>
            <a:ext cx="8404860" cy="589280"/>
          </a:xfrm>
          <a:prstGeom prst="rect">
            <a:avLst/>
          </a:prstGeom>
          <a:noFill/>
        </p:spPr>
        <p:txBody>
          <a:bodyPr wrap="square" rtlCol="0">
            <a:noAutofit/>
          </a:bodyPr>
          <a:lstStyle/>
          <a:p>
            <a:r>
              <a:rPr lang="en-US" sz="2600" b="1">
                <a:solidFill>
                  <a:srgbClr val="FF0000"/>
                </a:solidFill>
                <a:latin typeface="Times New Roman" panose="02020603050405020304" pitchFamily="18" charset="0"/>
                <a:cs typeface="Times New Roman" panose="02020603050405020304" pitchFamily="18" charset="0"/>
                <a:sym typeface="+mn-ea"/>
              </a:rPr>
              <a:t>3. </a:t>
            </a:r>
            <a:r>
              <a:rPr lang="en-US" altLang="en-US" sz="2600" b="1">
                <a:solidFill>
                  <a:srgbClr val="FF0000"/>
                </a:solidFill>
                <a:latin typeface="Times New Roman" panose="02020603050405020304" pitchFamily="18" charset="0"/>
                <a:cs typeface="Times New Roman" panose="02020603050405020304" pitchFamily="18" charset="0"/>
                <a:sym typeface="+mn-ea"/>
              </a:rPr>
              <a:t>Error Handling tiết lộ thông tin kỹ thuật</a:t>
            </a:r>
            <a:endParaRPr lang="en-US" sz="2600" b="1">
              <a:solidFill>
                <a:srgbClr val="FF0000"/>
              </a:solidFill>
              <a:latin typeface="Times New Roman" panose="02020603050405020304" pitchFamily="18" charset="0"/>
              <a:cs typeface="Times New Roman" panose="02020603050405020304" pitchFamily="18" charset="0"/>
              <a:sym typeface="+mn-ea"/>
            </a:endParaRPr>
          </a:p>
        </p:txBody>
      </p:sp>
      <p:pic>
        <p:nvPicPr>
          <p:cNvPr id="5" name="Picture 4" descr="A screenshot of a cell phone&#10;&#10;AI-generated content may be incorrect.">
            <a:extLst>
              <a:ext uri="{FF2B5EF4-FFF2-40B4-BE49-F238E27FC236}">
                <a16:creationId xmlns:a16="http://schemas.microsoft.com/office/drawing/2014/main" id="{E380C763-8F7B-CC74-6415-6EF2A360A6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02346" y="1845945"/>
            <a:ext cx="2700909" cy="4567715"/>
          </a:xfrm>
          <a:prstGeom prst="rect">
            <a:avLst/>
          </a:prstGeom>
        </p:spPr>
      </p:pic>
      <p:sp>
        <p:nvSpPr>
          <p:cNvPr id="4" name="Slide Number Placeholder 3">
            <a:extLst>
              <a:ext uri="{FF2B5EF4-FFF2-40B4-BE49-F238E27FC236}">
                <a16:creationId xmlns:a16="http://schemas.microsoft.com/office/drawing/2014/main" id="{B3F21EE2-850D-C90C-44D4-0C5B72B3D13E}"/>
              </a:ext>
            </a:extLst>
          </p:cNvPr>
          <p:cNvSpPr>
            <a:spLocks noGrp="1"/>
          </p:cNvSpPr>
          <p:nvPr>
            <p:ph type="sldNum" sz="quarter" idx="12"/>
          </p:nvPr>
        </p:nvSpPr>
        <p:spPr/>
        <p:txBody>
          <a:bodyPr/>
          <a:lstStyle/>
          <a:p>
            <a:pPr lvl="0" eaLnBrk="1" hangingPunct="1"/>
            <a:fld id="{9A0DB2DC-4C9A-4742-B13C-FB6460FD3503}" type="slidenum">
              <a:rPr lang="en-US" altLang="ja-JP" smtClean="0">
                <a:latin typeface="Arial" panose="020B0604020202020204" pitchFamily="34" charset="0"/>
              </a:rPr>
              <a:t>24</a:t>
            </a:fld>
            <a:endParaRPr lang="en-US" altLang="ja-JP"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17410">
                                            <p:txEl>
                                              <p:pRg st="0" end="0"/>
                                            </p:txEl>
                                          </p:spTgt>
                                        </p:tgtEl>
                                        <p:attrNameLst>
                                          <p:attrName>style.visibility</p:attrName>
                                        </p:attrNameLst>
                                      </p:cBhvr>
                                      <p:to>
                                        <p:strVal val="visible"/>
                                      </p:to>
                                    </p:set>
                                    <p:anim calcmode="lin" valueType="num">
                                      <p:cBhvr additive="base">
                                        <p:cTn id="7" dur="500"/>
                                        <p:tgtEl>
                                          <p:spTgt spid="17410">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17410">
                                            <p:txEl>
                                              <p:pRg st="0" end="0"/>
                                            </p:txEl>
                                          </p:spTgt>
                                        </p:tgtEl>
                                      </p:cBhvr>
                                    </p:animEffect>
                                  </p:childTnLst>
                                </p:cTn>
                              </p:par>
                              <p:par>
                                <p:cTn id="9" presetID="12" presetClass="entr" presetSubtype="4" fill="hold" nodeType="withEffect">
                                  <p:stCondLst>
                                    <p:cond delay="0"/>
                                  </p:stCondLst>
                                  <p:childTnLst>
                                    <p:set>
                                      <p:cBhvr>
                                        <p:cTn id="10" dur="1" fill="hold">
                                          <p:stCondLst>
                                            <p:cond delay="0"/>
                                          </p:stCondLst>
                                        </p:cTn>
                                        <p:tgtEl>
                                          <p:spTgt spid="17410">
                                            <p:txEl>
                                              <p:pRg st="1" end="1"/>
                                            </p:txEl>
                                          </p:spTgt>
                                        </p:tgtEl>
                                        <p:attrNameLst>
                                          <p:attrName>style.visibility</p:attrName>
                                        </p:attrNameLst>
                                      </p:cBhvr>
                                      <p:to>
                                        <p:strVal val="visible"/>
                                      </p:to>
                                    </p:set>
                                    <p:anim calcmode="lin" valueType="num">
                                      <p:cBhvr additive="base">
                                        <p:cTn id="11" dur="500"/>
                                        <p:tgtEl>
                                          <p:spTgt spid="17410">
                                            <p:txEl>
                                              <p:pRg st="1" end="1"/>
                                            </p:txEl>
                                          </p:spTgt>
                                        </p:tgtEl>
                                        <p:attrNameLst>
                                          <p:attrName>ppt_y</p:attrName>
                                        </p:attrNameLst>
                                      </p:cBhvr>
                                      <p:tavLst>
                                        <p:tav tm="0">
                                          <p:val>
                                            <p:strVal val="#ppt_y+#ppt_h*1.125000"/>
                                          </p:val>
                                        </p:tav>
                                        <p:tav tm="100000">
                                          <p:val>
                                            <p:strVal val="#ppt_y"/>
                                          </p:val>
                                        </p:tav>
                                      </p:tavLst>
                                    </p:anim>
                                    <p:animEffect transition="in" filter="wipe(up)">
                                      <p:cBhvr>
                                        <p:cTn id="12" dur="500"/>
                                        <p:tgtEl>
                                          <p:spTgt spid="17410">
                                            <p:txEl>
                                              <p:pRg st="1" end="1"/>
                                            </p:txEl>
                                          </p:spTgt>
                                        </p:tgtEl>
                                      </p:cBhvr>
                                    </p:animEffect>
                                  </p:childTnLst>
                                </p:cTn>
                              </p:par>
                              <p:par>
                                <p:cTn id="13" presetID="12" presetClass="entr" presetSubtype="4" fill="hold" nodeType="with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additive="base">
                                        <p:cTn id="15" dur="500"/>
                                        <p:tgtEl>
                                          <p:spTgt spid="3">
                                            <p:txEl>
                                              <p:pRg st="0" end="0"/>
                                            </p:txEl>
                                          </p:spTgt>
                                        </p:tgtEl>
                                        <p:attrNameLst>
                                          <p:attrName>ppt_y</p:attrName>
                                        </p:attrNameLst>
                                      </p:cBhvr>
                                      <p:tavLst>
                                        <p:tav tm="0">
                                          <p:val>
                                            <p:strVal val="#ppt_y+#ppt_h*1.125000"/>
                                          </p:val>
                                        </p:tav>
                                        <p:tav tm="100000">
                                          <p:val>
                                            <p:strVal val="#ppt_y"/>
                                          </p:val>
                                        </p:tav>
                                      </p:tavLst>
                                    </p:anim>
                                    <p:animEffect transition="in" filter="wipe(up)">
                                      <p:cBhvr>
                                        <p:cTn id="16"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テキスト ボックス 3"/>
          <p:cNvSpPr txBox="1"/>
          <p:nvPr/>
        </p:nvSpPr>
        <p:spPr>
          <a:xfrm>
            <a:off x="2181701" y="125730"/>
            <a:ext cx="5745480" cy="1076325"/>
          </a:xfrm>
          <a:prstGeom prst="rect">
            <a:avLst/>
          </a:prstGeom>
          <a:noFill/>
          <a:ln w="9525">
            <a:noFill/>
          </a:ln>
        </p:spPr>
        <p:txBody>
          <a:bodyPr wrap="none">
            <a:spAutoFit/>
          </a:bodyPr>
          <a:lstStyle/>
          <a:p>
            <a:pPr algn="ctr">
              <a:buNone/>
            </a:pPr>
            <a:r>
              <a:rPr lang="en-US" altLang="ja-JP" sz="3200" b="1" dirty="0">
                <a:solidFill>
                  <a:srgbClr val="FF0000"/>
                </a:solidFill>
                <a:latin typeface="Times New Roman" panose="02020603050405020304" pitchFamily="18" charset="0"/>
                <a:ea typeface="MS PGothic" panose="020B0600070205080204" pitchFamily="50" charset="-128"/>
                <a:sym typeface="+mn-ea"/>
              </a:rPr>
              <a:t>II. Cách thức tấn công </a:t>
            </a:r>
            <a:endParaRPr lang="en-US" altLang="ja-JP" sz="3200" b="1" dirty="0">
              <a:solidFill>
                <a:srgbClr val="FF0000"/>
              </a:solidFill>
              <a:latin typeface="Times New Roman" panose="02020603050405020304" pitchFamily="18" charset="0"/>
              <a:ea typeface="MS PGothic" panose="020B0600070205080204" pitchFamily="50" charset="-128"/>
            </a:endParaRPr>
          </a:p>
          <a:p>
            <a:pPr algn="ctr">
              <a:buNone/>
            </a:pPr>
            <a:r>
              <a:rPr lang="en-US" altLang="ja-JP" sz="3200" b="1" dirty="0">
                <a:solidFill>
                  <a:srgbClr val="FF0000"/>
                </a:solidFill>
                <a:latin typeface="Times New Roman" panose="02020603050405020304" pitchFamily="18" charset="0"/>
                <a:ea typeface="MS PGothic" panose="020B0600070205080204" pitchFamily="50" charset="-128"/>
                <a:sym typeface="+mn-ea"/>
              </a:rPr>
              <a:t>và cách phòng ngừa, ngăn chặn.</a:t>
            </a:r>
            <a:endParaRPr lang="ja-JP" altLang="en-US" sz="3200" b="1" dirty="0">
              <a:solidFill>
                <a:srgbClr val="FF0000"/>
              </a:solidFill>
              <a:latin typeface="Times New Roman" panose="02020603050405020304" pitchFamily="18" charset="0"/>
              <a:ea typeface="MS PGothic" panose="020B0600070205080204" pitchFamily="50" charset="-128"/>
            </a:endParaRPr>
          </a:p>
        </p:txBody>
      </p:sp>
      <p:sp>
        <p:nvSpPr>
          <p:cNvPr id="2" name="Text Box 1"/>
          <p:cNvSpPr txBox="1"/>
          <p:nvPr/>
        </p:nvSpPr>
        <p:spPr>
          <a:xfrm>
            <a:off x="90805" y="1845945"/>
            <a:ext cx="8892540" cy="4747895"/>
          </a:xfrm>
          <a:prstGeom prst="rect">
            <a:avLst/>
          </a:prstGeom>
          <a:noFill/>
        </p:spPr>
        <p:txBody>
          <a:bodyPr wrap="square" rtlCol="0">
            <a:noAutofit/>
          </a:bodyPr>
          <a:lstStyle/>
          <a:p>
            <a:r>
              <a:rPr lang="en-US" altLang="en-US" sz="2300" b="1" dirty="0">
                <a:latin typeface="Times New Roman" panose="02020603050405020304" pitchFamily="18" charset="0"/>
                <a:cs typeface="Times New Roman" panose="02020603050405020304" pitchFamily="18" charset="0"/>
                <a:sym typeface="+mn-ea"/>
              </a:rPr>
              <a:t>* </a:t>
            </a:r>
            <a:r>
              <a:rPr lang="en-US" altLang="en-US" sz="2300" b="1" dirty="0" err="1">
                <a:latin typeface="Times New Roman" panose="02020603050405020304" pitchFamily="18" charset="0"/>
                <a:cs typeface="Times New Roman" panose="02020603050405020304" pitchFamily="18" charset="0"/>
                <a:sym typeface="+mn-ea"/>
              </a:rPr>
              <a:t>Phòng</a:t>
            </a:r>
            <a:r>
              <a:rPr lang="en-US" altLang="en-US" sz="2300" b="1" dirty="0">
                <a:latin typeface="Times New Roman" panose="02020603050405020304" pitchFamily="18" charset="0"/>
                <a:cs typeface="Times New Roman" panose="02020603050405020304" pitchFamily="18" charset="0"/>
                <a:sym typeface="+mn-ea"/>
              </a:rPr>
              <a:t> </a:t>
            </a:r>
            <a:r>
              <a:rPr lang="en-US" altLang="en-US" sz="2300" b="1" dirty="0" err="1">
                <a:latin typeface="Times New Roman" panose="02020603050405020304" pitchFamily="18" charset="0"/>
                <a:cs typeface="Times New Roman" panose="02020603050405020304" pitchFamily="18" charset="0"/>
                <a:sym typeface="+mn-ea"/>
              </a:rPr>
              <a:t>Ngừa</a:t>
            </a:r>
            <a:r>
              <a:rPr lang="en-US" altLang="en-US" sz="2300" b="1" dirty="0">
                <a:latin typeface="Times New Roman" panose="02020603050405020304" pitchFamily="18" charset="0"/>
                <a:cs typeface="Times New Roman" panose="02020603050405020304" pitchFamily="18" charset="0"/>
                <a:sym typeface="+mn-ea"/>
              </a:rPr>
              <a:t> &amp; </a:t>
            </a:r>
            <a:r>
              <a:rPr lang="en-US" altLang="en-US" sz="2300" b="1" dirty="0" err="1">
                <a:latin typeface="Times New Roman" panose="02020603050405020304" pitchFamily="18" charset="0"/>
                <a:cs typeface="Times New Roman" panose="02020603050405020304" pitchFamily="18" charset="0"/>
                <a:sym typeface="+mn-ea"/>
              </a:rPr>
              <a:t>Ngăn</a:t>
            </a:r>
            <a:r>
              <a:rPr lang="en-US" altLang="en-US" sz="2300" b="1" dirty="0">
                <a:latin typeface="Times New Roman" panose="02020603050405020304" pitchFamily="18" charset="0"/>
                <a:cs typeface="Times New Roman" panose="02020603050405020304" pitchFamily="18" charset="0"/>
                <a:sym typeface="+mn-ea"/>
              </a:rPr>
              <a:t> </a:t>
            </a:r>
            <a:r>
              <a:rPr lang="en-US" altLang="en-US" sz="2300" b="1" dirty="0" err="1">
                <a:latin typeface="Times New Roman" panose="02020603050405020304" pitchFamily="18" charset="0"/>
                <a:cs typeface="Times New Roman" panose="02020603050405020304" pitchFamily="18" charset="0"/>
                <a:sym typeface="+mn-ea"/>
              </a:rPr>
              <a:t>Chặn</a:t>
            </a:r>
            <a:r>
              <a:rPr lang="en-US" altLang="en-US" sz="2300" b="1" dirty="0">
                <a:latin typeface="Times New Roman" panose="02020603050405020304" pitchFamily="18" charset="0"/>
                <a:cs typeface="Times New Roman" panose="02020603050405020304" pitchFamily="18" charset="0"/>
                <a:sym typeface="+mn-ea"/>
              </a:rPr>
              <a:t> </a:t>
            </a:r>
            <a:r>
              <a:rPr lang="en-US" altLang="en-US" sz="2300" b="1" dirty="0" err="1">
                <a:latin typeface="Times New Roman" panose="02020603050405020304" pitchFamily="18" charset="0"/>
                <a:cs typeface="Times New Roman" panose="02020603050405020304" pitchFamily="18" charset="0"/>
                <a:sym typeface="+mn-ea"/>
              </a:rPr>
              <a:t>Lỗi</a:t>
            </a:r>
            <a:r>
              <a:rPr lang="en-US" altLang="en-US" sz="2300" b="1" dirty="0">
                <a:latin typeface="Times New Roman" panose="02020603050405020304" pitchFamily="18" charset="0"/>
                <a:cs typeface="Times New Roman" panose="02020603050405020304" pitchFamily="18" charset="0"/>
                <a:sym typeface="+mn-ea"/>
              </a:rPr>
              <a:t> </a:t>
            </a:r>
            <a:r>
              <a:rPr lang="en-US" altLang="en-US" sz="2300" b="1" dirty="0" err="1">
                <a:latin typeface="Times New Roman" panose="02020603050405020304" pitchFamily="18" charset="0"/>
                <a:cs typeface="Times New Roman" panose="02020603050405020304" pitchFamily="18" charset="0"/>
                <a:sym typeface="+mn-ea"/>
              </a:rPr>
              <a:t>Tiết</a:t>
            </a:r>
            <a:r>
              <a:rPr lang="en-US" altLang="en-US" sz="2300" b="1" dirty="0">
                <a:latin typeface="Times New Roman" panose="02020603050405020304" pitchFamily="18" charset="0"/>
                <a:cs typeface="Times New Roman" panose="02020603050405020304" pitchFamily="18" charset="0"/>
                <a:sym typeface="+mn-ea"/>
              </a:rPr>
              <a:t> </a:t>
            </a:r>
            <a:r>
              <a:rPr lang="en-US" altLang="en-US" sz="2300" b="1" dirty="0" err="1">
                <a:latin typeface="Times New Roman" panose="02020603050405020304" pitchFamily="18" charset="0"/>
                <a:cs typeface="Times New Roman" panose="02020603050405020304" pitchFamily="18" charset="0"/>
                <a:sym typeface="+mn-ea"/>
              </a:rPr>
              <a:t>Lộ</a:t>
            </a:r>
            <a:r>
              <a:rPr lang="en-US" altLang="en-US" sz="2300" b="1" dirty="0">
                <a:latin typeface="Times New Roman" panose="02020603050405020304" pitchFamily="18" charset="0"/>
                <a:cs typeface="Times New Roman" panose="02020603050405020304" pitchFamily="18" charset="0"/>
                <a:sym typeface="+mn-ea"/>
              </a:rPr>
              <a:t> Thông tin </a:t>
            </a:r>
            <a:r>
              <a:rPr lang="en-US" altLang="en-US" sz="2300" b="1" dirty="0" err="1">
                <a:latin typeface="Times New Roman" panose="02020603050405020304" pitchFamily="18" charset="0"/>
                <a:cs typeface="Times New Roman" panose="02020603050405020304" pitchFamily="18" charset="0"/>
                <a:sym typeface="+mn-ea"/>
              </a:rPr>
              <a:t>Kỹ</a:t>
            </a:r>
            <a:r>
              <a:rPr lang="en-US" altLang="en-US" sz="2300" b="1" dirty="0">
                <a:latin typeface="Times New Roman" panose="02020603050405020304" pitchFamily="18" charset="0"/>
                <a:cs typeface="Times New Roman" panose="02020603050405020304" pitchFamily="18" charset="0"/>
                <a:sym typeface="+mn-ea"/>
              </a:rPr>
              <a:t> </a:t>
            </a:r>
            <a:r>
              <a:rPr lang="en-US" altLang="en-US" sz="2300" b="1" dirty="0" err="1">
                <a:latin typeface="Times New Roman" panose="02020603050405020304" pitchFamily="18" charset="0"/>
                <a:cs typeface="Times New Roman" panose="02020603050405020304" pitchFamily="18" charset="0"/>
                <a:sym typeface="+mn-ea"/>
              </a:rPr>
              <a:t>thuật</a:t>
            </a:r>
            <a:endParaRPr lang="en-US" altLang="en-US" sz="2300" b="1" dirty="0">
              <a:latin typeface="Times New Roman" panose="02020603050405020304" pitchFamily="18" charset="0"/>
              <a:cs typeface="Times New Roman" panose="02020603050405020304" pitchFamily="18" charset="0"/>
              <a:sym typeface="+mn-ea"/>
            </a:endParaRPr>
          </a:p>
          <a:p>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Chặn</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hiển</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thị</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các</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thông</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báo</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lỗi</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hệ</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thống</a:t>
            </a:r>
            <a:r>
              <a:rPr lang="en-US" altLang="en-US" sz="1800" dirty="0">
                <a:latin typeface="Times New Roman" panose="02020603050405020304" pitchFamily="18" charset="0"/>
                <a:cs typeface="Times New Roman" panose="02020603050405020304" pitchFamily="18" charset="0"/>
                <a:sym typeface="+mn-ea"/>
              </a:rPr>
              <a:t>, Stack Traces, </a:t>
            </a:r>
            <a:r>
              <a:rPr lang="en-US" altLang="en-US" sz="1800" dirty="0" err="1">
                <a:latin typeface="Times New Roman" panose="02020603050405020304" pitchFamily="18" charset="0"/>
                <a:cs typeface="Times New Roman" panose="02020603050405020304" pitchFamily="18" charset="0"/>
                <a:sym typeface="+mn-ea"/>
              </a:rPr>
              <a:t>và</a:t>
            </a:r>
            <a:r>
              <a:rPr lang="en-US" altLang="en-US" sz="1800" dirty="0">
                <a:latin typeface="Times New Roman" panose="02020603050405020304" pitchFamily="18" charset="0"/>
                <a:cs typeface="Times New Roman" panose="02020603050405020304" pitchFamily="18" charset="0"/>
                <a:sym typeface="+mn-ea"/>
              </a:rPr>
              <a:t> chi </a:t>
            </a:r>
            <a:r>
              <a:rPr lang="en-US" altLang="en-US" sz="1800" dirty="0" err="1">
                <a:latin typeface="Times New Roman" panose="02020603050405020304" pitchFamily="18" charset="0"/>
                <a:cs typeface="Times New Roman" panose="02020603050405020304" pitchFamily="18" charset="0"/>
                <a:sym typeface="+mn-ea"/>
              </a:rPr>
              <a:t>tiết</a:t>
            </a:r>
            <a:r>
              <a:rPr lang="en-US" altLang="en-US" sz="1800" dirty="0">
                <a:latin typeface="Times New Roman" panose="02020603050405020304" pitchFamily="18" charset="0"/>
                <a:cs typeface="Times New Roman" panose="02020603050405020304" pitchFamily="18" charset="0"/>
                <a:sym typeface="+mn-ea"/>
              </a:rPr>
              <a:t> Database (SQL) </a:t>
            </a:r>
            <a:r>
              <a:rPr lang="en-US" altLang="en-US" sz="1800" dirty="0" err="1">
                <a:latin typeface="Times New Roman" panose="02020603050405020304" pitchFamily="18" charset="0"/>
                <a:cs typeface="Times New Roman" panose="02020603050405020304" pitchFamily="18" charset="0"/>
                <a:sym typeface="+mn-ea"/>
              </a:rPr>
              <a:t>cho</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người</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dùng</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cuối</a:t>
            </a:r>
            <a:r>
              <a:rPr lang="en-US" altLang="en-US" sz="1800" dirty="0">
                <a:latin typeface="Times New Roman" panose="02020603050405020304" pitchFamily="18" charset="0"/>
                <a:cs typeface="Times New Roman" panose="02020603050405020304" pitchFamily="18" charset="0"/>
                <a:sym typeface="+mn-ea"/>
              </a:rPr>
              <a:t>.</a:t>
            </a:r>
          </a:p>
          <a:p>
            <a:endParaRPr lang="en-US" altLang="en-US" sz="1800" dirty="0">
              <a:latin typeface="Times New Roman" panose="02020603050405020304" pitchFamily="18" charset="0"/>
              <a:cs typeface="Times New Roman" panose="02020603050405020304" pitchFamily="18" charset="0"/>
              <a:sym typeface="+mn-ea"/>
            </a:endParaRPr>
          </a:p>
          <a:p>
            <a:r>
              <a:rPr lang="en-US" altLang="en-US" sz="1800" dirty="0">
                <a:latin typeface="Times New Roman" panose="02020603050405020304" pitchFamily="18" charset="0"/>
                <a:cs typeface="Times New Roman" panose="02020603050405020304" pitchFamily="18" charset="0"/>
                <a:sym typeface="+mn-ea"/>
              </a:rPr>
              <a:t>- Thay </a:t>
            </a:r>
            <a:r>
              <a:rPr lang="en-US" altLang="en-US" sz="1800" dirty="0" err="1">
                <a:latin typeface="Times New Roman" panose="02020603050405020304" pitchFamily="18" charset="0"/>
                <a:cs typeface="Times New Roman" panose="02020603050405020304" pitchFamily="18" charset="0"/>
                <a:sym typeface="+mn-ea"/>
              </a:rPr>
              <a:t>thế</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lỗi</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kỹ</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thuật</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bằng</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các</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trang</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lỗi</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thân</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thiện</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với</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người</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dùng</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và</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ví</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dụ</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Có</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lỗi</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xảy</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ra</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vui</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lòng</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thử</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lại</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sau</a:t>
            </a:r>
            <a:r>
              <a:rPr lang="en-US" altLang="en-US" sz="1800" dirty="0">
                <a:latin typeface="Times New Roman" panose="02020603050405020304" pitchFamily="18" charset="0"/>
                <a:cs typeface="Times New Roman" panose="02020603050405020304" pitchFamily="18" charset="0"/>
                <a:sym typeface="+mn-ea"/>
              </a:rPr>
              <a:t>.").</a:t>
            </a:r>
          </a:p>
          <a:p>
            <a:endParaRPr lang="en-US" altLang="en-US" sz="1800" dirty="0">
              <a:latin typeface="Times New Roman" panose="02020603050405020304" pitchFamily="18" charset="0"/>
              <a:cs typeface="Times New Roman" panose="02020603050405020304" pitchFamily="18" charset="0"/>
              <a:sym typeface="+mn-ea"/>
            </a:endParaRPr>
          </a:p>
          <a:p>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Tắt</a:t>
            </a:r>
            <a:r>
              <a:rPr lang="en-US" altLang="en-US" sz="1800" dirty="0">
                <a:latin typeface="Times New Roman" panose="02020603050405020304" pitchFamily="18" charset="0"/>
                <a:cs typeface="Times New Roman" panose="02020603050405020304" pitchFamily="18" charset="0"/>
                <a:sym typeface="+mn-ea"/>
              </a:rPr>
              <a:t> (Disable) </a:t>
            </a:r>
            <a:r>
              <a:rPr lang="en-US" altLang="en-US" sz="1800" dirty="0" err="1">
                <a:latin typeface="Times New Roman" panose="02020603050405020304" pitchFamily="18" charset="0"/>
                <a:cs typeface="Times New Roman" panose="02020603050405020304" pitchFamily="18" charset="0"/>
                <a:sym typeface="+mn-ea"/>
              </a:rPr>
              <a:t>chế</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độ</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gỡ</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lỗi</a:t>
            </a:r>
            <a:r>
              <a:rPr lang="en-US" altLang="en-US" sz="1800" dirty="0">
                <a:latin typeface="Times New Roman" panose="02020603050405020304" pitchFamily="18" charset="0"/>
                <a:cs typeface="Times New Roman" panose="02020603050405020304" pitchFamily="18" charset="0"/>
                <a:sym typeface="+mn-ea"/>
              </a:rPr>
              <a:t> (Debug Mode) </a:t>
            </a:r>
            <a:r>
              <a:rPr lang="en-US" altLang="en-US" sz="1800" dirty="0" err="1">
                <a:latin typeface="Times New Roman" panose="02020603050405020304" pitchFamily="18" charset="0"/>
                <a:cs typeface="Times New Roman" panose="02020603050405020304" pitchFamily="18" charset="0"/>
                <a:sym typeface="+mn-ea"/>
              </a:rPr>
              <a:t>trên</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môi</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trường</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Sản</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xuất</a:t>
            </a:r>
            <a:r>
              <a:rPr lang="en-US" altLang="en-US" sz="1800" dirty="0">
                <a:latin typeface="Times New Roman" panose="02020603050405020304" pitchFamily="18" charset="0"/>
                <a:cs typeface="Times New Roman" panose="02020603050405020304" pitchFamily="18" charset="0"/>
                <a:sym typeface="+mn-ea"/>
              </a:rPr>
              <a:t> (Production).</a:t>
            </a:r>
          </a:p>
          <a:p>
            <a:endParaRPr lang="en-US" altLang="en-US" sz="1800" dirty="0">
              <a:latin typeface="Times New Roman" panose="02020603050405020304" pitchFamily="18" charset="0"/>
              <a:cs typeface="Times New Roman" panose="02020603050405020304" pitchFamily="18" charset="0"/>
              <a:sym typeface="+mn-ea"/>
            </a:endParaRPr>
          </a:p>
          <a:p>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Cấu</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hình</a:t>
            </a:r>
            <a:r>
              <a:rPr lang="en-US" altLang="en-US" sz="1800" dirty="0">
                <a:latin typeface="Times New Roman" panose="02020603050405020304" pitchFamily="18" charset="0"/>
                <a:cs typeface="Times New Roman" panose="02020603050405020304" pitchFamily="18" charset="0"/>
                <a:sym typeface="+mn-ea"/>
              </a:rPr>
              <a:t> Web Server (Apache, Nginx) </a:t>
            </a:r>
            <a:r>
              <a:rPr lang="en-US" altLang="en-US" sz="1800" dirty="0" err="1">
                <a:latin typeface="Times New Roman" panose="02020603050405020304" pitchFamily="18" charset="0"/>
                <a:cs typeface="Times New Roman" panose="02020603050405020304" pitchFamily="18" charset="0"/>
                <a:sym typeface="+mn-ea"/>
              </a:rPr>
              <a:t>để</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giấu</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hoặc</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rút</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gọn</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các</a:t>
            </a:r>
            <a:r>
              <a:rPr lang="en-US" altLang="en-US" sz="1800" dirty="0">
                <a:latin typeface="Times New Roman" panose="02020603050405020304" pitchFamily="18" charset="0"/>
                <a:cs typeface="Times New Roman" panose="02020603050405020304" pitchFamily="18" charset="0"/>
                <a:sym typeface="+mn-ea"/>
              </a:rPr>
              <a:t> Header </a:t>
            </a:r>
            <a:r>
              <a:rPr lang="en-US" altLang="en-US" sz="1800" dirty="0" err="1">
                <a:latin typeface="Times New Roman" panose="02020603050405020304" pitchFamily="18" charset="0"/>
                <a:cs typeface="Times New Roman" panose="02020603050405020304" pitchFamily="18" charset="0"/>
                <a:sym typeface="+mn-ea"/>
              </a:rPr>
              <a:t>tiết</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lộ</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phiên</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bản</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ví</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dụ</a:t>
            </a:r>
            <a:r>
              <a:rPr lang="en-US" altLang="en-US" sz="1800" dirty="0">
                <a:latin typeface="Times New Roman" panose="02020603050405020304" pitchFamily="18" charset="0"/>
                <a:cs typeface="Times New Roman" panose="02020603050405020304" pitchFamily="18" charset="0"/>
                <a:sym typeface="+mn-ea"/>
              </a:rPr>
              <a:t>: Server: Apache </a:t>
            </a:r>
            <a:r>
              <a:rPr lang="en-US" altLang="en-US" sz="1800" dirty="0" err="1">
                <a:latin typeface="Times New Roman" panose="02020603050405020304" pitchFamily="18" charset="0"/>
                <a:cs typeface="Times New Roman" panose="02020603050405020304" pitchFamily="18" charset="0"/>
                <a:sym typeface="+mn-ea"/>
              </a:rPr>
              <a:t>thay</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vì</a:t>
            </a:r>
            <a:r>
              <a:rPr lang="en-US" altLang="en-US" sz="1800" dirty="0">
                <a:latin typeface="Times New Roman" panose="02020603050405020304" pitchFamily="18" charset="0"/>
                <a:cs typeface="Times New Roman" panose="02020603050405020304" pitchFamily="18" charset="0"/>
                <a:sym typeface="+mn-ea"/>
              </a:rPr>
              <a:t> Server: Apache/2.4.41).</a:t>
            </a:r>
          </a:p>
          <a:p>
            <a:endParaRPr lang="en-US" altLang="en-US" sz="1800" dirty="0">
              <a:latin typeface="Times New Roman" panose="02020603050405020304" pitchFamily="18" charset="0"/>
              <a:cs typeface="Times New Roman" panose="02020603050405020304" pitchFamily="18" charset="0"/>
              <a:sym typeface="+mn-ea"/>
            </a:endParaRPr>
          </a:p>
          <a:p>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Chuyển</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hướng</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tất</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cả</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các</a:t>
            </a:r>
            <a:r>
              <a:rPr lang="en-US" altLang="en-US" sz="1800" dirty="0">
                <a:latin typeface="Times New Roman" panose="02020603050405020304" pitchFamily="18" charset="0"/>
                <a:cs typeface="Times New Roman" panose="02020603050405020304" pitchFamily="18" charset="0"/>
                <a:sym typeface="+mn-ea"/>
              </a:rPr>
              <a:t> chi </a:t>
            </a:r>
            <a:r>
              <a:rPr lang="en-US" altLang="en-US" sz="1800" dirty="0" err="1">
                <a:latin typeface="Times New Roman" panose="02020603050405020304" pitchFamily="18" charset="0"/>
                <a:cs typeface="Times New Roman" panose="02020603050405020304" pitchFamily="18" charset="0"/>
                <a:sym typeface="+mn-ea"/>
              </a:rPr>
              <a:t>tiết</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kỹ</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thuật</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của</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lỗi</a:t>
            </a:r>
            <a:r>
              <a:rPr lang="en-US" altLang="en-US" sz="1800" dirty="0">
                <a:latin typeface="Times New Roman" panose="02020603050405020304" pitchFamily="18" charset="0"/>
                <a:cs typeface="Times New Roman" panose="02020603050405020304" pitchFamily="18" charset="0"/>
                <a:sym typeface="+mn-ea"/>
              </a:rPr>
              <a:t> (Stack Traces, SQL Errors) </a:t>
            </a:r>
            <a:r>
              <a:rPr lang="en-US" altLang="en-US" sz="1800" dirty="0" err="1">
                <a:latin typeface="Times New Roman" panose="02020603050405020304" pitchFamily="18" charset="0"/>
                <a:cs typeface="Times New Roman" panose="02020603050405020304" pitchFamily="18" charset="0"/>
                <a:sym typeface="+mn-ea"/>
              </a:rPr>
              <a:t>vào</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tệp</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nhật</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ký</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bảo</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mật</a:t>
            </a:r>
            <a:r>
              <a:rPr lang="en-US" altLang="en-US" sz="1800" dirty="0">
                <a:latin typeface="Times New Roman" panose="02020603050405020304" pitchFamily="18" charset="0"/>
                <a:cs typeface="Times New Roman" panose="02020603050405020304" pitchFamily="18" charset="0"/>
                <a:sym typeface="+mn-ea"/>
              </a:rPr>
              <a:t> (Log File) </a:t>
            </a:r>
            <a:r>
              <a:rPr lang="en-US" altLang="en-US" sz="1800" dirty="0" err="1">
                <a:latin typeface="Times New Roman" panose="02020603050405020304" pitchFamily="18" charset="0"/>
                <a:cs typeface="Times New Roman" panose="02020603050405020304" pitchFamily="18" charset="0"/>
                <a:sym typeface="+mn-ea"/>
              </a:rPr>
              <a:t>chỉ</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có</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quản</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trị</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viên</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mới</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truy</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cập</a:t>
            </a:r>
            <a:r>
              <a:rPr lang="en-US" altLang="en-US" sz="1800" dirty="0">
                <a:latin typeface="Times New Roman" panose="02020603050405020304" pitchFamily="18" charset="0"/>
                <a:cs typeface="Times New Roman" panose="02020603050405020304" pitchFamily="18" charset="0"/>
                <a:sym typeface="+mn-ea"/>
              </a:rPr>
              <a:t> </a:t>
            </a:r>
            <a:r>
              <a:rPr lang="en-US" altLang="en-US" sz="1800" dirty="0" err="1">
                <a:latin typeface="Times New Roman" panose="02020603050405020304" pitchFamily="18" charset="0"/>
                <a:cs typeface="Times New Roman" panose="02020603050405020304" pitchFamily="18" charset="0"/>
                <a:sym typeface="+mn-ea"/>
              </a:rPr>
              <a:t>được</a:t>
            </a:r>
            <a:r>
              <a:rPr lang="en-US" altLang="en-US" sz="1800" dirty="0">
                <a:latin typeface="Times New Roman" panose="02020603050405020304" pitchFamily="18" charset="0"/>
                <a:cs typeface="Times New Roman" panose="02020603050405020304" pitchFamily="18" charset="0"/>
                <a:sym typeface="+mn-ea"/>
              </a:rPr>
              <a:t>.</a:t>
            </a:r>
          </a:p>
        </p:txBody>
      </p:sp>
      <p:sp>
        <p:nvSpPr>
          <p:cNvPr id="3" name="Text Box 2"/>
          <p:cNvSpPr txBox="1"/>
          <p:nvPr/>
        </p:nvSpPr>
        <p:spPr>
          <a:xfrm>
            <a:off x="645795" y="1464310"/>
            <a:ext cx="8404860" cy="589280"/>
          </a:xfrm>
          <a:prstGeom prst="rect">
            <a:avLst/>
          </a:prstGeom>
          <a:noFill/>
        </p:spPr>
        <p:txBody>
          <a:bodyPr wrap="square" rtlCol="0">
            <a:noAutofit/>
          </a:bodyPr>
          <a:lstStyle/>
          <a:p>
            <a:r>
              <a:rPr lang="en-US" sz="2600" b="1">
                <a:solidFill>
                  <a:srgbClr val="FF0000"/>
                </a:solidFill>
                <a:latin typeface="Times New Roman" panose="02020603050405020304" pitchFamily="18" charset="0"/>
                <a:cs typeface="Times New Roman" panose="02020603050405020304" pitchFamily="18" charset="0"/>
                <a:sym typeface="+mn-ea"/>
              </a:rPr>
              <a:t>3. </a:t>
            </a:r>
            <a:r>
              <a:rPr lang="en-US" altLang="en-US" sz="2600" b="1">
                <a:solidFill>
                  <a:srgbClr val="FF0000"/>
                </a:solidFill>
                <a:latin typeface="Times New Roman" panose="02020603050405020304" pitchFamily="18" charset="0"/>
                <a:cs typeface="Times New Roman" panose="02020603050405020304" pitchFamily="18" charset="0"/>
                <a:sym typeface="+mn-ea"/>
              </a:rPr>
              <a:t>Error Handling tiết lộ thông tin kỹ thuật</a:t>
            </a:r>
            <a:endParaRPr lang="en-US" sz="2600" b="1">
              <a:solidFill>
                <a:srgbClr val="FF0000"/>
              </a:solidFill>
              <a:latin typeface="Times New Roman" panose="02020603050405020304" pitchFamily="18" charset="0"/>
              <a:cs typeface="Times New Roman" panose="02020603050405020304" pitchFamily="18" charset="0"/>
              <a:sym typeface="+mn-ea"/>
            </a:endParaRPr>
          </a:p>
        </p:txBody>
      </p:sp>
      <p:sp>
        <p:nvSpPr>
          <p:cNvPr id="4" name="Slide Number Placeholder 3">
            <a:extLst>
              <a:ext uri="{FF2B5EF4-FFF2-40B4-BE49-F238E27FC236}">
                <a16:creationId xmlns:a16="http://schemas.microsoft.com/office/drawing/2014/main" id="{FF8B2197-2A5C-961B-6C70-D240F5436894}"/>
              </a:ext>
            </a:extLst>
          </p:cNvPr>
          <p:cNvSpPr>
            <a:spLocks noGrp="1"/>
          </p:cNvSpPr>
          <p:nvPr>
            <p:ph type="sldNum" sz="quarter" idx="12"/>
          </p:nvPr>
        </p:nvSpPr>
        <p:spPr/>
        <p:txBody>
          <a:bodyPr/>
          <a:lstStyle/>
          <a:p>
            <a:pPr lvl="0" eaLnBrk="1" hangingPunct="1"/>
            <a:fld id="{9A0DB2DC-4C9A-4742-B13C-FB6460FD3503}" type="slidenum">
              <a:rPr lang="en-US" altLang="ja-JP" smtClean="0">
                <a:latin typeface="Arial" panose="020B0604020202020204" pitchFamily="34" charset="0"/>
              </a:rPr>
              <a:t>25</a:t>
            </a:fld>
            <a:endParaRPr lang="en-US" altLang="ja-JP"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17410">
                                            <p:txEl>
                                              <p:pRg st="0" end="0"/>
                                            </p:txEl>
                                          </p:spTgt>
                                        </p:tgtEl>
                                        <p:attrNameLst>
                                          <p:attrName>style.visibility</p:attrName>
                                        </p:attrNameLst>
                                      </p:cBhvr>
                                      <p:to>
                                        <p:strVal val="visible"/>
                                      </p:to>
                                    </p:set>
                                    <p:anim calcmode="lin" valueType="num">
                                      <p:cBhvr additive="base">
                                        <p:cTn id="7" dur="500"/>
                                        <p:tgtEl>
                                          <p:spTgt spid="17410">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17410">
                                            <p:txEl>
                                              <p:pRg st="0" end="0"/>
                                            </p:txEl>
                                          </p:spTgt>
                                        </p:tgtEl>
                                      </p:cBhvr>
                                    </p:animEffect>
                                  </p:childTnLst>
                                </p:cTn>
                              </p:par>
                              <p:par>
                                <p:cTn id="9" presetID="12" presetClass="entr" presetSubtype="4" fill="hold" nodeType="withEffect">
                                  <p:stCondLst>
                                    <p:cond delay="0"/>
                                  </p:stCondLst>
                                  <p:childTnLst>
                                    <p:set>
                                      <p:cBhvr>
                                        <p:cTn id="10" dur="1" fill="hold">
                                          <p:stCondLst>
                                            <p:cond delay="0"/>
                                          </p:stCondLst>
                                        </p:cTn>
                                        <p:tgtEl>
                                          <p:spTgt spid="17410">
                                            <p:txEl>
                                              <p:pRg st="1" end="1"/>
                                            </p:txEl>
                                          </p:spTgt>
                                        </p:tgtEl>
                                        <p:attrNameLst>
                                          <p:attrName>style.visibility</p:attrName>
                                        </p:attrNameLst>
                                      </p:cBhvr>
                                      <p:to>
                                        <p:strVal val="visible"/>
                                      </p:to>
                                    </p:set>
                                    <p:anim calcmode="lin" valueType="num">
                                      <p:cBhvr additive="base">
                                        <p:cTn id="11" dur="500"/>
                                        <p:tgtEl>
                                          <p:spTgt spid="17410">
                                            <p:txEl>
                                              <p:pRg st="1" end="1"/>
                                            </p:txEl>
                                          </p:spTgt>
                                        </p:tgtEl>
                                        <p:attrNameLst>
                                          <p:attrName>ppt_y</p:attrName>
                                        </p:attrNameLst>
                                      </p:cBhvr>
                                      <p:tavLst>
                                        <p:tav tm="0">
                                          <p:val>
                                            <p:strVal val="#ppt_y+#ppt_h*1.125000"/>
                                          </p:val>
                                        </p:tav>
                                        <p:tav tm="100000">
                                          <p:val>
                                            <p:strVal val="#ppt_y"/>
                                          </p:val>
                                        </p:tav>
                                      </p:tavLst>
                                    </p:anim>
                                    <p:animEffect transition="in" filter="wipe(up)">
                                      <p:cBhvr>
                                        <p:cTn id="12" dur="500"/>
                                        <p:tgtEl>
                                          <p:spTgt spid="17410">
                                            <p:txEl>
                                              <p:pRg st="1" end="1"/>
                                            </p:txEl>
                                          </p:spTgt>
                                        </p:tgtEl>
                                      </p:cBhvr>
                                    </p:animEffect>
                                  </p:childTnLst>
                                </p:cTn>
                              </p:par>
                              <p:par>
                                <p:cTn id="13" presetID="12" presetClass="entr" presetSubtype="4" fill="hold" nodeType="with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additive="base">
                                        <p:cTn id="15" dur="500"/>
                                        <p:tgtEl>
                                          <p:spTgt spid="3">
                                            <p:txEl>
                                              <p:pRg st="0" end="0"/>
                                            </p:txEl>
                                          </p:spTgt>
                                        </p:tgtEl>
                                        <p:attrNameLst>
                                          <p:attrName>ppt_y</p:attrName>
                                        </p:attrNameLst>
                                      </p:cBhvr>
                                      <p:tavLst>
                                        <p:tav tm="0">
                                          <p:val>
                                            <p:strVal val="#ppt_y+#ppt_h*1.125000"/>
                                          </p:val>
                                        </p:tav>
                                        <p:tav tm="100000">
                                          <p:val>
                                            <p:strVal val="#ppt_y"/>
                                          </p:val>
                                        </p:tav>
                                      </p:tavLst>
                                    </p:anim>
                                    <p:animEffect transition="in" filter="wipe(up)">
                                      <p:cBhvr>
                                        <p:cTn id="16"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19458" name="テキスト ボックス 1"/>
          <p:cNvSpPr txBox="1"/>
          <p:nvPr/>
        </p:nvSpPr>
        <p:spPr>
          <a:xfrm>
            <a:off x="238125" y="1238303"/>
            <a:ext cx="8601075" cy="1198880"/>
          </a:xfrm>
          <a:prstGeom prst="rect">
            <a:avLst/>
          </a:prstGeom>
          <a:noFill/>
          <a:ln w="9525">
            <a:noFill/>
          </a:ln>
        </p:spPr>
        <p:txBody>
          <a:bodyPr>
            <a:spAutoFit/>
          </a:bodyPr>
          <a:lstStyle/>
          <a:p>
            <a:pPr algn="ctr"/>
            <a:r>
              <a:rPr lang="en-US" altLang="ja-JP" sz="3600" b="1" dirty="0">
                <a:solidFill>
                  <a:srgbClr val="FF0000"/>
                </a:solidFill>
                <a:latin typeface="Times New Roman" panose="02020603050405020304" pitchFamily="18" charset="0"/>
                <a:ea typeface="MS PGothic" panose="020B0600070205080204" pitchFamily="50" charset="-128"/>
              </a:rPr>
              <a:t>TRÂN TRỌNG CÁM ƠN SỰ THEO DÕI </a:t>
            </a:r>
          </a:p>
          <a:p>
            <a:pPr algn="ctr"/>
            <a:r>
              <a:rPr lang="en-US" altLang="ja-JP" sz="3600" b="1" dirty="0">
                <a:solidFill>
                  <a:srgbClr val="FF0000"/>
                </a:solidFill>
                <a:latin typeface="Times New Roman" panose="02020603050405020304" pitchFamily="18" charset="0"/>
                <a:ea typeface="MS PGothic" panose="020B0600070205080204" pitchFamily="50" charset="-128"/>
              </a:rPr>
              <a:t>CỦA THẦY VÀ CÁC </a:t>
            </a:r>
            <a:r>
              <a:rPr lang="en-US" altLang="ja-JP" sz="3600" b="1">
                <a:solidFill>
                  <a:srgbClr val="FF0000"/>
                </a:solidFill>
                <a:latin typeface="Times New Roman" panose="02020603050405020304" pitchFamily="18" charset="0"/>
                <a:ea typeface="MS PGothic" panose="020B0600070205080204" pitchFamily="50" charset="-128"/>
              </a:rPr>
              <a:t>BẠN !</a:t>
            </a:r>
            <a:endParaRPr lang="ja-JP" altLang="en-US" sz="3600" b="1" dirty="0">
              <a:solidFill>
                <a:srgbClr val="FF0000"/>
              </a:solidFill>
              <a:latin typeface="Times New Roman" panose="02020603050405020304" pitchFamily="18" charset="0"/>
              <a:ea typeface="MS PGothic" panose="020B0600070205080204" pitchFamily="50" charset="-128"/>
            </a:endParaRPr>
          </a:p>
        </p:txBody>
      </p:sp>
      <p:sp>
        <p:nvSpPr>
          <p:cNvPr id="2" name="Slide Number Placeholder 1">
            <a:extLst>
              <a:ext uri="{FF2B5EF4-FFF2-40B4-BE49-F238E27FC236}">
                <a16:creationId xmlns:a16="http://schemas.microsoft.com/office/drawing/2014/main" id="{DBD1A36C-DF66-9E2C-FCB2-DF56C9E2B9A8}"/>
              </a:ext>
            </a:extLst>
          </p:cNvPr>
          <p:cNvSpPr>
            <a:spLocks noGrp="1"/>
          </p:cNvSpPr>
          <p:nvPr>
            <p:ph type="sldNum" sz="quarter" idx="12"/>
          </p:nvPr>
        </p:nvSpPr>
        <p:spPr/>
        <p:txBody>
          <a:bodyPr/>
          <a:lstStyle/>
          <a:p>
            <a:pPr lvl="0" eaLnBrk="1" hangingPunct="1"/>
            <a:fld id="{9A0DB2DC-4C9A-4742-B13C-FB6460FD3503}" type="slidenum">
              <a:rPr lang="en-US" altLang="ja-JP" smtClean="0">
                <a:latin typeface="Arial" panose="020B0604020202020204" pitchFamily="34" charset="0"/>
              </a:rPr>
              <a:t>26</a:t>
            </a:fld>
            <a:endParaRPr lang="en-US" altLang="ja-JP"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19458">
                                            <p:txEl>
                                              <p:pRg st="0" end="0"/>
                                            </p:txEl>
                                          </p:spTgt>
                                        </p:tgtEl>
                                        <p:attrNameLst>
                                          <p:attrName>style.visibility</p:attrName>
                                        </p:attrNameLst>
                                      </p:cBhvr>
                                      <p:to>
                                        <p:strVal val="visible"/>
                                      </p:to>
                                    </p:set>
                                    <p:anim calcmode="lin" valueType="num">
                                      <p:cBhvr additive="base">
                                        <p:cTn id="7" dur="500"/>
                                        <p:tgtEl>
                                          <p:spTgt spid="19458">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19458">
                                            <p:txEl>
                                              <p:pRg st="0" end="0"/>
                                            </p:txEl>
                                          </p:spTgt>
                                        </p:tgtEl>
                                      </p:cBhvr>
                                    </p:animEffect>
                                  </p:childTnLst>
                                </p:cTn>
                              </p:par>
                              <p:par>
                                <p:cTn id="9" presetID="12" presetClass="entr" presetSubtype="4" fill="hold" nodeType="withEffect">
                                  <p:stCondLst>
                                    <p:cond delay="0"/>
                                  </p:stCondLst>
                                  <p:childTnLst>
                                    <p:set>
                                      <p:cBhvr>
                                        <p:cTn id="10" dur="1" fill="hold">
                                          <p:stCondLst>
                                            <p:cond delay="0"/>
                                          </p:stCondLst>
                                        </p:cTn>
                                        <p:tgtEl>
                                          <p:spTgt spid="19458">
                                            <p:txEl>
                                              <p:pRg st="1" end="1"/>
                                            </p:txEl>
                                          </p:spTgt>
                                        </p:tgtEl>
                                        <p:attrNameLst>
                                          <p:attrName>style.visibility</p:attrName>
                                        </p:attrNameLst>
                                      </p:cBhvr>
                                      <p:to>
                                        <p:strVal val="visible"/>
                                      </p:to>
                                    </p:set>
                                    <p:anim calcmode="lin" valueType="num">
                                      <p:cBhvr additive="base">
                                        <p:cTn id="11" dur="500"/>
                                        <p:tgtEl>
                                          <p:spTgt spid="19458">
                                            <p:txEl>
                                              <p:pRg st="1" end="1"/>
                                            </p:txEl>
                                          </p:spTgt>
                                        </p:tgtEl>
                                        <p:attrNameLst>
                                          <p:attrName>ppt_y</p:attrName>
                                        </p:attrNameLst>
                                      </p:cBhvr>
                                      <p:tavLst>
                                        <p:tav tm="0">
                                          <p:val>
                                            <p:strVal val="#ppt_y+#ppt_h*1.125000"/>
                                          </p:val>
                                        </p:tav>
                                        <p:tav tm="100000">
                                          <p:val>
                                            <p:strVal val="#ppt_y"/>
                                          </p:val>
                                        </p:tav>
                                      </p:tavLst>
                                    </p:anim>
                                    <p:animEffect transition="in" filter="wipe(up)">
                                      <p:cBhvr>
                                        <p:cTn id="12" dur="500"/>
                                        <p:tgtEl>
                                          <p:spTgt spid="1945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Mau Powerpoint CTU">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Mau Powerpoint CTU</Template>
  <TotalTime>423</TotalTime>
  <Words>2781</Words>
  <Application>Microsoft Office PowerPoint</Application>
  <PresentationFormat>On-screen Show (4:3)</PresentationFormat>
  <Paragraphs>311</Paragraphs>
  <Slides>26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MS PGothic</vt:lpstr>
      <vt:lpstr>Arial</vt:lpstr>
      <vt:lpstr>Calibri</vt:lpstr>
      <vt:lpstr>K2D</vt:lpstr>
      <vt:lpstr>Readex Pro</vt:lpstr>
      <vt:lpstr>Times New Roman</vt:lpstr>
      <vt:lpstr>Mau Powerpoint CTU</vt:lpstr>
      <vt:lpstr>CẤU HÌNH BẢO MẬT SAI  (SECURITY MISCONFIGURATION)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Nguyen Van</cp:lastModifiedBy>
  <cp:revision>55</cp:revision>
  <dcterms:created xsi:type="dcterms:W3CDTF">2017-06-28T11:29:00Z</dcterms:created>
  <dcterms:modified xsi:type="dcterms:W3CDTF">2025-11-08T05:35:32Z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D877EB42CD5348B791660DFBC82CF2F9_13</vt:lpwstr>
  </property>
  <property fmtid="{D5CDD505-2E9C-101B-9397-08002B2CF9AE}" pid="3" name="KSOProductBuildVer">
    <vt:lpwstr>1033-12.2.0.23155</vt:lpwstr>
  </property>
</Properties>
</file>