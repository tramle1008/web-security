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8"/>
  </p:notesMasterIdLst>
  <p:sldIdLst>
    <p:sldId id="256" r:id="rId2"/>
    <p:sldId id="258" r:id="rId3"/>
    <p:sldId id="257" r:id="rId4"/>
    <p:sldId id="259" r:id="rId5"/>
    <p:sldId id="260" r:id="rId6"/>
    <p:sldId id="261" r:id="rId7"/>
    <p:sldId id="262" r:id="rId8"/>
    <p:sldId id="263" r:id="rId9"/>
    <p:sldId id="265" r:id="rId10"/>
    <p:sldId id="285" r:id="rId11"/>
    <p:sldId id="266" r:id="rId12"/>
    <p:sldId id="267" r:id="rId13"/>
    <p:sldId id="268" r:id="rId14"/>
    <p:sldId id="269" r:id="rId15"/>
    <p:sldId id="270" r:id="rId16"/>
    <p:sldId id="271" r:id="rId17"/>
    <p:sldId id="272" r:id="rId18"/>
    <p:sldId id="280" r:id="rId19"/>
    <p:sldId id="291" r:id="rId20"/>
    <p:sldId id="294" r:id="rId21"/>
    <p:sldId id="292" r:id="rId22"/>
    <p:sldId id="293" r:id="rId23"/>
    <p:sldId id="295" r:id="rId24"/>
    <p:sldId id="276" r:id="rId25"/>
    <p:sldId id="277" r:id="rId26"/>
    <p:sldId id="287" r:id="rId27"/>
    <p:sldId id="288" r:id="rId28"/>
    <p:sldId id="289" r:id="rId29"/>
    <p:sldId id="290" r:id="rId30"/>
    <p:sldId id="286" r:id="rId31"/>
    <p:sldId id="296" r:id="rId32"/>
    <p:sldId id="297" r:id="rId33"/>
    <p:sldId id="281" r:id="rId34"/>
    <p:sldId id="298" r:id="rId35"/>
    <p:sldId id="283" r:id="rId36"/>
    <p:sldId id="284" r:id="rId37"/>
  </p:sldIdLst>
  <p:sldSz cx="12192000" cy="6858000"/>
  <p:notesSz cx="6858000" cy="9144000"/>
  <p:embeddedFontLst>
    <p:embeddedFont>
      <p:font typeface="Barlow" panose="00000500000000000000" pitchFamily="2" charset="0"/>
      <p:regular r:id="rId39"/>
      <p:bold r:id="rId40"/>
      <p:italic r:id="rId41"/>
      <p:boldItalic r:id="rId42"/>
    </p:embeddedFont>
    <p:embeddedFont>
      <p:font typeface="K2D" panose="020B0604020202020204" charset="-34"/>
      <p:regular r:id="rId43"/>
      <p:bold r:id="rId44"/>
      <p:italic r:id="rId45"/>
      <p:boldItalic r:id="rId46"/>
    </p:embeddedFont>
    <p:embeddedFont>
      <p:font typeface="Readex Pro" panose="020B0604020202020204" charset="-78"/>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C3F7D8-B29F-4B21-B28F-A05442B506F3}">
  <a:tblStyle styleId="{8BC3F7D8-B29F-4B21-B28F-A05442B506F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9040" autoAdjust="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5" name="Google Shape;5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Nguồn</a:t>
            </a:r>
            <a:r>
              <a:rPr lang="en-US" dirty="0"/>
              <a:t> </a:t>
            </a:r>
            <a:r>
              <a:rPr lang="en-US" dirty="0" err="1"/>
              <a:t>vụ</a:t>
            </a:r>
            <a:r>
              <a:rPr lang="en-US" dirty="0"/>
              <a:t> </a:t>
            </a:r>
            <a:r>
              <a:rPr lang="en-US" dirty="0" err="1"/>
              <a:t>việc</a:t>
            </a:r>
            <a:r>
              <a:rPr lang="en-US" dirty="0"/>
              <a:t> Balancer: https://dappradar.com/blog/balancer-exploit-november-2025</a:t>
            </a:r>
          </a:p>
          <a:p>
            <a:pPr marL="0" lvl="0" indent="0" algn="l" rtl="0">
              <a:spcBef>
                <a:spcPts val="0"/>
              </a:spcBef>
              <a:spcAft>
                <a:spcPts val="0"/>
              </a:spcAft>
              <a:buNone/>
            </a:pPr>
            <a:r>
              <a:rPr lang="en-US" dirty="0" err="1"/>
              <a:t>Nguồn</a:t>
            </a:r>
            <a:r>
              <a:rPr lang="en-US" dirty="0"/>
              <a:t> </a:t>
            </a:r>
            <a:r>
              <a:rPr lang="en-US" dirty="0" err="1"/>
              <a:t>Lượng</a:t>
            </a:r>
            <a:r>
              <a:rPr lang="en-US" dirty="0"/>
              <a:t> </a:t>
            </a:r>
            <a:r>
              <a:rPr lang="en-US" dirty="0" err="1"/>
              <a:t>tử</a:t>
            </a:r>
            <a:r>
              <a:rPr lang="en-US" dirty="0"/>
              <a:t>: https://www.qusecure.com/store-now-decrypt-later-sndl/</a:t>
            </a:r>
          </a:p>
          <a:p>
            <a:pPr marL="0" lvl="0" indent="0" algn="l" rtl="0">
              <a:spcBef>
                <a:spcPts val="0"/>
              </a:spcBef>
              <a:spcAft>
                <a:spcPts val="0"/>
              </a:spcAft>
              <a:buNone/>
            </a:pPr>
            <a:endParaRPr lang="en-US" dirty="0"/>
          </a:p>
        </p:txBody>
      </p:sp>
      <p:sp>
        <p:nvSpPr>
          <p:cNvPr id="581" name="Google Shape;58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6dfd15bf98_4_3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Nguồn</a:t>
            </a:r>
            <a:r>
              <a:rPr lang="en-US" dirty="0"/>
              <a:t>: https://owasp.org/www-project-top-ten/</a:t>
            </a:r>
            <a:endParaRPr dirty="0"/>
          </a:p>
        </p:txBody>
      </p:sp>
      <p:sp>
        <p:nvSpPr>
          <p:cNvPr id="587" name="Google Shape;587;g36dfd15bf98_4_3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6dfd15bf98_4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g36dfd15bf98_4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g36dfd15bf98_4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1" name="Google Shape;61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6dfd15bf98_4_3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g36dfd15bf98_4_32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Dùng</a:t>
            </a:r>
            <a:r>
              <a:rPr lang="en-US" dirty="0"/>
              <a:t> </a:t>
            </a:r>
            <a:r>
              <a:rPr lang="en-US" dirty="0" err="1"/>
              <a:t>thuật</a:t>
            </a:r>
            <a:r>
              <a:rPr lang="en-US" dirty="0"/>
              <a:t> </a:t>
            </a:r>
            <a:r>
              <a:rPr lang="en-US" dirty="0" err="1"/>
              <a:t>toán</a:t>
            </a:r>
            <a:r>
              <a:rPr lang="en-US" dirty="0"/>
              <a:t> </a:t>
            </a:r>
            <a:r>
              <a:rPr lang="en-US" dirty="0" err="1"/>
              <a:t>băm</a:t>
            </a:r>
            <a:r>
              <a:rPr lang="en-US" dirty="0"/>
              <a:t> MD5 </a:t>
            </a:r>
            <a:r>
              <a:rPr lang="en-US" dirty="0" err="1"/>
              <a:t>để</a:t>
            </a:r>
            <a:r>
              <a:rPr lang="en-US" dirty="0"/>
              <a:t> </a:t>
            </a:r>
            <a:r>
              <a:rPr lang="en-US" dirty="0" err="1"/>
              <a:t>băm</a:t>
            </a:r>
            <a:r>
              <a:rPr lang="en-US" dirty="0"/>
              <a:t> password </a:t>
            </a:r>
            <a:r>
              <a:rPr lang="en-US" dirty="0" err="1"/>
              <a:t>của</a:t>
            </a:r>
            <a:r>
              <a:rPr lang="en-US" dirty="0"/>
              <a:t> </a:t>
            </a:r>
            <a:r>
              <a:rPr lang="en-US" dirty="0" err="1"/>
              <a:t>người</a:t>
            </a:r>
            <a:r>
              <a:rPr lang="en-US" dirty="0"/>
              <a:t> </a:t>
            </a:r>
            <a:r>
              <a:rPr lang="en-US" dirty="0" err="1"/>
              <a:t>dùng</a:t>
            </a:r>
            <a:r>
              <a:rPr lang="en-US" dirty="0"/>
              <a:t> </a:t>
            </a:r>
            <a:r>
              <a:rPr lang="en-US" dirty="0" err="1"/>
              <a:t>lưu</a:t>
            </a:r>
            <a:r>
              <a:rPr lang="en-US" dirty="0"/>
              <a:t> </a:t>
            </a:r>
            <a:r>
              <a:rPr lang="en-US" dirty="0" err="1"/>
              <a:t>vào</a:t>
            </a:r>
            <a:r>
              <a:rPr lang="en-US" dirty="0"/>
              <a:t> CSDL, </a:t>
            </a:r>
            <a:r>
              <a:rPr lang="en-US" dirty="0" err="1"/>
              <a:t>nhưng</a:t>
            </a:r>
            <a:r>
              <a:rPr lang="en-US" dirty="0"/>
              <a:t> </a:t>
            </a:r>
            <a:r>
              <a:rPr lang="en-US" dirty="0" err="1"/>
              <a:t>thuật</a:t>
            </a:r>
            <a:r>
              <a:rPr lang="en-US" dirty="0"/>
              <a:t> </a:t>
            </a:r>
            <a:r>
              <a:rPr lang="en-US" dirty="0" err="1"/>
              <a:t>toán</a:t>
            </a:r>
            <a:r>
              <a:rPr lang="en-US" dirty="0"/>
              <a:t> </a:t>
            </a:r>
            <a:r>
              <a:rPr lang="en-US" dirty="0" err="1"/>
              <a:t>này</a:t>
            </a:r>
            <a:r>
              <a:rPr lang="en-US" dirty="0"/>
              <a:t> </a:t>
            </a:r>
            <a:r>
              <a:rPr lang="en-US" dirty="0" err="1"/>
              <a:t>dễ</a:t>
            </a:r>
            <a:r>
              <a:rPr lang="en-US" dirty="0"/>
              <a:t> </a:t>
            </a:r>
            <a:r>
              <a:rPr lang="en-US" dirty="0" err="1"/>
              <a:t>tạo</a:t>
            </a:r>
            <a:r>
              <a:rPr lang="en-US" dirty="0"/>
              <a:t> </a:t>
            </a:r>
            <a:r>
              <a:rPr lang="en-US" dirty="0" err="1"/>
              <a:t>cơ</a:t>
            </a:r>
            <a:r>
              <a:rPr lang="en-US" dirty="0"/>
              <a:t> </a:t>
            </a:r>
            <a:r>
              <a:rPr lang="en-US" dirty="0" err="1"/>
              <a:t>hội</a:t>
            </a:r>
            <a:r>
              <a:rPr lang="en-US" dirty="0"/>
              <a:t> </a:t>
            </a:r>
            <a:r>
              <a:rPr lang="en-US" dirty="0" err="1"/>
              <a:t>cho</a:t>
            </a:r>
            <a:r>
              <a:rPr lang="en-US" dirty="0"/>
              <a:t> </a:t>
            </a:r>
            <a:r>
              <a:rPr lang="en-US" dirty="0" err="1"/>
              <a:t>kẻ</a:t>
            </a:r>
            <a:r>
              <a:rPr lang="en-US" dirty="0"/>
              <a:t> </a:t>
            </a:r>
            <a:r>
              <a:rPr lang="en-US" dirty="0" err="1"/>
              <a:t>tấn</a:t>
            </a:r>
            <a:r>
              <a:rPr lang="en-US" dirty="0"/>
              <a:t> </a:t>
            </a:r>
            <a:r>
              <a:rPr lang="en-US" dirty="0" err="1"/>
              <a:t>công</a:t>
            </a:r>
            <a:r>
              <a:rPr lang="en-US" dirty="0"/>
              <a:t> crack (</a:t>
            </a:r>
            <a:r>
              <a:rPr lang="en-US" dirty="0" err="1"/>
              <a:t>bẻ</a:t>
            </a:r>
            <a:r>
              <a:rPr lang="en-US" dirty="0"/>
              <a:t> </a:t>
            </a:r>
            <a:r>
              <a:rPr lang="en-US" dirty="0" err="1"/>
              <a:t>khóa</a:t>
            </a:r>
            <a:r>
              <a:rPr lang="en-US" dirty="0"/>
              <a:t>) </a:t>
            </a:r>
            <a:r>
              <a:rPr lang="en-US" dirty="0" err="1"/>
              <a:t>bằng</a:t>
            </a:r>
            <a:r>
              <a:rPr lang="en-US" dirty="0"/>
              <a:t> </a:t>
            </a:r>
            <a:r>
              <a:rPr lang="en-US" dirty="0" err="1"/>
              <a:t>phương</a:t>
            </a:r>
            <a:r>
              <a:rPr lang="en-US" dirty="0"/>
              <a:t> </a:t>
            </a:r>
            <a:r>
              <a:rPr lang="en-US" dirty="0" err="1"/>
              <a:t>pháp</a:t>
            </a:r>
            <a:r>
              <a:rPr lang="en-US" dirty="0"/>
              <a:t> Rainbow tables hay Brute-force </a:t>
            </a:r>
            <a:r>
              <a:rPr lang="en-US" dirty="0" err="1"/>
              <a:t>hoặc</a:t>
            </a:r>
            <a:r>
              <a:rPr lang="en-US" dirty="0"/>
              <a:t> Dictionary Attack </a:t>
            </a:r>
            <a:r>
              <a:rPr lang="en-US" dirty="0" err="1"/>
              <a:t>nhờ</a:t>
            </a:r>
            <a:r>
              <a:rPr lang="en-US" dirty="0"/>
              <a:t> </a:t>
            </a:r>
            <a:r>
              <a:rPr lang="en-US" dirty="0" err="1"/>
              <a:t>vào</a:t>
            </a:r>
            <a:r>
              <a:rPr lang="en-US" dirty="0"/>
              <a:t> </a:t>
            </a:r>
            <a:r>
              <a:rPr lang="en-US" dirty="0" err="1"/>
              <a:t>các</a:t>
            </a:r>
            <a:r>
              <a:rPr lang="en-US" dirty="0"/>
              <a:t> </a:t>
            </a:r>
            <a:r>
              <a:rPr lang="en-US" dirty="0" err="1"/>
              <a:t>công</a:t>
            </a:r>
            <a:r>
              <a:rPr lang="en-US" dirty="0"/>
              <a:t> </a:t>
            </a:r>
            <a:r>
              <a:rPr lang="en-US" dirty="0" err="1"/>
              <a:t>cụ</a:t>
            </a:r>
            <a:r>
              <a:rPr lang="en-US" dirty="0"/>
              <a:t> </a:t>
            </a:r>
            <a:r>
              <a:rPr lang="en-US" dirty="0" err="1"/>
              <a:t>chuyên</a:t>
            </a:r>
            <a:r>
              <a:rPr lang="en-US" dirty="0"/>
              <a:t> </a:t>
            </a:r>
            <a:r>
              <a:rPr lang="en-US" dirty="0" err="1"/>
              <a:t>dụng</a:t>
            </a:r>
            <a:r>
              <a:rPr lang="en-US" dirty="0"/>
              <a:t> </a:t>
            </a:r>
            <a:r>
              <a:rPr lang="en-US" dirty="0" err="1"/>
              <a:t>như</a:t>
            </a:r>
            <a:r>
              <a:rPr lang="en-US" dirty="0"/>
              <a:t>: </a:t>
            </a:r>
            <a:r>
              <a:rPr lang="en-US" dirty="0" err="1"/>
              <a:t>RainbowCrack</a:t>
            </a:r>
            <a:r>
              <a:rPr lang="en-US" dirty="0"/>
              <a:t>, </a:t>
            </a:r>
            <a:r>
              <a:rPr lang="en-US" dirty="0" err="1"/>
              <a:t>Hashcat</a:t>
            </a:r>
            <a:r>
              <a:rPr lang="en-US" dirty="0"/>
              <a:t>, John the Ripper.</a:t>
            </a:r>
            <a:endParaRPr dirty="0"/>
          </a:p>
        </p:txBody>
      </p:sp>
      <p:sp>
        <p:nvSpPr>
          <p:cNvPr id="625" name="Google Shape;625;g36dfd15bf98_4_32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a:extLst>
            <a:ext uri="{FF2B5EF4-FFF2-40B4-BE49-F238E27FC236}">
              <a16:creationId xmlns:a16="http://schemas.microsoft.com/office/drawing/2014/main" id="{7DE5BB80-AE9C-6E56-F80B-F81185F8C631}"/>
            </a:ext>
          </a:extLst>
        </p:cNvPr>
        <p:cNvGrpSpPr/>
        <p:nvPr/>
      </p:nvGrpSpPr>
      <p:grpSpPr>
        <a:xfrm>
          <a:off x="0" y="0"/>
          <a:ext cx="0" cy="0"/>
          <a:chOff x="0" y="0"/>
          <a:chExt cx="0" cy="0"/>
        </a:xfrm>
      </p:grpSpPr>
      <p:sp>
        <p:nvSpPr>
          <p:cNvPr id="623" name="Google Shape;623;g36dfd15bf98_4_3282:notes">
            <a:extLst>
              <a:ext uri="{FF2B5EF4-FFF2-40B4-BE49-F238E27FC236}">
                <a16:creationId xmlns:a16="http://schemas.microsoft.com/office/drawing/2014/main" id="{950AF7BE-D916-44C1-03D2-37CD744F34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g36dfd15bf98_4_3282:notes">
            <a:extLst>
              <a:ext uri="{FF2B5EF4-FFF2-40B4-BE49-F238E27FC236}">
                <a16:creationId xmlns:a16="http://schemas.microsoft.com/office/drawing/2014/main" id="{1B1984F7-25E5-BD01-2CBC-6AE52D1F543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25" name="Google Shape;625;g36dfd15bf98_4_3282:notes">
            <a:extLst>
              <a:ext uri="{FF2B5EF4-FFF2-40B4-BE49-F238E27FC236}">
                <a16:creationId xmlns:a16="http://schemas.microsoft.com/office/drawing/2014/main" id="{209D67E2-8D85-7A10-FBEB-8DC963D226D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231233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6dfd15bf98_4_32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g36dfd15bf98_4_3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33" name="Google Shape;633;g36dfd15bf98_4_32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6dfd15bf98_2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9" name="Google Shape;639;g36dfd15bf98_2_2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40" name="Google Shape;640;g36dfd15bf98_2_2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36dfd15bf98_2_2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g36dfd15bf98_2_2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47" name="Google Shape;647;g36dfd15bf98_2_2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3" name="Google Shape;6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54" name="Google Shape;65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36dfd15bf98_0_1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g36dfd15bf98_0_11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61" name="Google Shape;661;g36dfd15bf98_0_11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6dfd15bf98_0_12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g36dfd15bf98_0_12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68" name="Google Shape;668;g36dfd15bf98_0_12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6dfd15bf98_4_32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4" name="Google Shape;674;g36dfd15bf98_4_32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75" name="Google Shape;675;g36dfd15bf98_4_32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6dfd15bf98_2_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7FBAA9E6-9A2D-69A8-81C1-DBC6A387FE3B}"/>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9D854D92-07A9-2FAE-4092-FE37CBA55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CFD0564A-C57F-C746-8AF9-CD8FB874FFC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0AAB11B4-F1A9-C1A1-E286-148C2EB7FE2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605153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388559A2-30A4-E2F8-091B-B09DA3D5F203}"/>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279722C9-A57D-C949-AAA6-71B71739CB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D8A29F90-537B-48AA-9014-D47A0AF7864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07086023-CBC8-E5D8-1D57-E03A964029E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774767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357BF2D5-BCFC-5ECA-B885-C73EA12739FC}"/>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F7B3362E-C694-4DB6-1167-B396D21AAD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94DF1223-D1B7-C4AA-960B-F70034ABB52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0F10FFA4-6A79-7B5A-20D1-43986D61D85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2795572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D1EDED2A-A45F-DC67-E68F-75F42DE5F42B}"/>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79A801EC-50D1-F62B-A4C5-05491D29BC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AE6827F1-465E-8B2A-EE1A-583A7BB4BA4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329C421A-9518-5F84-9295-74A9B7E7739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879118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BFB300A2-77AB-1438-2713-F10D6E4F12EF}"/>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51A1F5A3-0CC4-D438-C544-EB9461E273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2C93C29F-61C1-F451-83AF-2382A0A4A97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F573755A-3051-2182-8318-10F41889B86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387131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6f2122c5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g36f2122c5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03" name="Google Shape;703;g36f2122c59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6dfd15bf98_4_3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36dfd15bf98_4_32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r>
              <a:rPr lang="vi-VN" sz="1200" b="0" i="0" u="none" strike="noStrike" cap="none" dirty="0">
                <a:solidFill>
                  <a:schemeClr val="dk1"/>
                </a:solidFill>
                <a:effectLst/>
                <a:latin typeface="Calibri"/>
                <a:ea typeface="Calibri"/>
                <a:cs typeface="Calibri"/>
                <a:sym typeface="Calibri"/>
              </a:rPr>
              <a:t>Bảng hình ảnh dạng bảng với cột "Mật khẩu phổ biến" (như "pass@123", "</a:t>
            </a:r>
            <a:r>
              <a:rPr lang="vi-VN" sz="1200" b="0" i="0" u="none" strike="noStrike" cap="none" dirty="0" err="1">
                <a:solidFill>
                  <a:schemeClr val="dk1"/>
                </a:solidFill>
                <a:effectLst/>
                <a:latin typeface="Calibri"/>
                <a:ea typeface="Calibri"/>
                <a:cs typeface="Calibri"/>
                <a:sym typeface="Calibri"/>
              </a:rPr>
              <a:t>secret</a:t>
            </a:r>
            <a:r>
              <a:rPr lang="vi-VN" sz="1200" b="0" i="0" u="none" strike="noStrike" cap="none" dirty="0">
                <a:solidFill>
                  <a:schemeClr val="dk1"/>
                </a:solidFill>
                <a:effectLst/>
                <a:latin typeface="Calibri"/>
                <a:ea typeface="Calibri"/>
                <a:cs typeface="Calibri"/>
                <a:sym typeface="Calibri"/>
              </a:rPr>
              <a:t>") và cột "</a:t>
            </a:r>
            <a:r>
              <a:rPr lang="vi-VN" sz="1200" b="0" i="0" u="none" strike="noStrike" cap="none" dirty="0" err="1">
                <a:solidFill>
                  <a:schemeClr val="dk1"/>
                </a:solidFill>
                <a:effectLst/>
                <a:latin typeface="Calibri"/>
                <a:ea typeface="Calibri"/>
                <a:cs typeface="Calibri"/>
                <a:sym typeface="Calibri"/>
              </a:rPr>
              <a:t>Hash</a:t>
            </a:r>
            <a:r>
              <a:rPr lang="vi-VN" sz="1200" b="0" i="0" u="none" strike="noStrike" cap="none" dirty="0">
                <a:solidFill>
                  <a:schemeClr val="dk1"/>
                </a:solidFill>
                <a:effectLst/>
                <a:latin typeface="Calibri"/>
                <a:ea typeface="Calibri"/>
                <a:cs typeface="Calibri"/>
                <a:sym typeface="Calibri"/>
              </a:rPr>
              <a:t> MD5/SHA1 tương ứng". Cho thấy nếu không </a:t>
            </a:r>
            <a:r>
              <a:rPr lang="vi-VN" sz="1200" b="0" i="0" u="none" strike="noStrike" cap="none" dirty="0" err="1">
                <a:solidFill>
                  <a:schemeClr val="dk1"/>
                </a:solidFill>
                <a:effectLst/>
                <a:latin typeface="Calibri"/>
                <a:ea typeface="Calibri"/>
                <a:cs typeface="Calibri"/>
                <a:sym typeface="Calibri"/>
              </a:rPr>
              <a:t>salt</a:t>
            </a:r>
            <a:r>
              <a:rPr lang="vi-VN" sz="1200" b="0" i="0" u="none" strike="noStrike" cap="none" dirty="0">
                <a:solidFill>
                  <a:schemeClr val="dk1"/>
                </a:solidFill>
                <a:effectLst/>
                <a:latin typeface="Calibri"/>
                <a:ea typeface="Calibri"/>
                <a:cs typeface="Calibri"/>
                <a:sym typeface="Calibri"/>
              </a:rPr>
              <a:t>, </a:t>
            </a:r>
            <a:r>
              <a:rPr lang="vi-VN" sz="1200" b="0" i="0" u="none" strike="noStrike" cap="none" dirty="0" err="1">
                <a:solidFill>
                  <a:schemeClr val="dk1"/>
                </a:solidFill>
                <a:effectLst/>
                <a:latin typeface="Calibri"/>
                <a:ea typeface="Calibri"/>
                <a:cs typeface="Calibri"/>
                <a:sym typeface="Calibri"/>
              </a:rPr>
              <a:t>attacker</a:t>
            </a:r>
            <a:r>
              <a:rPr lang="vi-VN" sz="1200" b="0" i="0" u="none" strike="noStrike" cap="none" dirty="0">
                <a:solidFill>
                  <a:schemeClr val="dk1"/>
                </a:solidFill>
                <a:effectLst/>
                <a:latin typeface="Calibri"/>
                <a:ea typeface="Calibri"/>
                <a:cs typeface="Calibri"/>
                <a:sym typeface="Calibri"/>
              </a:rPr>
              <a:t> dùng bảng </a:t>
            </a:r>
            <a:r>
              <a:rPr lang="vi-VN" sz="1200" b="0" i="0" u="none" strike="noStrike" cap="none" dirty="0" err="1">
                <a:solidFill>
                  <a:schemeClr val="dk1"/>
                </a:solidFill>
                <a:effectLst/>
                <a:latin typeface="Calibri"/>
                <a:ea typeface="Calibri"/>
                <a:cs typeface="Calibri"/>
                <a:sym typeface="Calibri"/>
              </a:rPr>
              <a:t>rainbow</a:t>
            </a:r>
            <a:r>
              <a:rPr lang="vi-VN" sz="1200" b="0" i="0" u="none" strike="noStrike" cap="none" dirty="0">
                <a:solidFill>
                  <a:schemeClr val="dk1"/>
                </a:solidFill>
                <a:effectLst/>
                <a:latin typeface="Calibri"/>
                <a:ea typeface="Calibri"/>
                <a:cs typeface="Calibri"/>
                <a:sym typeface="Calibri"/>
              </a:rPr>
              <a:t> sẵn để tra cứu ngay lập tức. </a:t>
            </a:r>
            <a:endParaRPr lang="vi-VN" b="0" dirty="0">
              <a:effectLst/>
            </a:endParaRPr>
          </a:p>
          <a:p>
            <a:br>
              <a:rPr lang="vi-VN" dirty="0"/>
            </a:br>
            <a:endParaRPr dirty="0"/>
          </a:p>
        </p:txBody>
      </p:sp>
      <p:sp>
        <p:nvSpPr>
          <p:cNvPr id="710" name="Google Shape;710;g36dfd15bf98_4_32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a:extLst>
            <a:ext uri="{FF2B5EF4-FFF2-40B4-BE49-F238E27FC236}">
              <a16:creationId xmlns:a16="http://schemas.microsoft.com/office/drawing/2014/main" id="{51A16ACD-83E5-E551-F83E-18BC28E5CCD7}"/>
            </a:ext>
          </a:extLst>
        </p:cNvPr>
        <p:cNvGrpSpPr/>
        <p:nvPr/>
      </p:nvGrpSpPr>
      <p:grpSpPr>
        <a:xfrm>
          <a:off x="0" y="0"/>
          <a:ext cx="0" cy="0"/>
          <a:chOff x="0" y="0"/>
          <a:chExt cx="0" cy="0"/>
        </a:xfrm>
      </p:grpSpPr>
      <p:sp>
        <p:nvSpPr>
          <p:cNvPr id="708" name="Google Shape;708;g36dfd15bf98_4_3255:notes">
            <a:extLst>
              <a:ext uri="{FF2B5EF4-FFF2-40B4-BE49-F238E27FC236}">
                <a16:creationId xmlns:a16="http://schemas.microsoft.com/office/drawing/2014/main" id="{52105451-3D3F-326D-7D08-07A3F1703E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36dfd15bf98_4_3255:notes">
            <a:extLst>
              <a:ext uri="{FF2B5EF4-FFF2-40B4-BE49-F238E27FC236}">
                <a16:creationId xmlns:a16="http://schemas.microsoft.com/office/drawing/2014/main" id="{27DA0148-7DEB-31A8-806B-783F09AB2F0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0" name="Google Shape;710;g36dfd15bf98_4_3255:notes">
            <a:extLst>
              <a:ext uri="{FF2B5EF4-FFF2-40B4-BE49-F238E27FC236}">
                <a16:creationId xmlns:a16="http://schemas.microsoft.com/office/drawing/2014/main" id="{9075C3D7-D03F-7691-405C-503B2FFC08A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36584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a:extLst>
            <a:ext uri="{FF2B5EF4-FFF2-40B4-BE49-F238E27FC236}">
              <a16:creationId xmlns:a16="http://schemas.microsoft.com/office/drawing/2014/main" id="{769FE29B-472A-2B94-8BA0-EDD9BE1E5C3A}"/>
            </a:ext>
          </a:extLst>
        </p:cNvPr>
        <p:cNvGrpSpPr/>
        <p:nvPr/>
      </p:nvGrpSpPr>
      <p:grpSpPr>
        <a:xfrm>
          <a:off x="0" y="0"/>
          <a:ext cx="0" cy="0"/>
          <a:chOff x="0" y="0"/>
          <a:chExt cx="0" cy="0"/>
        </a:xfrm>
      </p:grpSpPr>
      <p:sp>
        <p:nvSpPr>
          <p:cNvPr id="708" name="Google Shape;708;g36dfd15bf98_4_3255:notes">
            <a:extLst>
              <a:ext uri="{FF2B5EF4-FFF2-40B4-BE49-F238E27FC236}">
                <a16:creationId xmlns:a16="http://schemas.microsoft.com/office/drawing/2014/main" id="{9FF560E3-3E80-07BE-6AEB-7B8F92CD8A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36dfd15bf98_4_3255:notes">
            <a:extLst>
              <a:ext uri="{FF2B5EF4-FFF2-40B4-BE49-F238E27FC236}">
                <a16:creationId xmlns:a16="http://schemas.microsoft.com/office/drawing/2014/main" id="{FF162693-C4CF-BDFB-2E29-CA9853E5429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0" name="Google Shape;710;g36dfd15bf98_4_3255:notes">
            <a:extLst>
              <a:ext uri="{FF2B5EF4-FFF2-40B4-BE49-F238E27FC236}">
                <a16:creationId xmlns:a16="http://schemas.microsoft.com/office/drawing/2014/main" id="{2A76125F-FFF6-B035-A5AC-3226B18B5BB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227528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a:extLst>
            <a:ext uri="{FF2B5EF4-FFF2-40B4-BE49-F238E27FC236}">
              <a16:creationId xmlns:a16="http://schemas.microsoft.com/office/drawing/2014/main" id="{F4B7631E-AFDB-BE9E-F0F9-500A3B9EE176}"/>
            </a:ext>
          </a:extLst>
        </p:cNvPr>
        <p:cNvGrpSpPr/>
        <p:nvPr/>
      </p:nvGrpSpPr>
      <p:grpSpPr>
        <a:xfrm>
          <a:off x="0" y="0"/>
          <a:ext cx="0" cy="0"/>
          <a:chOff x="0" y="0"/>
          <a:chExt cx="0" cy="0"/>
        </a:xfrm>
      </p:grpSpPr>
      <p:sp>
        <p:nvSpPr>
          <p:cNvPr id="708" name="Google Shape;708;g36dfd15bf98_4_3255:notes">
            <a:extLst>
              <a:ext uri="{FF2B5EF4-FFF2-40B4-BE49-F238E27FC236}">
                <a16:creationId xmlns:a16="http://schemas.microsoft.com/office/drawing/2014/main" id="{B34928D9-27D5-D34D-A297-4AA99A40B6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36dfd15bf98_4_3255:notes">
            <a:extLst>
              <a:ext uri="{FF2B5EF4-FFF2-40B4-BE49-F238E27FC236}">
                <a16:creationId xmlns:a16="http://schemas.microsoft.com/office/drawing/2014/main" id="{40B7EC21-F318-4B6D-EE2E-34A52131321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r>
              <a:rPr lang="vi-VN" sz="1200" b="0" i="0" u="none" strike="noStrike" cap="none" dirty="0">
                <a:solidFill>
                  <a:schemeClr val="dk1"/>
                </a:solidFill>
                <a:effectLst/>
                <a:latin typeface="Calibri"/>
                <a:ea typeface="Calibri"/>
                <a:cs typeface="Calibri"/>
                <a:sym typeface="Calibri"/>
              </a:rPr>
              <a:t>Người dùng tạo mật khẩu: </a:t>
            </a:r>
            <a:r>
              <a:rPr lang="vi-VN" sz="1200" b="0" i="0" u="none" strike="noStrike" cap="none" dirty="0" err="1">
                <a:solidFill>
                  <a:schemeClr val="dk1"/>
                </a:solidFill>
                <a:effectLst/>
                <a:latin typeface="Calibri"/>
                <a:ea typeface="Calibri"/>
                <a:cs typeface="Calibri"/>
                <a:sym typeface="Calibri"/>
              </a:rPr>
              <a:t>Apple</a:t>
            </a:r>
            <a:r>
              <a:rPr lang="vi-VN" sz="1200" b="0" i="0" u="none" strike="noStrike" cap="none" dirty="0">
                <a:solidFill>
                  <a:schemeClr val="dk1"/>
                </a:solidFill>
                <a:effectLst/>
                <a:latin typeface="Calibri"/>
                <a:ea typeface="Calibri"/>
                <a:cs typeface="Calibri"/>
                <a:sym typeface="Calibri"/>
              </a:rPr>
              <a:t>, Hệ thống sinh ra một chuỗi ngẫu nhiên gọi là </a:t>
            </a:r>
            <a:r>
              <a:rPr lang="vi-VN" sz="1200" b="1" i="0" u="none" strike="noStrike" cap="none" dirty="0" err="1">
                <a:solidFill>
                  <a:schemeClr val="dk1"/>
                </a:solidFill>
                <a:effectLst/>
                <a:latin typeface="Calibri"/>
                <a:ea typeface="Calibri"/>
                <a:cs typeface="Calibri"/>
                <a:sym typeface="Calibri"/>
              </a:rPr>
              <a:t>salt</a:t>
            </a:r>
            <a:r>
              <a:rPr lang="vi-VN" sz="1200" b="0" i="0" u="none" strike="noStrike" cap="none" dirty="0">
                <a:solidFill>
                  <a:schemeClr val="dk1"/>
                </a:solidFill>
                <a:effectLst/>
                <a:latin typeface="Calibri"/>
                <a:ea typeface="Calibri"/>
                <a:cs typeface="Calibri"/>
                <a:sym typeface="Calibri"/>
              </a:rPr>
              <a:t>, ví dụ </a:t>
            </a:r>
            <a:r>
              <a:rPr lang="vi-VN" sz="1200" b="1" i="0" u="none" strike="noStrike" cap="none" dirty="0">
                <a:solidFill>
                  <a:schemeClr val="dk1"/>
                </a:solidFill>
                <a:effectLst/>
                <a:latin typeface="Calibri"/>
                <a:ea typeface="Calibri"/>
                <a:cs typeface="Calibri"/>
                <a:sym typeface="Calibri"/>
              </a:rPr>
              <a:t>“</a:t>
            </a:r>
            <a:r>
              <a:rPr lang="vi-VN" sz="1200" b="1" i="0" u="none" strike="noStrike" cap="none" dirty="0" err="1">
                <a:solidFill>
                  <a:schemeClr val="dk1"/>
                </a:solidFill>
                <a:effectLst/>
                <a:latin typeface="Calibri"/>
                <a:ea typeface="Calibri"/>
                <a:cs typeface="Calibri"/>
                <a:sym typeface="Calibri"/>
              </a:rPr>
              <a:t>yrtZd</a:t>
            </a:r>
            <a:r>
              <a:rPr lang="vi-VN" sz="1200" b="1" i="0" u="none" strike="noStrike" cap="none" dirty="0">
                <a:solidFill>
                  <a:schemeClr val="dk1"/>
                </a:solidFill>
                <a:effectLst/>
                <a:latin typeface="Calibri"/>
                <a:ea typeface="Calibri"/>
                <a:cs typeface="Calibri"/>
                <a:sym typeface="Calibri"/>
              </a:rPr>
              <a:t>”</a:t>
            </a:r>
            <a:r>
              <a:rPr lang="vi-VN" sz="1200" b="0" i="0" u="none" strike="noStrike" cap="none" dirty="0">
                <a:solidFill>
                  <a:schemeClr val="dk1"/>
                </a:solidFill>
                <a:effectLst/>
                <a:latin typeface="Calibri"/>
                <a:ea typeface="Calibri"/>
                <a:cs typeface="Calibri"/>
                <a:sym typeface="Calibri"/>
              </a:rPr>
              <a:t>.</a:t>
            </a:r>
            <a:endParaRPr lang="vi-VN" b="0" dirty="0">
              <a:effectLst/>
            </a:endParaRPr>
          </a:p>
          <a:p>
            <a:pPr rtl="0"/>
            <a:r>
              <a:rPr lang="vi-VN" sz="1200" b="0" i="0" u="none" strike="noStrike" cap="none" dirty="0">
                <a:solidFill>
                  <a:schemeClr val="dk1"/>
                </a:solidFill>
                <a:effectLst/>
                <a:latin typeface="Calibri"/>
                <a:ea typeface="Calibri"/>
                <a:cs typeface="Calibri"/>
                <a:sym typeface="Calibri"/>
              </a:rPr>
              <a:t>Mục đích của </a:t>
            </a:r>
            <a:r>
              <a:rPr lang="vi-VN" sz="1200" b="0" i="0" u="none" strike="noStrike" cap="none" dirty="0" err="1">
                <a:solidFill>
                  <a:schemeClr val="dk1"/>
                </a:solidFill>
                <a:effectLst/>
                <a:latin typeface="Calibri"/>
                <a:ea typeface="Calibri"/>
                <a:cs typeface="Calibri"/>
                <a:sym typeface="Calibri"/>
              </a:rPr>
              <a:t>salt</a:t>
            </a:r>
            <a:r>
              <a:rPr lang="vi-VN" sz="1200" b="0" i="0" u="none" strike="noStrike" cap="none" dirty="0">
                <a:solidFill>
                  <a:schemeClr val="dk1"/>
                </a:solidFill>
                <a:effectLst/>
                <a:latin typeface="Calibri"/>
                <a:ea typeface="Calibri"/>
                <a:cs typeface="Calibri"/>
                <a:sym typeface="Calibri"/>
              </a:rPr>
              <a:t> là để đảm bảo mỗi người dùng có một </a:t>
            </a:r>
            <a:r>
              <a:rPr lang="vi-VN" sz="1200" b="0" i="0" u="none" strike="noStrike" cap="none" dirty="0" err="1">
                <a:solidFill>
                  <a:schemeClr val="dk1"/>
                </a:solidFill>
                <a:effectLst/>
                <a:latin typeface="Calibri"/>
                <a:ea typeface="Calibri"/>
                <a:cs typeface="Calibri"/>
                <a:sym typeface="Calibri"/>
              </a:rPr>
              <a:t>hash</a:t>
            </a:r>
            <a:r>
              <a:rPr lang="vi-VN" sz="1200" b="0" i="0" u="none" strike="noStrike" cap="none" dirty="0">
                <a:solidFill>
                  <a:schemeClr val="dk1"/>
                </a:solidFill>
                <a:effectLst/>
                <a:latin typeface="Calibri"/>
                <a:ea typeface="Calibri"/>
                <a:cs typeface="Calibri"/>
                <a:sym typeface="Calibri"/>
              </a:rPr>
              <a:t> khác nhau, ngay cả khi mật khẩu giống nhau đồng thời giúp </a:t>
            </a:r>
            <a:r>
              <a:rPr lang="vi-VN" sz="1200" b="1" i="0" u="none" strike="noStrike" cap="none" dirty="0">
                <a:solidFill>
                  <a:schemeClr val="dk1"/>
                </a:solidFill>
                <a:effectLst/>
                <a:latin typeface="Calibri"/>
                <a:ea typeface="Calibri"/>
                <a:cs typeface="Calibri"/>
                <a:sym typeface="Calibri"/>
              </a:rPr>
              <a:t>vô hiệu hóa các tấn công bằng bảng cầu vồng (</a:t>
            </a:r>
            <a:r>
              <a:rPr lang="vi-VN" sz="1200" b="1" i="0" u="none" strike="noStrike" cap="none" dirty="0" err="1">
                <a:solidFill>
                  <a:schemeClr val="dk1"/>
                </a:solidFill>
                <a:effectLst/>
                <a:latin typeface="Calibri"/>
                <a:ea typeface="Calibri"/>
                <a:cs typeface="Calibri"/>
                <a:sym typeface="Calibri"/>
              </a:rPr>
              <a:t>rainbow</a:t>
            </a:r>
            <a:r>
              <a:rPr lang="vi-VN" sz="1200" b="1" i="0" u="none" strike="noStrike" cap="none" dirty="0">
                <a:solidFill>
                  <a:schemeClr val="dk1"/>
                </a:solidFill>
                <a:effectLst/>
                <a:latin typeface="Calibri"/>
                <a:ea typeface="Calibri"/>
                <a:cs typeface="Calibri"/>
                <a:sym typeface="Calibri"/>
              </a:rPr>
              <a:t> </a:t>
            </a:r>
            <a:r>
              <a:rPr lang="vi-VN" sz="1200" b="1" i="0" u="none" strike="noStrike" cap="none" dirty="0" err="1">
                <a:solidFill>
                  <a:schemeClr val="dk1"/>
                </a:solidFill>
                <a:effectLst/>
                <a:latin typeface="Calibri"/>
                <a:ea typeface="Calibri"/>
                <a:cs typeface="Calibri"/>
                <a:sym typeface="Calibri"/>
              </a:rPr>
              <a:t>table</a:t>
            </a:r>
            <a:r>
              <a:rPr lang="vi-VN" sz="1200" b="1" i="0" u="none" strike="noStrike" cap="none" dirty="0">
                <a:solidFill>
                  <a:schemeClr val="dk1"/>
                </a:solidFill>
                <a:effectLst/>
                <a:latin typeface="Calibri"/>
                <a:ea typeface="Calibri"/>
                <a:cs typeface="Calibri"/>
                <a:sym typeface="Calibri"/>
              </a:rPr>
              <a:t> </a:t>
            </a:r>
            <a:r>
              <a:rPr lang="vi-VN" sz="1200" b="1" i="0" u="none" strike="noStrike" cap="none" dirty="0" err="1">
                <a:solidFill>
                  <a:schemeClr val="dk1"/>
                </a:solidFill>
                <a:effectLst/>
                <a:latin typeface="Calibri"/>
                <a:ea typeface="Calibri"/>
                <a:cs typeface="Calibri"/>
                <a:sym typeface="Calibri"/>
              </a:rPr>
              <a:t>attack</a:t>
            </a:r>
            <a:r>
              <a:rPr lang="vi-VN" sz="1200" b="1" i="0" u="none" strike="noStrike" cap="none" dirty="0">
                <a:solidFill>
                  <a:schemeClr val="dk1"/>
                </a:solidFill>
                <a:effectLst/>
                <a:latin typeface="Calibri"/>
                <a:ea typeface="Calibri"/>
                <a:cs typeface="Calibri"/>
                <a:sym typeface="Calibri"/>
              </a:rPr>
              <a:t>)</a:t>
            </a:r>
            <a:r>
              <a:rPr lang="vi-VN" sz="1200" b="0" i="0" u="none" strike="noStrike" cap="none" dirty="0">
                <a:solidFill>
                  <a:schemeClr val="dk1"/>
                </a:solidFill>
                <a:effectLst/>
                <a:latin typeface="Calibri"/>
                <a:ea typeface="Calibri"/>
                <a:cs typeface="Calibri"/>
                <a:sym typeface="Calibri"/>
              </a:rPr>
              <a:t>. </a:t>
            </a:r>
            <a:endParaRPr lang="vi-VN" b="0" dirty="0">
              <a:effectLst/>
            </a:endParaRPr>
          </a:p>
          <a:p>
            <a:pPr rtl="0"/>
            <a:r>
              <a:rPr lang="vi-VN" sz="1200" b="0" i="0" u="none" strike="noStrike" cap="none" dirty="0">
                <a:solidFill>
                  <a:schemeClr val="dk1"/>
                </a:solidFill>
                <a:effectLst/>
                <a:latin typeface="Calibri"/>
                <a:ea typeface="Calibri"/>
                <a:cs typeface="Calibri"/>
                <a:sym typeface="Calibri"/>
              </a:rPr>
              <a:t>Hệ thống ghép chuỗi lại: </a:t>
            </a:r>
            <a:r>
              <a:rPr lang="vi-VN" sz="1200" b="1" i="0" u="none" strike="noStrike" cap="none" dirty="0">
                <a:solidFill>
                  <a:schemeClr val="dk1"/>
                </a:solidFill>
                <a:effectLst/>
                <a:latin typeface="Calibri"/>
                <a:ea typeface="Calibri"/>
                <a:cs typeface="Calibri"/>
                <a:sym typeface="Calibri"/>
              </a:rPr>
              <a:t>“</a:t>
            </a:r>
            <a:r>
              <a:rPr lang="vi-VN" sz="1200" b="1" i="0" u="none" strike="noStrike" cap="none" dirty="0" err="1">
                <a:solidFill>
                  <a:schemeClr val="dk1"/>
                </a:solidFill>
                <a:effectLst/>
                <a:latin typeface="Calibri"/>
                <a:ea typeface="Calibri"/>
                <a:cs typeface="Calibri"/>
                <a:sym typeface="Calibri"/>
              </a:rPr>
              <a:t>AppleyrtZd</a:t>
            </a:r>
            <a:r>
              <a:rPr lang="vi-VN" sz="1200" b="1" i="0" u="none" strike="noStrike" cap="none" dirty="0">
                <a:solidFill>
                  <a:schemeClr val="dk1"/>
                </a:solidFill>
                <a:effectLst/>
                <a:latin typeface="Calibri"/>
                <a:ea typeface="Calibri"/>
                <a:cs typeface="Calibri"/>
                <a:sym typeface="Calibri"/>
              </a:rPr>
              <a:t>”</a:t>
            </a:r>
            <a:r>
              <a:rPr lang="vi-VN" sz="1200" b="0" i="0" u="none" strike="noStrike" cap="none" dirty="0">
                <a:solidFill>
                  <a:schemeClr val="dk1"/>
                </a:solidFill>
                <a:effectLst/>
                <a:latin typeface="Calibri"/>
                <a:ea typeface="Calibri"/>
                <a:cs typeface="Calibri"/>
                <a:sym typeface="Calibri"/>
              </a:rPr>
              <a:t>. Chuỗi này được đưa vào </a:t>
            </a:r>
            <a:r>
              <a:rPr lang="vi-VN" sz="1200" b="1" i="0" u="none" strike="noStrike" cap="none" dirty="0">
                <a:solidFill>
                  <a:schemeClr val="dk1"/>
                </a:solidFill>
                <a:effectLst/>
                <a:latin typeface="Calibri"/>
                <a:ea typeface="Calibri"/>
                <a:cs typeface="Calibri"/>
                <a:sym typeface="Calibri"/>
              </a:rPr>
              <a:t>thuật toán </a:t>
            </a:r>
            <a:r>
              <a:rPr lang="vi-VN" sz="1200" b="1" i="0" u="none" strike="noStrike" cap="none" dirty="0" err="1">
                <a:solidFill>
                  <a:schemeClr val="dk1"/>
                </a:solidFill>
                <a:effectLst/>
                <a:latin typeface="Calibri"/>
                <a:ea typeface="Calibri"/>
                <a:cs typeface="Calibri"/>
                <a:sym typeface="Calibri"/>
              </a:rPr>
              <a:t>bcrypt</a:t>
            </a:r>
            <a:r>
              <a:rPr lang="vi-VN" sz="1200" b="0" i="0" u="none" strike="noStrike" cap="none" dirty="0">
                <a:solidFill>
                  <a:schemeClr val="dk1"/>
                </a:solidFill>
                <a:effectLst/>
                <a:latin typeface="Calibri"/>
                <a:ea typeface="Calibri"/>
                <a:cs typeface="Calibri"/>
                <a:sym typeface="Calibri"/>
              </a:rPr>
              <a:t>. </a:t>
            </a:r>
            <a:r>
              <a:rPr lang="vi-VN" sz="1200" b="0" i="0" u="none" strike="noStrike" cap="none" dirty="0" err="1">
                <a:solidFill>
                  <a:schemeClr val="dk1"/>
                </a:solidFill>
                <a:effectLst/>
                <a:latin typeface="Calibri"/>
                <a:ea typeface="Calibri"/>
                <a:cs typeface="Calibri"/>
                <a:sym typeface="Calibri"/>
              </a:rPr>
              <a:t>Bcrypt</a:t>
            </a:r>
            <a:r>
              <a:rPr lang="vi-VN" sz="1200" b="0" i="0" u="none" strike="noStrike" cap="none" dirty="0">
                <a:solidFill>
                  <a:schemeClr val="dk1"/>
                </a:solidFill>
                <a:effectLst/>
                <a:latin typeface="Calibri"/>
                <a:ea typeface="Calibri"/>
                <a:cs typeface="Calibri"/>
                <a:sym typeface="Calibri"/>
              </a:rPr>
              <a:t> sẽ thực hiện nhiều vòng xử lý (</a:t>
            </a:r>
            <a:r>
              <a:rPr lang="vi-VN" sz="1200" b="0" i="0" u="none" strike="noStrike" cap="none" dirty="0" err="1">
                <a:solidFill>
                  <a:schemeClr val="dk1"/>
                </a:solidFill>
                <a:effectLst/>
                <a:latin typeface="Calibri"/>
                <a:ea typeface="Calibri"/>
                <a:cs typeface="Calibri"/>
                <a:sym typeface="Calibri"/>
              </a:rPr>
              <a:t>cost</a:t>
            </a:r>
            <a:r>
              <a:rPr lang="vi-VN" sz="1200" b="0" i="0" u="none" strike="noStrike" cap="none" dirty="0">
                <a:solidFill>
                  <a:schemeClr val="dk1"/>
                </a:solidFill>
                <a:effectLst/>
                <a:latin typeface="Calibri"/>
                <a:ea typeface="Calibri"/>
                <a:cs typeface="Calibri"/>
                <a:sym typeface="Calibri"/>
              </a:rPr>
              <a:t> </a:t>
            </a:r>
            <a:r>
              <a:rPr lang="vi-VN" sz="1200" b="0" i="0" u="none" strike="noStrike" cap="none" dirty="0" err="1">
                <a:solidFill>
                  <a:schemeClr val="dk1"/>
                </a:solidFill>
                <a:effectLst/>
                <a:latin typeface="Calibri"/>
                <a:ea typeface="Calibri"/>
                <a:cs typeface="Calibri"/>
                <a:sym typeface="Calibri"/>
              </a:rPr>
              <a:t>factor</a:t>
            </a:r>
            <a:r>
              <a:rPr lang="vi-VN" sz="1200" b="0" i="0" u="none" strike="noStrike" cap="none" dirty="0">
                <a:solidFill>
                  <a:schemeClr val="dk1"/>
                </a:solidFill>
                <a:effectLst/>
                <a:latin typeface="Calibri"/>
                <a:ea typeface="Calibri"/>
                <a:cs typeface="Calibri"/>
                <a:sym typeface="Calibri"/>
              </a:rPr>
              <a:t>, ví dụ 10 vòng) để làm quá trình băm chậm hơn, chống </a:t>
            </a:r>
            <a:r>
              <a:rPr lang="vi-VN" sz="1200" b="0" i="0" u="none" strike="noStrike" cap="none" dirty="0" err="1">
                <a:solidFill>
                  <a:schemeClr val="dk1"/>
                </a:solidFill>
                <a:effectLst/>
                <a:latin typeface="Calibri"/>
                <a:ea typeface="Calibri"/>
                <a:cs typeface="Calibri"/>
                <a:sym typeface="Calibri"/>
              </a:rPr>
              <a:t>brute-force</a:t>
            </a:r>
            <a:r>
              <a:rPr lang="vi-VN" sz="1200" b="0" i="0" u="none" strike="noStrike" cap="none" dirty="0">
                <a:solidFill>
                  <a:schemeClr val="dk1"/>
                </a:solidFill>
                <a:effectLst/>
                <a:latin typeface="Calibri"/>
                <a:ea typeface="Calibri"/>
                <a:cs typeface="Calibri"/>
                <a:sym typeface="Calibri"/>
              </a:rPr>
              <a:t>. cuối cùng thì sinh giá trị băm</a:t>
            </a:r>
            <a:r>
              <a:rPr lang="vi-VN" sz="1200" b="1" i="0" u="none" strike="noStrike" cap="none" dirty="0">
                <a:solidFill>
                  <a:schemeClr val="dk1"/>
                </a:solidFill>
                <a:effectLst/>
                <a:latin typeface="Calibri"/>
                <a:ea typeface="Calibri"/>
                <a:cs typeface="Calibri"/>
                <a:sym typeface="Calibri"/>
              </a:rPr>
              <a:t>  (</a:t>
            </a:r>
            <a:r>
              <a:rPr lang="vi-VN" sz="1200" b="1" i="0" u="none" strike="noStrike" cap="none" dirty="0" err="1">
                <a:solidFill>
                  <a:schemeClr val="dk1"/>
                </a:solidFill>
                <a:effectLst/>
                <a:latin typeface="Calibri"/>
                <a:ea typeface="Calibri"/>
                <a:cs typeface="Calibri"/>
                <a:sym typeface="Calibri"/>
              </a:rPr>
              <a:t>Hashed</a:t>
            </a:r>
            <a:r>
              <a:rPr lang="vi-VN" sz="1200" b="1" i="0" u="none" strike="noStrike" cap="none" dirty="0">
                <a:solidFill>
                  <a:schemeClr val="dk1"/>
                </a:solidFill>
                <a:effectLst/>
                <a:latin typeface="Calibri"/>
                <a:ea typeface="Calibri"/>
                <a:cs typeface="Calibri"/>
                <a:sym typeface="Calibri"/>
              </a:rPr>
              <a:t> </a:t>
            </a:r>
            <a:r>
              <a:rPr lang="vi-VN" sz="1200" b="1" i="0" u="none" strike="noStrike" cap="none" dirty="0" err="1">
                <a:solidFill>
                  <a:schemeClr val="dk1"/>
                </a:solidFill>
                <a:effectLst/>
                <a:latin typeface="Calibri"/>
                <a:ea typeface="Calibri"/>
                <a:cs typeface="Calibri"/>
                <a:sym typeface="Calibri"/>
              </a:rPr>
              <a:t>Password</a:t>
            </a:r>
            <a:r>
              <a:rPr lang="vi-VN" sz="1200" b="1" i="0" u="none" strike="noStrike" cap="none" dirty="0">
                <a:solidFill>
                  <a:schemeClr val="dk1"/>
                </a:solidFill>
                <a:effectLst/>
                <a:latin typeface="Calibri"/>
                <a:ea typeface="Calibri"/>
                <a:cs typeface="Calibri"/>
                <a:sym typeface="Calibri"/>
              </a:rPr>
              <a:t> + </a:t>
            </a:r>
            <a:r>
              <a:rPr lang="vi-VN" sz="1200" b="1" i="0" u="none" strike="noStrike" cap="none" dirty="0" err="1">
                <a:solidFill>
                  <a:schemeClr val="dk1"/>
                </a:solidFill>
                <a:effectLst/>
                <a:latin typeface="Calibri"/>
                <a:ea typeface="Calibri"/>
                <a:cs typeface="Calibri"/>
                <a:sym typeface="Calibri"/>
              </a:rPr>
              <a:t>Salt</a:t>
            </a:r>
            <a:r>
              <a:rPr lang="vi-VN" sz="1200" b="1" i="0" u="none" strike="noStrike" cap="none" dirty="0">
                <a:solidFill>
                  <a:schemeClr val="dk1"/>
                </a:solidFill>
                <a:effectLst/>
                <a:latin typeface="Calibri"/>
                <a:ea typeface="Calibri"/>
                <a:cs typeface="Calibri"/>
                <a:sym typeface="Calibri"/>
              </a:rPr>
              <a:t>)</a:t>
            </a:r>
            <a:endParaRPr lang="vi-VN" b="0" dirty="0">
              <a:effectLst/>
            </a:endParaRPr>
          </a:p>
          <a:p>
            <a:pPr rtl="0"/>
            <a:r>
              <a:rPr lang="vi-VN" sz="1200" b="0" i="0" u="none" strike="noStrike" cap="none" dirty="0" err="1">
                <a:solidFill>
                  <a:schemeClr val="dk1"/>
                </a:solidFill>
                <a:effectLst/>
                <a:latin typeface="Calibri"/>
                <a:ea typeface="Calibri"/>
                <a:cs typeface="Calibri"/>
                <a:sym typeface="Calibri"/>
              </a:rPr>
              <a:t>Bcrypt</a:t>
            </a:r>
            <a:r>
              <a:rPr lang="vi-VN" sz="1200" b="0" i="0" u="none" strike="noStrike" cap="none" dirty="0">
                <a:solidFill>
                  <a:schemeClr val="dk1"/>
                </a:solidFill>
                <a:effectLst/>
                <a:latin typeface="Calibri"/>
                <a:ea typeface="Calibri"/>
                <a:cs typeface="Calibri"/>
                <a:sym typeface="Calibri"/>
              </a:rPr>
              <a:t> không chỉ tạo ra </a:t>
            </a:r>
            <a:r>
              <a:rPr lang="vi-VN" sz="1200" b="0" i="0" u="none" strike="noStrike" cap="none" dirty="0" err="1">
                <a:solidFill>
                  <a:schemeClr val="dk1"/>
                </a:solidFill>
                <a:effectLst/>
                <a:latin typeface="Calibri"/>
                <a:ea typeface="Calibri"/>
                <a:cs typeface="Calibri"/>
                <a:sym typeface="Calibri"/>
              </a:rPr>
              <a:t>hash</a:t>
            </a:r>
            <a:r>
              <a:rPr lang="vi-VN" sz="1200" b="0" i="0" u="none" strike="noStrike" cap="none" dirty="0">
                <a:solidFill>
                  <a:schemeClr val="dk1"/>
                </a:solidFill>
                <a:effectLst/>
                <a:latin typeface="Calibri"/>
                <a:ea typeface="Calibri"/>
                <a:cs typeface="Calibri"/>
                <a:sym typeface="Calibri"/>
              </a:rPr>
              <a:t>, mà còn </a:t>
            </a:r>
            <a:r>
              <a:rPr lang="vi-VN" sz="1200" b="1" i="0" u="none" strike="noStrike" cap="none" dirty="0">
                <a:solidFill>
                  <a:schemeClr val="dk1"/>
                </a:solidFill>
                <a:effectLst/>
                <a:latin typeface="Calibri"/>
                <a:ea typeface="Calibri"/>
                <a:cs typeface="Calibri"/>
                <a:sym typeface="Calibri"/>
              </a:rPr>
              <a:t>lưu luôn </a:t>
            </a:r>
            <a:r>
              <a:rPr lang="vi-VN" sz="1200" b="1" i="0" u="none" strike="noStrike" cap="none" dirty="0" err="1">
                <a:solidFill>
                  <a:schemeClr val="dk1"/>
                </a:solidFill>
                <a:effectLst/>
                <a:latin typeface="Calibri"/>
                <a:ea typeface="Calibri"/>
                <a:cs typeface="Calibri"/>
                <a:sym typeface="Calibri"/>
              </a:rPr>
              <a:t>salt</a:t>
            </a:r>
            <a:r>
              <a:rPr lang="vi-VN" sz="1200" b="1" i="0" u="none" strike="noStrike" cap="none" dirty="0">
                <a:solidFill>
                  <a:schemeClr val="dk1"/>
                </a:solidFill>
                <a:effectLst/>
                <a:latin typeface="Calibri"/>
                <a:ea typeface="Calibri"/>
                <a:cs typeface="Calibri"/>
                <a:sym typeface="Calibri"/>
              </a:rPr>
              <a:t> và thông tin </a:t>
            </a:r>
            <a:r>
              <a:rPr lang="vi-VN" sz="1200" b="1" i="0" u="none" strike="noStrike" cap="none" dirty="0" err="1">
                <a:solidFill>
                  <a:schemeClr val="dk1"/>
                </a:solidFill>
                <a:effectLst/>
                <a:latin typeface="Calibri"/>
                <a:ea typeface="Calibri"/>
                <a:cs typeface="Calibri"/>
                <a:sym typeface="Calibri"/>
              </a:rPr>
              <a:t>cost</a:t>
            </a:r>
            <a:r>
              <a:rPr lang="vi-VN" sz="1200" b="0" i="0" u="none" strike="noStrike" cap="none" dirty="0">
                <a:solidFill>
                  <a:schemeClr val="dk1"/>
                </a:solidFill>
                <a:effectLst/>
                <a:latin typeface="Calibri"/>
                <a:ea typeface="Calibri"/>
                <a:cs typeface="Calibri"/>
                <a:sym typeface="Calibri"/>
              </a:rPr>
              <a:t> bên trong chuỗi </a:t>
            </a:r>
            <a:r>
              <a:rPr lang="vi-VN" sz="1200" b="0" i="0" u="none" strike="noStrike" cap="none" dirty="0" err="1">
                <a:solidFill>
                  <a:schemeClr val="dk1"/>
                </a:solidFill>
                <a:effectLst/>
                <a:latin typeface="Calibri"/>
                <a:ea typeface="Calibri"/>
                <a:cs typeface="Calibri"/>
                <a:sym typeface="Calibri"/>
              </a:rPr>
              <a:t>hash</a:t>
            </a:r>
            <a:r>
              <a:rPr lang="vi-VN" sz="1200" b="0" i="0" u="none" strike="noStrike" cap="none" dirty="0">
                <a:solidFill>
                  <a:schemeClr val="dk1"/>
                </a:solidFill>
                <a:effectLst/>
                <a:latin typeface="Calibri"/>
                <a:ea typeface="Calibri"/>
                <a:cs typeface="Calibri"/>
                <a:sym typeface="Calibri"/>
              </a:rPr>
              <a:t> kết quả.</a:t>
            </a:r>
            <a:endParaRPr lang="vi-VN" b="0" dirty="0">
              <a:effectLst/>
            </a:endParaRPr>
          </a:p>
          <a:p>
            <a:br>
              <a:rPr lang="vi-VN" b="0" dirty="0">
                <a:effectLst/>
              </a:rPr>
            </a:br>
            <a:endParaRPr dirty="0"/>
          </a:p>
        </p:txBody>
      </p:sp>
      <p:sp>
        <p:nvSpPr>
          <p:cNvPr id="710" name="Google Shape;710;g36dfd15bf98_4_3255:notes">
            <a:extLst>
              <a:ext uri="{FF2B5EF4-FFF2-40B4-BE49-F238E27FC236}">
                <a16:creationId xmlns:a16="http://schemas.microsoft.com/office/drawing/2014/main" id="{5CC3AC3C-B182-E61A-007F-D7C08333733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479556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a:extLst>
            <a:ext uri="{FF2B5EF4-FFF2-40B4-BE49-F238E27FC236}">
              <a16:creationId xmlns:a16="http://schemas.microsoft.com/office/drawing/2014/main" id="{879C2B55-BA77-D137-DB9D-ABD18BE6A8A8}"/>
            </a:ext>
          </a:extLst>
        </p:cNvPr>
        <p:cNvGrpSpPr/>
        <p:nvPr/>
      </p:nvGrpSpPr>
      <p:grpSpPr>
        <a:xfrm>
          <a:off x="0" y="0"/>
          <a:ext cx="0" cy="0"/>
          <a:chOff x="0" y="0"/>
          <a:chExt cx="0" cy="0"/>
        </a:xfrm>
      </p:grpSpPr>
      <p:sp>
        <p:nvSpPr>
          <p:cNvPr id="708" name="Google Shape;708;g36dfd15bf98_4_3255:notes">
            <a:extLst>
              <a:ext uri="{FF2B5EF4-FFF2-40B4-BE49-F238E27FC236}">
                <a16:creationId xmlns:a16="http://schemas.microsoft.com/office/drawing/2014/main" id="{DC3AF04D-A82A-7218-42BB-B3AC51887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36dfd15bf98_4_3255:notes">
            <a:extLst>
              <a:ext uri="{FF2B5EF4-FFF2-40B4-BE49-F238E27FC236}">
                <a16:creationId xmlns:a16="http://schemas.microsoft.com/office/drawing/2014/main" id="{B004B4E5-69BE-EC83-0EC3-720659999D6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r>
              <a:rPr lang="en-US" sz="1200" b="0" i="0" u="none" strike="noStrike" cap="none" dirty="0">
                <a:solidFill>
                  <a:schemeClr val="dk1"/>
                </a:solidFill>
                <a:effectLst/>
                <a:latin typeface="Calibri"/>
                <a:ea typeface="Calibri"/>
                <a:cs typeface="Calibri"/>
                <a:sym typeface="Calibri"/>
              </a:rPr>
              <a:t>Salt </a:t>
            </a:r>
            <a:r>
              <a:rPr lang="en-US" sz="1200" b="0" i="0" u="none" strike="noStrike" cap="none" dirty="0" err="1">
                <a:solidFill>
                  <a:schemeClr val="dk1"/>
                </a:solidFill>
                <a:effectLst/>
                <a:latin typeface="Calibri"/>
                <a:ea typeface="Calibri"/>
                <a:cs typeface="Calibri"/>
                <a:sym typeface="Calibri"/>
              </a:rPr>
              <a:t>có</a:t>
            </a:r>
            <a:r>
              <a:rPr lang="en-US" sz="1200" b="0" i="0" u="none" strike="noStrike" cap="none" dirty="0">
                <a:solidFill>
                  <a:schemeClr val="dk1"/>
                </a:solidFill>
                <a:effectLst/>
                <a:latin typeface="Calibri"/>
                <a:ea typeface="Calibri"/>
                <a:cs typeface="Calibri"/>
                <a:sym typeface="Calibri"/>
              </a:rPr>
              <a:t> 22 </a:t>
            </a:r>
            <a:r>
              <a:rPr lang="en-US" sz="1200" b="0" i="0" u="none" strike="noStrike" cap="none" dirty="0" err="1">
                <a:solidFill>
                  <a:schemeClr val="dk1"/>
                </a:solidFill>
                <a:effectLst/>
                <a:latin typeface="Calibri"/>
                <a:ea typeface="Calibri"/>
                <a:cs typeface="Calibri"/>
                <a:sym typeface="Calibri"/>
              </a:rPr>
              <a:t>ký</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tự</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phần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còn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lại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là</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chuỗi</a:t>
            </a:r>
            <a:r>
              <a:rPr lang="en-US" sz="1200" b="0" i="0" u="none" strike="noStrike" cap="none" dirty="0">
                <a:solidFill>
                  <a:schemeClr val="dk1"/>
                </a:solidFill>
                <a:effectLst/>
                <a:latin typeface="Calibri"/>
                <a:ea typeface="Calibri"/>
                <a:cs typeface="Calibri"/>
                <a:sym typeface="Calibri"/>
              </a:rPr>
              <a:t> hash</a:t>
            </a:r>
            <a:endParaRPr lang="en-US" b="0" dirty="0">
              <a:effectLst/>
            </a:endParaRPr>
          </a:p>
          <a:p>
            <a:pPr rtl="0"/>
            <a:r>
              <a:rPr lang="en-US" sz="1200" b="0" i="0" u="none" strike="noStrike" cap="none" dirty="0" err="1">
                <a:solidFill>
                  <a:schemeClr val="dk1"/>
                </a:solidFill>
                <a:effectLst/>
                <a:latin typeface="Calibri"/>
                <a:ea typeface="Calibri"/>
                <a:cs typeface="Calibri"/>
                <a:sym typeface="Calibri"/>
              </a:rPr>
              <a:t>Nên</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hệ</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thống</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kiểm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tra</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mật</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khẩu</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nó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lấy</a:t>
            </a:r>
            <a:r>
              <a:rPr lang="en-US" sz="1200" b="0" i="0" u="none" strike="noStrike" cap="none" dirty="0">
                <a:solidFill>
                  <a:schemeClr val="dk1"/>
                </a:solidFill>
                <a:effectLst/>
                <a:latin typeface="Calibri"/>
                <a:ea typeface="Calibri"/>
                <a:cs typeface="Calibri"/>
                <a:sym typeface="Calibri"/>
              </a:rPr>
              <a:t> cost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salt </a:t>
            </a:r>
            <a:r>
              <a:rPr lang="en-US" sz="1200" b="0" i="0" u="none" strike="noStrike" cap="none" dirty="0" err="1">
                <a:solidFill>
                  <a:schemeClr val="dk1"/>
                </a:solidFill>
                <a:effectLst/>
                <a:latin typeface="Calibri"/>
                <a:ea typeface="Calibri"/>
                <a:cs typeface="Calibri"/>
                <a:sym typeface="Calibri"/>
              </a:rPr>
              <a:t>từ</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chính</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chuỗi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đó</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để</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băm</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lại</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dirty="0" err="1">
                <a:solidFill>
                  <a:schemeClr val="dk1"/>
                </a:solidFill>
                <a:effectLst/>
                <a:latin typeface="Calibri"/>
                <a:ea typeface="Calibri"/>
                <a:cs typeface="Calibri"/>
                <a:sym typeface="Calibri"/>
              </a:rPr>
              <a:t>và</a:t>
            </a:r>
            <a:r>
              <a:rPr lang="en-US" sz="1200" b="0" i="0" u="none" strike="noStrike" cap="none" dirty="0">
                <a:solidFill>
                  <a:schemeClr val="dk1"/>
                </a:solidFill>
                <a:effectLst/>
                <a:latin typeface="Calibri"/>
                <a:ea typeface="Calibri"/>
                <a:cs typeface="Calibri"/>
                <a:sym typeface="Calibri"/>
              </a:rPr>
              <a:t> so </a:t>
            </a:r>
            <a:r>
              <a:rPr lang="en-US" sz="1200" b="0" i="0" u="none" strike="noStrike" cap="none" dirty="0" err="1">
                <a:solidFill>
                  <a:schemeClr val="dk1"/>
                </a:solidFill>
                <a:effectLst/>
                <a:latin typeface="Calibri"/>
                <a:ea typeface="Calibri"/>
                <a:cs typeface="Calibri"/>
                <a:sym typeface="Calibri"/>
              </a:rPr>
              <a:t>sánh</a:t>
            </a:r>
            <a:r>
              <a:rPr lang="en-US" sz="1200" b="0" i="0" u="none" strike="noStrike" cap="none" dirty="0">
                <a:solidFill>
                  <a:schemeClr val="dk1"/>
                </a:solidFill>
                <a:effectLst/>
                <a:latin typeface="Calibri"/>
                <a:ea typeface="Calibri"/>
                <a:cs typeface="Calibri"/>
                <a:sym typeface="Calibri"/>
              </a:rPr>
              <a:t>.</a:t>
            </a:r>
            <a:endParaRPr lang="en-US" b="0" dirty="0">
              <a:effectLst/>
            </a:endParaRPr>
          </a:p>
          <a:p>
            <a:br>
              <a:rPr lang="en-US" dirty="0"/>
            </a:br>
            <a:endParaRPr dirty="0"/>
          </a:p>
        </p:txBody>
      </p:sp>
      <p:sp>
        <p:nvSpPr>
          <p:cNvPr id="710" name="Google Shape;710;g36dfd15bf98_4_3255:notes">
            <a:extLst>
              <a:ext uri="{FF2B5EF4-FFF2-40B4-BE49-F238E27FC236}">
                <a16:creationId xmlns:a16="http://schemas.microsoft.com/office/drawing/2014/main" id="{DC71AA2B-4E69-F8F9-1449-F0FAC144827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19568995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8116B985-7605-231F-D96D-3903B5F0F01D}"/>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36C2C27E-D6FF-35DB-F382-76EAC1FEF9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A2A60AF5-F0CE-043D-40B8-ECAFD112FC6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45325E88-8D01-8075-CB0B-CA62BE62F9D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131632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13B0B99C-72BF-395C-A8D6-DCD77A9B1FBB}"/>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6EEC9547-6F5D-0680-DE00-4371A4C5C9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E6352D60-35B5-CD08-EB98-2180638417A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Sender </a:t>
            </a:r>
            <a:r>
              <a:rPr lang="en-US" dirty="0" err="1"/>
              <a:t>gửi</a:t>
            </a:r>
            <a:r>
              <a:rPr lang="en-US" dirty="0"/>
              <a:t> </a:t>
            </a:r>
            <a:r>
              <a:rPr lang="en-US" dirty="0" err="1"/>
              <a:t>gói</a:t>
            </a:r>
            <a:r>
              <a:rPr lang="en-US" dirty="0"/>
              <a:t> tin “Hello!” </a:t>
            </a:r>
            <a:r>
              <a:rPr lang="en-US" dirty="0" err="1"/>
              <a:t>đến</a:t>
            </a:r>
            <a:r>
              <a:rPr lang="en-US" dirty="0"/>
              <a:t> </a:t>
            </a:r>
            <a:r>
              <a:rPr lang="en-US" dirty="0" err="1"/>
              <a:t>cho</a:t>
            </a:r>
            <a:r>
              <a:rPr lang="en-US" dirty="0"/>
              <a:t> Receiver qua </a:t>
            </a:r>
            <a:r>
              <a:rPr lang="en-US" dirty="0" err="1"/>
              <a:t>kênh</a:t>
            </a:r>
            <a:r>
              <a:rPr lang="en-US" dirty="0"/>
              <a:t> </a:t>
            </a:r>
            <a:r>
              <a:rPr lang="en-US" dirty="0" err="1"/>
              <a:t>truyền</a:t>
            </a:r>
            <a:r>
              <a:rPr lang="en-US" dirty="0"/>
              <a:t> </a:t>
            </a:r>
            <a:r>
              <a:rPr lang="en-US" dirty="0" err="1"/>
              <a:t>thông</a:t>
            </a:r>
            <a:r>
              <a:rPr lang="en-US" dirty="0"/>
              <a:t>, </a:t>
            </a:r>
            <a:r>
              <a:rPr lang="en-US" dirty="0" err="1"/>
              <a:t>gói</a:t>
            </a:r>
            <a:r>
              <a:rPr lang="en-US" dirty="0"/>
              <a:t> tin </a:t>
            </a:r>
            <a:r>
              <a:rPr lang="en-US" dirty="0" err="1"/>
              <a:t>đã</a:t>
            </a:r>
            <a:r>
              <a:rPr lang="en-US" dirty="0"/>
              <a:t> </a:t>
            </a:r>
            <a:r>
              <a:rPr lang="en-US" dirty="0" err="1"/>
              <a:t>được</a:t>
            </a:r>
            <a:r>
              <a:rPr lang="en-US" dirty="0"/>
              <a:t> </a:t>
            </a:r>
            <a:r>
              <a:rPr lang="en-US" dirty="0" err="1"/>
              <a:t>mã</a:t>
            </a:r>
            <a:r>
              <a:rPr lang="en-US" dirty="0"/>
              <a:t> </a:t>
            </a:r>
            <a:r>
              <a:rPr lang="en-US" dirty="0" err="1"/>
              <a:t>hóa</a:t>
            </a:r>
            <a:r>
              <a:rPr lang="en-US" dirty="0"/>
              <a:t> </a:t>
            </a:r>
            <a:r>
              <a:rPr lang="en-US" dirty="0" err="1"/>
              <a:t>thành</a:t>
            </a:r>
            <a:r>
              <a:rPr lang="en-US" dirty="0"/>
              <a:t> Ciphertext – </a:t>
            </a:r>
            <a:r>
              <a:rPr lang="en-US" dirty="0" err="1"/>
              <a:t>bản</a:t>
            </a:r>
            <a:r>
              <a:rPr lang="en-US" dirty="0"/>
              <a:t> </a:t>
            </a:r>
            <a:r>
              <a:rPr lang="en-US" dirty="0" err="1"/>
              <a:t>mã</a:t>
            </a:r>
            <a:r>
              <a:rPr lang="en-US" dirty="0"/>
              <a:t>. Attacker </a:t>
            </a:r>
            <a:r>
              <a:rPr lang="en-US" dirty="0" err="1"/>
              <a:t>chặn</a:t>
            </a:r>
            <a:r>
              <a:rPr lang="en-US" dirty="0"/>
              <a:t> </a:t>
            </a:r>
            <a:r>
              <a:rPr lang="en-US" dirty="0" err="1"/>
              <a:t>được</a:t>
            </a:r>
            <a:r>
              <a:rPr lang="en-US" dirty="0"/>
              <a:t> </a:t>
            </a:r>
            <a:r>
              <a:rPr lang="en-US" dirty="0" err="1"/>
              <a:t>bản</a:t>
            </a:r>
            <a:r>
              <a:rPr lang="en-US" dirty="0"/>
              <a:t> </a:t>
            </a:r>
            <a:r>
              <a:rPr lang="en-US" dirty="0" err="1"/>
              <a:t>mã</a:t>
            </a:r>
            <a:r>
              <a:rPr lang="en-US" dirty="0"/>
              <a:t>, </a:t>
            </a:r>
            <a:r>
              <a:rPr lang="en-US" dirty="0" err="1"/>
              <a:t>thực</a:t>
            </a:r>
            <a:r>
              <a:rPr lang="en-US" dirty="0"/>
              <a:t> </a:t>
            </a:r>
            <a:r>
              <a:rPr lang="en-US" dirty="0" err="1"/>
              <a:t>hiện</a:t>
            </a:r>
            <a:r>
              <a:rPr lang="en-US" dirty="0"/>
              <a:t> </a:t>
            </a:r>
            <a:r>
              <a:rPr lang="en-US" dirty="0" err="1"/>
              <a:t>thay</a:t>
            </a:r>
            <a:r>
              <a:rPr lang="en-US" dirty="0"/>
              <a:t> </a:t>
            </a:r>
            <a:r>
              <a:rPr lang="en-US" dirty="0" err="1"/>
              <a:t>đổi</a:t>
            </a:r>
            <a:r>
              <a:rPr lang="en-US" dirty="0"/>
              <a:t> (Modification) </a:t>
            </a:r>
            <a:r>
              <a:rPr lang="en-US" dirty="0" err="1"/>
              <a:t>bản</a:t>
            </a:r>
            <a:r>
              <a:rPr lang="en-US" dirty="0"/>
              <a:t> </a:t>
            </a:r>
            <a:r>
              <a:rPr lang="en-US" dirty="0" err="1"/>
              <a:t>mã</a:t>
            </a:r>
            <a:r>
              <a:rPr lang="en-US" dirty="0"/>
              <a:t> </a:t>
            </a:r>
            <a:r>
              <a:rPr lang="en-US" dirty="0" err="1"/>
              <a:t>trên</a:t>
            </a:r>
            <a:r>
              <a:rPr lang="en-US" dirty="0"/>
              <a:t> </a:t>
            </a:r>
            <a:r>
              <a:rPr lang="en-US" dirty="0" err="1"/>
              <a:t>đường</a:t>
            </a:r>
            <a:r>
              <a:rPr lang="en-US" dirty="0"/>
              <a:t> </a:t>
            </a:r>
            <a:r>
              <a:rPr lang="en-US" dirty="0" err="1"/>
              <a:t>truyền</a:t>
            </a:r>
            <a:r>
              <a:rPr lang="en-US" dirty="0"/>
              <a:t> </a:t>
            </a:r>
            <a:r>
              <a:rPr lang="en-US" dirty="0" err="1"/>
              <a:t>và</a:t>
            </a:r>
            <a:r>
              <a:rPr lang="en-US" dirty="0"/>
              <a:t> </a:t>
            </a:r>
            <a:r>
              <a:rPr lang="en-US" dirty="0" err="1"/>
              <a:t>gửi</a:t>
            </a:r>
            <a:r>
              <a:rPr lang="en-US" dirty="0"/>
              <a:t> </a:t>
            </a:r>
            <a:r>
              <a:rPr lang="en-US" dirty="0" err="1"/>
              <a:t>cho</a:t>
            </a:r>
            <a:r>
              <a:rPr lang="en-US" dirty="0"/>
              <a:t> Receiver. </a:t>
            </a:r>
            <a:r>
              <a:rPr lang="en-US" dirty="0" err="1"/>
              <a:t>Bản</a:t>
            </a:r>
            <a:r>
              <a:rPr lang="en-US" dirty="0"/>
              <a:t> </a:t>
            </a:r>
            <a:r>
              <a:rPr lang="en-US" dirty="0" err="1"/>
              <a:t>mã</a:t>
            </a:r>
            <a:r>
              <a:rPr lang="en-US" dirty="0"/>
              <a:t> </a:t>
            </a:r>
            <a:r>
              <a:rPr lang="en-US" dirty="0" err="1"/>
              <a:t>bị</a:t>
            </a:r>
            <a:r>
              <a:rPr lang="en-US" dirty="0"/>
              <a:t> </a:t>
            </a:r>
            <a:r>
              <a:rPr lang="en-US" dirty="0" err="1"/>
              <a:t>sửa</a:t>
            </a:r>
            <a:r>
              <a:rPr lang="en-US" dirty="0"/>
              <a:t> </a:t>
            </a:r>
            <a:r>
              <a:rPr lang="en-US" dirty="0" err="1"/>
              <a:t>được</a:t>
            </a:r>
            <a:r>
              <a:rPr lang="en-US" dirty="0"/>
              <a:t> </a:t>
            </a:r>
            <a:r>
              <a:rPr lang="en-US" dirty="0" err="1"/>
              <a:t>giải</a:t>
            </a:r>
            <a:r>
              <a:rPr lang="en-US" dirty="0"/>
              <a:t> </a:t>
            </a:r>
            <a:r>
              <a:rPr lang="en-US" dirty="0" err="1"/>
              <a:t>mã</a:t>
            </a:r>
            <a:r>
              <a:rPr lang="en-US" dirty="0"/>
              <a:t> </a:t>
            </a:r>
            <a:r>
              <a:rPr lang="en-US" dirty="0" err="1"/>
              <a:t>và</a:t>
            </a:r>
            <a:r>
              <a:rPr lang="en-US" dirty="0"/>
              <a:t> </a:t>
            </a:r>
            <a:r>
              <a:rPr lang="en-US" dirty="0" err="1"/>
              <a:t>truyền</a:t>
            </a:r>
            <a:r>
              <a:rPr lang="en-US" dirty="0"/>
              <a:t> </a:t>
            </a:r>
            <a:r>
              <a:rPr lang="en-US" dirty="0" err="1"/>
              <a:t>tới</a:t>
            </a:r>
            <a:r>
              <a:rPr lang="en-US" dirty="0"/>
              <a:t> </a:t>
            </a:r>
            <a:r>
              <a:rPr lang="en-US" dirty="0" err="1"/>
              <a:t>người</a:t>
            </a:r>
            <a:r>
              <a:rPr lang="en-US" dirty="0"/>
              <a:t> </a:t>
            </a:r>
            <a:r>
              <a:rPr lang="en-US" dirty="0" err="1"/>
              <a:t>nhận</a:t>
            </a:r>
            <a:r>
              <a:rPr lang="en-US" dirty="0"/>
              <a:t>, </a:t>
            </a:r>
            <a:r>
              <a:rPr lang="en-US" dirty="0" err="1"/>
              <a:t>người</a:t>
            </a:r>
            <a:r>
              <a:rPr lang="en-US" dirty="0"/>
              <a:t> </a:t>
            </a:r>
            <a:r>
              <a:rPr lang="en-US" dirty="0" err="1"/>
              <a:t>nhận</a:t>
            </a:r>
            <a:r>
              <a:rPr lang="en-US" dirty="0"/>
              <a:t> </a:t>
            </a:r>
            <a:r>
              <a:rPr lang="en-US" dirty="0" err="1"/>
              <a:t>nhận</a:t>
            </a:r>
            <a:r>
              <a:rPr lang="en-US" dirty="0"/>
              <a:t> </a:t>
            </a:r>
            <a:r>
              <a:rPr lang="en-US" dirty="0" err="1"/>
              <a:t>được</a:t>
            </a:r>
            <a:r>
              <a:rPr lang="en-US" dirty="0"/>
              <a:t> </a:t>
            </a:r>
            <a:r>
              <a:rPr lang="en-US" dirty="0" err="1"/>
              <a:t>thông</a:t>
            </a:r>
            <a:r>
              <a:rPr lang="en-US" dirty="0"/>
              <a:t> </a:t>
            </a:r>
            <a:r>
              <a:rPr lang="en-US" dirty="0" err="1"/>
              <a:t>điệp</a:t>
            </a:r>
            <a:r>
              <a:rPr lang="en-US" dirty="0"/>
              <a:t> “Xin </a:t>
            </a:r>
            <a:r>
              <a:rPr lang="en-US" dirty="0" err="1"/>
              <a:t>chsde</a:t>
            </a:r>
            <a:r>
              <a:rPr lang="en-US" dirty="0"/>
              <a:t>!” </a:t>
            </a:r>
            <a:r>
              <a:rPr lang="en-US" dirty="0" err="1"/>
              <a:t>mà</a:t>
            </a:r>
            <a:r>
              <a:rPr lang="en-US" dirty="0"/>
              <a:t> </a:t>
            </a:r>
            <a:r>
              <a:rPr lang="en-US" dirty="0" err="1"/>
              <a:t>không</a:t>
            </a:r>
            <a:r>
              <a:rPr lang="en-US" dirty="0"/>
              <a:t> </a:t>
            </a:r>
            <a:r>
              <a:rPr lang="en-US" dirty="0" err="1"/>
              <a:t>biết</a:t>
            </a:r>
            <a:r>
              <a:rPr lang="en-US" dirty="0"/>
              <a:t> </a:t>
            </a:r>
            <a:r>
              <a:rPr lang="en-US" dirty="0" err="1"/>
              <a:t>thông</a:t>
            </a:r>
            <a:r>
              <a:rPr lang="en-US" dirty="0"/>
              <a:t> </a:t>
            </a:r>
            <a:r>
              <a:rPr lang="en-US" dirty="0" err="1"/>
              <a:t>điệp</a:t>
            </a:r>
            <a:r>
              <a:rPr lang="en-US" dirty="0"/>
              <a:t> </a:t>
            </a:r>
            <a:r>
              <a:rPr lang="en-US" dirty="0" err="1"/>
              <a:t>gốc</a:t>
            </a:r>
            <a:r>
              <a:rPr lang="en-US" dirty="0"/>
              <a:t> </a:t>
            </a:r>
            <a:r>
              <a:rPr lang="en-US" dirty="0" err="1"/>
              <a:t>đã</a:t>
            </a:r>
            <a:r>
              <a:rPr lang="en-US" dirty="0"/>
              <a:t> </a:t>
            </a:r>
            <a:r>
              <a:rPr lang="en-US" dirty="0" err="1"/>
              <a:t>bị</a:t>
            </a:r>
            <a:r>
              <a:rPr lang="en-US" dirty="0"/>
              <a:t> </a:t>
            </a:r>
            <a:r>
              <a:rPr lang="en-US" dirty="0" err="1"/>
              <a:t>sửa</a:t>
            </a:r>
            <a:r>
              <a:rPr lang="en-US" dirty="0"/>
              <a:t>.</a:t>
            </a:r>
            <a:endParaRPr dirty="0"/>
          </a:p>
        </p:txBody>
      </p:sp>
      <p:sp>
        <p:nvSpPr>
          <p:cNvPr id="731" name="Google Shape;731;g36dfd15bf98_2_212:notes">
            <a:extLst>
              <a:ext uri="{FF2B5EF4-FFF2-40B4-BE49-F238E27FC236}">
                <a16:creationId xmlns:a16="http://schemas.microsoft.com/office/drawing/2014/main" id="{F72E3AA8-ADB8-642B-A40F-E6F1CD6EBF5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921491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BA698809-4717-5378-C6BA-3BC78AC2E069}"/>
            </a:ext>
          </a:extLst>
        </p:cNvPr>
        <p:cNvGrpSpPr/>
        <p:nvPr/>
      </p:nvGrpSpPr>
      <p:grpSpPr>
        <a:xfrm>
          <a:off x="0" y="0"/>
          <a:ext cx="0" cy="0"/>
          <a:chOff x="0" y="0"/>
          <a:chExt cx="0" cy="0"/>
        </a:xfrm>
      </p:grpSpPr>
      <p:sp>
        <p:nvSpPr>
          <p:cNvPr id="729" name="Google Shape;729;g36dfd15bf98_2_212:notes">
            <a:extLst>
              <a:ext uri="{FF2B5EF4-FFF2-40B4-BE49-F238E27FC236}">
                <a16:creationId xmlns:a16="http://schemas.microsoft.com/office/drawing/2014/main" id="{A22B7DB7-4A9B-3E40-0B01-3B98786D44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6dfd15bf98_2_212:notes">
            <a:extLst>
              <a:ext uri="{FF2B5EF4-FFF2-40B4-BE49-F238E27FC236}">
                <a16:creationId xmlns:a16="http://schemas.microsoft.com/office/drawing/2014/main" id="{5C9FEC64-A966-9D06-8501-A042B4114AE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1" name="Google Shape;731;g36dfd15bf98_2_212:notes">
            <a:extLst>
              <a:ext uri="{FF2B5EF4-FFF2-40B4-BE49-F238E27FC236}">
                <a16:creationId xmlns:a16="http://schemas.microsoft.com/office/drawing/2014/main" id="{6982F424-AD4A-B057-C114-90DFA87387D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2866345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36dfd15bf98_4_32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36dfd15bf98_4_32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9" name="Google Shape;739;g36dfd15bf98_4_32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a:extLst>
            <a:ext uri="{FF2B5EF4-FFF2-40B4-BE49-F238E27FC236}">
              <a16:creationId xmlns:a16="http://schemas.microsoft.com/office/drawing/2014/main" id="{8C78B623-6E71-62F0-012E-0E80ED89157E}"/>
            </a:ext>
          </a:extLst>
        </p:cNvPr>
        <p:cNvGrpSpPr/>
        <p:nvPr/>
      </p:nvGrpSpPr>
      <p:grpSpPr>
        <a:xfrm>
          <a:off x="0" y="0"/>
          <a:ext cx="0" cy="0"/>
          <a:chOff x="0" y="0"/>
          <a:chExt cx="0" cy="0"/>
        </a:xfrm>
      </p:grpSpPr>
      <p:sp>
        <p:nvSpPr>
          <p:cNvPr id="737" name="Google Shape;737;g36dfd15bf98_4_3261:notes">
            <a:extLst>
              <a:ext uri="{FF2B5EF4-FFF2-40B4-BE49-F238E27FC236}">
                <a16:creationId xmlns:a16="http://schemas.microsoft.com/office/drawing/2014/main" id="{71356480-8DB4-8F89-9DCF-4391409AEC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36dfd15bf98_4_3261:notes">
            <a:extLst>
              <a:ext uri="{FF2B5EF4-FFF2-40B4-BE49-F238E27FC236}">
                <a16:creationId xmlns:a16="http://schemas.microsoft.com/office/drawing/2014/main" id="{862BCC01-DF21-53C1-57D4-C89A800142E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39" name="Google Shape;739;g36dfd15bf98_4_3261:notes">
            <a:extLst>
              <a:ext uri="{FF2B5EF4-FFF2-40B4-BE49-F238E27FC236}">
                <a16:creationId xmlns:a16="http://schemas.microsoft.com/office/drawing/2014/main" id="{216E9074-41D5-FDC7-3BBB-A2C2565CC67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080225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708eea4c8f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3708eea4c8f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5" name="Google Shape;755;g3708eea4c8f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_white">
  <p:cSld name="Title Slide_whit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0070C0"/>
              </a:buClr>
              <a:buSzPts val="4400"/>
              <a:buFont typeface="K2D"/>
              <a:buNone/>
              <a:defRPr sz="44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3200"/>
              <a:buNone/>
              <a:defRPr sz="3200">
                <a:solidFill>
                  <a:srgbClr val="0070C0"/>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8" name="Google Shape;18;p2"/>
          <p:cNvPicPr preferRelativeResize="0"/>
          <p:nvPr/>
        </p:nvPicPr>
        <p:blipFill rotWithShape="1">
          <a:blip r:embed="rId2">
            <a:alphaModFix/>
          </a:blip>
          <a:srcRect/>
          <a:stretch/>
        </p:blipFill>
        <p:spPr>
          <a:xfrm>
            <a:off x="5565071" y="682679"/>
            <a:ext cx="1061859" cy="1062177"/>
          </a:xfrm>
          <a:prstGeom prst="rect">
            <a:avLst/>
          </a:prstGeom>
          <a:noFill/>
          <a:ln>
            <a:noFill/>
          </a:ln>
        </p:spPr>
      </p:pic>
      <p:sp>
        <p:nvSpPr>
          <p:cNvPr id="19" name="Google Shape;19;p2"/>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00AFEF"/>
              </a:buClr>
              <a:buSzPts val="2000"/>
              <a:buNone/>
              <a:defRPr sz="2000" b="0">
                <a:solidFill>
                  <a:srgbClr val="00AFEF"/>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
          <p:cNvSpPr/>
          <p:nvPr/>
        </p:nvSpPr>
        <p:spPr>
          <a:xfrm>
            <a:off x="4998720" y="4782423"/>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K2D"/>
              <a:ea typeface="K2D"/>
              <a:cs typeface="K2D"/>
              <a:sym typeface="K2D"/>
            </a:endParaRPr>
          </a:p>
        </p:txBody>
      </p:sp>
      <p:pic>
        <p:nvPicPr>
          <p:cNvPr id="21" name="Google Shape;21;p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22" name="Google Shape;22;p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b="0" i="0" u="none" strike="noStrike" cap="none">
                <a:solidFill>
                  <a:schemeClr val="lt1"/>
                </a:solidFill>
                <a:latin typeface="K2D"/>
                <a:ea typeface="K2D"/>
                <a:cs typeface="K2D"/>
                <a:sym typeface="K2D"/>
              </a:rPr>
              <a:t>‹#›</a:t>
            </a:fld>
            <a:endParaRPr sz="1200" b="0" i="0" u="none" strike="noStrike" cap="none">
              <a:solidFill>
                <a:schemeClr val="lt1"/>
              </a:solidFill>
              <a:latin typeface="K2D"/>
              <a:ea typeface="K2D"/>
              <a:cs typeface="K2D"/>
              <a:sym typeface="K2D"/>
            </a:endParaRPr>
          </a:p>
        </p:txBody>
      </p:sp>
      <p:sp>
        <p:nvSpPr>
          <p:cNvPr id="23" name="Google Shape;23;p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K2D"/>
                <a:ea typeface="K2D"/>
                <a:cs typeface="K2D"/>
                <a:sym typeface="K2D"/>
              </a:rPr>
              <a:t>CTU</a:t>
            </a:r>
            <a:endParaRPr/>
          </a:p>
        </p:txBody>
      </p:sp>
      <p:grpSp>
        <p:nvGrpSpPr>
          <p:cNvPr id="24" name="Google Shape;24;p2"/>
          <p:cNvGrpSpPr/>
          <p:nvPr/>
        </p:nvGrpSpPr>
        <p:grpSpPr>
          <a:xfrm>
            <a:off x="817685" y="6410864"/>
            <a:ext cx="2760487" cy="403790"/>
            <a:chOff x="741485" y="6410864"/>
            <a:chExt cx="2760487" cy="403790"/>
          </a:xfrm>
        </p:grpSpPr>
        <p:sp>
          <p:nvSpPr>
            <p:cNvPr id="25" name="Google Shape;25;p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6" name="Google Shape;26;p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7" name="Google Shape;27;p2"/>
          <p:cNvSpPr txBox="1"/>
          <p:nvPr/>
        </p:nvSpPr>
        <p:spPr>
          <a:xfrm>
            <a:off x="10529591"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8" name="Google Shape;28;p2"/>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29" name="Google Shape;29;p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1000"/>
                                        <p:tgtEl>
                                          <p:spTgt spid="17">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Effect transition="in" filter="fade">
                                      <p:cBhvr>
                                        <p:cTn id="13" dur="1000"/>
                                        <p:tgtEl>
                                          <p:spTgt spid="17">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2" end="2"/>
                                            </p:txEl>
                                          </p:spTgt>
                                        </p:tgtEl>
                                        <p:attrNameLst>
                                          <p:attrName>style.visibility</p:attrName>
                                        </p:attrNameLst>
                                      </p:cBhvr>
                                      <p:to>
                                        <p:strVal val="visible"/>
                                      </p:to>
                                    </p:set>
                                    <p:animEffect transition="in" filter="fade">
                                      <p:cBhvr>
                                        <p:cTn id="16" dur="1000"/>
                                        <p:tgtEl>
                                          <p:spTgt spid="17">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animEffect transition="in" filter="fade">
                                      <p:cBhvr>
                                        <p:cTn id="19" dur="1000"/>
                                        <p:tgtEl>
                                          <p:spTgt spid="17">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pRg st="4" end="4"/>
                                            </p:txEl>
                                          </p:spTgt>
                                        </p:tgtEl>
                                        <p:attrNameLst>
                                          <p:attrName>style.visibility</p:attrName>
                                        </p:attrNameLst>
                                      </p:cBhvr>
                                      <p:to>
                                        <p:strVal val="visible"/>
                                      </p:to>
                                    </p:set>
                                    <p:animEffect transition="in" filter="fade">
                                      <p:cBhvr>
                                        <p:cTn id="22" dur="1000"/>
                                        <p:tgtEl>
                                          <p:spTgt spid="17">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pRg st="5" end="5"/>
                                            </p:txEl>
                                          </p:spTgt>
                                        </p:tgtEl>
                                        <p:attrNameLst>
                                          <p:attrName>style.visibility</p:attrName>
                                        </p:attrNameLst>
                                      </p:cBhvr>
                                      <p:to>
                                        <p:strVal val="visible"/>
                                      </p:to>
                                    </p:set>
                                    <p:animEffect transition="in" filter="fade">
                                      <p:cBhvr>
                                        <p:cTn id="25" dur="1000"/>
                                        <p:tgtEl>
                                          <p:spTgt spid="17">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pRg st="6" end="6"/>
                                            </p:txEl>
                                          </p:spTgt>
                                        </p:tgtEl>
                                        <p:attrNameLst>
                                          <p:attrName>style.visibility</p:attrName>
                                        </p:attrNameLst>
                                      </p:cBhvr>
                                      <p:to>
                                        <p:strVal val="visible"/>
                                      </p:to>
                                    </p:set>
                                    <p:animEffect transition="in" filter="fade">
                                      <p:cBhvr>
                                        <p:cTn id="28" dur="1000"/>
                                        <p:tgtEl>
                                          <p:spTgt spid="17">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pRg st="7" end="7"/>
                                            </p:txEl>
                                          </p:spTgt>
                                        </p:tgtEl>
                                        <p:attrNameLst>
                                          <p:attrName>style.visibility</p:attrName>
                                        </p:attrNameLst>
                                      </p:cBhvr>
                                      <p:to>
                                        <p:strVal val="visible"/>
                                      </p:to>
                                    </p:set>
                                    <p:animEffect transition="in" filter="fade">
                                      <p:cBhvr>
                                        <p:cTn id="31" dur="1000"/>
                                        <p:tgtEl>
                                          <p:spTgt spid="17">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8" end="8"/>
                                            </p:txEl>
                                          </p:spTgt>
                                        </p:tgtEl>
                                        <p:attrNameLst>
                                          <p:attrName>style.visibility</p:attrName>
                                        </p:attrNameLst>
                                      </p:cBhvr>
                                      <p:to>
                                        <p:strVal val="visible"/>
                                      </p:to>
                                    </p:set>
                                    <p:animEffect transition="in" filter="fade">
                                      <p:cBhvr>
                                        <p:cTn id="34" dur="1000"/>
                                        <p:tgtEl>
                                          <p:spTgt spid="17">
                                            <p:txEl>
                                              <p:pRg st="8" end="8"/>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2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xEl>
                                              <p:pRg st="0" end="0"/>
                                            </p:txEl>
                                          </p:spTgt>
                                        </p:tgtEl>
                                        <p:attrNameLst>
                                          <p:attrName>style.visibility</p:attrName>
                                        </p:attrNameLst>
                                      </p:cBhvr>
                                      <p:to>
                                        <p:strVal val="visible"/>
                                      </p:to>
                                    </p:set>
                                    <p:animEffect transition="in" filter="fade">
                                      <p:cBhvr>
                                        <p:cTn id="41" dur="1000"/>
                                        <p:tgtEl>
                                          <p:spTgt spid="19">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xEl>
                                              <p:pRg st="1" end="1"/>
                                            </p:txEl>
                                          </p:spTgt>
                                        </p:tgtEl>
                                        <p:attrNameLst>
                                          <p:attrName>style.visibility</p:attrName>
                                        </p:attrNameLst>
                                      </p:cBhvr>
                                      <p:to>
                                        <p:strVal val="visible"/>
                                      </p:to>
                                    </p:set>
                                    <p:animEffect transition="in" filter="fade">
                                      <p:cBhvr>
                                        <p:cTn id="44" dur="1000"/>
                                        <p:tgtEl>
                                          <p:spTgt spid="19">
                                            <p:txEl>
                                              <p:p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1000"/>
                                        <p:tgtEl>
                                          <p:spTgt spid="19">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xEl>
                                              <p:pRg st="3" end="3"/>
                                            </p:txEl>
                                          </p:spTgt>
                                        </p:tgtEl>
                                        <p:attrNameLst>
                                          <p:attrName>style.visibility</p:attrName>
                                        </p:attrNameLst>
                                      </p:cBhvr>
                                      <p:to>
                                        <p:strVal val="visible"/>
                                      </p:to>
                                    </p:set>
                                    <p:animEffect transition="in" filter="fade">
                                      <p:cBhvr>
                                        <p:cTn id="50" dur="1000"/>
                                        <p:tgtEl>
                                          <p:spTgt spid="19">
                                            <p:txEl>
                                              <p:pRg st="3" end="3"/>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xEl>
                                              <p:pRg st="4" end="4"/>
                                            </p:txEl>
                                          </p:spTgt>
                                        </p:tgtEl>
                                        <p:attrNameLst>
                                          <p:attrName>style.visibility</p:attrName>
                                        </p:attrNameLst>
                                      </p:cBhvr>
                                      <p:to>
                                        <p:strVal val="visible"/>
                                      </p:to>
                                    </p:set>
                                    <p:animEffect transition="in" filter="fade">
                                      <p:cBhvr>
                                        <p:cTn id="53" dur="1000"/>
                                        <p:tgtEl>
                                          <p:spTgt spid="19">
                                            <p:txEl>
                                              <p:pRg st="4" end="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xEl>
                                              <p:pRg st="5" end="5"/>
                                            </p:txEl>
                                          </p:spTgt>
                                        </p:tgtEl>
                                        <p:attrNameLst>
                                          <p:attrName>style.visibility</p:attrName>
                                        </p:attrNameLst>
                                      </p:cBhvr>
                                      <p:to>
                                        <p:strVal val="visible"/>
                                      </p:to>
                                    </p:set>
                                    <p:animEffect transition="in" filter="fade">
                                      <p:cBhvr>
                                        <p:cTn id="56" dur="1000"/>
                                        <p:tgtEl>
                                          <p:spTgt spid="19">
                                            <p:txEl>
                                              <p:pRg st="5" end="5"/>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xEl>
                                              <p:pRg st="6" end="6"/>
                                            </p:txEl>
                                          </p:spTgt>
                                        </p:tgtEl>
                                        <p:attrNameLst>
                                          <p:attrName>style.visibility</p:attrName>
                                        </p:attrNameLst>
                                      </p:cBhvr>
                                      <p:to>
                                        <p:strVal val="visible"/>
                                      </p:to>
                                    </p:set>
                                    <p:animEffect transition="in" filter="fade">
                                      <p:cBhvr>
                                        <p:cTn id="59" dur="1000"/>
                                        <p:tgtEl>
                                          <p:spTgt spid="19">
                                            <p:txEl>
                                              <p:pRg st="6" end="6"/>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19">
                                            <p:txEl>
                                              <p:pRg st="7" end="7"/>
                                            </p:txEl>
                                          </p:spTgt>
                                        </p:tgtEl>
                                        <p:attrNameLst>
                                          <p:attrName>style.visibility</p:attrName>
                                        </p:attrNameLst>
                                      </p:cBhvr>
                                      <p:to>
                                        <p:strVal val="visible"/>
                                      </p:to>
                                    </p:set>
                                    <p:animEffect transition="in" filter="fade">
                                      <p:cBhvr>
                                        <p:cTn id="62" dur="1000"/>
                                        <p:tgtEl>
                                          <p:spTgt spid="19">
                                            <p:txEl>
                                              <p:pRg st="7" end="7"/>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19">
                                            <p:txEl>
                                              <p:pRg st="8" end="8"/>
                                            </p:txEl>
                                          </p:spTgt>
                                        </p:tgtEl>
                                        <p:attrNameLst>
                                          <p:attrName>style.visibility</p:attrName>
                                        </p:attrNameLst>
                                      </p:cBhvr>
                                      <p:to>
                                        <p:strVal val="visible"/>
                                      </p:to>
                                    </p:set>
                                    <p:animEffect transition="in" filter="fade">
                                      <p:cBhvr>
                                        <p:cTn id="65" dur="1000"/>
                                        <p:tgtEl>
                                          <p:spTgt spid="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White Pure">
  <p:cSld name="Title White Pure">
    <p:spTree>
      <p:nvGrpSpPr>
        <p:cNvPr id="1" name="Shape 31"/>
        <p:cNvGrpSpPr/>
        <p:nvPr/>
      </p:nvGrpSpPr>
      <p:grpSpPr>
        <a:xfrm>
          <a:off x="0" y="0"/>
          <a:ext cx="0" cy="0"/>
          <a:chOff x="0" y="0"/>
          <a:chExt cx="0" cy="0"/>
        </a:xfrm>
      </p:grpSpPr>
      <p:sp>
        <p:nvSpPr>
          <p:cNvPr id="32" name="Google Shape;32;p3"/>
          <p:cNvSpPr txBox="1">
            <a:spLocks noGrp="1"/>
          </p:cNvSpPr>
          <p:nvPr>
            <p:ph type="ctrTitle"/>
          </p:nvPr>
        </p:nvSpPr>
        <p:spPr>
          <a:xfrm>
            <a:off x="1443567" y="1773238"/>
            <a:ext cx="1002956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4000"/>
              <a:buFont typeface="K2D"/>
              <a:buNone/>
              <a:defRPr sz="40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
          <p:cNvSpPr txBox="1">
            <a:spLocks noGrp="1"/>
          </p:cNvSpPr>
          <p:nvPr>
            <p:ph type="subTitle" idx="1"/>
          </p:nvPr>
        </p:nvSpPr>
        <p:spPr>
          <a:xfrm>
            <a:off x="1443566" y="3428999"/>
            <a:ext cx="10029565" cy="796491"/>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AFEF"/>
              </a:buClr>
              <a:buSzPts val="3200"/>
              <a:buNone/>
              <a:defRPr sz="3200">
                <a:solidFill>
                  <a:srgbClr val="00AFEF"/>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34" name="Google Shape;34;p3"/>
          <p:cNvPicPr preferRelativeResize="0"/>
          <p:nvPr/>
        </p:nvPicPr>
        <p:blipFill rotWithShape="1">
          <a:blip r:embed="rId2">
            <a:alphaModFix/>
          </a:blip>
          <a:srcRect/>
          <a:stretch/>
        </p:blipFill>
        <p:spPr>
          <a:xfrm>
            <a:off x="1151466" y="2942152"/>
            <a:ext cx="292100" cy="292100"/>
          </a:xfrm>
          <a:prstGeom prst="rect">
            <a:avLst/>
          </a:prstGeom>
          <a:noFill/>
          <a:ln>
            <a:noFill/>
          </a:ln>
        </p:spPr>
      </p:pic>
      <p:pic>
        <p:nvPicPr>
          <p:cNvPr id="35" name="Google Shape;35;p3"/>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6" name="Google Shape;36;p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7" name="Google Shape;37;p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8" name="Google Shape;38;p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9" name="Google Shape;39;p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0" name="Google Shape;40;p3"/>
          <p:cNvGrpSpPr/>
          <p:nvPr/>
        </p:nvGrpSpPr>
        <p:grpSpPr>
          <a:xfrm>
            <a:off x="817685" y="6410864"/>
            <a:ext cx="2760487" cy="403790"/>
            <a:chOff x="741485" y="6410864"/>
            <a:chExt cx="2760487" cy="403790"/>
          </a:xfrm>
        </p:grpSpPr>
        <p:sp>
          <p:nvSpPr>
            <p:cNvPr id="41" name="Google Shape;41;p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2" name="Google Shape;42;p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3" name="Google Shape;43;p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4" name="Google Shape;44;p3"/>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45" name="Google Shape;45;p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xEl>
                                              <p:pRg st="0" end="0"/>
                                            </p:txEl>
                                          </p:spTgt>
                                        </p:tgtEl>
                                        <p:attrNameLst>
                                          <p:attrName>style.visibility</p:attrName>
                                        </p:attrNameLst>
                                      </p:cBhvr>
                                      <p:to>
                                        <p:strVal val="visible"/>
                                      </p:to>
                                    </p:set>
                                    <p:animEffect transition="in" filter="fade">
                                      <p:cBhvr>
                                        <p:cTn id="11" dur="500"/>
                                        <p:tgtEl>
                                          <p:spTgt spid="33">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3">
                                            <p:txEl>
                                              <p:pRg st="1" end="1"/>
                                            </p:txEl>
                                          </p:spTgt>
                                        </p:tgtEl>
                                        <p:attrNameLst>
                                          <p:attrName>style.visibility</p:attrName>
                                        </p:attrNameLst>
                                      </p:cBhvr>
                                      <p:to>
                                        <p:strVal val="visible"/>
                                      </p:to>
                                    </p:set>
                                    <p:animEffect transition="in" filter="fade">
                                      <p:cBhvr>
                                        <p:cTn id="15" dur="500"/>
                                        <p:tgtEl>
                                          <p:spTgt spid="33">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3">
                                            <p:txEl>
                                              <p:pRg st="2" end="2"/>
                                            </p:txEl>
                                          </p:spTgt>
                                        </p:tgtEl>
                                        <p:attrNameLst>
                                          <p:attrName>style.visibility</p:attrName>
                                        </p:attrNameLst>
                                      </p:cBhvr>
                                      <p:to>
                                        <p:strVal val="visible"/>
                                      </p:to>
                                    </p:set>
                                    <p:animEffect transition="in" filter="fade">
                                      <p:cBhvr>
                                        <p:cTn id="19" dur="500"/>
                                        <p:tgtEl>
                                          <p:spTgt spid="33">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3">
                                            <p:txEl>
                                              <p:pRg st="3" end="3"/>
                                            </p:txEl>
                                          </p:spTgt>
                                        </p:tgtEl>
                                        <p:attrNameLst>
                                          <p:attrName>style.visibility</p:attrName>
                                        </p:attrNameLst>
                                      </p:cBhvr>
                                      <p:to>
                                        <p:strVal val="visible"/>
                                      </p:to>
                                    </p:set>
                                    <p:animEffect transition="in" filter="fade">
                                      <p:cBhvr>
                                        <p:cTn id="23" dur="500"/>
                                        <p:tgtEl>
                                          <p:spTgt spid="33">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3">
                                            <p:txEl>
                                              <p:pRg st="4" end="4"/>
                                            </p:txEl>
                                          </p:spTgt>
                                        </p:tgtEl>
                                        <p:attrNameLst>
                                          <p:attrName>style.visibility</p:attrName>
                                        </p:attrNameLst>
                                      </p:cBhvr>
                                      <p:to>
                                        <p:strVal val="visible"/>
                                      </p:to>
                                    </p:set>
                                    <p:animEffect transition="in" filter="fade">
                                      <p:cBhvr>
                                        <p:cTn id="27" dur="500"/>
                                        <p:tgtEl>
                                          <p:spTgt spid="33">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3">
                                            <p:txEl>
                                              <p:pRg st="5" end="5"/>
                                            </p:txEl>
                                          </p:spTgt>
                                        </p:tgtEl>
                                        <p:attrNameLst>
                                          <p:attrName>style.visibility</p:attrName>
                                        </p:attrNameLst>
                                      </p:cBhvr>
                                      <p:to>
                                        <p:strVal val="visible"/>
                                      </p:to>
                                    </p:set>
                                    <p:animEffect transition="in" filter="fade">
                                      <p:cBhvr>
                                        <p:cTn id="31" dur="500"/>
                                        <p:tgtEl>
                                          <p:spTgt spid="33">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3">
                                            <p:txEl>
                                              <p:pRg st="6" end="6"/>
                                            </p:txEl>
                                          </p:spTgt>
                                        </p:tgtEl>
                                        <p:attrNameLst>
                                          <p:attrName>style.visibility</p:attrName>
                                        </p:attrNameLst>
                                      </p:cBhvr>
                                      <p:to>
                                        <p:strVal val="visible"/>
                                      </p:to>
                                    </p:set>
                                    <p:animEffect transition="in" filter="fade">
                                      <p:cBhvr>
                                        <p:cTn id="35" dur="500"/>
                                        <p:tgtEl>
                                          <p:spTgt spid="33">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3">
                                            <p:txEl>
                                              <p:pRg st="7" end="7"/>
                                            </p:txEl>
                                          </p:spTgt>
                                        </p:tgtEl>
                                        <p:attrNameLst>
                                          <p:attrName>style.visibility</p:attrName>
                                        </p:attrNameLst>
                                      </p:cBhvr>
                                      <p:to>
                                        <p:strVal val="visible"/>
                                      </p:to>
                                    </p:set>
                                    <p:animEffect transition="in" filter="fade">
                                      <p:cBhvr>
                                        <p:cTn id="39" dur="500"/>
                                        <p:tgtEl>
                                          <p:spTgt spid="33">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3">
                                            <p:txEl>
                                              <p:pRg st="8" end="8"/>
                                            </p:txEl>
                                          </p:spTgt>
                                        </p:tgtEl>
                                        <p:attrNameLst>
                                          <p:attrName>style.visibility</p:attrName>
                                        </p:attrNameLst>
                                      </p:cBhvr>
                                      <p:to>
                                        <p:strVal val="visible"/>
                                      </p:to>
                                    </p:set>
                                    <p:animEffect transition="in" filter="fade">
                                      <p:cBhvr>
                                        <p:cTn id="43" dur="500"/>
                                        <p:tgtEl>
                                          <p:spTgt spid="3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logo">
  <p:cSld name="Title and Content with logo">
    <p:spTree>
      <p:nvGrpSpPr>
        <p:cNvPr id="1" name="Shape 47"/>
        <p:cNvGrpSpPr/>
        <p:nvPr/>
      </p:nvGrpSpPr>
      <p:grpSpPr>
        <a:xfrm>
          <a:off x="0" y="0"/>
          <a:ext cx="0" cy="0"/>
          <a:chOff x="0" y="0"/>
          <a:chExt cx="0" cy="0"/>
        </a:xfrm>
      </p:grpSpPr>
      <p:sp>
        <p:nvSpPr>
          <p:cNvPr id="48" name="Google Shape;48;p4"/>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just">
              <a:lnSpc>
                <a:spcPct val="100000"/>
              </a:lnSpc>
              <a:spcBef>
                <a:spcPts val="1200"/>
              </a:spcBef>
              <a:spcAft>
                <a:spcPts val="0"/>
              </a:spcAft>
              <a:buClr>
                <a:schemeClr val="dk1"/>
              </a:buClr>
              <a:buSzPts val="2400"/>
              <a:buNone/>
              <a:defRPr sz="2400">
                <a:latin typeface="Readex Pro"/>
                <a:ea typeface="Readex Pro"/>
                <a:cs typeface="Readex Pro"/>
                <a:sym typeface="Readex Pro"/>
              </a:defRPr>
            </a:lvl1pPr>
            <a:lvl2pPr marL="914400" lvl="1" indent="-228600" algn="just">
              <a:lnSpc>
                <a:spcPct val="100000"/>
              </a:lnSpc>
              <a:spcBef>
                <a:spcPts val="500"/>
              </a:spcBef>
              <a:spcAft>
                <a:spcPts val="0"/>
              </a:spcAft>
              <a:buClr>
                <a:schemeClr val="dk1"/>
              </a:buClr>
              <a:buSzPts val="2400"/>
              <a:buNone/>
              <a:defRPr sz="2400">
                <a:latin typeface="Readex Pro"/>
                <a:ea typeface="Readex Pro"/>
                <a:cs typeface="Readex Pro"/>
                <a:sym typeface="Readex Pro"/>
              </a:defRPr>
            </a:lvl2pPr>
            <a:lvl3pPr marL="1371600" lvl="2" indent="-228600" algn="just">
              <a:lnSpc>
                <a:spcPct val="100000"/>
              </a:lnSpc>
              <a:spcBef>
                <a:spcPts val="500"/>
              </a:spcBef>
              <a:spcAft>
                <a:spcPts val="0"/>
              </a:spcAft>
              <a:buClr>
                <a:schemeClr val="dk1"/>
              </a:buClr>
              <a:buSzPts val="2000"/>
              <a:buNone/>
              <a:defRPr sz="2000">
                <a:latin typeface="Readex Pro"/>
                <a:ea typeface="Readex Pro"/>
                <a:cs typeface="Readex Pro"/>
                <a:sym typeface="Readex Pro"/>
              </a:defRPr>
            </a:lvl3pPr>
            <a:lvl4pPr marL="1828800" lvl="3"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4pPr>
            <a:lvl5pPr marL="2286000" lvl="4"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0" name="Google Shape;50;p4"/>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51" name="Google Shape;51;p4"/>
          <p:cNvPicPr preferRelativeResize="0"/>
          <p:nvPr/>
        </p:nvPicPr>
        <p:blipFill rotWithShape="1">
          <a:blip r:embed="rId3">
            <a:alphaModFix/>
          </a:blip>
          <a:srcRect/>
          <a:stretch/>
        </p:blipFill>
        <p:spPr>
          <a:xfrm>
            <a:off x="478656" y="656757"/>
            <a:ext cx="292100" cy="292100"/>
          </a:xfrm>
          <a:prstGeom prst="rect">
            <a:avLst/>
          </a:prstGeom>
          <a:noFill/>
          <a:ln>
            <a:noFill/>
          </a:ln>
        </p:spPr>
      </p:pic>
      <p:pic>
        <p:nvPicPr>
          <p:cNvPr id="52" name="Google Shape;52;p4"/>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3" name="Google Shape;53;p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4" name="Google Shape;54;p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55" name="Google Shape;55;p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6" name="Google Shape;56;p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7" name="Google Shape;57;p4"/>
          <p:cNvGrpSpPr/>
          <p:nvPr/>
        </p:nvGrpSpPr>
        <p:grpSpPr>
          <a:xfrm>
            <a:off x="817685" y="6410864"/>
            <a:ext cx="2760487" cy="403790"/>
            <a:chOff x="741485" y="6410864"/>
            <a:chExt cx="2760487" cy="403790"/>
          </a:xfrm>
        </p:grpSpPr>
        <p:sp>
          <p:nvSpPr>
            <p:cNvPr id="58" name="Google Shape;58;p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9" name="Google Shape;59;p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60" name="Google Shape;60;p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61" name="Google Shape;61;p4"/>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62" name="Google Shape;62;p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Blue Background">
  <p:cSld name="Title Blue Background">
    <p:bg>
      <p:bgPr>
        <a:solidFill>
          <a:srgbClr val="00B0F0"/>
        </a:solidFill>
        <a:effectLst/>
      </p:bgPr>
    </p:bg>
    <p:spTree>
      <p:nvGrpSpPr>
        <p:cNvPr id="1" name="Shape 64"/>
        <p:cNvGrpSpPr/>
        <p:nvPr/>
      </p:nvGrpSpPr>
      <p:grpSpPr>
        <a:xfrm>
          <a:off x="0" y="0"/>
          <a:ext cx="0" cy="0"/>
          <a:chOff x="0" y="0"/>
          <a:chExt cx="0" cy="0"/>
        </a:xfrm>
      </p:grpSpPr>
      <p:sp>
        <p:nvSpPr>
          <p:cNvPr id="65" name="Google Shape;65;p5"/>
          <p:cNvSpPr txBox="1">
            <a:spLocks noGrp="1"/>
          </p:cNvSpPr>
          <p:nvPr>
            <p:ph type="ctrTitle"/>
          </p:nvPr>
        </p:nvSpPr>
        <p:spPr>
          <a:xfrm>
            <a:off x="1443567" y="1773238"/>
            <a:ext cx="1002956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000"/>
              <a:buFont typeface="K2D"/>
              <a:buNone/>
              <a:defRPr sz="40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
          <p:cNvSpPr txBox="1">
            <a:spLocks noGrp="1"/>
          </p:cNvSpPr>
          <p:nvPr>
            <p:ph type="subTitle" idx="1"/>
          </p:nvPr>
        </p:nvSpPr>
        <p:spPr>
          <a:xfrm>
            <a:off x="1443566" y="3428999"/>
            <a:ext cx="10029565" cy="796491"/>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67" name="Google Shape;67;p5"/>
          <p:cNvPicPr preferRelativeResize="0"/>
          <p:nvPr/>
        </p:nvPicPr>
        <p:blipFill rotWithShape="1">
          <a:blip r:embed="rId2">
            <a:alphaModFix/>
          </a:blip>
          <a:srcRect/>
          <a:stretch/>
        </p:blipFill>
        <p:spPr>
          <a:xfrm>
            <a:off x="999066" y="2914650"/>
            <a:ext cx="364657" cy="364657"/>
          </a:xfrm>
          <a:prstGeom prst="rect">
            <a:avLst/>
          </a:prstGeom>
          <a:noFill/>
          <a:ln>
            <a:noFill/>
          </a:ln>
        </p:spPr>
      </p:pic>
      <p:grpSp>
        <p:nvGrpSpPr>
          <p:cNvPr id="68" name="Google Shape;68;p5"/>
          <p:cNvGrpSpPr/>
          <p:nvPr/>
        </p:nvGrpSpPr>
        <p:grpSpPr>
          <a:xfrm rot="5400000" flipH="1">
            <a:off x="11994349" y="89858"/>
            <a:ext cx="108319" cy="107166"/>
            <a:chOff x="9886950" y="442913"/>
            <a:chExt cx="216694" cy="214386"/>
          </a:xfrm>
        </p:grpSpPr>
        <p:sp>
          <p:nvSpPr>
            <p:cNvPr id="69" name="Google Shape;69;p5"/>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5"/>
            <p:cNvSpPr/>
            <p:nvPr/>
          </p:nvSpPr>
          <p:spPr>
            <a:xfrm>
              <a:off x="10006013" y="559668"/>
              <a:ext cx="97631" cy="97631"/>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 name="Google Shape;71;p5"/>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72" name="Google Shape;72;p5"/>
          <p:cNvPicPr preferRelativeResize="0"/>
          <p:nvPr/>
        </p:nvPicPr>
        <p:blipFill rotWithShape="1">
          <a:blip r:embed="rId3">
            <a:alphaModFix/>
          </a:blip>
          <a:srcRect/>
          <a:stretch/>
        </p:blipFill>
        <p:spPr>
          <a:xfrm>
            <a:off x="2599612" y="6488270"/>
            <a:ext cx="9336024" cy="118110"/>
          </a:xfrm>
          <a:prstGeom prst="rect">
            <a:avLst/>
          </a:prstGeom>
          <a:noFill/>
          <a:ln>
            <a:noFill/>
          </a:ln>
        </p:spPr>
      </p:pic>
      <p:sp>
        <p:nvSpPr>
          <p:cNvPr id="73" name="Google Shape;73;p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74" name="Google Shape;74;p5"/>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75" name="Google Shape;75;p5"/>
          <p:cNvSpPr/>
          <p:nvPr/>
        </p:nvSpPr>
        <p:spPr>
          <a:xfrm>
            <a:off x="11577955" y="6548263"/>
            <a:ext cx="340536" cy="170378"/>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76" name="Google Shape;76;p5"/>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77" name="Google Shape;77;p5"/>
          <p:cNvGrpSpPr/>
          <p:nvPr/>
        </p:nvGrpSpPr>
        <p:grpSpPr>
          <a:xfrm>
            <a:off x="817685" y="6410864"/>
            <a:ext cx="2760487" cy="403790"/>
            <a:chOff x="741485" y="6410864"/>
            <a:chExt cx="2760487" cy="403790"/>
          </a:xfrm>
        </p:grpSpPr>
        <p:sp>
          <p:nvSpPr>
            <p:cNvPr id="78" name="Google Shape;78;p5"/>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79" name="Google Shape;79;p5"/>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80" name="Google Shape;80;p5"/>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sp>
        <p:nvSpPr>
          <p:cNvPr id="81" name="Google Shape;81;p5"/>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6">
                                            <p:txEl>
                                              <p:pRg st="0" end="0"/>
                                            </p:txEl>
                                          </p:spTgt>
                                        </p:tgtEl>
                                        <p:attrNameLst>
                                          <p:attrName>style.visibility</p:attrName>
                                        </p:attrNameLst>
                                      </p:cBhvr>
                                      <p:to>
                                        <p:strVal val="visible"/>
                                      </p:to>
                                    </p:set>
                                    <p:animEffect transition="in" filter="fade">
                                      <p:cBhvr>
                                        <p:cTn id="11" dur="500"/>
                                        <p:tgtEl>
                                          <p:spTgt spid="66">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6">
                                            <p:txEl>
                                              <p:pRg st="1" end="1"/>
                                            </p:txEl>
                                          </p:spTgt>
                                        </p:tgtEl>
                                        <p:attrNameLst>
                                          <p:attrName>style.visibility</p:attrName>
                                        </p:attrNameLst>
                                      </p:cBhvr>
                                      <p:to>
                                        <p:strVal val="visible"/>
                                      </p:to>
                                    </p:set>
                                    <p:animEffect transition="in" filter="fade">
                                      <p:cBhvr>
                                        <p:cTn id="15" dur="500"/>
                                        <p:tgtEl>
                                          <p:spTgt spid="66">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6">
                                            <p:txEl>
                                              <p:pRg st="2" end="2"/>
                                            </p:txEl>
                                          </p:spTgt>
                                        </p:tgtEl>
                                        <p:attrNameLst>
                                          <p:attrName>style.visibility</p:attrName>
                                        </p:attrNameLst>
                                      </p:cBhvr>
                                      <p:to>
                                        <p:strVal val="visible"/>
                                      </p:to>
                                    </p:set>
                                    <p:animEffect transition="in" filter="fade">
                                      <p:cBhvr>
                                        <p:cTn id="19" dur="500"/>
                                        <p:tgtEl>
                                          <p:spTgt spid="66">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6">
                                            <p:txEl>
                                              <p:pRg st="3" end="3"/>
                                            </p:txEl>
                                          </p:spTgt>
                                        </p:tgtEl>
                                        <p:attrNameLst>
                                          <p:attrName>style.visibility</p:attrName>
                                        </p:attrNameLst>
                                      </p:cBhvr>
                                      <p:to>
                                        <p:strVal val="visible"/>
                                      </p:to>
                                    </p:set>
                                    <p:animEffect transition="in" filter="fade">
                                      <p:cBhvr>
                                        <p:cTn id="23" dur="500"/>
                                        <p:tgtEl>
                                          <p:spTgt spid="66">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6">
                                            <p:txEl>
                                              <p:pRg st="4" end="4"/>
                                            </p:txEl>
                                          </p:spTgt>
                                        </p:tgtEl>
                                        <p:attrNameLst>
                                          <p:attrName>style.visibility</p:attrName>
                                        </p:attrNameLst>
                                      </p:cBhvr>
                                      <p:to>
                                        <p:strVal val="visible"/>
                                      </p:to>
                                    </p:set>
                                    <p:animEffect transition="in" filter="fade">
                                      <p:cBhvr>
                                        <p:cTn id="27" dur="500"/>
                                        <p:tgtEl>
                                          <p:spTgt spid="66">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66">
                                            <p:txEl>
                                              <p:pRg st="5" end="5"/>
                                            </p:txEl>
                                          </p:spTgt>
                                        </p:tgtEl>
                                        <p:attrNameLst>
                                          <p:attrName>style.visibility</p:attrName>
                                        </p:attrNameLst>
                                      </p:cBhvr>
                                      <p:to>
                                        <p:strVal val="visible"/>
                                      </p:to>
                                    </p:set>
                                    <p:animEffect transition="in" filter="fade">
                                      <p:cBhvr>
                                        <p:cTn id="31" dur="500"/>
                                        <p:tgtEl>
                                          <p:spTgt spid="66">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66">
                                            <p:txEl>
                                              <p:pRg st="6" end="6"/>
                                            </p:txEl>
                                          </p:spTgt>
                                        </p:tgtEl>
                                        <p:attrNameLst>
                                          <p:attrName>style.visibility</p:attrName>
                                        </p:attrNameLst>
                                      </p:cBhvr>
                                      <p:to>
                                        <p:strVal val="visible"/>
                                      </p:to>
                                    </p:set>
                                    <p:animEffect transition="in" filter="fade">
                                      <p:cBhvr>
                                        <p:cTn id="35" dur="500"/>
                                        <p:tgtEl>
                                          <p:spTgt spid="66">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66">
                                            <p:txEl>
                                              <p:pRg st="7" end="7"/>
                                            </p:txEl>
                                          </p:spTgt>
                                        </p:tgtEl>
                                        <p:attrNameLst>
                                          <p:attrName>style.visibility</p:attrName>
                                        </p:attrNameLst>
                                      </p:cBhvr>
                                      <p:to>
                                        <p:strVal val="visible"/>
                                      </p:to>
                                    </p:set>
                                    <p:animEffect transition="in" filter="fade">
                                      <p:cBhvr>
                                        <p:cTn id="39" dur="500"/>
                                        <p:tgtEl>
                                          <p:spTgt spid="66">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66">
                                            <p:txEl>
                                              <p:pRg st="8" end="8"/>
                                            </p:txEl>
                                          </p:spTgt>
                                        </p:tgtEl>
                                        <p:attrNameLst>
                                          <p:attrName>style.visibility</p:attrName>
                                        </p:attrNameLst>
                                      </p:cBhvr>
                                      <p:to>
                                        <p:strVal val="visible"/>
                                      </p:to>
                                    </p:set>
                                    <p:animEffect transition="in" filter="fade">
                                      <p:cBhvr>
                                        <p:cTn id="43" dur="500"/>
                                        <p:tgtEl>
                                          <p:spTgt spid="6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1F5CAA"/>
        </a:solidFill>
        <a:effectLst/>
      </p:bgPr>
    </p:bg>
    <p:spTree>
      <p:nvGrpSpPr>
        <p:cNvPr id="1" name="Shape 83"/>
        <p:cNvGrpSpPr/>
        <p:nvPr/>
      </p:nvGrpSpPr>
      <p:grpSpPr>
        <a:xfrm>
          <a:off x="0" y="0"/>
          <a:ext cx="0" cy="0"/>
          <a:chOff x="0" y="0"/>
          <a:chExt cx="0" cy="0"/>
        </a:xfrm>
      </p:grpSpPr>
      <p:sp>
        <p:nvSpPr>
          <p:cNvPr id="84" name="Google Shape;84;p6"/>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K2D"/>
              <a:buNone/>
              <a:defRPr sz="44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6"/>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6"/>
          <p:cNvPicPr preferRelativeResize="0"/>
          <p:nvPr/>
        </p:nvPicPr>
        <p:blipFill rotWithShape="1">
          <a:blip r:embed="rId2">
            <a:alphaModFix/>
          </a:blip>
          <a:srcRect/>
          <a:stretch/>
        </p:blipFill>
        <p:spPr>
          <a:xfrm>
            <a:off x="5565071" y="682737"/>
            <a:ext cx="1061859" cy="1062060"/>
          </a:xfrm>
          <a:prstGeom prst="rect">
            <a:avLst/>
          </a:prstGeom>
          <a:noFill/>
          <a:ln>
            <a:noFill/>
          </a:ln>
        </p:spPr>
      </p:pic>
      <p:sp>
        <p:nvSpPr>
          <p:cNvPr id="87" name="Google Shape;87;p6"/>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b="0">
                <a:solidFill>
                  <a:schemeClr val="lt1"/>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6"/>
          <p:cNvSpPr/>
          <p:nvPr/>
        </p:nvSpPr>
        <p:spPr>
          <a:xfrm>
            <a:off x="4998720" y="4782423"/>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89" name="Google Shape;89;p6"/>
          <p:cNvGrpSpPr/>
          <p:nvPr/>
        </p:nvGrpSpPr>
        <p:grpSpPr>
          <a:xfrm rot="5400000" flipH="1">
            <a:off x="11994349" y="89858"/>
            <a:ext cx="108319" cy="107166"/>
            <a:chOff x="9886950" y="442913"/>
            <a:chExt cx="216694" cy="214386"/>
          </a:xfrm>
        </p:grpSpPr>
        <p:sp>
          <p:nvSpPr>
            <p:cNvPr id="90" name="Google Shape;90;p6"/>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 name="Google Shape;91;p6"/>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6"/>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93" name="Google Shape;93;p6"/>
          <p:cNvPicPr preferRelativeResize="0"/>
          <p:nvPr/>
        </p:nvPicPr>
        <p:blipFill rotWithShape="1">
          <a:blip r:embed="rId3">
            <a:alphaModFix/>
          </a:blip>
          <a:srcRect/>
          <a:stretch/>
        </p:blipFill>
        <p:spPr>
          <a:xfrm>
            <a:off x="2585036" y="6478829"/>
            <a:ext cx="9326880" cy="118101"/>
          </a:xfrm>
          <a:prstGeom prst="rect">
            <a:avLst/>
          </a:prstGeom>
          <a:noFill/>
          <a:ln>
            <a:noFill/>
          </a:ln>
        </p:spPr>
      </p:pic>
      <p:sp>
        <p:nvSpPr>
          <p:cNvPr id="94" name="Google Shape;94;p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95" name="Google Shape;95;p6"/>
          <p:cNvSpPr/>
          <p:nvPr/>
        </p:nvSpPr>
        <p:spPr>
          <a:xfrm>
            <a:off x="159150" y="6474525"/>
            <a:ext cx="653867" cy="298450"/>
          </a:xfrm>
          <a:prstGeom prst="rect">
            <a:avLst/>
          </a:prstGeom>
          <a:solidFill>
            <a:srgbClr val="27AC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grpSp>
        <p:nvGrpSpPr>
          <p:cNvPr id="96" name="Google Shape;96;p6"/>
          <p:cNvGrpSpPr/>
          <p:nvPr/>
        </p:nvGrpSpPr>
        <p:grpSpPr>
          <a:xfrm>
            <a:off x="817685" y="6410864"/>
            <a:ext cx="2760487" cy="403790"/>
            <a:chOff x="741485" y="6410864"/>
            <a:chExt cx="2760487" cy="403790"/>
          </a:xfrm>
        </p:grpSpPr>
        <p:sp>
          <p:nvSpPr>
            <p:cNvPr id="97" name="Google Shape;97;p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98" name="Google Shape;98;p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99" name="Google Shape;99;p6"/>
          <p:cNvSpPr txBox="1"/>
          <p:nvPr/>
        </p:nvSpPr>
        <p:spPr>
          <a:xfrm>
            <a:off x="10529596" y="6467840"/>
            <a:ext cx="14830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sp>
        <p:nvSpPr>
          <p:cNvPr id="100" name="Google Shape;100;p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childTnLst>
                                </p:cTn>
                              </p:par>
                              <p:par>
                                <p:cTn id="8" presetID="10" presetClass="entr" presetSubtype="0" fill="hold" nodeType="withEffect">
                                  <p:stCondLst>
                                    <p:cond delay="0"/>
                                  </p:stCondLst>
                                  <p:childTnLst>
                                    <p:set>
                                      <p:cBhvr>
                                        <p:cTn id="9" dur="1" fill="hold">
                                          <p:stCondLst>
                                            <p:cond delay="0"/>
                                          </p:stCondLst>
                                        </p:cTn>
                                        <p:tgtEl>
                                          <p:spTgt spid="85">
                                            <p:txEl>
                                              <p:pRg st="0" end="0"/>
                                            </p:txEl>
                                          </p:spTgt>
                                        </p:tgtEl>
                                        <p:attrNameLst>
                                          <p:attrName>style.visibility</p:attrName>
                                        </p:attrNameLst>
                                      </p:cBhvr>
                                      <p:to>
                                        <p:strVal val="visible"/>
                                      </p:to>
                                    </p:set>
                                    <p:animEffect transition="in" filter="fade">
                                      <p:cBhvr>
                                        <p:cTn id="10" dur="1000"/>
                                        <p:tgtEl>
                                          <p:spTgt spid="8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5">
                                            <p:txEl>
                                              <p:pRg st="1" end="1"/>
                                            </p:txEl>
                                          </p:spTgt>
                                        </p:tgtEl>
                                        <p:attrNameLst>
                                          <p:attrName>style.visibility</p:attrName>
                                        </p:attrNameLst>
                                      </p:cBhvr>
                                      <p:to>
                                        <p:strVal val="visible"/>
                                      </p:to>
                                    </p:set>
                                    <p:animEffect transition="in" filter="fade">
                                      <p:cBhvr>
                                        <p:cTn id="13" dur="1000"/>
                                        <p:tgtEl>
                                          <p:spTgt spid="85">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5">
                                            <p:txEl>
                                              <p:pRg st="2" end="2"/>
                                            </p:txEl>
                                          </p:spTgt>
                                        </p:tgtEl>
                                        <p:attrNameLst>
                                          <p:attrName>style.visibility</p:attrName>
                                        </p:attrNameLst>
                                      </p:cBhvr>
                                      <p:to>
                                        <p:strVal val="visible"/>
                                      </p:to>
                                    </p:set>
                                    <p:animEffect transition="in" filter="fade">
                                      <p:cBhvr>
                                        <p:cTn id="16" dur="1000"/>
                                        <p:tgtEl>
                                          <p:spTgt spid="85">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5">
                                            <p:txEl>
                                              <p:pRg st="3" end="3"/>
                                            </p:txEl>
                                          </p:spTgt>
                                        </p:tgtEl>
                                        <p:attrNameLst>
                                          <p:attrName>style.visibility</p:attrName>
                                        </p:attrNameLst>
                                      </p:cBhvr>
                                      <p:to>
                                        <p:strVal val="visible"/>
                                      </p:to>
                                    </p:set>
                                    <p:animEffect transition="in" filter="fade">
                                      <p:cBhvr>
                                        <p:cTn id="19" dur="1000"/>
                                        <p:tgtEl>
                                          <p:spTgt spid="85">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xEl>
                                              <p:pRg st="4" end="4"/>
                                            </p:txEl>
                                          </p:spTgt>
                                        </p:tgtEl>
                                        <p:attrNameLst>
                                          <p:attrName>style.visibility</p:attrName>
                                        </p:attrNameLst>
                                      </p:cBhvr>
                                      <p:to>
                                        <p:strVal val="visible"/>
                                      </p:to>
                                    </p:set>
                                    <p:animEffect transition="in" filter="fade">
                                      <p:cBhvr>
                                        <p:cTn id="22" dur="1000"/>
                                        <p:tgtEl>
                                          <p:spTgt spid="8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85">
                                            <p:txEl>
                                              <p:pRg st="5" end="5"/>
                                            </p:txEl>
                                          </p:spTgt>
                                        </p:tgtEl>
                                        <p:attrNameLst>
                                          <p:attrName>style.visibility</p:attrName>
                                        </p:attrNameLst>
                                      </p:cBhvr>
                                      <p:to>
                                        <p:strVal val="visible"/>
                                      </p:to>
                                    </p:set>
                                    <p:animEffect transition="in" filter="fade">
                                      <p:cBhvr>
                                        <p:cTn id="25" dur="1000"/>
                                        <p:tgtEl>
                                          <p:spTgt spid="85">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5">
                                            <p:txEl>
                                              <p:pRg st="6" end="6"/>
                                            </p:txEl>
                                          </p:spTgt>
                                        </p:tgtEl>
                                        <p:attrNameLst>
                                          <p:attrName>style.visibility</p:attrName>
                                        </p:attrNameLst>
                                      </p:cBhvr>
                                      <p:to>
                                        <p:strVal val="visible"/>
                                      </p:to>
                                    </p:set>
                                    <p:animEffect transition="in" filter="fade">
                                      <p:cBhvr>
                                        <p:cTn id="28" dur="1000"/>
                                        <p:tgtEl>
                                          <p:spTgt spid="85">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5">
                                            <p:txEl>
                                              <p:pRg st="7" end="7"/>
                                            </p:txEl>
                                          </p:spTgt>
                                        </p:tgtEl>
                                        <p:attrNameLst>
                                          <p:attrName>style.visibility</p:attrName>
                                        </p:attrNameLst>
                                      </p:cBhvr>
                                      <p:to>
                                        <p:strVal val="visible"/>
                                      </p:to>
                                    </p:set>
                                    <p:animEffect transition="in" filter="fade">
                                      <p:cBhvr>
                                        <p:cTn id="31" dur="1000"/>
                                        <p:tgtEl>
                                          <p:spTgt spid="85">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5">
                                            <p:txEl>
                                              <p:pRg st="8" end="8"/>
                                            </p:txEl>
                                          </p:spTgt>
                                        </p:tgtEl>
                                        <p:attrNameLst>
                                          <p:attrName>style.visibility</p:attrName>
                                        </p:attrNameLst>
                                      </p:cBhvr>
                                      <p:to>
                                        <p:strVal val="visible"/>
                                      </p:to>
                                    </p:set>
                                    <p:animEffect transition="in" filter="fade">
                                      <p:cBhvr>
                                        <p:cTn id="34" dur="1000"/>
                                        <p:tgtEl>
                                          <p:spTgt spid="85">
                                            <p:txEl>
                                              <p:pRg st="8" end="8"/>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88"/>
                                        </p:tgtEl>
                                        <p:attrNameLst>
                                          <p:attrName>style.visibility</p:attrName>
                                        </p:attrNameLst>
                                      </p:cBhvr>
                                      <p:to>
                                        <p:strVal val="visible"/>
                                      </p:to>
                                    </p:set>
                                    <p:animEffect transition="in" filter="fade">
                                      <p:cBhvr>
                                        <p:cTn id="38" dur="1250"/>
                                        <p:tgtEl>
                                          <p:spTgt spid="88"/>
                                        </p:tgtEl>
                                      </p:cBhvr>
                                    </p:animEffect>
                                  </p:childTnLst>
                                </p:cTn>
                              </p:par>
                              <p:par>
                                <p:cTn id="39" presetID="10" presetClass="entr" presetSubtype="0" fill="hold" nodeType="withEffect">
                                  <p:stCondLst>
                                    <p:cond delay="0"/>
                                  </p:stCondLst>
                                  <p:childTnLst>
                                    <p:set>
                                      <p:cBhvr>
                                        <p:cTn id="40" dur="1" fill="hold">
                                          <p:stCondLst>
                                            <p:cond delay="0"/>
                                          </p:stCondLst>
                                        </p:cTn>
                                        <p:tgtEl>
                                          <p:spTgt spid="87">
                                            <p:txEl>
                                              <p:pRg st="0" end="0"/>
                                            </p:txEl>
                                          </p:spTgt>
                                        </p:tgtEl>
                                        <p:attrNameLst>
                                          <p:attrName>style.visibility</p:attrName>
                                        </p:attrNameLst>
                                      </p:cBhvr>
                                      <p:to>
                                        <p:strVal val="visible"/>
                                      </p:to>
                                    </p:set>
                                    <p:animEffect transition="in" filter="fade">
                                      <p:cBhvr>
                                        <p:cTn id="41" dur="1000"/>
                                        <p:tgtEl>
                                          <p:spTgt spid="87">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87">
                                            <p:txEl>
                                              <p:pRg st="1" end="1"/>
                                            </p:txEl>
                                          </p:spTgt>
                                        </p:tgtEl>
                                        <p:attrNameLst>
                                          <p:attrName>style.visibility</p:attrName>
                                        </p:attrNameLst>
                                      </p:cBhvr>
                                      <p:to>
                                        <p:strVal val="visible"/>
                                      </p:to>
                                    </p:set>
                                    <p:animEffect transition="in" filter="fade">
                                      <p:cBhvr>
                                        <p:cTn id="44" dur="1000"/>
                                        <p:tgtEl>
                                          <p:spTgt spid="87">
                                            <p:txEl>
                                              <p:p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87">
                                            <p:txEl>
                                              <p:pRg st="2" end="2"/>
                                            </p:txEl>
                                          </p:spTgt>
                                        </p:tgtEl>
                                        <p:attrNameLst>
                                          <p:attrName>style.visibility</p:attrName>
                                        </p:attrNameLst>
                                      </p:cBhvr>
                                      <p:to>
                                        <p:strVal val="visible"/>
                                      </p:to>
                                    </p:set>
                                    <p:animEffect transition="in" filter="fade">
                                      <p:cBhvr>
                                        <p:cTn id="47" dur="1000"/>
                                        <p:tgtEl>
                                          <p:spTgt spid="87">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87">
                                            <p:txEl>
                                              <p:pRg st="3" end="3"/>
                                            </p:txEl>
                                          </p:spTgt>
                                        </p:tgtEl>
                                        <p:attrNameLst>
                                          <p:attrName>style.visibility</p:attrName>
                                        </p:attrNameLst>
                                      </p:cBhvr>
                                      <p:to>
                                        <p:strVal val="visible"/>
                                      </p:to>
                                    </p:set>
                                    <p:animEffect transition="in" filter="fade">
                                      <p:cBhvr>
                                        <p:cTn id="50" dur="1000"/>
                                        <p:tgtEl>
                                          <p:spTgt spid="87">
                                            <p:txEl>
                                              <p:pRg st="3" end="3"/>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87">
                                            <p:txEl>
                                              <p:pRg st="4" end="4"/>
                                            </p:txEl>
                                          </p:spTgt>
                                        </p:tgtEl>
                                        <p:attrNameLst>
                                          <p:attrName>style.visibility</p:attrName>
                                        </p:attrNameLst>
                                      </p:cBhvr>
                                      <p:to>
                                        <p:strVal val="visible"/>
                                      </p:to>
                                    </p:set>
                                    <p:animEffect transition="in" filter="fade">
                                      <p:cBhvr>
                                        <p:cTn id="53" dur="1000"/>
                                        <p:tgtEl>
                                          <p:spTgt spid="87">
                                            <p:txEl>
                                              <p:pRg st="4" end="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87">
                                            <p:txEl>
                                              <p:pRg st="5" end="5"/>
                                            </p:txEl>
                                          </p:spTgt>
                                        </p:tgtEl>
                                        <p:attrNameLst>
                                          <p:attrName>style.visibility</p:attrName>
                                        </p:attrNameLst>
                                      </p:cBhvr>
                                      <p:to>
                                        <p:strVal val="visible"/>
                                      </p:to>
                                    </p:set>
                                    <p:animEffect transition="in" filter="fade">
                                      <p:cBhvr>
                                        <p:cTn id="56" dur="1000"/>
                                        <p:tgtEl>
                                          <p:spTgt spid="87">
                                            <p:txEl>
                                              <p:pRg st="5" end="5"/>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87">
                                            <p:txEl>
                                              <p:pRg st="6" end="6"/>
                                            </p:txEl>
                                          </p:spTgt>
                                        </p:tgtEl>
                                        <p:attrNameLst>
                                          <p:attrName>style.visibility</p:attrName>
                                        </p:attrNameLst>
                                      </p:cBhvr>
                                      <p:to>
                                        <p:strVal val="visible"/>
                                      </p:to>
                                    </p:set>
                                    <p:animEffect transition="in" filter="fade">
                                      <p:cBhvr>
                                        <p:cTn id="59" dur="1000"/>
                                        <p:tgtEl>
                                          <p:spTgt spid="87">
                                            <p:txEl>
                                              <p:pRg st="6" end="6"/>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87">
                                            <p:txEl>
                                              <p:pRg st="7" end="7"/>
                                            </p:txEl>
                                          </p:spTgt>
                                        </p:tgtEl>
                                        <p:attrNameLst>
                                          <p:attrName>style.visibility</p:attrName>
                                        </p:attrNameLst>
                                      </p:cBhvr>
                                      <p:to>
                                        <p:strVal val="visible"/>
                                      </p:to>
                                    </p:set>
                                    <p:animEffect transition="in" filter="fade">
                                      <p:cBhvr>
                                        <p:cTn id="62" dur="1000"/>
                                        <p:tgtEl>
                                          <p:spTgt spid="87">
                                            <p:txEl>
                                              <p:pRg st="7" end="7"/>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87">
                                            <p:txEl>
                                              <p:pRg st="8" end="8"/>
                                            </p:txEl>
                                          </p:spTgt>
                                        </p:tgtEl>
                                        <p:attrNameLst>
                                          <p:attrName>style.visibility</p:attrName>
                                        </p:attrNameLst>
                                      </p:cBhvr>
                                      <p:to>
                                        <p:strVal val="visible"/>
                                      </p:to>
                                    </p:set>
                                    <p:animEffect transition="in" filter="fade">
                                      <p:cBhvr>
                                        <p:cTn id="65" dur="1000"/>
                                        <p:tgtEl>
                                          <p:spTgt spid="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no logo">
  <p:cSld name="Title Slide no logo">
    <p:bg>
      <p:bgPr>
        <a:solidFill>
          <a:srgbClr val="1F5CAA"/>
        </a:solidFill>
        <a:effectLst/>
      </p:bgPr>
    </p:bg>
    <p:spTree>
      <p:nvGrpSpPr>
        <p:cNvPr id="1" name="Shape 102"/>
        <p:cNvGrpSpPr/>
        <p:nvPr/>
      </p:nvGrpSpPr>
      <p:grpSpPr>
        <a:xfrm>
          <a:off x="0" y="0"/>
          <a:ext cx="0" cy="0"/>
          <a:chOff x="0" y="0"/>
          <a:chExt cx="0" cy="0"/>
        </a:xfrm>
      </p:grpSpPr>
      <p:sp>
        <p:nvSpPr>
          <p:cNvPr id="103" name="Google Shape;103;p7"/>
          <p:cNvSpPr txBox="1">
            <a:spLocks noGrp="1"/>
          </p:cNvSpPr>
          <p:nvPr>
            <p:ph type="ctrTitle"/>
          </p:nvPr>
        </p:nvSpPr>
        <p:spPr>
          <a:xfrm>
            <a:off x="493144" y="686872"/>
            <a:ext cx="11205713" cy="2200204"/>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K2D"/>
              <a:buNone/>
              <a:defRPr sz="44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
          <p:cNvSpPr txBox="1">
            <a:spLocks noGrp="1"/>
          </p:cNvSpPr>
          <p:nvPr>
            <p:ph type="subTitle" idx="1"/>
          </p:nvPr>
        </p:nvSpPr>
        <p:spPr>
          <a:xfrm>
            <a:off x="493144" y="2887077"/>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5" name="Google Shape;105;p7"/>
          <p:cNvSpPr txBox="1">
            <a:spLocks noGrp="1"/>
          </p:cNvSpPr>
          <p:nvPr>
            <p:ph type="body" idx="2"/>
          </p:nvPr>
        </p:nvSpPr>
        <p:spPr>
          <a:xfrm>
            <a:off x="493144" y="3947960"/>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b="0">
                <a:solidFill>
                  <a:schemeClr val="lt1"/>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7"/>
          <p:cNvSpPr/>
          <p:nvPr/>
        </p:nvSpPr>
        <p:spPr>
          <a:xfrm>
            <a:off x="4998720" y="3805958"/>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107" name="Google Shape;107;p7"/>
          <p:cNvGrpSpPr/>
          <p:nvPr/>
        </p:nvGrpSpPr>
        <p:grpSpPr>
          <a:xfrm rot="5400000" flipH="1">
            <a:off x="11994349" y="89858"/>
            <a:ext cx="108319" cy="107166"/>
            <a:chOff x="9886950" y="442913"/>
            <a:chExt cx="216694" cy="214386"/>
          </a:xfrm>
        </p:grpSpPr>
        <p:sp>
          <p:nvSpPr>
            <p:cNvPr id="108" name="Google Shape;108;p7"/>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7"/>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7"/>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111" name="Google Shape;111;p7"/>
          <p:cNvPicPr preferRelativeResize="0"/>
          <p:nvPr/>
        </p:nvPicPr>
        <p:blipFill rotWithShape="1">
          <a:blip r:embed="rId2">
            <a:alphaModFix/>
          </a:blip>
          <a:srcRect/>
          <a:stretch/>
        </p:blipFill>
        <p:spPr>
          <a:xfrm>
            <a:off x="2585036" y="6478829"/>
            <a:ext cx="9326880" cy="118101"/>
          </a:xfrm>
          <a:prstGeom prst="rect">
            <a:avLst/>
          </a:prstGeom>
          <a:noFill/>
          <a:ln>
            <a:noFill/>
          </a:ln>
        </p:spPr>
      </p:pic>
      <p:sp>
        <p:nvSpPr>
          <p:cNvPr id="112" name="Google Shape;112;p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13" name="Google Shape;113;p7"/>
          <p:cNvSpPr/>
          <p:nvPr/>
        </p:nvSpPr>
        <p:spPr>
          <a:xfrm>
            <a:off x="159150" y="6474525"/>
            <a:ext cx="653867" cy="298450"/>
          </a:xfrm>
          <a:prstGeom prst="rect">
            <a:avLst/>
          </a:prstGeom>
          <a:solidFill>
            <a:srgbClr val="27AC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grpSp>
        <p:nvGrpSpPr>
          <p:cNvPr id="114" name="Google Shape;114;p7"/>
          <p:cNvGrpSpPr/>
          <p:nvPr/>
        </p:nvGrpSpPr>
        <p:grpSpPr>
          <a:xfrm>
            <a:off x="817685" y="6410864"/>
            <a:ext cx="2760487" cy="403790"/>
            <a:chOff x="741485" y="6410864"/>
            <a:chExt cx="2760487" cy="403790"/>
          </a:xfrm>
        </p:grpSpPr>
        <p:sp>
          <p:nvSpPr>
            <p:cNvPr id="115" name="Google Shape;115;p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116" name="Google Shape;116;p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117" name="Google Shape;117;p7"/>
          <p:cNvSpPr txBox="1"/>
          <p:nvPr/>
        </p:nvSpPr>
        <p:spPr>
          <a:xfrm>
            <a:off x="10529596" y="6467840"/>
            <a:ext cx="14830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sp>
        <p:nvSpPr>
          <p:cNvPr id="118" name="Google Shape;118;p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104">
                                            <p:txEl>
                                              <p:pRg st="0" end="0"/>
                                            </p:txEl>
                                          </p:spTgt>
                                        </p:tgtEl>
                                        <p:attrNameLst>
                                          <p:attrName>style.visibility</p:attrName>
                                        </p:attrNameLst>
                                      </p:cBhvr>
                                      <p:to>
                                        <p:strVal val="visible"/>
                                      </p:to>
                                    </p:set>
                                    <p:animEffect transition="in" filter="fade">
                                      <p:cBhvr>
                                        <p:cTn id="10" dur="1000"/>
                                        <p:tgtEl>
                                          <p:spTgt spid="104">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4">
                                            <p:txEl>
                                              <p:pRg st="2" end="2"/>
                                            </p:txEl>
                                          </p:spTgt>
                                        </p:tgtEl>
                                        <p:attrNameLst>
                                          <p:attrName>style.visibility</p:attrName>
                                        </p:attrNameLst>
                                      </p:cBhvr>
                                      <p:to>
                                        <p:strVal val="visible"/>
                                      </p:to>
                                    </p:set>
                                    <p:animEffect transition="in" filter="fade">
                                      <p:cBhvr>
                                        <p:cTn id="16" dur="1000"/>
                                        <p:tgtEl>
                                          <p:spTgt spid="104">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4">
                                            <p:txEl>
                                              <p:pRg st="3" end="3"/>
                                            </p:txEl>
                                          </p:spTgt>
                                        </p:tgtEl>
                                        <p:attrNameLst>
                                          <p:attrName>style.visibility</p:attrName>
                                        </p:attrNameLst>
                                      </p:cBhvr>
                                      <p:to>
                                        <p:strVal val="visible"/>
                                      </p:to>
                                    </p:set>
                                    <p:animEffect transition="in" filter="fade">
                                      <p:cBhvr>
                                        <p:cTn id="19" dur="1000"/>
                                        <p:tgtEl>
                                          <p:spTgt spid="104">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4">
                                            <p:txEl>
                                              <p:pRg st="4" end="4"/>
                                            </p:txEl>
                                          </p:spTgt>
                                        </p:tgtEl>
                                        <p:attrNameLst>
                                          <p:attrName>style.visibility</p:attrName>
                                        </p:attrNameLst>
                                      </p:cBhvr>
                                      <p:to>
                                        <p:strVal val="visible"/>
                                      </p:to>
                                    </p:set>
                                    <p:animEffect transition="in" filter="fade">
                                      <p:cBhvr>
                                        <p:cTn id="22" dur="1000"/>
                                        <p:tgtEl>
                                          <p:spTgt spid="104">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4">
                                            <p:txEl>
                                              <p:pRg st="5" end="5"/>
                                            </p:txEl>
                                          </p:spTgt>
                                        </p:tgtEl>
                                        <p:attrNameLst>
                                          <p:attrName>style.visibility</p:attrName>
                                        </p:attrNameLst>
                                      </p:cBhvr>
                                      <p:to>
                                        <p:strVal val="visible"/>
                                      </p:to>
                                    </p:set>
                                    <p:animEffect transition="in" filter="fade">
                                      <p:cBhvr>
                                        <p:cTn id="25" dur="1000"/>
                                        <p:tgtEl>
                                          <p:spTgt spid="104">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4">
                                            <p:txEl>
                                              <p:pRg st="6" end="6"/>
                                            </p:txEl>
                                          </p:spTgt>
                                        </p:tgtEl>
                                        <p:attrNameLst>
                                          <p:attrName>style.visibility</p:attrName>
                                        </p:attrNameLst>
                                      </p:cBhvr>
                                      <p:to>
                                        <p:strVal val="visible"/>
                                      </p:to>
                                    </p:set>
                                    <p:animEffect transition="in" filter="fade">
                                      <p:cBhvr>
                                        <p:cTn id="28" dur="1000"/>
                                        <p:tgtEl>
                                          <p:spTgt spid="104">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4">
                                            <p:txEl>
                                              <p:pRg st="7" end="7"/>
                                            </p:txEl>
                                          </p:spTgt>
                                        </p:tgtEl>
                                        <p:attrNameLst>
                                          <p:attrName>style.visibility</p:attrName>
                                        </p:attrNameLst>
                                      </p:cBhvr>
                                      <p:to>
                                        <p:strVal val="visible"/>
                                      </p:to>
                                    </p:set>
                                    <p:animEffect transition="in" filter="fade">
                                      <p:cBhvr>
                                        <p:cTn id="31" dur="1000"/>
                                        <p:tgtEl>
                                          <p:spTgt spid="104">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xEl>
                                              <p:pRg st="8" end="8"/>
                                            </p:txEl>
                                          </p:spTgt>
                                        </p:tgtEl>
                                        <p:attrNameLst>
                                          <p:attrName>style.visibility</p:attrName>
                                        </p:attrNameLst>
                                      </p:cBhvr>
                                      <p:to>
                                        <p:strVal val="visible"/>
                                      </p:to>
                                    </p:set>
                                    <p:animEffect transition="in" filter="fade">
                                      <p:cBhvr>
                                        <p:cTn id="34" dur="1000"/>
                                        <p:tgtEl>
                                          <p:spTgt spid="104">
                                            <p:txEl>
                                              <p:pRg st="8" end="8"/>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fade">
                                      <p:cBhvr>
                                        <p:cTn id="38" dur="1250"/>
                                        <p:tgtEl>
                                          <p:spTgt spid="106"/>
                                        </p:tgtEl>
                                      </p:cBhvr>
                                    </p:animEffect>
                                  </p:childTnLst>
                                </p:cTn>
                              </p:par>
                              <p:par>
                                <p:cTn id="39" presetID="10" presetClass="entr" presetSubtype="0" fill="hold" nodeType="withEffect">
                                  <p:stCondLst>
                                    <p:cond delay="0"/>
                                  </p:stCondLst>
                                  <p:childTnLst>
                                    <p:set>
                                      <p:cBhvr>
                                        <p:cTn id="40" dur="1" fill="hold">
                                          <p:stCondLst>
                                            <p:cond delay="0"/>
                                          </p:stCondLst>
                                        </p:cTn>
                                        <p:tgtEl>
                                          <p:spTgt spid="105">
                                            <p:txEl>
                                              <p:pRg st="0" end="0"/>
                                            </p:txEl>
                                          </p:spTgt>
                                        </p:tgtEl>
                                        <p:attrNameLst>
                                          <p:attrName>style.visibility</p:attrName>
                                        </p:attrNameLst>
                                      </p:cBhvr>
                                      <p:to>
                                        <p:strVal val="visible"/>
                                      </p:to>
                                    </p:set>
                                    <p:animEffect transition="in" filter="fade">
                                      <p:cBhvr>
                                        <p:cTn id="41" dur="1000"/>
                                        <p:tgtEl>
                                          <p:spTgt spid="105">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05">
                                            <p:txEl>
                                              <p:pRg st="1" end="1"/>
                                            </p:txEl>
                                          </p:spTgt>
                                        </p:tgtEl>
                                        <p:attrNameLst>
                                          <p:attrName>style.visibility</p:attrName>
                                        </p:attrNameLst>
                                      </p:cBhvr>
                                      <p:to>
                                        <p:strVal val="visible"/>
                                      </p:to>
                                    </p:set>
                                    <p:animEffect transition="in" filter="fade">
                                      <p:cBhvr>
                                        <p:cTn id="44" dur="1000"/>
                                        <p:tgtEl>
                                          <p:spTgt spid="105">
                                            <p:txEl>
                                              <p:p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05">
                                            <p:txEl>
                                              <p:pRg st="2" end="2"/>
                                            </p:txEl>
                                          </p:spTgt>
                                        </p:tgtEl>
                                        <p:attrNameLst>
                                          <p:attrName>style.visibility</p:attrName>
                                        </p:attrNameLst>
                                      </p:cBhvr>
                                      <p:to>
                                        <p:strVal val="visible"/>
                                      </p:to>
                                    </p:set>
                                    <p:animEffect transition="in" filter="fade">
                                      <p:cBhvr>
                                        <p:cTn id="47" dur="1000"/>
                                        <p:tgtEl>
                                          <p:spTgt spid="105">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05">
                                            <p:txEl>
                                              <p:pRg st="3" end="3"/>
                                            </p:txEl>
                                          </p:spTgt>
                                        </p:tgtEl>
                                        <p:attrNameLst>
                                          <p:attrName>style.visibility</p:attrName>
                                        </p:attrNameLst>
                                      </p:cBhvr>
                                      <p:to>
                                        <p:strVal val="visible"/>
                                      </p:to>
                                    </p:set>
                                    <p:animEffect transition="in" filter="fade">
                                      <p:cBhvr>
                                        <p:cTn id="50" dur="1000"/>
                                        <p:tgtEl>
                                          <p:spTgt spid="105">
                                            <p:txEl>
                                              <p:pRg st="3" end="3"/>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05">
                                            <p:txEl>
                                              <p:pRg st="4" end="4"/>
                                            </p:txEl>
                                          </p:spTgt>
                                        </p:tgtEl>
                                        <p:attrNameLst>
                                          <p:attrName>style.visibility</p:attrName>
                                        </p:attrNameLst>
                                      </p:cBhvr>
                                      <p:to>
                                        <p:strVal val="visible"/>
                                      </p:to>
                                    </p:set>
                                    <p:animEffect transition="in" filter="fade">
                                      <p:cBhvr>
                                        <p:cTn id="53" dur="1000"/>
                                        <p:tgtEl>
                                          <p:spTgt spid="105">
                                            <p:txEl>
                                              <p:pRg st="4" end="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05">
                                            <p:txEl>
                                              <p:pRg st="5" end="5"/>
                                            </p:txEl>
                                          </p:spTgt>
                                        </p:tgtEl>
                                        <p:attrNameLst>
                                          <p:attrName>style.visibility</p:attrName>
                                        </p:attrNameLst>
                                      </p:cBhvr>
                                      <p:to>
                                        <p:strVal val="visible"/>
                                      </p:to>
                                    </p:set>
                                    <p:animEffect transition="in" filter="fade">
                                      <p:cBhvr>
                                        <p:cTn id="56" dur="1000"/>
                                        <p:tgtEl>
                                          <p:spTgt spid="105">
                                            <p:txEl>
                                              <p:pRg st="5" end="5"/>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105">
                                            <p:txEl>
                                              <p:pRg st="6" end="6"/>
                                            </p:txEl>
                                          </p:spTgt>
                                        </p:tgtEl>
                                        <p:attrNameLst>
                                          <p:attrName>style.visibility</p:attrName>
                                        </p:attrNameLst>
                                      </p:cBhvr>
                                      <p:to>
                                        <p:strVal val="visible"/>
                                      </p:to>
                                    </p:set>
                                    <p:animEffect transition="in" filter="fade">
                                      <p:cBhvr>
                                        <p:cTn id="59" dur="1000"/>
                                        <p:tgtEl>
                                          <p:spTgt spid="105">
                                            <p:txEl>
                                              <p:pRg st="6" end="6"/>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105">
                                            <p:txEl>
                                              <p:pRg st="7" end="7"/>
                                            </p:txEl>
                                          </p:spTgt>
                                        </p:tgtEl>
                                        <p:attrNameLst>
                                          <p:attrName>style.visibility</p:attrName>
                                        </p:attrNameLst>
                                      </p:cBhvr>
                                      <p:to>
                                        <p:strVal val="visible"/>
                                      </p:to>
                                    </p:set>
                                    <p:animEffect transition="in" filter="fade">
                                      <p:cBhvr>
                                        <p:cTn id="62" dur="1000"/>
                                        <p:tgtEl>
                                          <p:spTgt spid="105">
                                            <p:txEl>
                                              <p:pRg st="7" end="7"/>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105">
                                            <p:txEl>
                                              <p:pRg st="8" end="8"/>
                                            </p:txEl>
                                          </p:spTgt>
                                        </p:tgtEl>
                                        <p:attrNameLst>
                                          <p:attrName>style.visibility</p:attrName>
                                        </p:attrNameLst>
                                      </p:cBhvr>
                                      <p:to>
                                        <p:strVal val="visible"/>
                                      </p:to>
                                    </p:set>
                                    <p:animEffect transition="in" filter="fade">
                                      <p:cBhvr>
                                        <p:cTn id="65" dur="1000"/>
                                        <p:tgtEl>
                                          <p:spTgt spid="10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just">
              <a:lnSpc>
                <a:spcPct val="100000"/>
              </a:lnSpc>
              <a:spcBef>
                <a:spcPts val="1200"/>
              </a:spcBef>
              <a:spcAft>
                <a:spcPts val="0"/>
              </a:spcAft>
              <a:buClr>
                <a:schemeClr val="dk1"/>
              </a:buClr>
              <a:buSzPts val="2400"/>
              <a:buNone/>
              <a:defRPr sz="2400">
                <a:latin typeface="Readex Pro"/>
                <a:ea typeface="Readex Pro"/>
                <a:cs typeface="Readex Pro"/>
                <a:sym typeface="Readex Pro"/>
              </a:defRPr>
            </a:lvl1pPr>
            <a:lvl2pPr marL="914400" lvl="1" indent="-228600" algn="just">
              <a:lnSpc>
                <a:spcPct val="100000"/>
              </a:lnSpc>
              <a:spcBef>
                <a:spcPts val="500"/>
              </a:spcBef>
              <a:spcAft>
                <a:spcPts val="0"/>
              </a:spcAft>
              <a:buClr>
                <a:schemeClr val="dk1"/>
              </a:buClr>
              <a:buSzPts val="2400"/>
              <a:buNone/>
              <a:defRPr sz="2400">
                <a:latin typeface="Readex Pro"/>
                <a:ea typeface="Readex Pro"/>
                <a:cs typeface="Readex Pro"/>
                <a:sym typeface="Readex Pro"/>
              </a:defRPr>
            </a:lvl2pPr>
            <a:lvl3pPr marL="1371600" lvl="2" indent="-228600" algn="just">
              <a:lnSpc>
                <a:spcPct val="100000"/>
              </a:lnSpc>
              <a:spcBef>
                <a:spcPts val="500"/>
              </a:spcBef>
              <a:spcAft>
                <a:spcPts val="0"/>
              </a:spcAft>
              <a:buClr>
                <a:schemeClr val="dk1"/>
              </a:buClr>
              <a:buSzPts val="2000"/>
              <a:buNone/>
              <a:defRPr sz="2000">
                <a:latin typeface="Readex Pro"/>
                <a:ea typeface="Readex Pro"/>
                <a:cs typeface="Readex Pro"/>
                <a:sym typeface="Readex Pro"/>
              </a:defRPr>
            </a:lvl3pPr>
            <a:lvl4pPr marL="1828800" lvl="3"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4pPr>
            <a:lvl5pPr marL="2286000" lvl="4"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3" name="Google Shape;123;p8"/>
          <p:cNvPicPr preferRelativeResize="0"/>
          <p:nvPr/>
        </p:nvPicPr>
        <p:blipFill rotWithShape="1">
          <a:blip r:embed="rId2">
            <a:alphaModFix/>
          </a:blip>
          <a:srcRect/>
          <a:stretch/>
        </p:blipFill>
        <p:spPr>
          <a:xfrm>
            <a:off x="478656" y="656757"/>
            <a:ext cx="292100" cy="292100"/>
          </a:xfrm>
          <a:prstGeom prst="rect">
            <a:avLst/>
          </a:prstGeom>
          <a:noFill/>
          <a:ln>
            <a:noFill/>
          </a:ln>
        </p:spPr>
      </p:pic>
      <p:pic>
        <p:nvPicPr>
          <p:cNvPr id="124" name="Google Shape;124;p8"/>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25" name="Google Shape;125;p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26" name="Google Shape;126;p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127" name="Google Shape;127;p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28" name="Google Shape;128;p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29" name="Google Shape;129;p8"/>
          <p:cNvGrpSpPr/>
          <p:nvPr/>
        </p:nvGrpSpPr>
        <p:grpSpPr>
          <a:xfrm>
            <a:off x="817685" y="6410864"/>
            <a:ext cx="2760487" cy="403790"/>
            <a:chOff x="741485" y="6410864"/>
            <a:chExt cx="2760487" cy="403790"/>
          </a:xfrm>
        </p:grpSpPr>
        <p:sp>
          <p:nvSpPr>
            <p:cNvPr id="130" name="Google Shape;130;p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31" name="Google Shape;131;p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32" name="Google Shape;132;p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133" name="Google Shape;133;p8"/>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34" name="Google Shape;134;p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Left - Placeholder Right">
  <p:cSld name="Title Left - Placeholder Right">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sp>
        <p:nvSpPr>
          <p:cNvPr id="138" name="Google Shape;138;p9"/>
          <p:cNvSpPr txBox="1">
            <a:spLocks noGrp="1"/>
          </p:cNvSpPr>
          <p:nvPr>
            <p:ph type="ctrTitle"/>
          </p:nvPr>
        </p:nvSpPr>
        <p:spPr>
          <a:xfrm>
            <a:off x="514350" y="1125114"/>
            <a:ext cx="446722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9"/>
          <p:cNvSpPr txBox="1">
            <a:spLocks noGrp="1"/>
          </p:cNvSpPr>
          <p:nvPr>
            <p:ph type="subTitle" idx="1"/>
          </p:nvPr>
        </p:nvSpPr>
        <p:spPr>
          <a:xfrm>
            <a:off x="514348" y="2885650"/>
            <a:ext cx="4467229" cy="224454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0" name="Google Shape;140;p9"/>
          <p:cNvSpPr txBox="1">
            <a:spLocks noGrp="1"/>
          </p:cNvSpPr>
          <p:nvPr>
            <p:ph type="body" idx="2"/>
          </p:nvPr>
        </p:nvSpPr>
        <p:spPr>
          <a:xfrm>
            <a:off x="5667375" y="1125114"/>
            <a:ext cx="5381626" cy="39528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41" name="Google Shape;141;p9"/>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42" name="Google Shape;142;p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43" name="Google Shape;143;p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144" name="Google Shape;144;p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45" name="Google Shape;145;p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46" name="Google Shape;146;p9"/>
          <p:cNvGrpSpPr/>
          <p:nvPr/>
        </p:nvGrpSpPr>
        <p:grpSpPr>
          <a:xfrm>
            <a:off x="817685" y="6410864"/>
            <a:ext cx="2760487" cy="403790"/>
            <a:chOff x="741485" y="6410864"/>
            <a:chExt cx="2760487" cy="403790"/>
          </a:xfrm>
        </p:grpSpPr>
        <p:sp>
          <p:nvSpPr>
            <p:cNvPr id="147" name="Google Shape;147;p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48" name="Google Shape;148;p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49" name="Google Shape;149;p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150" name="Google Shape;150;p9"/>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51" name="Google Shape;151;p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500"/>
                                        <p:tgtEl>
                                          <p:spTgt spid="1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9">
                                            <p:txEl>
                                              <p:pRg st="0" end="0"/>
                                            </p:txEl>
                                          </p:spTgt>
                                        </p:tgtEl>
                                        <p:attrNameLst>
                                          <p:attrName>style.visibility</p:attrName>
                                        </p:attrNameLst>
                                      </p:cBhvr>
                                      <p:to>
                                        <p:strVal val="visible"/>
                                      </p:to>
                                    </p:set>
                                    <p:animEffect transition="in" filter="fade">
                                      <p:cBhvr>
                                        <p:cTn id="11" dur="500"/>
                                        <p:tgtEl>
                                          <p:spTgt spid="13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9">
                                            <p:txEl>
                                              <p:pRg st="1" end="1"/>
                                            </p:txEl>
                                          </p:spTgt>
                                        </p:tgtEl>
                                        <p:attrNameLst>
                                          <p:attrName>style.visibility</p:attrName>
                                        </p:attrNameLst>
                                      </p:cBhvr>
                                      <p:to>
                                        <p:strVal val="visible"/>
                                      </p:to>
                                    </p:set>
                                    <p:animEffect transition="in" filter="fade">
                                      <p:cBhvr>
                                        <p:cTn id="15" dur="500"/>
                                        <p:tgtEl>
                                          <p:spTgt spid="139">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39">
                                            <p:txEl>
                                              <p:pRg st="2" end="2"/>
                                            </p:txEl>
                                          </p:spTgt>
                                        </p:tgtEl>
                                        <p:attrNameLst>
                                          <p:attrName>style.visibility</p:attrName>
                                        </p:attrNameLst>
                                      </p:cBhvr>
                                      <p:to>
                                        <p:strVal val="visible"/>
                                      </p:to>
                                    </p:set>
                                    <p:animEffect transition="in" filter="fade">
                                      <p:cBhvr>
                                        <p:cTn id="19" dur="500"/>
                                        <p:tgtEl>
                                          <p:spTgt spid="139">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39">
                                            <p:txEl>
                                              <p:pRg st="3" end="3"/>
                                            </p:txEl>
                                          </p:spTgt>
                                        </p:tgtEl>
                                        <p:attrNameLst>
                                          <p:attrName>style.visibility</p:attrName>
                                        </p:attrNameLst>
                                      </p:cBhvr>
                                      <p:to>
                                        <p:strVal val="visible"/>
                                      </p:to>
                                    </p:set>
                                    <p:animEffect transition="in" filter="fade">
                                      <p:cBhvr>
                                        <p:cTn id="23" dur="500"/>
                                        <p:tgtEl>
                                          <p:spTgt spid="139">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39">
                                            <p:txEl>
                                              <p:pRg st="4" end="4"/>
                                            </p:txEl>
                                          </p:spTgt>
                                        </p:tgtEl>
                                        <p:attrNameLst>
                                          <p:attrName>style.visibility</p:attrName>
                                        </p:attrNameLst>
                                      </p:cBhvr>
                                      <p:to>
                                        <p:strVal val="visible"/>
                                      </p:to>
                                    </p:set>
                                    <p:animEffect transition="in" filter="fade">
                                      <p:cBhvr>
                                        <p:cTn id="27" dur="500"/>
                                        <p:tgtEl>
                                          <p:spTgt spid="139">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39">
                                            <p:txEl>
                                              <p:pRg st="5" end="5"/>
                                            </p:txEl>
                                          </p:spTgt>
                                        </p:tgtEl>
                                        <p:attrNameLst>
                                          <p:attrName>style.visibility</p:attrName>
                                        </p:attrNameLst>
                                      </p:cBhvr>
                                      <p:to>
                                        <p:strVal val="visible"/>
                                      </p:to>
                                    </p:set>
                                    <p:animEffect transition="in" filter="fade">
                                      <p:cBhvr>
                                        <p:cTn id="31" dur="500"/>
                                        <p:tgtEl>
                                          <p:spTgt spid="139">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39">
                                            <p:txEl>
                                              <p:pRg st="6" end="6"/>
                                            </p:txEl>
                                          </p:spTgt>
                                        </p:tgtEl>
                                        <p:attrNameLst>
                                          <p:attrName>style.visibility</p:attrName>
                                        </p:attrNameLst>
                                      </p:cBhvr>
                                      <p:to>
                                        <p:strVal val="visible"/>
                                      </p:to>
                                    </p:set>
                                    <p:animEffect transition="in" filter="fade">
                                      <p:cBhvr>
                                        <p:cTn id="35" dur="500"/>
                                        <p:tgtEl>
                                          <p:spTgt spid="139">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39">
                                            <p:txEl>
                                              <p:pRg st="7" end="7"/>
                                            </p:txEl>
                                          </p:spTgt>
                                        </p:tgtEl>
                                        <p:attrNameLst>
                                          <p:attrName>style.visibility</p:attrName>
                                        </p:attrNameLst>
                                      </p:cBhvr>
                                      <p:to>
                                        <p:strVal val="visible"/>
                                      </p:to>
                                    </p:set>
                                    <p:animEffect transition="in" filter="fade">
                                      <p:cBhvr>
                                        <p:cTn id="39" dur="500"/>
                                        <p:tgtEl>
                                          <p:spTgt spid="139">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39">
                                            <p:txEl>
                                              <p:pRg st="8" end="8"/>
                                            </p:txEl>
                                          </p:spTgt>
                                        </p:tgtEl>
                                        <p:attrNameLst>
                                          <p:attrName>style.visibility</p:attrName>
                                        </p:attrNameLst>
                                      </p:cBhvr>
                                      <p:to>
                                        <p:strVal val="visible"/>
                                      </p:to>
                                    </p:set>
                                    <p:animEffect transition="in" filter="fade">
                                      <p:cBhvr>
                                        <p:cTn id="43" dur="500"/>
                                        <p:tgtEl>
                                          <p:spTgt spid="1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laceholder Left - Title Right ">
  <p:cSld name="Placeholder Left - Title Right ">
    <p:spTree>
      <p:nvGrpSpPr>
        <p:cNvPr id="1" name="Shape 153"/>
        <p:cNvGrpSpPr/>
        <p:nvPr/>
      </p:nvGrpSpPr>
      <p:grpSpPr>
        <a:xfrm>
          <a:off x="0" y="0"/>
          <a:ext cx="0" cy="0"/>
          <a:chOff x="0" y="0"/>
          <a:chExt cx="0" cy="0"/>
        </a:xfrm>
      </p:grpSpPr>
      <p:pic>
        <p:nvPicPr>
          <p:cNvPr id="154" name="Google Shape;154;p10"/>
          <p:cNvPicPr preferRelativeResize="0"/>
          <p:nvPr/>
        </p:nvPicPr>
        <p:blipFill rotWithShape="1">
          <a:blip r:embed="rId2">
            <a:alphaModFix/>
          </a:blip>
          <a:srcRect/>
          <a:stretch/>
        </p:blipFill>
        <p:spPr>
          <a:xfrm>
            <a:off x="4369124" y="1727802"/>
            <a:ext cx="3453753" cy="3402396"/>
          </a:xfrm>
          <a:prstGeom prst="rect">
            <a:avLst/>
          </a:prstGeom>
          <a:noFill/>
          <a:ln>
            <a:noFill/>
          </a:ln>
        </p:spPr>
      </p:pic>
      <p:sp>
        <p:nvSpPr>
          <p:cNvPr id="155" name="Google Shape;155;p10"/>
          <p:cNvSpPr txBox="1">
            <a:spLocks noGrp="1"/>
          </p:cNvSpPr>
          <p:nvPr>
            <p:ph type="ctrTitle"/>
          </p:nvPr>
        </p:nvSpPr>
        <p:spPr>
          <a:xfrm>
            <a:off x="6737350" y="1332588"/>
            <a:ext cx="446722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10"/>
          <p:cNvSpPr txBox="1">
            <a:spLocks noGrp="1"/>
          </p:cNvSpPr>
          <p:nvPr>
            <p:ph type="subTitle" idx="1"/>
          </p:nvPr>
        </p:nvSpPr>
        <p:spPr>
          <a:xfrm>
            <a:off x="6737348" y="3093124"/>
            <a:ext cx="4467229" cy="2192339"/>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7" name="Google Shape;157;p10"/>
          <p:cNvSpPr txBox="1">
            <a:spLocks noGrp="1"/>
          </p:cNvSpPr>
          <p:nvPr>
            <p:ph type="body" idx="2"/>
          </p:nvPr>
        </p:nvSpPr>
        <p:spPr>
          <a:xfrm>
            <a:off x="624706" y="1332588"/>
            <a:ext cx="5381626" cy="39528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8" name="Google Shape;158;p10"/>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59" name="Google Shape;159;p1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60" name="Google Shape;160;p1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161" name="Google Shape;161;p1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62" name="Google Shape;162;p1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63" name="Google Shape;163;p10"/>
          <p:cNvGrpSpPr/>
          <p:nvPr/>
        </p:nvGrpSpPr>
        <p:grpSpPr>
          <a:xfrm>
            <a:off x="817685" y="6410864"/>
            <a:ext cx="2760487" cy="403790"/>
            <a:chOff x="741485" y="6410864"/>
            <a:chExt cx="2760487" cy="403790"/>
          </a:xfrm>
        </p:grpSpPr>
        <p:sp>
          <p:nvSpPr>
            <p:cNvPr id="164" name="Google Shape;164;p1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65" name="Google Shape;165;p1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66" name="Google Shape;166;p1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167" name="Google Shape;167;p10"/>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68" name="Google Shape;168;p1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animEffect transition="in" filter="fade">
                                      <p:cBhvr>
                                        <p:cTn id="11" dur="500"/>
                                        <p:tgtEl>
                                          <p:spTgt spid="156">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6">
                                            <p:txEl>
                                              <p:pRg st="1" end="1"/>
                                            </p:txEl>
                                          </p:spTgt>
                                        </p:tgtEl>
                                        <p:attrNameLst>
                                          <p:attrName>style.visibility</p:attrName>
                                        </p:attrNameLst>
                                      </p:cBhvr>
                                      <p:to>
                                        <p:strVal val="visible"/>
                                      </p:to>
                                    </p:set>
                                    <p:animEffect transition="in" filter="fade">
                                      <p:cBhvr>
                                        <p:cTn id="15" dur="500"/>
                                        <p:tgtEl>
                                          <p:spTgt spid="156">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56">
                                            <p:txEl>
                                              <p:pRg st="2" end="2"/>
                                            </p:txEl>
                                          </p:spTgt>
                                        </p:tgtEl>
                                        <p:attrNameLst>
                                          <p:attrName>style.visibility</p:attrName>
                                        </p:attrNameLst>
                                      </p:cBhvr>
                                      <p:to>
                                        <p:strVal val="visible"/>
                                      </p:to>
                                    </p:set>
                                    <p:animEffect transition="in" filter="fade">
                                      <p:cBhvr>
                                        <p:cTn id="19" dur="500"/>
                                        <p:tgtEl>
                                          <p:spTgt spid="156">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56">
                                            <p:txEl>
                                              <p:pRg st="3" end="3"/>
                                            </p:txEl>
                                          </p:spTgt>
                                        </p:tgtEl>
                                        <p:attrNameLst>
                                          <p:attrName>style.visibility</p:attrName>
                                        </p:attrNameLst>
                                      </p:cBhvr>
                                      <p:to>
                                        <p:strVal val="visible"/>
                                      </p:to>
                                    </p:set>
                                    <p:animEffect transition="in" filter="fade">
                                      <p:cBhvr>
                                        <p:cTn id="23" dur="500"/>
                                        <p:tgtEl>
                                          <p:spTgt spid="156">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6">
                                            <p:txEl>
                                              <p:pRg st="4" end="4"/>
                                            </p:txEl>
                                          </p:spTgt>
                                        </p:tgtEl>
                                        <p:attrNameLst>
                                          <p:attrName>style.visibility</p:attrName>
                                        </p:attrNameLst>
                                      </p:cBhvr>
                                      <p:to>
                                        <p:strVal val="visible"/>
                                      </p:to>
                                    </p:set>
                                    <p:animEffect transition="in" filter="fade">
                                      <p:cBhvr>
                                        <p:cTn id="27" dur="500"/>
                                        <p:tgtEl>
                                          <p:spTgt spid="156">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56">
                                            <p:txEl>
                                              <p:pRg st="5" end="5"/>
                                            </p:txEl>
                                          </p:spTgt>
                                        </p:tgtEl>
                                        <p:attrNameLst>
                                          <p:attrName>style.visibility</p:attrName>
                                        </p:attrNameLst>
                                      </p:cBhvr>
                                      <p:to>
                                        <p:strVal val="visible"/>
                                      </p:to>
                                    </p:set>
                                    <p:animEffect transition="in" filter="fade">
                                      <p:cBhvr>
                                        <p:cTn id="31" dur="500"/>
                                        <p:tgtEl>
                                          <p:spTgt spid="156">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56">
                                            <p:txEl>
                                              <p:pRg st="6" end="6"/>
                                            </p:txEl>
                                          </p:spTgt>
                                        </p:tgtEl>
                                        <p:attrNameLst>
                                          <p:attrName>style.visibility</p:attrName>
                                        </p:attrNameLst>
                                      </p:cBhvr>
                                      <p:to>
                                        <p:strVal val="visible"/>
                                      </p:to>
                                    </p:set>
                                    <p:animEffect transition="in" filter="fade">
                                      <p:cBhvr>
                                        <p:cTn id="35" dur="500"/>
                                        <p:tgtEl>
                                          <p:spTgt spid="156">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56">
                                            <p:txEl>
                                              <p:pRg st="7" end="7"/>
                                            </p:txEl>
                                          </p:spTgt>
                                        </p:tgtEl>
                                        <p:attrNameLst>
                                          <p:attrName>style.visibility</p:attrName>
                                        </p:attrNameLst>
                                      </p:cBhvr>
                                      <p:to>
                                        <p:strVal val="visible"/>
                                      </p:to>
                                    </p:set>
                                    <p:animEffect transition="in" filter="fade">
                                      <p:cBhvr>
                                        <p:cTn id="39" dur="500"/>
                                        <p:tgtEl>
                                          <p:spTgt spid="156">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56">
                                            <p:txEl>
                                              <p:pRg st="8" end="8"/>
                                            </p:txEl>
                                          </p:spTgt>
                                        </p:tgtEl>
                                        <p:attrNameLst>
                                          <p:attrName>style.visibility</p:attrName>
                                        </p:attrNameLst>
                                      </p:cBhvr>
                                      <p:to>
                                        <p:strVal val="visible"/>
                                      </p:to>
                                    </p:set>
                                    <p:animEffect transition="in" filter="fade">
                                      <p:cBhvr>
                                        <p:cTn id="43" dur="500"/>
                                        <p:tgtEl>
                                          <p:spTgt spid="1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Left">
  <p:cSld name="Picture Left">
    <p:spTree>
      <p:nvGrpSpPr>
        <p:cNvPr id="1" name="Shape 170"/>
        <p:cNvGrpSpPr/>
        <p:nvPr/>
      </p:nvGrpSpPr>
      <p:grpSpPr>
        <a:xfrm>
          <a:off x="0" y="0"/>
          <a:ext cx="0" cy="0"/>
          <a:chOff x="0" y="0"/>
          <a:chExt cx="0" cy="0"/>
        </a:xfrm>
      </p:grpSpPr>
      <p:sp>
        <p:nvSpPr>
          <p:cNvPr id="171" name="Google Shape;171;p11"/>
          <p:cNvSpPr>
            <a:spLocks noGrp="1"/>
          </p:cNvSpPr>
          <p:nvPr>
            <p:ph type="pic" idx="2"/>
          </p:nvPr>
        </p:nvSpPr>
        <p:spPr>
          <a:xfrm>
            <a:off x="0" y="0"/>
            <a:ext cx="4787900" cy="6858000"/>
          </a:xfrm>
          <a:prstGeom prst="rect">
            <a:avLst/>
          </a:prstGeom>
          <a:noFill/>
          <a:ln>
            <a:noFill/>
          </a:ln>
        </p:spPr>
      </p:sp>
      <p:sp>
        <p:nvSpPr>
          <p:cNvPr id="172" name="Google Shape;172;p11"/>
          <p:cNvSpPr txBox="1">
            <a:spLocks noGrp="1"/>
          </p:cNvSpPr>
          <p:nvPr>
            <p:ph type="ctrTitle"/>
          </p:nvPr>
        </p:nvSpPr>
        <p:spPr>
          <a:xfrm>
            <a:off x="5626100" y="1109534"/>
            <a:ext cx="595947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11"/>
          <p:cNvSpPr txBox="1">
            <a:spLocks noGrp="1"/>
          </p:cNvSpPr>
          <p:nvPr>
            <p:ph type="subTitle" idx="1"/>
          </p:nvPr>
        </p:nvSpPr>
        <p:spPr>
          <a:xfrm>
            <a:off x="5626098" y="2870070"/>
            <a:ext cx="5959480" cy="2502381"/>
          </a:xfrm>
          <a:prstGeom prst="rect">
            <a:avLst/>
          </a:prstGeom>
          <a:noFill/>
          <a:ln>
            <a:noFill/>
          </a:ln>
        </p:spPr>
        <p:txBody>
          <a:bodyPr spcFirstLastPara="1" wrap="square" lIns="91425" tIns="45700" rIns="91425" bIns="45700" anchor="t" anchorCtr="0">
            <a:noAutofit/>
          </a:bodyPr>
          <a:lstStyle>
            <a:lvl1pPr lvl="0" algn="just">
              <a:lnSpc>
                <a:spcPct val="10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4" name="Google Shape;174;p11"/>
          <p:cNvSpPr/>
          <p:nvPr/>
        </p:nvSpPr>
        <p:spPr>
          <a:xfrm>
            <a:off x="4787899" y="0"/>
            <a:ext cx="116779" cy="6858000"/>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175" name="Google Shape;175;p11"/>
          <p:cNvPicPr preferRelativeResize="0"/>
          <p:nvPr/>
        </p:nvPicPr>
        <p:blipFill rotWithShape="1">
          <a:blip r:embed="rId2">
            <a:alphaModFix/>
          </a:blip>
          <a:srcRect/>
          <a:stretch/>
        </p:blipFill>
        <p:spPr>
          <a:xfrm>
            <a:off x="4785106" y="241300"/>
            <a:ext cx="292100" cy="292100"/>
          </a:xfrm>
          <a:prstGeom prst="rect">
            <a:avLst/>
          </a:prstGeom>
          <a:noFill/>
          <a:ln>
            <a:noFill/>
          </a:ln>
        </p:spPr>
      </p:pic>
      <p:pic>
        <p:nvPicPr>
          <p:cNvPr id="176" name="Google Shape;176;p11"/>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77" name="Google Shape;177;p11"/>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78" name="Google Shape;178;p11"/>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179" name="Google Shape;179;p11"/>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80" name="Google Shape;180;p11"/>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81" name="Google Shape;181;p11"/>
          <p:cNvGrpSpPr/>
          <p:nvPr/>
        </p:nvGrpSpPr>
        <p:grpSpPr>
          <a:xfrm>
            <a:off x="817685" y="6410864"/>
            <a:ext cx="2760487" cy="403790"/>
            <a:chOff x="741485" y="6410864"/>
            <a:chExt cx="2760487" cy="403790"/>
          </a:xfrm>
        </p:grpSpPr>
        <p:sp>
          <p:nvSpPr>
            <p:cNvPr id="182" name="Google Shape;182;p11"/>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83" name="Google Shape;183;p11"/>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84" name="Google Shape;184;p11"/>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185" name="Google Shape;185;p11"/>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86" name="Google Shape;186;p11"/>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1"/>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3">
                                            <p:txEl>
                                              <p:pRg st="0" end="0"/>
                                            </p:txEl>
                                          </p:spTgt>
                                        </p:tgtEl>
                                        <p:attrNameLst>
                                          <p:attrName>style.visibility</p:attrName>
                                        </p:attrNameLst>
                                      </p:cBhvr>
                                      <p:to>
                                        <p:strVal val="visible"/>
                                      </p:to>
                                    </p:set>
                                    <p:animEffect transition="in" filter="fade">
                                      <p:cBhvr>
                                        <p:cTn id="11" dur="500"/>
                                        <p:tgtEl>
                                          <p:spTgt spid="173">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3">
                                            <p:txEl>
                                              <p:pRg st="1" end="1"/>
                                            </p:txEl>
                                          </p:spTgt>
                                        </p:tgtEl>
                                        <p:attrNameLst>
                                          <p:attrName>style.visibility</p:attrName>
                                        </p:attrNameLst>
                                      </p:cBhvr>
                                      <p:to>
                                        <p:strVal val="visible"/>
                                      </p:to>
                                    </p:set>
                                    <p:animEffect transition="in" filter="fade">
                                      <p:cBhvr>
                                        <p:cTn id="15" dur="500"/>
                                        <p:tgtEl>
                                          <p:spTgt spid="173">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73">
                                            <p:txEl>
                                              <p:pRg st="2" end="2"/>
                                            </p:txEl>
                                          </p:spTgt>
                                        </p:tgtEl>
                                        <p:attrNameLst>
                                          <p:attrName>style.visibility</p:attrName>
                                        </p:attrNameLst>
                                      </p:cBhvr>
                                      <p:to>
                                        <p:strVal val="visible"/>
                                      </p:to>
                                    </p:set>
                                    <p:animEffect transition="in" filter="fade">
                                      <p:cBhvr>
                                        <p:cTn id="19" dur="500"/>
                                        <p:tgtEl>
                                          <p:spTgt spid="173">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73">
                                            <p:txEl>
                                              <p:pRg st="3" end="3"/>
                                            </p:txEl>
                                          </p:spTgt>
                                        </p:tgtEl>
                                        <p:attrNameLst>
                                          <p:attrName>style.visibility</p:attrName>
                                        </p:attrNameLst>
                                      </p:cBhvr>
                                      <p:to>
                                        <p:strVal val="visible"/>
                                      </p:to>
                                    </p:set>
                                    <p:animEffect transition="in" filter="fade">
                                      <p:cBhvr>
                                        <p:cTn id="23" dur="500"/>
                                        <p:tgtEl>
                                          <p:spTgt spid="173">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73">
                                            <p:txEl>
                                              <p:pRg st="4" end="4"/>
                                            </p:txEl>
                                          </p:spTgt>
                                        </p:tgtEl>
                                        <p:attrNameLst>
                                          <p:attrName>style.visibility</p:attrName>
                                        </p:attrNameLst>
                                      </p:cBhvr>
                                      <p:to>
                                        <p:strVal val="visible"/>
                                      </p:to>
                                    </p:set>
                                    <p:animEffect transition="in" filter="fade">
                                      <p:cBhvr>
                                        <p:cTn id="27" dur="500"/>
                                        <p:tgtEl>
                                          <p:spTgt spid="173">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73">
                                            <p:txEl>
                                              <p:pRg st="5" end="5"/>
                                            </p:txEl>
                                          </p:spTgt>
                                        </p:tgtEl>
                                        <p:attrNameLst>
                                          <p:attrName>style.visibility</p:attrName>
                                        </p:attrNameLst>
                                      </p:cBhvr>
                                      <p:to>
                                        <p:strVal val="visible"/>
                                      </p:to>
                                    </p:set>
                                    <p:animEffect transition="in" filter="fade">
                                      <p:cBhvr>
                                        <p:cTn id="31" dur="500"/>
                                        <p:tgtEl>
                                          <p:spTgt spid="173">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73">
                                            <p:txEl>
                                              <p:pRg st="6" end="6"/>
                                            </p:txEl>
                                          </p:spTgt>
                                        </p:tgtEl>
                                        <p:attrNameLst>
                                          <p:attrName>style.visibility</p:attrName>
                                        </p:attrNameLst>
                                      </p:cBhvr>
                                      <p:to>
                                        <p:strVal val="visible"/>
                                      </p:to>
                                    </p:set>
                                    <p:animEffect transition="in" filter="fade">
                                      <p:cBhvr>
                                        <p:cTn id="35" dur="500"/>
                                        <p:tgtEl>
                                          <p:spTgt spid="173">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73">
                                            <p:txEl>
                                              <p:pRg st="7" end="7"/>
                                            </p:txEl>
                                          </p:spTgt>
                                        </p:tgtEl>
                                        <p:attrNameLst>
                                          <p:attrName>style.visibility</p:attrName>
                                        </p:attrNameLst>
                                      </p:cBhvr>
                                      <p:to>
                                        <p:strVal val="visible"/>
                                      </p:to>
                                    </p:set>
                                    <p:animEffect transition="in" filter="fade">
                                      <p:cBhvr>
                                        <p:cTn id="39" dur="500"/>
                                        <p:tgtEl>
                                          <p:spTgt spid="173">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73">
                                            <p:txEl>
                                              <p:pRg st="8" end="8"/>
                                            </p:txEl>
                                          </p:spTgt>
                                        </p:tgtEl>
                                        <p:attrNameLst>
                                          <p:attrName>style.visibility</p:attrName>
                                        </p:attrNameLst>
                                      </p:cBhvr>
                                      <p:to>
                                        <p:strVal val="visible"/>
                                      </p:to>
                                    </p:set>
                                    <p:animEffect transition="in" filter="fade">
                                      <p:cBhvr>
                                        <p:cTn id="43" dur="500"/>
                                        <p:tgtEl>
                                          <p:spTgt spid="17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Picture Left">
  <p:cSld name="1_Picture Left">
    <p:spTree>
      <p:nvGrpSpPr>
        <p:cNvPr id="1" name="Shape 188"/>
        <p:cNvGrpSpPr/>
        <p:nvPr/>
      </p:nvGrpSpPr>
      <p:grpSpPr>
        <a:xfrm>
          <a:off x="0" y="0"/>
          <a:ext cx="0" cy="0"/>
          <a:chOff x="0" y="0"/>
          <a:chExt cx="0" cy="0"/>
        </a:xfrm>
      </p:grpSpPr>
      <p:pic>
        <p:nvPicPr>
          <p:cNvPr id="189" name="Google Shape;189;p12"/>
          <p:cNvPicPr preferRelativeResize="0"/>
          <p:nvPr/>
        </p:nvPicPr>
        <p:blipFill rotWithShape="1">
          <a:blip r:embed="rId2">
            <a:alphaModFix/>
          </a:blip>
          <a:srcRect/>
          <a:stretch/>
        </p:blipFill>
        <p:spPr>
          <a:xfrm rot="2700000">
            <a:off x="781863" y="1310095"/>
            <a:ext cx="3916148" cy="3910374"/>
          </a:xfrm>
          <a:prstGeom prst="rect">
            <a:avLst/>
          </a:prstGeom>
          <a:noFill/>
          <a:ln>
            <a:noFill/>
          </a:ln>
        </p:spPr>
      </p:pic>
      <p:sp>
        <p:nvSpPr>
          <p:cNvPr id="190" name="Google Shape;190;p12"/>
          <p:cNvSpPr txBox="1">
            <a:spLocks noGrp="1"/>
          </p:cNvSpPr>
          <p:nvPr>
            <p:ph type="ctrTitle"/>
          </p:nvPr>
        </p:nvSpPr>
        <p:spPr>
          <a:xfrm>
            <a:off x="5575300" y="769938"/>
            <a:ext cx="595947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12"/>
          <p:cNvSpPr txBox="1">
            <a:spLocks noGrp="1"/>
          </p:cNvSpPr>
          <p:nvPr>
            <p:ph type="subTitle" idx="1"/>
          </p:nvPr>
        </p:nvSpPr>
        <p:spPr>
          <a:xfrm>
            <a:off x="5575298" y="2530474"/>
            <a:ext cx="5959480" cy="3550350"/>
          </a:xfrm>
          <a:prstGeom prst="rect">
            <a:avLst/>
          </a:prstGeom>
          <a:noFill/>
          <a:ln>
            <a:noFill/>
          </a:ln>
        </p:spPr>
        <p:txBody>
          <a:bodyPr spcFirstLastPara="1" wrap="square" lIns="91425" tIns="45700" rIns="91425" bIns="45700" anchor="t" anchorCtr="0">
            <a:noAutofit/>
          </a:bodyPr>
          <a:lstStyle>
            <a:lvl1pPr lvl="0" algn="just">
              <a:lnSpc>
                <a:spcPct val="10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2" name="Google Shape;192;p1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93" name="Google Shape;193;p12"/>
          <p:cNvSpPr>
            <a:spLocks noGrp="1"/>
          </p:cNvSpPr>
          <p:nvPr>
            <p:ph type="pic" idx="2"/>
          </p:nvPr>
        </p:nvSpPr>
        <p:spPr>
          <a:xfrm>
            <a:off x="438976" y="127568"/>
            <a:ext cx="2971800" cy="2971800"/>
          </a:xfrm>
          <a:prstGeom prst="diamond">
            <a:avLst/>
          </a:prstGeom>
          <a:noFill/>
          <a:ln>
            <a:noFill/>
          </a:ln>
        </p:spPr>
      </p:sp>
      <p:sp>
        <p:nvSpPr>
          <p:cNvPr id="194" name="Google Shape;194;p12"/>
          <p:cNvSpPr>
            <a:spLocks noGrp="1"/>
          </p:cNvSpPr>
          <p:nvPr>
            <p:ph type="pic" idx="3"/>
          </p:nvPr>
        </p:nvSpPr>
        <p:spPr>
          <a:xfrm>
            <a:off x="438976" y="3365543"/>
            <a:ext cx="2971800" cy="2971800"/>
          </a:xfrm>
          <a:prstGeom prst="diamond">
            <a:avLst/>
          </a:prstGeom>
          <a:noFill/>
          <a:ln>
            <a:noFill/>
          </a:ln>
        </p:spPr>
      </p:sp>
      <p:sp>
        <p:nvSpPr>
          <p:cNvPr id="195" name="Google Shape;195;p12"/>
          <p:cNvSpPr>
            <a:spLocks noGrp="1"/>
          </p:cNvSpPr>
          <p:nvPr>
            <p:ph type="pic" idx="4"/>
          </p:nvPr>
        </p:nvSpPr>
        <p:spPr>
          <a:xfrm>
            <a:off x="2032811" y="1752381"/>
            <a:ext cx="2971800" cy="2971800"/>
          </a:xfrm>
          <a:prstGeom prst="diamond">
            <a:avLst/>
          </a:prstGeom>
          <a:noFill/>
          <a:ln>
            <a:noFill/>
          </a:ln>
        </p:spPr>
      </p:sp>
      <p:pic>
        <p:nvPicPr>
          <p:cNvPr id="196" name="Google Shape;196;p12"/>
          <p:cNvPicPr preferRelativeResize="0"/>
          <p:nvPr/>
        </p:nvPicPr>
        <p:blipFill rotWithShape="1">
          <a:blip r:embed="rId4">
            <a:alphaModFix/>
          </a:blip>
          <a:srcRect/>
          <a:stretch/>
        </p:blipFill>
        <p:spPr>
          <a:xfrm>
            <a:off x="102776" y="2393663"/>
            <a:ext cx="1716960" cy="1717475"/>
          </a:xfrm>
          <a:prstGeom prst="rect">
            <a:avLst/>
          </a:prstGeom>
          <a:noFill/>
          <a:ln>
            <a:noFill/>
          </a:ln>
        </p:spPr>
      </p:pic>
      <p:sp>
        <p:nvSpPr>
          <p:cNvPr id="197" name="Google Shape;197;p1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98" name="Google Shape;198;p1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199" name="Google Shape;199;p12"/>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00" name="Google Shape;200;p12"/>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01" name="Google Shape;201;p12"/>
          <p:cNvGrpSpPr/>
          <p:nvPr/>
        </p:nvGrpSpPr>
        <p:grpSpPr>
          <a:xfrm>
            <a:off x="817685" y="6410864"/>
            <a:ext cx="2760487" cy="403790"/>
            <a:chOff x="741485" y="6410864"/>
            <a:chExt cx="2760487" cy="403790"/>
          </a:xfrm>
        </p:grpSpPr>
        <p:sp>
          <p:nvSpPr>
            <p:cNvPr id="202" name="Google Shape;202;p1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03" name="Google Shape;203;p1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04" name="Google Shape;204;p12"/>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05" name="Google Shape;205;p12"/>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06" name="Google Shape;206;p1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1">
                                            <p:txEl>
                                              <p:pRg st="0" end="0"/>
                                            </p:txEl>
                                          </p:spTgt>
                                        </p:tgtEl>
                                        <p:attrNameLst>
                                          <p:attrName>style.visibility</p:attrName>
                                        </p:attrNameLst>
                                      </p:cBhvr>
                                      <p:to>
                                        <p:strVal val="visible"/>
                                      </p:to>
                                    </p:set>
                                    <p:animEffect transition="in" filter="fade">
                                      <p:cBhvr>
                                        <p:cTn id="11" dur="500"/>
                                        <p:tgtEl>
                                          <p:spTgt spid="191">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1">
                                            <p:txEl>
                                              <p:pRg st="1" end="1"/>
                                            </p:txEl>
                                          </p:spTgt>
                                        </p:tgtEl>
                                        <p:attrNameLst>
                                          <p:attrName>style.visibility</p:attrName>
                                        </p:attrNameLst>
                                      </p:cBhvr>
                                      <p:to>
                                        <p:strVal val="visible"/>
                                      </p:to>
                                    </p:set>
                                    <p:animEffect transition="in" filter="fade">
                                      <p:cBhvr>
                                        <p:cTn id="15" dur="500"/>
                                        <p:tgtEl>
                                          <p:spTgt spid="191">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91">
                                            <p:txEl>
                                              <p:pRg st="2" end="2"/>
                                            </p:txEl>
                                          </p:spTgt>
                                        </p:tgtEl>
                                        <p:attrNameLst>
                                          <p:attrName>style.visibility</p:attrName>
                                        </p:attrNameLst>
                                      </p:cBhvr>
                                      <p:to>
                                        <p:strVal val="visible"/>
                                      </p:to>
                                    </p:set>
                                    <p:animEffect transition="in" filter="fade">
                                      <p:cBhvr>
                                        <p:cTn id="19" dur="500"/>
                                        <p:tgtEl>
                                          <p:spTgt spid="191">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91">
                                            <p:txEl>
                                              <p:pRg st="3" end="3"/>
                                            </p:txEl>
                                          </p:spTgt>
                                        </p:tgtEl>
                                        <p:attrNameLst>
                                          <p:attrName>style.visibility</p:attrName>
                                        </p:attrNameLst>
                                      </p:cBhvr>
                                      <p:to>
                                        <p:strVal val="visible"/>
                                      </p:to>
                                    </p:set>
                                    <p:animEffect transition="in" filter="fade">
                                      <p:cBhvr>
                                        <p:cTn id="23" dur="500"/>
                                        <p:tgtEl>
                                          <p:spTgt spid="191">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91">
                                            <p:txEl>
                                              <p:pRg st="4" end="4"/>
                                            </p:txEl>
                                          </p:spTgt>
                                        </p:tgtEl>
                                        <p:attrNameLst>
                                          <p:attrName>style.visibility</p:attrName>
                                        </p:attrNameLst>
                                      </p:cBhvr>
                                      <p:to>
                                        <p:strVal val="visible"/>
                                      </p:to>
                                    </p:set>
                                    <p:animEffect transition="in" filter="fade">
                                      <p:cBhvr>
                                        <p:cTn id="27" dur="500"/>
                                        <p:tgtEl>
                                          <p:spTgt spid="191">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91">
                                            <p:txEl>
                                              <p:pRg st="5" end="5"/>
                                            </p:txEl>
                                          </p:spTgt>
                                        </p:tgtEl>
                                        <p:attrNameLst>
                                          <p:attrName>style.visibility</p:attrName>
                                        </p:attrNameLst>
                                      </p:cBhvr>
                                      <p:to>
                                        <p:strVal val="visible"/>
                                      </p:to>
                                    </p:set>
                                    <p:animEffect transition="in" filter="fade">
                                      <p:cBhvr>
                                        <p:cTn id="31" dur="500"/>
                                        <p:tgtEl>
                                          <p:spTgt spid="191">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91">
                                            <p:txEl>
                                              <p:pRg st="6" end="6"/>
                                            </p:txEl>
                                          </p:spTgt>
                                        </p:tgtEl>
                                        <p:attrNameLst>
                                          <p:attrName>style.visibility</p:attrName>
                                        </p:attrNameLst>
                                      </p:cBhvr>
                                      <p:to>
                                        <p:strVal val="visible"/>
                                      </p:to>
                                    </p:set>
                                    <p:animEffect transition="in" filter="fade">
                                      <p:cBhvr>
                                        <p:cTn id="35" dur="500"/>
                                        <p:tgtEl>
                                          <p:spTgt spid="191">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91">
                                            <p:txEl>
                                              <p:pRg st="7" end="7"/>
                                            </p:txEl>
                                          </p:spTgt>
                                        </p:tgtEl>
                                        <p:attrNameLst>
                                          <p:attrName>style.visibility</p:attrName>
                                        </p:attrNameLst>
                                      </p:cBhvr>
                                      <p:to>
                                        <p:strVal val="visible"/>
                                      </p:to>
                                    </p:set>
                                    <p:animEffect transition="in" filter="fade">
                                      <p:cBhvr>
                                        <p:cTn id="39" dur="500"/>
                                        <p:tgtEl>
                                          <p:spTgt spid="191">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91">
                                            <p:txEl>
                                              <p:pRg st="8" end="8"/>
                                            </p:txEl>
                                          </p:spTgt>
                                        </p:tgtEl>
                                        <p:attrNameLst>
                                          <p:attrName>style.visibility</p:attrName>
                                        </p:attrNameLst>
                                      </p:cBhvr>
                                      <p:to>
                                        <p:strVal val="visible"/>
                                      </p:to>
                                    </p:set>
                                    <p:animEffect transition="in" filter="fade">
                                      <p:cBhvr>
                                        <p:cTn id="43" dur="500"/>
                                        <p:tgtEl>
                                          <p:spTgt spid="1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ue Left">
  <p:cSld name="Blue Left">
    <p:spTree>
      <p:nvGrpSpPr>
        <p:cNvPr id="1" name="Shape 208"/>
        <p:cNvGrpSpPr/>
        <p:nvPr/>
      </p:nvGrpSpPr>
      <p:grpSpPr>
        <a:xfrm>
          <a:off x="0" y="0"/>
          <a:ext cx="0" cy="0"/>
          <a:chOff x="0" y="0"/>
          <a:chExt cx="0" cy="0"/>
        </a:xfrm>
      </p:grpSpPr>
      <p:grpSp>
        <p:nvGrpSpPr>
          <p:cNvPr id="209" name="Google Shape;209;p13"/>
          <p:cNvGrpSpPr/>
          <p:nvPr/>
        </p:nvGrpSpPr>
        <p:grpSpPr>
          <a:xfrm>
            <a:off x="170156" y="134614"/>
            <a:ext cx="3918888" cy="6192390"/>
            <a:chOff x="125766" y="134614"/>
            <a:chExt cx="3918888" cy="6192390"/>
          </a:xfrm>
        </p:grpSpPr>
        <p:sp>
          <p:nvSpPr>
            <p:cNvPr id="210" name="Google Shape;210;p13"/>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11" name="Google Shape;211;p13"/>
            <p:cNvSpPr/>
            <p:nvPr/>
          </p:nvSpPr>
          <p:spPr>
            <a:xfrm>
              <a:off x="125766" y="134614"/>
              <a:ext cx="3918888" cy="5488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12" name="Google Shape;212;p13"/>
          <p:cNvSpPr txBox="1">
            <a:spLocks noGrp="1"/>
          </p:cNvSpPr>
          <p:nvPr>
            <p:ph type="subTitle" idx="1"/>
          </p:nvPr>
        </p:nvSpPr>
        <p:spPr>
          <a:xfrm>
            <a:off x="423332" y="2190750"/>
            <a:ext cx="3335867" cy="37615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3" name="Google Shape;213;p13"/>
          <p:cNvSpPr txBox="1">
            <a:spLocks noGrp="1"/>
          </p:cNvSpPr>
          <p:nvPr>
            <p:ph type="ctrTitle"/>
          </p:nvPr>
        </p:nvSpPr>
        <p:spPr>
          <a:xfrm>
            <a:off x="423333" y="481807"/>
            <a:ext cx="3335866" cy="15700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2800"/>
              <a:buFont typeface="K2D"/>
              <a:buNone/>
              <a:defRPr sz="28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4" name="Google Shape;214;p13"/>
          <p:cNvSpPr txBox="1">
            <a:spLocks noGrp="1"/>
          </p:cNvSpPr>
          <p:nvPr>
            <p:ph type="body" idx="2"/>
          </p:nvPr>
        </p:nvSpPr>
        <p:spPr>
          <a:xfrm>
            <a:off x="4210050" y="1233577"/>
            <a:ext cx="7685088" cy="488255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5" name="Google Shape;215;p13"/>
          <p:cNvPicPr preferRelativeResize="0"/>
          <p:nvPr/>
        </p:nvPicPr>
        <p:blipFill rotWithShape="1">
          <a:blip r:embed="rId2">
            <a:alphaModFix/>
          </a:blip>
          <a:srcRect/>
          <a:stretch/>
        </p:blipFill>
        <p:spPr>
          <a:xfrm>
            <a:off x="3857565" y="285479"/>
            <a:ext cx="457200" cy="457200"/>
          </a:xfrm>
          <a:prstGeom prst="rect">
            <a:avLst/>
          </a:prstGeom>
          <a:noFill/>
          <a:ln>
            <a:noFill/>
          </a:ln>
        </p:spPr>
      </p:pic>
      <p:pic>
        <p:nvPicPr>
          <p:cNvPr id="216" name="Google Shape;216;p13"/>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217" name="Google Shape;217;p1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18" name="Google Shape;218;p1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219" name="Google Shape;219;p1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20" name="Google Shape;220;p1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21" name="Google Shape;221;p13"/>
          <p:cNvGrpSpPr/>
          <p:nvPr/>
        </p:nvGrpSpPr>
        <p:grpSpPr>
          <a:xfrm>
            <a:off x="817685" y="6410864"/>
            <a:ext cx="2760487" cy="403790"/>
            <a:chOff x="741485" y="6410864"/>
            <a:chExt cx="2760487" cy="403790"/>
          </a:xfrm>
        </p:grpSpPr>
        <p:sp>
          <p:nvSpPr>
            <p:cNvPr id="222" name="Google Shape;222;p1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23" name="Google Shape;223;p1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24" name="Google Shape;224;p1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25" name="Google Shape;225;p13"/>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226" name="Google Shape;226;p1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1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Top">
  <p:cSld name="Picture Top">
    <p:bg>
      <p:bgPr>
        <a:solidFill>
          <a:schemeClr val="lt1"/>
        </a:solidFill>
        <a:effectLst/>
      </p:bgPr>
    </p:bg>
    <p:spTree>
      <p:nvGrpSpPr>
        <p:cNvPr id="1" name="Shape 228"/>
        <p:cNvGrpSpPr/>
        <p:nvPr/>
      </p:nvGrpSpPr>
      <p:grpSpPr>
        <a:xfrm>
          <a:off x="0" y="0"/>
          <a:ext cx="0" cy="0"/>
          <a:chOff x="0" y="0"/>
          <a:chExt cx="0" cy="0"/>
        </a:xfrm>
      </p:grpSpPr>
      <p:grpSp>
        <p:nvGrpSpPr>
          <p:cNvPr id="229" name="Google Shape;229;p14"/>
          <p:cNvGrpSpPr/>
          <p:nvPr/>
        </p:nvGrpSpPr>
        <p:grpSpPr>
          <a:xfrm>
            <a:off x="152386" y="134613"/>
            <a:ext cx="11887228" cy="2275212"/>
            <a:chOff x="125766" y="134611"/>
            <a:chExt cx="3918888" cy="6192393"/>
          </a:xfrm>
        </p:grpSpPr>
        <p:sp>
          <p:nvSpPr>
            <p:cNvPr id="230" name="Google Shape;230;p14"/>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31" name="Google Shape;231;p14"/>
            <p:cNvSpPr/>
            <p:nvPr/>
          </p:nvSpPr>
          <p:spPr>
            <a:xfrm>
              <a:off x="125766" y="134611"/>
              <a:ext cx="3918888" cy="124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32" name="Google Shape;232;p14"/>
          <p:cNvSpPr txBox="1">
            <a:spLocks noGrp="1"/>
          </p:cNvSpPr>
          <p:nvPr>
            <p:ph type="subTitle" idx="1"/>
          </p:nvPr>
        </p:nvSpPr>
        <p:spPr>
          <a:xfrm>
            <a:off x="6191250" y="465934"/>
            <a:ext cx="5229225" cy="1634339"/>
          </a:xfrm>
          <a:prstGeom prst="rect">
            <a:avLst/>
          </a:prstGeom>
          <a:noFill/>
          <a:ln>
            <a:noFill/>
          </a:ln>
        </p:spPr>
        <p:txBody>
          <a:bodyPr spcFirstLastPara="1" wrap="square" lIns="91425" tIns="45700" rIns="91425" bIns="45700" anchor="t" anchorCtr="0">
            <a:noAutofit/>
          </a:bodyPr>
          <a:lstStyle>
            <a:lvl1pPr lvl="0" algn="l">
              <a:lnSpc>
                <a:spcPct val="15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3" name="Google Shape;233;p14"/>
          <p:cNvSpPr txBox="1">
            <a:spLocks noGrp="1"/>
          </p:cNvSpPr>
          <p:nvPr>
            <p:ph type="ctrTitle"/>
          </p:nvPr>
        </p:nvSpPr>
        <p:spPr>
          <a:xfrm>
            <a:off x="624705" y="3223632"/>
            <a:ext cx="4928369" cy="14208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2800"/>
              <a:buFont typeface="K2D"/>
              <a:buNone/>
              <a:defRPr sz="28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4"/>
          <p:cNvSpPr>
            <a:spLocks noGrp="1"/>
          </p:cNvSpPr>
          <p:nvPr>
            <p:ph type="pic" idx="2"/>
          </p:nvPr>
        </p:nvSpPr>
        <p:spPr>
          <a:xfrm>
            <a:off x="625089" y="438150"/>
            <a:ext cx="4927600" cy="2619375"/>
          </a:xfrm>
          <a:prstGeom prst="rect">
            <a:avLst/>
          </a:prstGeom>
          <a:solidFill>
            <a:schemeClr val="lt1"/>
          </a:solidFill>
          <a:ln>
            <a:noFill/>
          </a:ln>
        </p:spPr>
      </p:sp>
      <p:sp>
        <p:nvSpPr>
          <p:cNvPr id="235" name="Google Shape;235;p14"/>
          <p:cNvSpPr/>
          <p:nvPr/>
        </p:nvSpPr>
        <p:spPr>
          <a:xfrm>
            <a:off x="624706" y="3062972"/>
            <a:ext cx="4927984" cy="8855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236" name="Google Shape;236;p14"/>
          <p:cNvPicPr preferRelativeResize="0"/>
          <p:nvPr/>
        </p:nvPicPr>
        <p:blipFill rotWithShape="1">
          <a:blip r:embed="rId2">
            <a:alphaModFix amt="85000"/>
          </a:blip>
          <a:srcRect/>
          <a:stretch/>
        </p:blipFill>
        <p:spPr>
          <a:xfrm>
            <a:off x="7069466" y="2644402"/>
            <a:ext cx="3453753" cy="3402396"/>
          </a:xfrm>
          <a:prstGeom prst="rect">
            <a:avLst/>
          </a:prstGeom>
          <a:noFill/>
          <a:ln>
            <a:noFill/>
          </a:ln>
        </p:spPr>
      </p:pic>
      <p:pic>
        <p:nvPicPr>
          <p:cNvPr id="237" name="Google Shape;237;p14"/>
          <p:cNvPicPr preferRelativeResize="0"/>
          <p:nvPr/>
        </p:nvPicPr>
        <p:blipFill rotWithShape="1">
          <a:blip r:embed="rId3">
            <a:alphaModFix/>
          </a:blip>
          <a:srcRect/>
          <a:stretch/>
        </p:blipFill>
        <p:spPr>
          <a:xfrm>
            <a:off x="11353815" y="2177429"/>
            <a:ext cx="457200" cy="457200"/>
          </a:xfrm>
          <a:prstGeom prst="rect">
            <a:avLst/>
          </a:prstGeom>
          <a:noFill/>
          <a:ln>
            <a:noFill/>
          </a:ln>
        </p:spPr>
      </p:pic>
      <p:pic>
        <p:nvPicPr>
          <p:cNvPr id="238" name="Google Shape;238;p14"/>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39" name="Google Shape;239;p1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40" name="Google Shape;240;p1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241" name="Google Shape;241;p1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42" name="Google Shape;242;p1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43" name="Google Shape;243;p14"/>
          <p:cNvGrpSpPr/>
          <p:nvPr/>
        </p:nvGrpSpPr>
        <p:grpSpPr>
          <a:xfrm>
            <a:off x="817685" y="6410864"/>
            <a:ext cx="2760487" cy="403790"/>
            <a:chOff x="741485" y="6410864"/>
            <a:chExt cx="2760487" cy="403790"/>
          </a:xfrm>
        </p:grpSpPr>
        <p:sp>
          <p:nvSpPr>
            <p:cNvPr id="244" name="Google Shape;244;p1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45" name="Google Shape;245;p1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46" name="Google Shape;246;p1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47" name="Google Shape;247;p14"/>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48" name="Google Shape;248;p1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1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Bottom">
  <p:cSld name="Picture Bottom">
    <p:bg>
      <p:bgPr>
        <a:solidFill>
          <a:schemeClr val="lt1"/>
        </a:solidFill>
        <a:effectLst/>
      </p:bgPr>
    </p:bg>
    <p:spTree>
      <p:nvGrpSpPr>
        <p:cNvPr id="1" name="Shape 250"/>
        <p:cNvGrpSpPr/>
        <p:nvPr/>
      </p:nvGrpSpPr>
      <p:grpSpPr>
        <a:xfrm>
          <a:off x="0" y="0"/>
          <a:ext cx="0" cy="0"/>
          <a:chOff x="0" y="0"/>
          <a:chExt cx="0" cy="0"/>
        </a:xfrm>
      </p:grpSpPr>
      <p:grpSp>
        <p:nvGrpSpPr>
          <p:cNvPr id="251" name="Google Shape;251;p15"/>
          <p:cNvGrpSpPr/>
          <p:nvPr/>
        </p:nvGrpSpPr>
        <p:grpSpPr>
          <a:xfrm>
            <a:off x="152386" y="3979538"/>
            <a:ext cx="11887228" cy="2275212"/>
            <a:chOff x="125766" y="134611"/>
            <a:chExt cx="3918888" cy="6192393"/>
          </a:xfrm>
        </p:grpSpPr>
        <p:sp>
          <p:nvSpPr>
            <p:cNvPr id="252" name="Google Shape;252;p15"/>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53" name="Google Shape;253;p15"/>
            <p:cNvSpPr/>
            <p:nvPr/>
          </p:nvSpPr>
          <p:spPr>
            <a:xfrm>
              <a:off x="125766" y="134611"/>
              <a:ext cx="3918888" cy="124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54" name="Google Shape;254;p15"/>
          <p:cNvSpPr txBox="1">
            <a:spLocks noGrp="1"/>
          </p:cNvSpPr>
          <p:nvPr>
            <p:ph type="subTitle" idx="1"/>
          </p:nvPr>
        </p:nvSpPr>
        <p:spPr>
          <a:xfrm>
            <a:off x="741485" y="4229011"/>
            <a:ext cx="5229225" cy="1634339"/>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5" name="Google Shape;255;p15"/>
          <p:cNvSpPr txBox="1">
            <a:spLocks noGrp="1"/>
          </p:cNvSpPr>
          <p:nvPr>
            <p:ph type="ctrTitle"/>
          </p:nvPr>
        </p:nvSpPr>
        <p:spPr>
          <a:xfrm>
            <a:off x="6569891" y="811935"/>
            <a:ext cx="5229225" cy="14208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2800"/>
              <a:buFont typeface="K2D"/>
              <a:buNone/>
              <a:defRPr sz="28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15"/>
          <p:cNvSpPr>
            <a:spLocks noGrp="1"/>
          </p:cNvSpPr>
          <p:nvPr>
            <p:ph type="pic" idx="2"/>
          </p:nvPr>
        </p:nvSpPr>
        <p:spPr>
          <a:xfrm>
            <a:off x="6720704" y="2860675"/>
            <a:ext cx="4927600" cy="2619375"/>
          </a:xfrm>
          <a:prstGeom prst="rect">
            <a:avLst/>
          </a:prstGeom>
          <a:solidFill>
            <a:schemeClr val="lt1"/>
          </a:solidFill>
          <a:ln>
            <a:noFill/>
          </a:ln>
        </p:spPr>
      </p:sp>
      <p:sp>
        <p:nvSpPr>
          <p:cNvPr id="257" name="Google Shape;257;p15"/>
          <p:cNvSpPr/>
          <p:nvPr/>
        </p:nvSpPr>
        <p:spPr>
          <a:xfrm>
            <a:off x="6720704" y="2772120"/>
            <a:ext cx="4928369" cy="8855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258" name="Google Shape;258;p15"/>
          <p:cNvPicPr preferRelativeResize="0"/>
          <p:nvPr/>
        </p:nvPicPr>
        <p:blipFill rotWithShape="1">
          <a:blip r:embed="rId2">
            <a:alphaModFix amt="85000"/>
          </a:blip>
          <a:srcRect/>
          <a:stretch/>
        </p:blipFill>
        <p:spPr>
          <a:xfrm>
            <a:off x="1183842" y="373388"/>
            <a:ext cx="3453753" cy="3402396"/>
          </a:xfrm>
          <a:prstGeom prst="rect">
            <a:avLst/>
          </a:prstGeom>
          <a:noFill/>
          <a:ln>
            <a:noFill/>
          </a:ln>
        </p:spPr>
      </p:pic>
      <p:pic>
        <p:nvPicPr>
          <p:cNvPr id="259" name="Google Shape;259;p15"/>
          <p:cNvPicPr preferRelativeResize="0"/>
          <p:nvPr/>
        </p:nvPicPr>
        <p:blipFill rotWithShape="1">
          <a:blip r:embed="rId3">
            <a:alphaModFix/>
          </a:blip>
          <a:srcRect/>
          <a:stretch/>
        </p:blipFill>
        <p:spPr>
          <a:xfrm rot="-5400000">
            <a:off x="222467" y="3759764"/>
            <a:ext cx="457200" cy="457200"/>
          </a:xfrm>
          <a:prstGeom prst="rect">
            <a:avLst/>
          </a:prstGeom>
          <a:noFill/>
          <a:ln>
            <a:noFill/>
          </a:ln>
        </p:spPr>
      </p:pic>
      <p:pic>
        <p:nvPicPr>
          <p:cNvPr id="260" name="Google Shape;260;p15"/>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61" name="Google Shape;261;p1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62" name="Google Shape;262;p15"/>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263" name="Google Shape;263;p15"/>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64" name="Google Shape;264;p15"/>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65" name="Google Shape;265;p15"/>
          <p:cNvGrpSpPr/>
          <p:nvPr/>
        </p:nvGrpSpPr>
        <p:grpSpPr>
          <a:xfrm>
            <a:off x="817685" y="6410864"/>
            <a:ext cx="2760487" cy="403790"/>
            <a:chOff x="741485" y="6410864"/>
            <a:chExt cx="2760487" cy="403790"/>
          </a:xfrm>
        </p:grpSpPr>
        <p:sp>
          <p:nvSpPr>
            <p:cNvPr id="266" name="Google Shape;266;p15"/>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67" name="Google Shape;267;p15"/>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68" name="Google Shape;268;p15"/>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69" name="Google Shape;269;p15"/>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70" name="Google Shape;270;p15"/>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1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User Information">
  <p:cSld name="User Information">
    <p:bg>
      <p:bgPr>
        <a:solidFill>
          <a:schemeClr val="lt1"/>
        </a:solidFill>
        <a:effectLst/>
      </p:bgPr>
    </p:bg>
    <p:spTree>
      <p:nvGrpSpPr>
        <p:cNvPr id="1" name="Shape 272"/>
        <p:cNvGrpSpPr/>
        <p:nvPr/>
      </p:nvGrpSpPr>
      <p:grpSpPr>
        <a:xfrm>
          <a:off x="0" y="0"/>
          <a:ext cx="0" cy="0"/>
          <a:chOff x="0" y="0"/>
          <a:chExt cx="0" cy="0"/>
        </a:xfrm>
      </p:grpSpPr>
      <p:sp>
        <p:nvSpPr>
          <p:cNvPr id="273" name="Google Shape;273;p16"/>
          <p:cNvSpPr/>
          <p:nvPr/>
        </p:nvSpPr>
        <p:spPr>
          <a:xfrm>
            <a:off x="0" y="2580549"/>
            <a:ext cx="12192000" cy="107901"/>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74" name="Google Shape;274;p16"/>
          <p:cNvSpPr txBox="1">
            <a:spLocks noGrp="1"/>
          </p:cNvSpPr>
          <p:nvPr>
            <p:ph type="subTitle" idx="1"/>
          </p:nvPr>
        </p:nvSpPr>
        <p:spPr>
          <a:xfrm>
            <a:off x="3501972" y="3856819"/>
            <a:ext cx="7445428" cy="230460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rgbClr val="000000"/>
              </a:buClr>
              <a:buSzPts val="1600"/>
              <a:buNone/>
              <a:defRPr sz="1600" b="0" i="0">
                <a:solidFill>
                  <a:srgbClr val="000000"/>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5" name="Google Shape;275;p16"/>
          <p:cNvSpPr txBox="1">
            <a:spLocks noGrp="1"/>
          </p:cNvSpPr>
          <p:nvPr>
            <p:ph type="ctrTitle"/>
          </p:nvPr>
        </p:nvSpPr>
        <p:spPr>
          <a:xfrm>
            <a:off x="3503437" y="2747660"/>
            <a:ext cx="7443963" cy="9044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6" name="Google Shape;276;p16"/>
          <p:cNvSpPr>
            <a:spLocks noGrp="1"/>
          </p:cNvSpPr>
          <p:nvPr>
            <p:ph type="pic" idx="2"/>
          </p:nvPr>
        </p:nvSpPr>
        <p:spPr>
          <a:xfrm>
            <a:off x="0" y="0"/>
            <a:ext cx="12192000" cy="2584938"/>
          </a:xfrm>
          <a:prstGeom prst="rect">
            <a:avLst/>
          </a:prstGeom>
          <a:solidFill>
            <a:srgbClr val="F2F2F2"/>
          </a:solidFill>
          <a:ln>
            <a:noFill/>
          </a:ln>
        </p:spPr>
      </p:sp>
      <p:sp>
        <p:nvSpPr>
          <p:cNvPr id="277" name="Google Shape;277;p16"/>
          <p:cNvSpPr>
            <a:spLocks noGrp="1"/>
          </p:cNvSpPr>
          <p:nvPr>
            <p:ph type="pic" idx="3"/>
          </p:nvPr>
        </p:nvSpPr>
        <p:spPr>
          <a:xfrm>
            <a:off x="664144" y="1144291"/>
            <a:ext cx="2601302" cy="2606040"/>
          </a:xfrm>
          <a:prstGeom prst="ellipse">
            <a:avLst/>
          </a:prstGeom>
          <a:solidFill>
            <a:srgbClr val="F2F2F2"/>
          </a:solidFill>
          <a:ln w="38100" cap="flat" cmpd="sng">
            <a:solidFill>
              <a:schemeClr val="lt1"/>
            </a:solidFill>
            <a:prstDash val="solid"/>
            <a:miter lim="800000"/>
            <a:headEnd type="none" w="sm" len="sm"/>
            <a:tailEnd type="none" w="sm" len="sm"/>
          </a:ln>
        </p:spPr>
      </p:sp>
      <p:sp>
        <p:nvSpPr>
          <p:cNvPr id="278" name="Google Shape;278;p16"/>
          <p:cNvSpPr/>
          <p:nvPr/>
        </p:nvSpPr>
        <p:spPr>
          <a:xfrm>
            <a:off x="3631224" y="3726827"/>
            <a:ext cx="1820007" cy="45719"/>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79" name="Google Shape;279;p16"/>
          <p:cNvSpPr>
            <a:spLocks noGrp="1"/>
          </p:cNvSpPr>
          <p:nvPr>
            <p:ph type="pic" idx="4"/>
          </p:nvPr>
        </p:nvSpPr>
        <p:spPr>
          <a:xfrm>
            <a:off x="10348756" y="4679980"/>
            <a:ext cx="1574800" cy="1589422"/>
          </a:xfrm>
          <a:prstGeom prst="rect">
            <a:avLst/>
          </a:prstGeom>
          <a:noFill/>
          <a:ln>
            <a:noFill/>
          </a:ln>
        </p:spPr>
      </p:sp>
      <p:pic>
        <p:nvPicPr>
          <p:cNvPr id="280" name="Google Shape;280;p16"/>
          <p:cNvPicPr preferRelativeResize="0"/>
          <p:nvPr/>
        </p:nvPicPr>
        <p:blipFill rotWithShape="1">
          <a:blip r:embed="rId2">
            <a:alphaModFix amt="85000"/>
          </a:blip>
          <a:srcRect/>
          <a:stretch/>
        </p:blipFill>
        <p:spPr>
          <a:xfrm>
            <a:off x="4839319" y="3749686"/>
            <a:ext cx="2513362" cy="2475989"/>
          </a:xfrm>
          <a:prstGeom prst="rect">
            <a:avLst/>
          </a:prstGeom>
          <a:noFill/>
          <a:ln>
            <a:noFill/>
          </a:ln>
        </p:spPr>
      </p:pic>
      <p:pic>
        <p:nvPicPr>
          <p:cNvPr id="281" name="Google Shape;281;p16"/>
          <p:cNvPicPr preferRelativeResize="0"/>
          <p:nvPr/>
        </p:nvPicPr>
        <p:blipFill rotWithShape="1">
          <a:blip r:embed="rId3">
            <a:alphaModFix/>
          </a:blip>
          <a:srcRect/>
          <a:stretch/>
        </p:blipFill>
        <p:spPr>
          <a:xfrm>
            <a:off x="3209872" y="3047462"/>
            <a:ext cx="292100" cy="292100"/>
          </a:xfrm>
          <a:prstGeom prst="rect">
            <a:avLst/>
          </a:prstGeom>
          <a:noFill/>
          <a:ln>
            <a:noFill/>
          </a:ln>
        </p:spPr>
      </p:pic>
      <p:pic>
        <p:nvPicPr>
          <p:cNvPr id="282" name="Google Shape;282;p16"/>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83" name="Google Shape;283;p1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84" name="Google Shape;284;p16"/>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285" name="Google Shape;285;p16"/>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86" name="Google Shape;286;p16"/>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87" name="Google Shape;287;p16"/>
          <p:cNvGrpSpPr/>
          <p:nvPr/>
        </p:nvGrpSpPr>
        <p:grpSpPr>
          <a:xfrm>
            <a:off x="817685" y="6410864"/>
            <a:ext cx="2760487" cy="403790"/>
            <a:chOff x="741485" y="6410864"/>
            <a:chExt cx="2760487" cy="403790"/>
          </a:xfrm>
        </p:grpSpPr>
        <p:sp>
          <p:nvSpPr>
            <p:cNvPr id="288" name="Google Shape;288;p1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89" name="Google Shape;289;p1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90" name="Google Shape;290;p16"/>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291" name="Google Shape;291;p16"/>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92" name="Google Shape;292;p1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1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fade">
                                      <p:cBhvr>
                                        <p:cTn id="7" dur="10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4"/>
        <p:cNvGrpSpPr/>
        <p:nvPr/>
      </p:nvGrpSpPr>
      <p:grpSpPr>
        <a:xfrm>
          <a:off x="0" y="0"/>
          <a:ext cx="0" cy="0"/>
          <a:chOff x="0" y="0"/>
          <a:chExt cx="0" cy="0"/>
        </a:xfrm>
      </p:grpSpPr>
      <p:sp>
        <p:nvSpPr>
          <p:cNvPr id="295" name="Google Shape;295;p17"/>
          <p:cNvSpPr txBox="1">
            <a:spLocks noGrp="1"/>
          </p:cNvSpPr>
          <p:nvPr>
            <p:ph type="title"/>
          </p:nvPr>
        </p:nvSpPr>
        <p:spPr>
          <a:xfrm>
            <a:off x="839788" y="365125"/>
            <a:ext cx="10515600" cy="9388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600"/>
              <a:buFont typeface="K2D"/>
              <a:buNone/>
              <a:defRPr sz="36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17"/>
          <p:cNvSpPr txBox="1">
            <a:spLocks noGrp="1"/>
          </p:cNvSpPr>
          <p:nvPr>
            <p:ph type="body" idx="1"/>
          </p:nvPr>
        </p:nvSpPr>
        <p:spPr>
          <a:xfrm>
            <a:off x="839789" y="1919678"/>
            <a:ext cx="504666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AFEF"/>
              </a:buClr>
              <a:buSzPts val="2800"/>
              <a:buNone/>
              <a:defRPr sz="2800" b="1">
                <a:solidFill>
                  <a:srgbClr val="00AFEF"/>
                </a:solidFill>
                <a:latin typeface="K2D"/>
                <a:ea typeface="K2D"/>
                <a:cs typeface="K2D"/>
                <a:sym typeface="K2D"/>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7" name="Google Shape;297;p17"/>
          <p:cNvSpPr txBox="1">
            <a:spLocks noGrp="1"/>
          </p:cNvSpPr>
          <p:nvPr>
            <p:ph type="body" idx="2"/>
          </p:nvPr>
        </p:nvSpPr>
        <p:spPr>
          <a:xfrm>
            <a:off x="839788" y="3006726"/>
            <a:ext cx="5046662" cy="31094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8" name="Google Shape;298;p17"/>
          <p:cNvSpPr txBox="1">
            <a:spLocks noGrp="1"/>
          </p:cNvSpPr>
          <p:nvPr>
            <p:ph type="body" idx="3"/>
          </p:nvPr>
        </p:nvSpPr>
        <p:spPr>
          <a:xfrm>
            <a:off x="6308727" y="1919678"/>
            <a:ext cx="504666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AFEF"/>
              </a:buClr>
              <a:buSzPts val="2800"/>
              <a:buNone/>
              <a:defRPr sz="2800" b="1">
                <a:solidFill>
                  <a:srgbClr val="00AFEF"/>
                </a:solidFill>
                <a:latin typeface="K2D"/>
                <a:ea typeface="K2D"/>
                <a:cs typeface="K2D"/>
                <a:sym typeface="K2D"/>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9" name="Google Shape;299;p17"/>
          <p:cNvSpPr txBox="1">
            <a:spLocks noGrp="1"/>
          </p:cNvSpPr>
          <p:nvPr>
            <p:ph type="body" idx="4"/>
          </p:nvPr>
        </p:nvSpPr>
        <p:spPr>
          <a:xfrm>
            <a:off x="6308726" y="3006726"/>
            <a:ext cx="5046662" cy="31094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00" name="Google Shape;300;p17"/>
          <p:cNvPicPr preferRelativeResize="0"/>
          <p:nvPr/>
        </p:nvPicPr>
        <p:blipFill rotWithShape="1">
          <a:blip r:embed="rId2">
            <a:alphaModFix/>
          </a:blip>
          <a:srcRect/>
          <a:stretch/>
        </p:blipFill>
        <p:spPr>
          <a:xfrm>
            <a:off x="478656" y="688507"/>
            <a:ext cx="292100" cy="292100"/>
          </a:xfrm>
          <a:prstGeom prst="rect">
            <a:avLst/>
          </a:prstGeom>
          <a:noFill/>
          <a:ln>
            <a:noFill/>
          </a:ln>
        </p:spPr>
      </p:pic>
      <p:pic>
        <p:nvPicPr>
          <p:cNvPr id="301" name="Google Shape;301;p17"/>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02" name="Google Shape;302;p1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03" name="Google Shape;303;p17"/>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04" name="Google Shape;304;p17"/>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05" name="Google Shape;305;p17"/>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06" name="Google Shape;306;p17"/>
          <p:cNvGrpSpPr/>
          <p:nvPr/>
        </p:nvGrpSpPr>
        <p:grpSpPr>
          <a:xfrm>
            <a:off x="817685" y="6410864"/>
            <a:ext cx="2760487" cy="403790"/>
            <a:chOff x="741485" y="6410864"/>
            <a:chExt cx="2760487" cy="403790"/>
          </a:xfrm>
        </p:grpSpPr>
        <p:sp>
          <p:nvSpPr>
            <p:cNvPr id="307" name="Google Shape;307;p1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08" name="Google Shape;308;p1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09" name="Google Shape;309;p17"/>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310" name="Google Shape;310;p17"/>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311" name="Google Shape;311;p1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2" name="Google Shape;312;p1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allery">
  <p:cSld name="Gallery">
    <p:spTree>
      <p:nvGrpSpPr>
        <p:cNvPr id="1" name="Shape 313"/>
        <p:cNvGrpSpPr/>
        <p:nvPr/>
      </p:nvGrpSpPr>
      <p:grpSpPr>
        <a:xfrm>
          <a:off x="0" y="0"/>
          <a:ext cx="0" cy="0"/>
          <a:chOff x="0" y="0"/>
          <a:chExt cx="0" cy="0"/>
        </a:xfrm>
      </p:grpSpPr>
      <p:sp>
        <p:nvSpPr>
          <p:cNvPr id="314" name="Google Shape;314;p18"/>
          <p:cNvSpPr>
            <a:spLocks noGrp="1"/>
          </p:cNvSpPr>
          <p:nvPr>
            <p:ph type="pic" idx="2"/>
          </p:nvPr>
        </p:nvSpPr>
        <p:spPr>
          <a:xfrm>
            <a:off x="741487" y="465301"/>
            <a:ext cx="3657600" cy="2743200"/>
          </a:xfrm>
          <a:prstGeom prst="rect">
            <a:avLst/>
          </a:prstGeom>
          <a:noFill/>
          <a:ln w="57150" cap="flat" cmpd="sng">
            <a:solidFill>
              <a:srgbClr val="F2F2F2"/>
            </a:solidFill>
            <a:prstDash val="solid"/>
            <a:miter lim="800000"/>
            <a:headEnd type="none" w="sm" len="sm"/>
            <a:tailEnd type="none" w="sm" len="sm"/>
          </a:ln>
        </p:spPr>
      </p:sp>
      <p:sp>
        <p:nvSpPr>
          <p:cNvPr id="315" name="Google Shape;315;p18"/>
          <p:cNvSpPr>
            <a:spLocks noGrp="1"/>
          </p:cNvSpPr>
          <p:nvPr>
            <p:ph type="pic" idx="3"/>
          </p:nvPr>
        </p:nvSpPr>
        <p:spPr>
          <a:xfrm>
            <a:off x="4678998" y="465301"/>
            <a:ext cx="3571623" cy="2743200"/>
          </a:xfrm>
          <a:prstGeom prst="rect">
            <a:avLst/>
          </a:prstGeom>
          <a:noFill/>
          <a:ln w="57150" cap="flat" cmpd="sng">
            <a:solidFill>
              <a:srgbClr val="F2F2F2"/>
            </a:solidFill>
            <a:prstDash val="solid"/>
            <a:miter lim="800000"/>
            <a:headEnd type="none" w="sm" len="sm"/>
            <a:tailEnd type="none" w="sm" len="sm"/>
          </a:ln>
        </p:spPr>
      </p:sp>
      <p:sp>
        <p:nvSpPr>
          <p:cNvPr id="316" name="Google Shape;316;p18"/>
          <p:cNvSpPr>
            <a:spLocks noGrp="1"/>
          </p:cNvSpPr>
          <p:nvPr>
            <p:ph type="pic" idx="4"/>
          </p:nvPr>
        </p:nvSpPr>
        <p:spPr>
          <a:xfrm>
            <a:off x="8530533" y="474155"/>
            <a:ext cx="2743200" cy="2743200"/>
          </a:xfrm>
          <a:prstGeom prst="rect">
            <a:avLst/>
          </a:prstGeom>
          <a:noFill/>
          <a:ln w="57150" cap="flat" cmpd="sng">
            <a:solidFill>
              <a:srgbClr val="F2F2F2"/>
            </a:solidFill>
            <a:prstDash val="solid"/>
            <a:miter lim="800000"/>
            <a:headEnd type="none" w="sm" len="sm"/>
            <a:tailEnd type="none" w="sm" len="sm"/>
          </a:ln>
        </p:spPr>
      </p:sp>
      <p:sp>
        <p:nvSpPr>
          <p:cNvPr id="317" name="Google Shape;317;p18"/>
          <p:cNvSpPr>
            <a:spLocks noGrp="1"/>
          </p:cNvSpPr>
          <p:nvPr>
            <p:ph type="pic" idx="5"/>
          </p:nvPr>
        </p:nvSpPr>
        <p:spPr>
          <a:xfrm>
            <a:off x="7484734" y="3450874"/>
            <a:ext cx="3788999" cy="2743200"/>
          </a:xfrm>
          <a:prstGeom prst="rect">
            <a:avLst/>
          </a:prstGeom>
          <a:noFill/>
          <a:ln w="57150" cap="flat" cmpd="sng">
            <a:solidFill>
              <a:srgbClr val="F2F2F2"/>
            </a:solidFill>
            <a:prstDash val="solid"/>
            <a:miter lim="800000"/>
            <a:headEnd type="none" w="sm" len="sm"/>
            <a:tailEnd type="none" w="sm" len="sm"/>
          </a:ln>
        </p:spPr>
      </p:sp>
      <p:sp>
        <p:nvSpPr>
          <p:cNvPr id="318" name="Google Shape;318;p18"/>
          <p:cNvSpPr>
            <a:spLocks noGrp="1"/>
          </p:cNvSpPr>
          <p:nvPr>
            <p:ph type="pic" idx="6"/>
          </p:nvPr>
        </p:nvSpPr>
        <p:spPr>
          <a:xfrm>
            <a:off x="741485" y="3450874"/>
            <a:ext cx="6477000" cy="2743200"/>
          </a:xfrm>
          <a:prstGeom prst="rect">
            <a:avLst/>
          </a:prstGeom>
          <a:noFill/>
          <a:ln w="57150" cap="flat" cmpd="sng">
            <a:solidFill>
              <a:srgbClr val="F2F2F2"/>
            </a:solidFill>
            <a:prstDash val="solid"/>
            <a:miter lim="800000"/>
            <a:headEnd type="none" w="sm" len="sm"/>
            <a:tailEnd type="none" w="sm" len="sm"/>
          </a:ln>
        </p:spPr>
      </p:sp>
      <p:pic>
        <p:nvPicPr>
          <p:cNvPr id="319" name="Google Shape;319;p18"/>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20" name="Google Shape;320;p1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21" name="Google Shape;321;p1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22" name="Google Shape;322;p1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23" name="Google Shape;323;p1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24" name="Google Shape;324;p18"/>
          <p:cNvGrpSpPr/>
          <p:nvPr/>
        </p:nvGrpSpPr>
        <p:grpSpPr>
          <a:xfrm>
            <a:off x="817685" y="6410864"/>
            <a:ext cx="2760487" cy="403790"/>
            <a:chOff x="741485" y="6410864"/>
            <a:chExt cx="2760487" cy="403790"/>
          </a:xfrm>
        </p:grpSpPr>
        <p:sp>
          <p:nvSpPr>
            <p:cNvPr id="325" name="Google Shape;325;p1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26" name="Google Shape;326;p1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27" name="Google Shape;327;p1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328" name="Google Shape;328;p18"/>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29" name="Google Shape;329;p1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1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14"/>
                                        </p:tgtEl>
                                        <p:attrNameLst>
                                          <p:attrName>style.visibility</p:attrName>
                                        </p:attrNameLst>
                                      </p:cBhvr>
                                      <p:to>
                                        <p:strVal val="visible"/>
                                      </p:to>
                                    </p:set>
                                    <p:anim calcmode="lin" valueType="num">
                                      <p:cBhvr additive="base">
                                        <p:cTn id="7" dur="1000"/>
                                        <p:tgtEl>
                                          <p:spTgt spid="314"/>
                                        </p:tgtEl>
                                        <p:attrNameLst>
                                          <p:attrName>ppt_w</p:attrName>
                                        </p:attrNameLst>
                                      </p:cBhvr>
                                      <p:tavLst>
                                        <p:tav tm="0">
                                          <p:val>
                                            <p:strVal val="0"/>
                                          </p:val>
                                        </p:tav>
                                        <p:tav tm="100000">
                                          <p:val>
                                            <p:strVal val="#ppt_w"/>
                                          </p:val>
                                        </p:tav>
                                      </p:tavLst>
                                    </p:anim>
                                    <p:anim calcmode="lin" valueType="num">
                                      <p:cBhvr additive="base">
                                        <p:cTn id="8" dur="1000"/>
                                        <p:tgtEl>
                                          <p:spTgt spid="314"/>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15"/>
                                        </p:tgtEl>
                                        <p:attrNameLst>
                                          <p:attrName>style.visibility</p:attrName>
                                        </p:attrNameLst>
                                      </p:cBhvr>
                                      <p:to>
                                        <p:strVal val="visible"/>
                                      </p:to>
                                    </p:set>
                                    <p:anim calcmode="lin" valueType="num">
                                      <p:cBhvr additive="base">
                                        <p:cTn id="11" dur="1000"/>
                                        <p:tgtEl>
                                          <p:spTgt spid="315"/>
                                        </p:tgtEl>
                                        <p:attrNameLst>
                                          <p:attrName>ppt_w</p:attrName>
                                        </p:attrNameLst>
                                      </p:cBhvr>
                                      <p:tavLst>
                                        <p:tav tm="0">
                                          <p:val>
                                            <p:strVal val="0"/>
                                          </p:val>
                                        </p:tav>
                                        <p:tav tm="100000">
                                          <p:val>
                                            <p:strVal val="#ppt_w"/>
                                          </p:val>
                                        </p:tav>
                                      </p:tavLst>
                                    </p:anim>
                                    <p:anim calcmode="lin" valueType="num">
                                      <p:cBhvr additive="base">
                                        <p:cTn id="12" dur="1000"/>
                                        <p:tgtEl>
                                          <p:spTgt spid="315"/>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316"/>
                                        </p:tgtEl>
                                        <p:attrNameLst>
                                          <p:attrName>style.visibility</p:attrName>
                                        </p:attrNameLst>
                                      </p:cBhvr>
                                      <p:to>
                                        <p:strVal val="visible"/>
                                      </p:to>
                                    </p:set>
                                    <p:anim calcmode="lin" valueType="num">
                                      <p:cBhvr additive="base">
                                        <p:cTn id="15" dur="1000"/>
                                        <p:tgtEl>
                                          <p:spTgt spid="316"/>
                                        </p:tgtEl>
                                        <p:attrNameLst>
                                          <p:attrName>ppt_w</p:attrName>
                                        </p:attrNameLst>
                                      </p:cBhvr>
                                      <p:tavLst>
                                        <p:tav tm="0">
                                          <p:val>
                                            <p:strVal val="0"/>
                                          </p:val>
                                        </p:tav>
                                        <p:tav tm="100000">
                                          <p:val>
                                            <p:strVal val="#ppt_w"/>
                                          </p:val>
                                        </p:tav>
                                      </p:tavLst>
                                    </p:anim>
                                    <p:anim calcmode="lin" valueType="num">
                                      <p:cBhvr additive="base">
                                        <p:cTn id="16" dur="1000"/>
                                        <p:tgtEl>
                                          <p:spTgt spid="316"/>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317"/>
                                        </p:tgtEl>
                                        <p:attrNameLst>
                                          <p:attrName>style.visibility</p:attrName>
                                        </p:attrNameLst>
                                      </p:cBhvr>
                                      <p:to>
                                        <p:strVal val="visible"/>
                                      </p:to>
                                    </p:set>
                                    <p:anim calcmode="lin" valueType="num">
                                      <p:cBhvr additive="base">
                                        <p:cTn id="19" dur="1000"/>
                                        <p:tgtEl>
                                          <p:spTgt spid="317"/>
                                        </p:tgtEl>
                                        <p:attrNameLst>
                                          <p:attrName>ppt_w</p:attrName>
                                        </p:attrNameLst>
                                      </p:cBhvr>
                                      <p:tavLst>
                                        <p:tav tm="0">
                                          <p:val>
                                            <p:strVal val="0"/>
                                          </p:val>
                                        </p:tav>
                                        <p:tav tm="100000">
                                          <p:val>
                                            <p:strVal val="#ppt_w"/>
                                          </p:val>
                                        </p:tav>
                                      </p:tavLst>
                                    </p:anim>
                                    <p:anim calcmode="lin" valueType="num">
                                      <p:cBhvr additive="base">
                                        <p:cTn id="20" dur="1000"/>
                                        <p:tgtEl>
                                          <p:spTgt spid="317"/>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318"/>
                                        </p:tgtEl>
                                        <p:attrNameLst>
                                          <p:attrName>style.visibility</p:attrName>
                                        </p:attrNameLst>
                                      </p:cBhvr>
                                      <p:to>
                                        <p:strVal val="visible"/>
                                      </p:to>
                                    </p:set>
                                    <p:anim calcmode="lin" valueType="num">
                                      <p:cBhvr additive="base">
                                        <p:cTn id="23" dur="1000"/>
                                        <p:tgtEl>
                                          <p:spTgt spid="318"/>
                                        </p:tgtEl>
                                        <p:attrNameLst>
                                          <p:attrName>ppt_w</p:attrName>
                                        </p:attrNameLst>
                                      </p:cBhvr>
                                      <p:tavLst>
                                        <p:tav tm="0">
                                          <p:val>
                                            <p:strVal val="0"/>
                                          </p:val>
                                        </p:tav>
                                        <p:tav tm="100000">
                                          <p:val>
                                            <p:strVal val="#ppt_w"/>
                                          </p:val>
                                        </p:tav>
                                      </p:tavLst>
                                    </p:anim>
                                    <p:anim calcmode="lin" valueType="num">
                                      <p:cBhvr additive="base">
                                        <p:cTn id="24" dur="1000"/>
                                        <p:tgtEl>
                                          <p:spTgt spid="31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331"/>
        <p:cNvGrpSpPr/>
        <p:nvPr/>
      </p:nvGrpSpPr>
      <p:grpSpPr>
        <a:xfrm>
          <a:off x="0" y="0"/>
          <a:ext cx="0" cy="0"/>
          <a:chOff x="0" y="0"/>
          <a:chExt cx="0" cy="0"/>
        </a:xfrm>
      </p:grpSpPr>
      <p:cxnSp>
        <p:nvCxnSpPr>
          <p:cNvPr id="332" name="Google Shape;332;p19"/>
          <p:cNvCxnSpPr/>
          <p:nvPr/>
        </p:nvCxnSpPr>
        <p:spPr>
          <a:xfrm>
            <a:off x="6096000"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sp>
        <p:nvSpPr>
          <p:cNvPr id="333" name="Google Shape;333;p19"/>
          <p:cNvSpPr>
            <a:spLocks noGrp="1"/>
          </p:cNvSpPr>
          <p:nvPr>
            <p:ph type="pic" idx="2"/>
          </p:nvPr>
        </p:nvSpPr>
        <p:spPr>
          <a:xfrm>
            <a:off x="897765" y="1162050"/>
            <a:ext cx="4697377" cy="1949450"/>
          </a:xfrm>
          <a:prstGeom prst="rect">
            <a:avLst/>
          </a:prstGeom>
          <a:noFill/>
          <a:ln>
            <a:noFill/>
          </a:ln>
        </p:spPr>
      </p:sp>
      <p:sp>
        <p:nvSpPr>
          <p:cNvPr id="334" name="Google Shape;334;p19"/>
          <p:cNvSpPr>
            <a:spLocks noGrp="1"/>
          </p:cNvSpPr>
          <p:nvPr>
            <p:ph type="pic" idx="3"/>
          </p:nvPr>
        </p:nvSpPr>
        <p:spPr>
          <a:xfrm>
            <a:off x="6597297" y="1162050"/>
            <a:ext cx="4697377" cy="1949450"/>
          </a:xfrm>
          <a:prstGeom prst="rect">
            <a:avLst/>
          </a:prstGeom>
          <a:noFill/>
          <a:ln>
            <a:noFill/>
          </a:ln>
        </p:spPr>
      </p:sp>
      <p:sp>
        <p:nvSpPr>
          <p:cNvPr id="335" name="Google Shape;335;p19"/>
          <p:cNvSpPr txBox="1">
            <a:spLocks noGrp="1"/>
          </p:cNvSpPr>
          <p:nvPr>
            <p:ph type="body" idx="1"/>
          </p:nvPr>
        </p:nvSpPr>
        <p:spPr>
          <a:xfrm>
            <a:off x="898361" y="3302000"/>
            <a:ext cx="469574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6" name="Google Shape;336;p19"/>
          <p:cNvSpPr txBox="1">
            <a:spLocks noGrp="1"/>
          </p:cNvSpPr>
          <p:nvPr>
            <p:ph type="body" idx="4"/>
          </p:nvPr>
        </p:nvSpPr>
        <p:spPr>
          <a:xfrm>
            <a:off x="6597892" y="3302000"/>
            <a:ext cx="469574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19"/>
          <p:cNvSpPr/>
          <p:nvPr/>
        </p:nvSpPr>
        <p:spPr>
          <a:xfrm rot="10800000">
            <a:off x="898257" y="3126125"/>
            <a:ext cx="4692825"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38" name="Google Shape;338;p19"/>
          <p:cNvSpPr/>
          <p:nvPr/>
        </p:nvSpPr>
        <p:spPr>
          <a:xfrm rot="10800000">
            <a:off x="6597788" y="3126125"/>
            <a:ext cx="4692825"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339" name="Google Shape;339;p19"/>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40" name="Google Shape;340;p1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41" name="Google Shape;341;p1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42" name="Google Shape;342;p1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43" name="Google Shape;343;p1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44" name="Google Shape;344;p19"/>
          <p:cNvGrpSpPr/>
          <p:nvPr/>
        </p:nvGrpSpPr>
        <p:grpSpPr>
          <a:xfrm>
            <a:off x="817685" y="6410864"/>
            <a:ext cx="2760487" cy="403790"/>
            <a:chOff x="741485" y="6410864"/>
            <a:chExt cx="2760487" cy="403790"/>
          </a:xfrm>
        </p:grpSpPr>
        <p:sp>
          <p:nvSpPr>
            <p:cNvPr id="345" name="Google Shape;345;p1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46" name="Google Shape;346;p1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47" name="Google Shape;347;p1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348" name="Google Shape;348;p19"/>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49" name="Google Shape;349;p1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1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351"/>
        <p:cNvGrpSpPr/>
        <p:nvPr/>
      </p:nvGrpSpPr>
      <p:grpSpPr>
        <a:xfrm>
          <a:off x="0" y="0"/>
          <a:ext cx="0" cy="0"/>
          <a:chOff x="0" y="0"/>
          <a:chExt cx="0" cy="0"/>
        </a:xfrm>
      </p:grpSpPr>
      <p:sp>
        <p:nvSpPr>
          <p:cNvPr id="352" name="Google Shape;352;p20"/>
          <p:cNvSpPr>
            <a:spLocks noGrp="1"/>
          </p:cNvSpPr>
          <p:nvPr>
            <p:ph type="pic" idx="2"/>
          </p:nvPr>
        </p:nvSpPr>
        <p:spPr>
          <a:xfrm>
            <a:off x="329375" y="1162050"/>
            <a:ext cx="3368256" cy="1949450"/>
          </a:xfrm>
          <a:prstGeom prst="rect">
            <a:avLst/>
          </a:prstGeom>
          <a:noFill/>
          <a:ln>
            <a:noFill/>
          </a:ln>
        </p:spPr>
      </p:sp>
      <p:cxnSp>
        <p:nvCxnSpPr>
          <p:cNvPr id="353" name="Google Shape;353;p20"/>
          <p:cNvCxnSpPr/>
          <p:nvPr/>
        </p:nvCxnSpPr>
        <p:spPr>
          <a:xfrm>
            <a:off x="4038600"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cxnSp>
        <p:nvCxnSpPr>
          <p:cNvPr id="354" name="Google Shape;354;p20"/>
          <p:cNvCxnSpPr/>
          <p:nvPr/>
        </p:nvCxnSpPr>
        <p:spPr>
          <a:xfrm>
            <a:off x="8086459"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sp>
        <p:nvSpPr>
          <p:cNvPr id="355" name="Google Shape;355;p20"/>
          <p:cNvSpPr>
            <a:spLocks noGrp="1"/>
          </p:cNvSpPr>
          <p:nvPr>
            <p:ph type="pic" idx="3"/>
          </p:nvPr>
        </p:nvSpPr>
        <p:spPr>
          <a:xfrm>
            <a:off x="4378402" y="1162050"/>
            <a:ext cx="3368256" cy="1949450"/>
          </a:xfrm>
          <a:prstGeom prst="rect">
            <a:avLst/>
          </a:prstGeom>
          <a:noFill/>
          <a:ln>
            <a:noFill/>
          </a:ln>
        </p:spPr>
      </p:sp>
      <p:sp>
        <p:nvSpPr>
          <p:cNvPr id="356" name="Google Shape;356;p20"/>
          <p:cNvSpPr>
            <a:spLocks noGrp="1"/>
          </p:cNvSpPr>
          <p:nvPr>
            <p:ph type="pic" idx="4"/>
          </p:nvPr>
        </p:nvSpPr>
        <p:spPr>
          <a:xfrm>
            <a:off x="8426261" y="1162050"/>
            <a:ext cx="3368256" cy="1949450"/>
          </a:xfrm>
          <a:prstGeom prst="rect">
            <a:avLst/>
          </a:prstGeom>
          <a:noFill/>
          <a:ln>
            <a:noFill/>
          </a:ln>
        </p:spPr>
      </p:sp>
      <p:sp>
        <p:nvSpPr>
          <p:cNvPr id="357" name="Google Shape;357;p20"/>
          <p:cNvSpPr txBox="1">
            <a:spLocks noGrp="1"/>
          </p:cNvSpPr>
          <p:nvPr>
            <p:ph type="body" idx="1"/>
          </p:nvPr>
        </p:nvSpPr>
        <p:spPr>
          <a:xfrm>
            <a:off x="329912"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10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10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10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10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8" name="Google Shape;358;p20"/>
          <p:cNvSpPr txBox="1">
            <a:spLocks noGrp="1"/>
          </p:cNvSpPr>
          <p:nvPr>
            <p:ph type="body" idx="5"/>
          </p:nvPr>
        </p:nvSpPr>
        <p:spPr>
          <a:xfrm>
            <a:off x="4378402"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9" name="Google Shape;359;p20"/>
          <p:cNvSpPr txBox="1">
            <a:spLocks noGrp="1"/>
          </p:cNvSpPr>
          <p:nvPr>
            <p:ph type="body" idx="6"/>
          </p:nvPr>
        </p:nvSpPr>
        <p:spPr>
          <a:xfrm>
            <a:off x="8426260"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20"/>
          <p:cNvSpPr/>
          <p:nvPr/>
        </p:nvSpPr>
        <p:spPr>
          <a:xfrm rot="10800000">
            <a:off x="329374"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1" name="Google Shape;361;p20"/>
          <p:cNvSpPr/>
          <p:nvPr/>
        </p:nvSpPr>
        <p:spPr>
          <a:xfrm rot="10800000">
            <a:off x="4377232"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2" name="Google Shape;362;p20"/>
          <p:cNvSpPr/>
          <p:nvPr/>
        </p:nvSpPr>
        <p:spPr>
          <a:xfrm rot="10800000">
            <a:off x="8425090"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363" name="Google Shape;363;p20"/>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64" name="Google Shape;364;p2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65" name="Google Shape;365;p2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66" name="Google Shape;366;p2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7" name="Google Shape;367;p2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68" name="Google Shape;368;p20"/>
          <p:cNvGrpSpPr/>
          <p:nvPr/>
        </p:nvGrpSpPr>
        <p:grpSpPr>
          <a:xfrm>
            <a:off x="817685" y="6410864"/>
            <a:ext cx="2760487" cy="403790"/>
            <a:chOff x="741485" y="6410864"/>
            <a:chExt cx="2760487" cy="403790"/>
          </a:xfrm>
        </p:grpSpPr>
        <p:sp>
          <p:nvSpPr>
            <p:cNvPr id="369" name="Google Shape;369;p2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70" name="Google Shape;370;p2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71" name="Google Shape;371;p2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372" name="Google Shape;372;p20"/>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73" name="Google Shape;373;p2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2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375"/>
        <p:cNvGrpSpPr/>
        <p:nvPr/>
      </p:nvGrpSpPr>
      <p:grpSpPr>
        <a:xfrm>
          <a:off x="0" y="0"/>
          <a:ext cx="0" cy="0"/>
          <a:chOff x="0" y="0"/>
          <a:chExt cx="0" cy="0"/>
        </a:xfrm>
      </p:grpSpPr>
      <p:sp>
        <p:nvSpPr>
          <p:cNvPr id="376" name="Google Shape;376;p21"/>
          <p:cNvSpPr txBox="1">
            <a:spLocks noGrp="1"/>
          </p:cNvSpPr>
          <p:nvPr>
            <p:ph type="body" idx="1"/>
          </p:nvPr>
        </p:nvSpPr>
        <p:spPr>
          <a:xfrm rot="5400000">
            <a:off x="4113213" y="-1449386"/>
            <a:ext cx="3965573" cy="1051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7" name="Google Shape;377;p21"/>
          <p:cNvSpPr txBox="1">
            <a:spLocks noGrp="1"/>
          </p:cNvSpPr>
          <p:nvPr>
            <p:ph type="title"/>
          </p:nvPr>
        </p:nvSpPr>
        <p:spPr>
          <a:xfrm>
            <a:off x="839788" y="365125"/>
            <a:ext cx="10515600" cy="9388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8" name="Google Shape;378;p21"/>
          <p:cNvPicPr preferRelativeResize="0"/>
          <p:nvPr/>
        </p:nvPicPr>
        <p:blipFill rotWithShape="1">
          <a:blip r:embed="rId2">
            <a:alphaModFix/>
          </a:blip>
          <a:srcRect/>
          <a:stretch/>
        </p:blipFill>
        <p:spPr>
          <a:xfrm>
            <a:off x="478656" y="688507"/>
            <a:ext cx="292100" cy="292100"/>
          </a:xfrm>
          <a:prstGeom prst="rect">
            <a:avLst/>
          </a:prstGeom>
          <a:noFill/>
          <a:ln>
            <a:noFill/>
          </a:ln>
        </p:spPr>
      </p:pic>
      <p:pic>
        <p:nvPicPr>
          <p:cNvPr id="379" name="Google Shape;379;p21"/>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80" name="Google Shape;380;p21"/>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81" name="Google Shape;381;p21"/>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82" name="Google Shape;382;p21"/>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83" name="Google Shape;383;p21"/>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84" name="Google Shape;384;p21"/>
          <p:cNvGrpSpPr/>
          <p:nvPr/>
        </p:nvGrpSpPr>
        <p:grpSpPr>
          <a:xfrm>
            <a:off x="817685" y="6410864"/>
            <a:ext cx="2760487" cy="403790"/>
            <a:chOff x="741485" y="6410864"/>
            <a:chExt cx="2760487" cy="403790"/>
          </a:xfrm>
        </p:grpSpPr>
        <p:sp>
          <p:nvSpPr>
            <p:cNvPr id="385" name="Google Shape;385;p21"/>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86" name="Google Shape;386;p21"/>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87" name="Google Shape;387;p21"/>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388" name="Google Shape;388;p21"/>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389" name="Google Shape;389;p21"/>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0" name="Google Shape;390;p21"/>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10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391"/>
        <p:cNvGrpSpPr/>
        <p:nvPr/>
      </p:nvGrpSpPr>
      <p:grpSpPr>
        <a:xfrm>
          <a:off x="0" y="0"/>
          <a:ext cx="0" cy="0"/>
          <a:chOff x="0" y="0"/>
          <a:chExt cx="0" cy="0"/>
        </a:xfrm>
      </p:grpSpPr>
      <p:sp>
        <p:nvSpPr>
          <p:cNvPr id="392" name="Google Shape;392;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3" name="Google Shape;393;p22"/>
          <p:cNvSpPr txBox="1">
            <a:spLocks noGrp="1"/>
          </p:cNvSpPr>
          <p:nvPr>
            <p:ph type="body" idx="1"/>
          </p:nvPr>
        </p:nvSpPr>
        <p:spPr>
          <a:xfrm rot="5400000">
            <a:off x="1875631" y="-672303"/>
            <a:ext cx="5811837" cy="7886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4" name="Google Shape;394;p22"/>
          <p:cNvPicPr preferRelativeResize="0"/>
          <p:nvPr/>
        </p:nvPicPr>
        <p:blipFill rotWithShape="1">
          <a:blip r:embed="rId2">
            <a:alphaModFix/>
          </a:blip>
          <a:srcRect/>
          <a:stretch/>
        </p:blipFill>
        <p:spPr>
          <a:xfrm>
            <a:off x="10121981" y="51983"/>
            <a:ext cx="292100" cy="292100"/>
          </a:xfrm>
          <a:prstGeom prst="rect">
            <a:avLst/>
          </a:prstGeom>
          <a:noFill/>
          <a:ln>
            <a:noFill/>
          </a:ln>
        </p:spPr>
      </p:pic>
      <p:pic>
        <p:nvPicPr>
          <p:cNvPr id="395" name="Google Shape;395;p2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96" name="Google Shape;396;p2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97" name="Google Shape;397;p2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398" name="Google Shape;398;p22"/>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99" name="Google Shape;399;p22"/>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00" name="Google Shape;400;p22"/>
          <p:cNvGrpSpPr/>
          <p:nvPr/>
        </p:nvGrpSpPr>
        <p:grpSpPr>
          <a:xfrm>
            <a:off x="817685" y="6410864"/>
            <a:ext cx="2760487" cy="403790"/>
            <a:chOff x="741485" y="6410864"/>
            <a:chExt cx="2760487" cy="403790"/>
          </a:xfrm>
        </p:grpSpPr>
        <p:sp>
          <p:nvSpPr>
            <p:cNvPr id="401" name="Google Shape;401;p2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02" name="Google Shape;402;p2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03" name="Google Shape;403;p22"/>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04" name="Google Shape;404;p22"/>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405" name="Google Shape;405;p2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6" name="Google Shape;406;p2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7"/>
        <p:cNvGrpSpPr/>
        <p:nvPr/>
      </p:nvGrpSpPr>
      <p:grpSpPr>
        <a:xfrm>
          <a:off x="0" y="0"/>
          <a:ext cx="0" cy="0"/>
          <a:chOff x="0" y="0"/>
          <a:chExt cx="0" cy="0"/>
        </a:xfrm>
      </p:grpSpPr>
      <p:sp>
        <p:nvSpPr>
          <p:cNvPr id="408" name="Google Shape;408;p23"/>
          <p:cNvSpPr txBox="1">
            <a:spLocks noGrp="1"/>
          </p:cNvSpPr>
          <p:nvPr>
            <p:ph type="title"/>
          </p:nvPr>
        </p:nvSpPr>
        <p:spPr>
          <a:xfrm>
            <a:off x="838200" y="325583"/>
            <a:ext cx="10515600" cy="97840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09" name="Google Shape;409;p23"/>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410" name="Google Shape;410;p23"/>
          <p:cNvPicPr preferRelativeResize="0"/>
          <p:nvPr/>
        </p:nvPicPr>
        <p:blipFill rotWithShape="1">
          <a:blip r:embed="rId3">
            <a:alphaModFix/>
          </a:blip>
          <a:srcRect/>
          <a:stretch/>
        </p:blipFill>
        <p:spPr>
          <a:xfrm>
            <a:off x="478656" y="656757"/>
            <a:ext cx="292100" cy="292100"/>
          </a:xfrm>
          <a:prstGeom prst="rect">
            <a:avLst/>
          </a:prstGeom>
          <a:noFill/>
          <a:ln>
            <a:noFill/>
          </a:ln>
        </p:spPr>
      </p:pic>
      <p:pic>
        <p:nvPicPr>
          <p:cNvPr id="411" name="Google Shape;411;p23"/>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412" name="Google Shape;412;p2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13" name="Google Shape;413;p2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414" name="Google Shape;414;p2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15" name="Google Shape;415;p2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16" name="Google Shape;416;p23"/>
          <p:cNvGrpSpPr/>
          <p:nvPr/>
        </p:nvGrpSpPr>
        <p:grpSpPr>
          <a:xfrm>
            <a:off x="817685" y="6410864"/>
            <a:ext cx="2760487" cy="403790"/>
            <a:chOff x="741485" y="6410864"/>
            <a:chExt cx="2760487" cy="403790"/>
          </a:xfrm>
        </p:grpSpPr>
        <p:sp>
          <p:nvSpPr>
            <p:cNvPr id="417" name="Google Shape;417;p2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18" name="Google Shape;418;p2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19" name="Google Shape;419;p2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20" name="Google Shape;420;p23"/>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421" name="Google Shape;421;p2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2" name="Google Shape;422;p2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10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White" type="blank">
  <p:cSld name="BLANK">
    <p:spTree>
      <p:nvGrpSpPr>
        <p:cNvPr id="1" name="Shape 423"/>
        <p:cNvGrpSpPr/>
        <p:nvPr/>
      </p:nvGrpSpPr>
      <p:grpSpPr>
        <a:xfrm>
          <a:off x="0" y="0"/>
          <a:ext cx="0" cy="0"/>
          <a:chOff x="0" y="0"/>
          <a:chExt cx="0" cy="0"/>
        </a:xfrm>
      </p:grpSpPr>
      <p:pic>
        <p:nvPicPr>
          <p:cNvPr id="424" name="Google Shape;424;p24"/>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425" name="Google Shape;425;p24"/>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426" name="Google Shape;426;p2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27" name="Google Shape;427;p2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428" name="Google Shape;428;p2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29" name="Google Shape;429;p2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30" name="Google Shape;430;p24"/>
          <p:cNvGrpSpPr/>
          <p:nvPr/>
        </p:nvGrpSpPr>
        <p:grpSpPr>
          <a:xfrm>
            <a:off x="817685" y="6410864"/>
            <a:ext cx="2760487" cy="403790"/>
            <a:chOff x="741485" y="6410864"/>
            <a:chExt cx="2760487" cy="403790"/>
          </a:xfrm>
        </p:grpSpPr>
        <p:sp>
          <p:nvSpPr>
            <p:cNvPr id="431" name="Google Shape;431;p2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32" name="Google Shape;432;p2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33" name="Google Shape;433;p2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34" name="Google Shape;434;p24"/>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435" name="Google Shape;435;p2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6" name="Google Shape;436;p2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Blue 1">
  <p:cSld name="Blank Blue 1">
    <p:bg>
      <p:bgPr>
        <a:solidFill>
          <a:srgbClr val="1F5CA9"/>
        </a:solidFill>
        <a:effectLst/>
      </p:bgPr>
    </p:bg>
    <p:spTree>
      <p:nvGrpSpPr>
        <p:cNvPr id="1" name="Shape 437"/>
        <p:cNvGrpSpPr/>
        <p:nvPr/>
      </p:nvGrpSpPr>
      <p:grpSpPr>
        <a:xfrm>
          <a:off x="0" y="0"/>
          <a:ext cx="0" cy="0"/>
          <a:chOff x="0" y="0"/>
          <a:chExt cx="0" cy="0"/>
        </a:xfrm>
      </p:grpSpPr>
      <p:pic>
        <p:nvPicPr>
          <p:cNvPr id="438" name="Google Shape;438;p25"/>
          <p:cNvPicPr preferRelativeResize="0"/>
          <p:nvPr/>
        </p:nvPicPr>
        <p:blipFill rotWithShape="1">
          <a:blip r:embed="rId2">
            <a:alphaModFix/>
          </a:blip>
          <a:srcRect/>
          <a:stretch/>
        </p:blipFill>
        <p:spPr>
          <a:xfrm>
            <a:off x="4369124" y="1727802"/>
            <a:ext cx="3453753" cy="3402396"/>
          </a:xfrm>
          <a:prstGeom prst="rect">
            <a:avLst/>
          </a:prstGeom>
          <a:noFill/>
          <a:ln>
            <a:noFill/>
          </a:ln>
        </p:spPr>
      </p:pic>
      <p:sp>
        <p:nvSpPr>
          <p:cNvPr id="439" name="Google Shape;439;p25"/>
          <p:cNvSpPr/>
          <p:nvPr/>
        </p:nvSpPr>
        <p:spPr>
          <a:xfrm>
            <a:off x="135235" y="6474525"/>
            <a:ext cx="544432"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440" name="Google Shape;440;p25"/>
          <p:cNvGrpSpPr/>
          <p:nvPr/>
        </p:nvGrpSpPr>
        <p:grpSpPr>
          <a:xfrm>
            <a:off x="205437" y="6454898"/>
            <a:ext cx="544432" cy="365125"/>
            <a:chOff x="119712" y="6454898"/>
            <a:chExt cx="544432" cy="365125"/>
          </a:xfrm>
        </p:grpSpPr>
        <p:sp>
          <p:nvSpPr>
            <p:cNvPr id="441" name="Google Shape;441;p25"/>
            <p:cNvSpPr/>
            <p:nvPr/>
          </p:nvSpPr>
          <p:spPr>
            <a:xfrm>
              <a:off x="119712" y="6488235"/>
              <a:ext cx="544432" cy="298450"/>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42" name="Google Shape;442;p2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grpSp>
      <p:sp>
        <p:nvSpPr>
          <p:cNvPr id="443" name="Google Shape;443;p25"/>
          <p:cNvSpPr txBox="1">
            <a:spLocks noGrp="1"/>
          </p:cNvSpPr>
          <p:nvPr>
            <p:ph type="dt" idx="10"/>
          </p:nvPr>
        </p:nvSpPr>
        <p:spPr>
          <a:xfrm>
            <a:off x="914400" y="654826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4" name="Google Shape;444;p2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5" name="Google Shape;445;p25"/>
          <p:cNvSpPr txBox="1"/>
          <p:nvPr/>
        </p:nvSpPr>
        <p:spPr>
          <a:xfrm>
            <a:off x="8176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sp>
        <p:nvSpPr>
          <p:cNvPr id="446" name="Google Shape;446;p25"/>
          <p:cNvSpPr txBox="1"/>
          <p:nvPr/>
        </p:nvSpPr>
        <p:spPr>
          <a:xfrm>
            <a:off x="10536385"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pic>
        <p:nvPicPr>
          <p:cNvPr id="447" name="Google Shape;447;p25"/>
          <p:cNvPicPr preferRelativeResize="0"/>
          <p:nvPr/>
        </p:nvPicPr>
        <p:blipFill rotWithShape="1">
          <a:blip r:embed="rId3">
            <a:alphaModFix/>
          </a:blip>
          <a:srcRect/>
          <a:stretch/>
        </p:blipFill>
        <p:spPr>
          <a:xfrm>
            <a:off x="2602785" y="6488354"/>
            <a:ext cx="9336024" cy="118217"/>
          </a:xfrm>
          <a:prstGeom prst="rect">
            <a:avLst/>
          </a:prstGeom>
          <a:noFill/>
          <a:ln>
            <a:noFill/>
          </a:ln>
        </p:spPr>
      </p:pic>
      <p:sp>
        <p:nvSpPr>
          <p:cNvPr id="448" name="Google Shape;448;p25"/>
          <p:cNvSpPr txBox="1"/>
          <p:nvPr/>
        </p:nvSpPr>
        <p:spPr>
          <a:xfrm>
            <a:off x="8176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grpSp>
        <p:nvGrpSpPr>
          <p:cNvPr id="449" name="Google Shape;449;p25"/>
          <p:cNvGrpSpPr/>
          <p:nvPr/>
        </p:nvGrpSpPr>
        <p:grpSpPr>
          <a:xfrm rot="5400000" flipH="1">
            <a:off x="11994349" y="89858"/>
            <a:ext cx="108319" cy="107166"/>
            <a:chOff x="9886950" y="442913"/>
            <a:chExt cx="216694" cy="214386"/>
          </a:xfrm>
        </p:grpSpPr>
        <p:sp>
          <p:nvSpPr>
            <p:cNvPr id="450" name="Google Shape;450;p25"/>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25"/>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25"/>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Blue 2">
  <p:cSld name="Blank Blue 2">
    <p:bg>
      <p:bgPr>
        <a:solidFill>
          <a:srgbClr val="00B0F0"/>
        </a:solidFill>
        <a:effectLst/>
      </p:bgPr>
    </p:bg>
    <p:spTree>
      <p:nvGrpSpPr>
        <p:cNvPr id="1" name="Shape 453"/>
        <p:cNvGrpSpPr/>
        <p:nvPr/>
      </p:nvGrpSpPr>
      <p:grpSpPr>
        <a:xfrm>
          <a:off x="0" y="0"/>
          <a:ext cx="0" cy="0"/>
          <a:chOff x="0" y="0"/>
          <a:chExt cx="0" cy="0"/>
        </a:xfrm>
      </p:grpSpPr>
      <p:pic>
        <p:nvPicPr>
          <p:cNvPr id="454" name="Google Shape;454;p26"/>
          <p:cNvPicPr preferRelativeResize="0"/>
          <p:nvPr/>
        </p:nvPicPr>
        <p:blipFill rotWithShape="1">
          <a:blip r:embed="rId2">
            <a:alphaModFix/>
          </a:blip>
          <a:srcRect/>
          <a:stretch/>
        </p:blipFill>
        <p:spPr>
          <a:xfrm>
            <a:off x="4369124" y="1727802"/>
            <a:ext cx="3453753" cy="3402396"/>
          </a:xfrm>
          <a:prstGeom prst="rect">
            <a:avLst/>
          </a:prstGeom>
          <a:noFill/>
          <a:ln>
            <a:noFill/>
          </a:ln>
        </p:spPr>
      </p:pic>
      <p:grpSp>
        <p:nvGrpSpPr>
          <p:cNvPr id="455" name="Google Shape;455;p26"/>
          <p:cNvGrpSpPr/>
          <p:nvPr/>
        </p:nvGrpSpPr>
        <p:grpSpPr>
          <a:xfrm rot="5400000" flipH="1">
            <a:off x="11994349" y="89858"/>
            <a:ext cx="108319" cy="107166"/>
            <a:chOff x="9886950" y="442913"/>
            <a:chExt cx="216694" cy="214386"/>
          </a:xfrm>
        </p:grpSpPr>
        <p:sp>
          <p:nvSpPr>
            <p:cNvPr id="456" name="Google Shape;456;p26"/>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26"/>
            <p:cNvSpPr/>
            <p:nvPr/>
          </p:nvSpPr>
          <p:spPr>
            <a:xfrm>
              <a:off x="10006013" y="559668"/>
              <a:ext cx="97631" cy="97631"/>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8" name="Google Shape;458;p26"/>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459" name="Google Shape;459;p26"/>
          <p:cNvPicPr preferRelativeResize="0"/>
          <p:nvPr/>
        </p:nvPicPr>
        <p:blipFill rotWithShape="1">
          <a:blip r:embed="rId3">
            <a:alphaModFix/>
          </a:blip>
          <a:srcRect/>
          <a:stretch/>
        </p:blipFill>
        <p:spPr>
          <a:xfrm>
            <a:off x="2599612" y="6488270"/>
            <a:ext cx="9336024" cy="118110"/>
          </a:xfrm>
          <a:prstGeom prst="rect">
            <a:avLst/>
          </a:prstGeom>
          <a:noFill/>
          <a:ln>
            <a:noFill/>
          </a:ln>
        </p:spPr>
      </p:pic>
      <p:sp>
        <p:nvSpPr>
          <p:cNvPr id="460" name="Google Shape;460;p2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61" name="Google Shape;461;p26"/>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462" name="Google Shape;462;p26"/>
          <p:cNvSpPr/>
          <p:nvPr/>
        </p:nvSpPr>
        <p:spPr>
          <a:xfrm>
            <a:off x="11577955" y="6548263"/>
            <a:ext cx="340536" cy="170378"/>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63" name="Google Shape;463;p26"/>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64" name="Google Shape;464;p26"/>
          <p:cNvGrpSpPr/>
          <p:nvPr/>
        </p:nvGrpSpPr>
        <p:grpSpPr>
          <a:xfrm>
            <a:off x="817685" y="6410864"/>
            <a:ext cx="2760487" cy="403790"/>
            <a:chOff x="741485" y="6410864"/>
            <a:chExt cx="2760487" cy="403790"/>
          </a:xfrm>
        </p:grpSpPr>
        <p:sp>
          <p:nvSpPr>
            <p:cNvPr id="465" name="Google Shape;465;p2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466" name="Google Shape;466;p2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467" name="Google Shape;467;p26"/>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p>
        </p:txBody>
      </p:sp>
      <p:sp>
        <p:nvSpPr>
          <p:cNvPr id="468" name="Google Shape;468;p2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2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cbook 1">
  <p:cSld name="Macbook 1">
    <p:spTree>
      <p:nvGrpSpPr>
        <p:cNvPr id="1" name="Shape 470"/>
        <p:cNvGrpSpPr/>
        <p:nvPr/>
      </p:nvGrpSpPr>
      <p:grpSpPr>
        <a:xfrm>
          <a:off x="0" y="0"/>
          <a:ext cx="0" cy="0"/>
          <a:chOff x="0" y="0"/>
          <a:chExt cx="0" cy="0"/>
        </a:xfrm>
      </p:grpSpPr>
      <p:grpSp>
        <p:nvGrpSpPr>
          <p:cNvPr id="471" name="Google Shape;471;p27"/>
          <p:cNvGrpSpPr/>
          <p:nvPr/>
        </p:nvGrpSpPr>
        <p:grpSpPr>
          <a:xfrm>
            <a:off x="2262706" y="1080007"/>
            <a:ext cx="7666588" cy="4425443"/>
            <a:chOff x="2738438" y="30163"/>
            <a:chExt cx="11828463" cy="6827838"/>
          </a:xfrm>
        </p:grpSpPr>
        <p:sp>
          <p:nvSpPr>
            <p:cNvPr id="472" name="Google Shape;472;p27"/>
            <p:cNvSpPr/>
            <p:nvPr/>
          </p:nvSpPr>
          <p:spPr>
            <a:xfrm>
              <a:off x="3821113" y="30163"/>
              <a:ext cx="9663113" cy="6823075"/>
            </a:xfrm>
            <a:custGeom>
              <a:avLst/>
              <a:gdLst/>
              <a:ahLst/>
              <a:cxnLst/>
              <a:rect l="l" t="t" r="r" b="b"/>
              <a:pathLst>
                <a:path w="6087" h="4298" extrusionOk="0">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a:gsLst>
                <a:gs pos="0">
                  <a:srgbClr val="B0B2B4"/>
                </a:gs>
                <a:gs pos="100000">
                  <a:srgbClr val="DFE0E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3" name="Google Shape;473;p27"/>
            <p:cNvSpPr/>
            <p:nvPr/>
          </p:nvSpPr>
          <p:spPr>
            <a:xfrm>
              <a:off x="3865563" y="74613"/>
              <a:ext cx="9574213" cy="6735763"/>
            </a:xfrm>
            <a:custGeom>
              <a:avLst/>
              <a:gdLst/>
              <a:ahLst/>
              <a:cxnLst/>
              <a:rect l="l" t="t" r="r" b="b"/>
              <a:pathLst>
                <a:path w="6031" h="4243" extrusionOk="0">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srgbClr val="000000">
                  <a:alpha val="60784"/>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4" name="Google Shape;474;p27"/>
            <p:cNvSpPr/>
            <p:nvPr/>
          </p:nvSpPr>
          <p:spPr>
            <a:xfrm>
              <a:off x="3892550" y="6342063"/>
              <a:ext cx="9520238" cy="441325"/>
            </a:xfrm>
            <a:custGeom>
              <a:avLst/>
              <a:gdLst/>
              <a:ahLst/>
              <a:cxnLst/>
              <a:rect l="l" t="t" r="r" b="b"/>
              <a:pathLst>
                <a:path w="5997" h="278" extrusionOk="0">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5" name="Google Shape;475;p27"/>
            <p:cNvSpPr/>
            <p:nvPr/>
          </p:nvSpPr>
          <p:spPr>
            <a:xfrm>
              <a:off x="4205288" y="533400"/>
              <a:ext cx="8897938" cy="5565775"/>
            </a:xfrm>
            <a:prstGeom prst="rect">
              <a:avLst/>
            </a:prstGeom>
            <a:solidFill>
              <a:srgbClr val="2626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6" name="Google Shape;476;p27"/>
            <p:cNvSpPr/>
            <p:nvPr/>
          </p:nvSpPr>
          <p:spPr>
            <a:xfrm>
              <a:off x="2738438" y="6618288"/>
              <a:ext cx="11828463" cy="239713"/>
            </a:xfrm>
            <a:custGeom>
              <a:avLst/>
              <a:gdLst/>
              <a:ahLst/>
              <a:cxnLst/>
              <a:rect l="l" t="t" r="r" b="b"/>
              <a:pathLst>
                <a:path w="7451" h="151" extrusionOk="0">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7" name="Google Shape;477;p27"/>
            <p:cNvSpPr/>
            <p:nvPr/>
          </p:nvSpPr>
          <p:spPr>
            <a:xfrm>
              <a:off x="2738438" y="6618288"/>
              <a:ext cx="11828463" cy="55563"/>
            </a:xfrm>
            <a:custGeom>
              <a:avLst/>
              <a:gdLst/>
              <a:ahLst/>
              <a:cxnLst/>
              <a:rect l="l" t="t" r="r" b="b"/>
              <a:pathLst>
                <a:path w="7451" h="35" extrusionOk="0">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686B6C"/>
                </a:gs>
                <a:gs pos="3000">
                  <a:srgbClr val="96999A"/>
                </a:gs>
                <a:gs pos="9000">
                  <a:srgbClr val="DFE0E1"/>
                </a:gs>
                <a:gs pos="91000">
                  <a:srgbClr val="DFE0E1"/>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8" name="Google Shape;478;p27"/>
            <p:cNvSpPr/>
            <p:nvPr/>
          </p:nvSpPr>
          <p:spPr>
            <a:xfrm>
              <a:off x="7524750" y="6619875"/>
              <a:ext cx="2255838" cy="90488"/>
            </a:xfrm>
            <a:custGeom>
              <a:avLst/>
              <a:gdLst/>
              <a:ahLst/>
              <a:cxnLst/>
              <a:rect l="l" t="t" r="r" b="b"/>
              <a:pathLst>
                <a:path w="1421" h="57" extrusionOk="0">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686B6C"/>
                </a:gs>
                <a:gs pos="3000">
                  <a:srgbClr val="96999A"/>
                </a:gs>
                <a:gs pos="9000">
                  <a:srgbClr val="D3D4D6"/>
                </a:gs>
                <a:gs pos="91000">
                  <a:srgbClr val="D3D4D6"/>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grpSp>
      <p:sp>
        <p:nvSpPr>
          <p:cNvPr id="479" name="Google Shape;479;p27"/>
          <p:cNvSpPr>
            <a:spLocks noGrp="1"/>
          </p:cNvSpPr>
          <p:nvPr>
            <p:ph type="pic" idx="2"/>
          </p:nvPr>
        </p:nvSpPr>
        <p:spPr>
          <a:xfrm>
            <a:off x="3219450" y="1400175"/>
            <a:ext cx="5762625" cy="3600450"/>
          </a:xfrm>
          <a:prstGeom prst="rect">
            <a:avLst/>
          </a:prstGeom>
          <a:solidFill>
            <a:srgbClr val="F2F2F2"/>
          </a:solidFill>
          <a:ln>
            <a:noFill/>
          </a:ln>
        </p:spPr>
      </p:sp>
      <p:pic>
        <p:nvPicPr>
          <p:cNvPr id="480" name="Google Shape;480;p27"/>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481" name="Google Shape;481;p2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82" name="Google Shape;482;p27"/>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483" name="Google Shape;483;p27"/>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84" name="Google Shape;484;p27"/>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85" name="Google Shape;485;p27"/>
          <p:cNvGrpSpPr/>
          <p:nvPr/>
        </p:nvGrpSpPr>
        <p:grpSpPr>
          <a:xfrm>
            <a:off x="817685" y="6410864"/>
            <a:ext cx="2760487" cy="403790"/>
            <a:chOff x="741485" y="6410864"/>
            <a:chExt cx="2760487" cy="403790"/>
          </a:xfrm>
        </p:grpSpPr>
        <p:sp>
          <p:nvSpPr>
            <p:cNvPr id="486" name="Google Shape;486;p2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87" name="Google Shape;487;p2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88" name="Google Shape;488;p27"/>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489" name="Google Shape;489;p27"/>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490" name="Google Shape;490;p2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1" name="Google Shape;491;p2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cbook 2">
  <p:cSld name="Macbook 2">
    <p:spTree>
      <p:nvGrpSpPr>
        <p:cNvPr id="1" name="Shape 492"/>
        <p:cNvGrpSpPr/>
        <p:nvPr/>
      </p:nvGrpSpPr>
      <p:grpSpPr>
        <a:xfrm>
          <a:off x="0" y="0"/>
          <a:ext cx="0" cy="0"/>
          <a:chOff x="0" y="0"/>
          <a:chExt cx="0" cy="0"/>
        </a:xfrm>
      </p:grpSpPr>
      <p:pic>
        <p:nvPicPr>
          <p:cNvPr id="493" name="Google Shape;493;p28"/>
          <p:cNvPicPr preferRelativeResize="0"/>
          <p:nvPr/>
        </p:nvPicPr>
        <p:blipFill rotWithShape="1">
          <a:blip r:embed="rId2">
            <a:alphaModFix amt="85000"/>
          </a:blip>
          <a:srcRect/>
          <a:stretch/>
        </p:blipFill>
        <p:spPr>
          <a:xfrm>
            <a:off x="2642247" y="1727802"/>
            <a:ext cx="3453753" cy="3402396"/>
          </a:xfrm>
          <a:prstGeom prst="rect">
            <a:avLst/>
          </a:prstGeom>
          <a:noFill/>
          <a:ln>
            <a:noFill/>
          </a:ln>
        </p:spPr>
      </p:pic>
      <p:grpSp>
        <p:nvGrpSpPr>
          <p:cNvPr id="494" name="Google Shape;494;p28"/>
          <p:cNvGrpSpPr/>
          <p:nvPr/>
        </p:nvGrpSpPr>
        <p:grpSpPr>
          <a:xfrm>
            <a:off x="5868547" y="1080007"/>
            <a:ext cx="7666588" cy="4425443"/>
            <a:chOff x="2738438" y="30163"/>
            <a:chExt cx="11828463" cy="6827838"/>
          </a:xfrm>
        </p:grpSpPr>
        <p:sp>
          <p:nvSpPr>
            <p:cNvPr id="495" name="Google Shape;495;p28"/>
            <p:cNvSpPr/>
            <p:nvPr/>
          </p:nvSpPr>
          <p:spPr>
            <a:xfrm>
              <a:off x="3821113" y="30163"/>
              <a:ext cx="9663113" cy="6823075"/>
            </a:xfrm>
            <a:custGeom>
              <a:avLst/>
              <a:gdLst/>
              <a:ahLst/>
              <a:cxnLst/>
              <a:rect l="l" t="t" r="r" b="b"/>
              <a:pathLst>
                <a:path w="6087" h="4298" extrusionOk="0">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a:gsLst>
                <a:gs pos="0">
                  <a:srgbClr val="B0B2B4"/>
                </a:gs>
                <a:gs pos="100000">
                  <a:srgbClr val="DFE0E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6" name="Google Shape;496;p28"/>
            <p:cNvSpPr/>
            <p:nvPr/>
          </p:nvSpPr>
          <p:spPr>
            <a:xfrm>
              <a:off x="3865563" y="74613"/>
              <a:ext cx="9574213" cy="6735763"/>
            </a:xfrm>
            <a:custGeom>
              <a:avLst/>
              <a:gdLst/>
              <a:ahLst/>
              <a:cxnLst/>
              <a:rect l="l" t="t" r="r" b="b"/>
              <a:pathLst>
                <a:path w="6031" h="4243" extrusionOk="0">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srgbClr val="000000">
                  <a:alpha val="60784"/>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7" name="Google Shape;497;p28"/>
            <p:cNvSpPr/>
            <p:nvPr/>
          </p:nvSpPr>
          <p:spPr>
            <a:xfrm>
              <a:off x="3892550" y="6342063"/>
              <a:ext cx="9520238" cy="441325"/>
            </a:xfrm>
            <a:custGeom>
              <a:avLst/>
              <a:gdLst/>
              <a:ahLst/>
              <a:cxnLst/>
              <a:rect l="l" t="t" r="r" b="b"/>
              <a:pathLst>
                <a:path w="5997" h="278" extrusionOk="0">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8" name="Google Shape;498;p28"/>
            <p:cNvSpPr/>
            <p:nvPr/>
          </p:nvSpPr>
          <p:spPr>
            <a:xfrm>
              <a:off x="4205288" y="533400"/>
              <a:ext cx="8897938" cy="5565775"/>
            </a:xfrm>
            <a:prstGeom prst="rect">
              <a:avLst/>
            </a:prstGeom>
            <a:solidFill>
              <a:srgbClr val="2626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9" name="Google Shape;499;p28"/>
            <p:cNvSpPr/>
            <p:nvPr/>
          </p:nvSpPr>
          <p:spPr>
            <a:xfrm>
              <a:off x="2738438" y="6618288"/>
              <a:ext cx="11828463" cy="239713"/>
            </a:xfrm>
            <a:custGeom>
              <a:avLst/>
              <a:gdLst/>
              <a:ahLst/>
              <a:cxnLst/>
              <a:rect l="l" t="t" r="r" b="b"/>
              <a:pathLst>
                <a:path w="7451" h="151" extrusionOk="0">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500" name="Google Shape;500;p28"/>
            <p:cNvSpPr/>
            <p:nvPr/>
          </p:nvSpPr>
          <p:spPr>
            <a:xfrm>
              <a:off x="2738438" y="6618288"/>
              <a:ext cx="11828463" cy="55563"/>
            </a:xfrm>
            <a:custGeom>
              <a:avLst/>
              <a:gdLst/>
              <a:ahLst/>
              <a:cxnLst/>
              <a:rect l="l" t="t" r="r" b="b"/>
              <a:pathLst>
                <a:path w="7451" h="35" extrusionOk="0">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686B6C"/>
                </a:gs>
                <a:gs pos="3000">
                  <a:srgbClr val="96999A"/>
                </a:gs>
                <a:gs pos="9000">
                  <a:srgbClr val="DFE0E1"/>
                </a:gs>
                <a:gs pos="91000">
                  <a:srgbClr val="DFE0E1"/>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501" name="Google Shape;501;p28"/>
            <p:cNvSpPr/>
            <p:nvPr/>
          </p:nvSpPr>
          <p:spPr>
            <a:xfrm>
              <a:off x="7524750" y="6619875"/>
              <a:ext cx="2255838" cy="90488"/>
            </a:xfrm>
            <a:custGeom>
              <a:avLst/>
              <a:gdLst/>
              <a:ahLst/>
              <a:cxnLst/>
              <a:rect l="l" t="t" r="r" b="b"/>
              <a:pathLst>
                <a:path w="1421" h="57" extrusionOk="0">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686B6C"/>
                </a:gs>
                <a:gs pos="3000">
                  <a:srgbClr val="96999A"/>
                </a:gs>
                <a:gs pos="9000">
                  <a:srgbClr val="D3D4D6"/>
                </a:gs>
                <a:gs pos="91000">
                  <a:srgbClr val="D3D4D6"/>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grpSp>
      <p:sp>
        <p:nvSpPr>
          <p:cNvPr id="502" name="Google Shape;502;p28"/>
          <p:cNvSpPr>
            <a:spLocks noGrp="1"/>
          </p:cNvSpPr>
          <p:nvPr>
            <p:ph type="pic" idx="2"/>
          </p:nvPr>
        </p:nvSpPr>
        <p:spPr>
          <a:xfrm>
            <a:off x="6825291" y="1400175"/>
            <a:ext cx="5762625" cy="3600450"/>
          </a:xfrm>
          <a:prstGeom prst="rect">
            <a:avLst/>
          </a:prstGeom>
          <a:solidFill>
            <a:srgbClr val="F2F2F2"/>
          </a:solidFill>
          <a:ln>
            <a:noFill/>
          </a:ln>
        </p:spPr>
      </p:sp>
      <p:sp>
        <p:nvSpPr>
          <p:cNvPr id="503" name="Google Shape;503;p28"/>
          <p:cNvSpPr txBox="1">
            <a:spLocks noGrp="1"/>
          </p:cNvSpPr>
          <p:nvPr>
            <p:ph type="ctrTitle"/>
          </p:nvPr>
        </p:nvSpPr>
        <p:spPr>
          <a:xfrm>
            <a:off x="514349" y="1400175"/>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4" name="Google Shape;504;p28"/>
          <p:cNvSpPr txBox="1">
            <a:spLocks noGrp="1"/>
          </p:cNvSpPr>
          <p:nvPr>
            <p:ph type="subTitle" idx="1"/>
          </p:nvPr>
        </p:nvSpPr>
        <p:spPr>
          <a:xfrm>
            <a:off x="514348" y="3160711"/>
            <a:ext cx="5153026" cy="1839914"/>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05" name="Google Shape;505;p28"/>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506" name="Google Shape;506;p2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07" name="Google Shape;507;p2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508" name="Google Shape;508;p2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09" name="Google Shape;509;p2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10" name="Google Shape;510;p28"/>
          <p:cNvGrpSpPr/>
          <p:nvPr/>
        </p:nvGrpSpPr>
        <p:grpSpPr>
          <a:xfrm>
            <a:off x="817685" y="6410864"/>
            <a:ext cx="2760487" cy="403790"/>
            <a:chOff x="741485" y="6410864"/>
            <a:chExt cx="2760487" cy="403790"/>
          </a:xfrm>
        </p:grpSpPr>
        <p:sp>
          <p:nvSpPr>
            <p:cNvPr id="511" name="Google Shape;511;p2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12" name="Google Shape;512;p2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13" name="Google Shape;513;p2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514" name="Google Shape;514;p28"/>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515" name="Google Shape;515;p2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6" name="Google Shape;516;p2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3"/>
                                        </p:tgtEl>
                                        <p:attrNameLst>
                                          <p:attrName>style.visibility</p:attrName>
                                        </p:attrNameLst>
                                      </p:cBhvr>
                                      <p:to>
                                        <p:strVal val="visible"/>
                                      </p:to>
                                    </p:set>
                                    <p:animEffect transition="in" filter="fade">
                                      <p:cBhvr>
                                        <p:cTn id="7" dur="500"/>
                                        <p:tgtEl>
                                          <p:spTgt spid="50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04">
                                            <p:txEl>
                                              <p:pRg st="0" end="0"/>
                                            </p:txEl>
                                          </p:spTgt>
                                        </p:tgtEl>
                                        <p:attrNameLst>
                                          <p:attrName>style.visibility</p:attrName>
                                        </p:attrNameLst>
                                      </p:cBhvr>
                                      <p:to>
                                        <p:strVal val="visible"/>
                                      </p:to>
                                    </p:set>
                                    <p:animEffect transition="in" filter="fade">
                                      <p:cBhvr>
                                        <p:cTn id="11" dur="500"/>
                                        <p:tgtEl>
                                          <p:spTgt spid="504">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04">
                                            <p:txEl>
                                              <p:pRg st="1" end="1"/>
                                            </p:txEl>
                                          </p:spTgt>
                                        </p:tgtEl>
                                        <p:attrNameLst>
                                          <p:attrName>style.visibility</p:attrName>
                                        </p:attrNameLst>
                                      </p:cBhvr>
                                      <p:to>
                                        <p:strVal val="visible"/>
                                      </p:to>
                                    </p:set>
                                    <p:animEffect transition="in" filter="fade">
                                      <p:cBhvr>
                                        <p:cTn id="15" dur="500"/>
                                        <p:tgtEl>
                                          <p:spTgt spid="504">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04">
                                            <p:txEl>
                                              <p:pRg st="2" end="2"/>
                                            </p:txEl>
                                          </p:spTgt>
                                        </p:tgtEl>
                                        <p:attrNameLst>
                                          <p:attrName>style.visibility</p:attrName>
                                        </p:attrNameLst>
                                      </p:cBhvr>
                                      <p:to>
                                        <p:strVal val="visible"/>
                                      </p:to>
                                    </p:set>
                                    <p:animEffect transition="in" filter="fade">
                                      <p:cBhvr>
                                        <p:cTn id="19" dur="500"/>
                                        <p:tgtEl>
                                          <p:spTgt spid="504">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04">
                                            <p:txEl>
                                              <p:pRg st="3" end="3"/>
                                            </p:txEl>
                                          </p:spTgt>
                                        </p:tgtEl>
                                        <p:attrNameLst>
                                          <p:attrName>style.visibility</p:attrName>
                                        </p:attrNameLst>
                                      </p:cBhvr>
                                      <p:to>
                                        <p:strVal val="visible"/>
                                      </p:to>
                                    </p:set>
                                    <p:animEffect transition="in" filter="fade">
                                      <p:cBhvr>
                                        <p:cTn id="23" dur="500"/>
                                        <p:tgtEl>
                                          <p:spTgt spid="504">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04">
                                            <p:txEl>
                                              <p:pRg st="4" end="4"/>
                                            </p:txEl>
                                          </p:spTgt>
                                        </p:tgtEl>
                                        <p:attrNameLst>
                                          <p:attrName>style.visibility</p:attrName>
                                        </p:attrNameLst>
                                      </p:cBhvr>
                                      <p:to>
                                        <p:strVal val="visible"/>
                                      </p:to>
                                    </p:set>
                                    <p:animEffect transition="in" filter="fade">
                                      <p:cBhvr>
                                        <p:cTn id="27" dur="500"/>
                                        <p:tgtEl>
                                          <p:spTgt spid="504">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04">
                                            <p:txEl>
                                              <p:pRg st="5" end="5"/>
                                            </p:txEl>
                                          </p:spTgt>
                                        </p:tgtEl>
                                        <p:attrNameLst>
                                          <p:attrName>style.visibility</p:attrName>
                                        </p:attrNameLst>
                                      </p:cBhvr>
                                      <p:to>
                                        <p:strVal val="visible"/>
                                      </p:to>
                                    </p:set>
                                    <p:animEffect transition="in" filter="fade">
                                      <p:cBhvr>
                                        <p:cTn id="31" dur="500"/>
                                        <p:tgtEl>
                                          <p:spTgt spid="504">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04">
                                            <p:txEl>
                                              <p:pRg st="6" end="6"/>
                                            </p:txEl>
                                          </p:spTgt>
                                        </p:tgtEl>
                                        <p:attrNameLst>
                                          <p:attrName>style.visibility</p:attrName>
                                        </p:attrNameLst>
                                      </p:cBhvr>
                                      <p:to>
                                        <p:strVal val="visible"/>
                                      </p:to>
                                    </p:set>
                                    <p:animEffect transition="in" filter="fade">
                                      <p:cBhvr>
                                        <p:cTn id="35" dur="500"/>
                                        <p:tgtEl>
                                          <p:spTgt spid="504">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04">
                                            <p:txEl>
                                              <p:pRg st="7" end="7"/>
                                            </p:txEl>
                                          </p:spTgt>
                                        </p:tgtEl>
                                        <p:attrNameLst>
                                          <p:attrName>style.visibility</p:attrName>
                                        </p:attrNameLst>
                                      </p:cBhvr>
                                      <p:to>
                                        <p:strVal val="visible"/>
                                      </p:to>
                                    </p:set>
                                    <p:animEffect transition="in" filter="fade">
                                      <p:cBhvr>
                                        <p:cTn id="39" dur="500"/>
                                        <p:tgtEl>
                                          <p:spTgt spid="504">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04">
                                            <p:txEl>
                                              <p:pRg st="8" end="8"/>
                                            </p:txEl>
                                          </p:spTgt>
                                        </p:tgtEl>
                                        <p:attrNameLst>
                                          <p:attrName>style.visibility</p:attrName>
                                        </p:attrNameLst>
                                      </p:cBhvr>
                                      <p:to>
                                        <p:strVal val="visible"/>
                                      </p:to>
                                    </p:set>
                                    <p:animEffect transition="in" filter="fade">
                                      <p:cBhvr>
                                        <p:cTn id="43" dur="500"/>
                                        <p:tgtEl>
                                          <p:spTgt spid="50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hone 1">
  <p:cSld name="Phone 1">
    <p:spTree>
      <p:nvGrpSpPr>
        <p:cNvPr id="1" name="Shape 517"/>
        <p:cNvGrpSpPr/>
        <p:nvPr/>
      </p:nvGrpSpPr>
      <p:grpSpPr>
        <a:xfrm>
          <a:off x="0" y="0"/>
          <a:ext cx="0" cy="0"/>
          <a:chOff x="0" y="0"/>
          <a:chExt cx="0" cy="0"/>
        </a:xfrm>
      </p:grpSpPr>
      <p:sp>
        <p:nvSpPr>
          <p:cNvPr id="518" name="Google Shape;518;p29"/>
          <p:cNvSpPr txBox="1">
            <a:spLocks noGrp="1"/>
          </p:cNvSpPr>
          <p:nvPr>
            <p:ph type="ctrTitle"/>
          </p:nvPr>
        </p:nvSpPr>
        <p:spPr>
          <a:xfrm>
            <a:off x="514349" y="1048131"/>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9" name="Google Shape;519;p29"/>
          <p:cNvSpPr txBox="1">
            <a:spLocks noGrp="1"/>
          </p:cNvSpPr>
          <p:nvPr>
            <p:ph type="subTitle" idx="1"/>
          </p:nvPr>
        </p:nvSpPr>
        <p:spPr>
          <a:xfrm>
            <a:off x="514348" y="2808667"/>
            <a:ext cx="5153026" cy="228720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20" name="Google Shape;520;p29"/>
          <p:cNvPicPr preferRelativeResize="0"/>
          <p:nvPr/>
        </p:nvPicPr>
        <p:blipFill rotWithShape="1">
          <a:blip r:embed="rId2">
            <a:alphaModFix amt="85000"/>
          </a:blip>
          <a:srcRect/>
          <a:stretch/>
        </p:blipFill>
        <p:spPr>
          <a:xfrm>
            <a:off x="4369123" y="1742120"/>
            <a:ext cx="3453753" cy="3402396"/>
          </a:xfrm>
          <a:prstGeom prst="rect">
            <a:avLst/>
          </a:prstGeom>
          <a:noFill/>
          <a:ln>
            <a:noFill/>
          </a:ln>
        </p:spPr>
      </p:pic>
      <p:pic>
        <p:nvPicPr>
          <p:cNvPr id="521" name="Google Shape;521;p29" descr="Samsung Mobile Mockup Template Download on Pngtree | Mobile mockup, Samsung  mobile, Samsung"/>
          <p:cNvPicPr preferRelativeResize="0"/>
          <p:nvPr/>
        </p:nvPicPr>
        <p:blipFill rotWithShape="1">
          <a:blip r:embed="rId3">
            <a:alphaModFix/>
          </a:blip>
          <a:srcRect/>
          <a:stretch/>
        </p:blipFill>
        <p:spPr>
          <a:xfrm>
            <a:off x="6746875" y="657226"/>
            <a:ext cx="4972049" cy="4972050"/>
          </a:xfrm>
          <a:prstGeom prst="rect">
            <a:avLst/>
          </a:prstGeom>
          <a:noFill/>
          <a:ln>
            <a:noFill/>
          </a:ln>
        </p:spPr>
      </p:pic>
      <p:sp>
        <p:nvSpPr>
          <p:cNvPr id="522" name="Google Shape;522;p29"/>
          <p:cNvSpPr>
            <a:spLocks noGrp="1"/>
          </p:cNvSpPr>
          <p:nvPr>
            <p:ph type="pic" idx="2"/>
          </p:nvPr>
        </p:nvSpPr>
        <p:spPr>
          <a:xfrm>
            <a:off x="8305800" y="1057275"/>
            <a:ext cx="2095500" cy="4038600"/>
          </a:xfrm>
          <a:prstGeom prst="roundRect">
            <a:avLst>
              <a:gd name="adj" fmla="val 4741"/>
            </a:avLst>
          </a:prstGeom>
          <a:solidFill>
            <a:srgbClr val="F2F2F2"/>
          </a:solidFill>
          <a:ln>
            <a:noFill/>
          </a:ln>
        </p:spPr>
      </p:sp>
      <p:pic>
        <p:nvPicPr>
          <p:cNvPr id="523" name="Google Shape;523;p29"/>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24" name="Google Shape;524;p2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25" name="Google Shape;525;p2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526" name="Google Shape;526;p2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27" name="Google Shape;527;p2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28" name="Google Shape;528;p29"/>
          <p:cNvGrpSpPr/>
          <p:nvPr/>
        </p:nvGrpSpPr>
        <p:grpSpPr>
          <a:xfrm>
            <a:off x="817685" y="6410864"/>
            <a:ext cx="2760487" cy="403790"/>
            <a:chOff x="741485" y="6410864"/>
            <a:chExt cx="2760487" cy="403790"/>
          </a:xfrm>
        </p:grpSpPr>
        <p:sp>
          <p:nvSpPr>
            <p:cNvPr id="529" name="Google Shape;529;p2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30" name="Google Shape;530;p2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31" name="Google Shape;531;p2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532" name="Google Shape;532;p29"/>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533" name="Google Shape;533;p2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4" name="Google Shape;534;p2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8"/>
                                        </p:tgtEl>
                                        <p:attrNameLst>
                                          <p:attrName>style.visibility</p:attrName>
                                        </p:attrNameLst>
                                      </p:cBhvr>
                                      <p:to>
                                        <p:strVal val="visible"/>
                                      </p:to>
                                    </p:set>
                                    <p:animEffect transition="in" filter="fade">
                                      <p:cBhvr>
                                        <p:cTn id="7" dur="500"/>
                                        <p:tgtEl>
                                          <p:spTgt spid="51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9">
                                            <p:txEl>
                                              <p:pRg st="0" end="0"/>
                                            </p:txEl>
                                          </p:spTgt>
                                        </p:tgtEl>
                                        <p:attrNameLst>
                                          <p:attrName>style.visibility</p:attrName>
                                        </p:attrNameLst>
                                      </p:cBhvr>
                                      <p:to>
                                        <p:strVal val="visible"/>
                                      </p:to>
                                    </p:set>
                                    <p:animEffect transition="in" filter="fade">
                                      <p:cBhvr>
                                        <p:cTn id="11" dur="500"/>
                                        <p:tgtEl>
                                          <p:spTgt spid="51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9">
                                            <p:txEl>
                                              <p:pRg st="1" end="1"/>
                                            </p:txEl>
                                          </p:spTgt>
                                        </p:tgtEl>
                                        <p:attrNameLst>
                                          <p:attrName>style.visibility</p:attrName>
                                        </p:attrNameLst>
                                      </p:cBhvr>
                                      <p:to>
                                        <p:strVal val="visible"/>
                                      </p:to>
                                    </p:set>
                                    <p:animEffect transition="in" filter="fade">
                                      <p:cBhvr>
                                        <p:cTn id="15" dur="500"/>
                                        <p:tgtEl>
                                          <p:spTgt spid="519">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19">
                                            <p:txEl>
                                              <p:pRg st="2" end="2"/>
                                            </p:txEl>
                                          </p:spTgt>
                                        </p:tgtEl>
                                        <p:attrNameLst>
                                          <p:attrName>style.visibility</p:attrName>
                                        </p:attrNameLst>
                                      </p:cBhvr>
                                      <p:to>
                                        <p:strVal val="visible"/>
                                      </p:to>
                                    </p:set>
                                    <p:animEffect transition="in" filter="fade">
                                      <p:cBhvr>
                                        <p:cTn id="19" dur="500"/>
                                        <p:tgtEl>
                                          <p:spTgt spid="519">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19">
                                            <p:txEl>
                                              <p:pRg st="3" end="3"/>
                                            </p:txEl>
                                          </p:spTgt>
                                        </p:tgtEl>
                                        <p:attrNameLst>
                                          <p:attrName>style.visibility</p:attrName>
                                        </p:attrNameLst>
                                      </p:cBhvr>
                                      <p:to>
                                        <p:strVal val="visible"/>
                                      </p:to>
                                    </p:set>
                                    <p:animEffect transition="in" filter="fade">
                                      <p:cBhvr>
                                        <p:cTn id="23" dur="500"/>
                                        <p:tgtEl>
                                          <p:spTgt spid="519">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19">
                                            <p:txEl>
                                              <p:pRg st="4" end="4"/>
                                            </p:txEl>
                                          </p:spTgt>
                                        </p:tgtEl>
                                        <p:attrNameLst>
                                          <p:attrName>style.visibility</p:attrName>
                                        </p:attrNameLst>
                                      </p:cBhvr>
                                      <p:to>
                                        <p:strVal val="visible"/>
                                      </p:to>
                                    </p:set>
                                    <p:animEffect transition="in" filter="fade">
                                      <p:cBhvr>
                                        <p:cTn id="27" dur="500"/>
                                        <p:tgtEl>
                                          <p:spTgt spid="519">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19">
                                            <p:txEl>
                                              <p:pRg st="5" end="5"/>
                                            </p:txEl>
                                          </p:spTgt>
                                        </p:tgtEl>
                                        <p:attrNameLst>
                                          <p:attrName>style.visibility</p:attrName>
                                        </p:attrNameLst>
                                      </p:cBhvr>
                                      <p:to>
                                        <p:strVal val="visible"/>
                                      </p:to>
                                    </p:set>
                                    <p:animEffect transition="in" filter="fade">
                                      <p:cBhvr>
                                        <p:cTn id="31" dur="500"/>
                                        <p:tgtEl>
                                          <p:spTgt spid="519">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19">
                                            <p:txEl>
                                              <p:pRg st="6" end="6"/>
                                            </p:txEl>
                                          </p:spTgt>
                                        </p:tgtEl>
                                        <p:attrNameLst>
                                          <p:attrName>style.visibility</p:attrName>
                                        </p:attrNameLst>
                                      </p:cBhvr>
                                      <p:to>
                                        <p:strVal val="visible"/>
                                      </p:to>
                                    </p:set>
                                    <p:animEffect transition="in" filter="fade">
                                      <p:cBhvr>
                                        <p:cTn id="35" dur="500"/>
                                        <p:tgtEl>
                                          <p:spTgt spid="519">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19">
                                            <p:txEl>
                                              <p:pRg st="7" end="7"/>
                                            </p:txEl>
                                          </p:spTgt>
                                        </p:tgtEl>
                                        <p:attrNameLst>
                                          <p:attrName>style.visibility</p:attrName>
                                        </p:attrNameLst>
                                      </p:cBhvr>
                                      <p:to>
                                        <p:strVal val="visible"/>
                                      </p:to>
                                    </p:set>
                                    <p:animEffect transition="in" filter="fade">
                                      <p:cBhvr>
                                        <p:cTn id="39" dur="500"/>
                                        <p:tgtEl>
                                          <p:spTgt spid="519">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19">
                                            <p:txEl>
                                              <p:pRg st="8" end="8"/>
                                            </p:txEl>
                                          </p:spTgt>
                                        </p:tgtEl>
                                        <p:attrNameLst>
                                          <p:attrName>style.visibility</p:attrName>
                                        </p:attrNameLst>
                                      </p:cBhvr>
                                      <p:to>
                                        <p:strVal val="visible"/>
                                      </p:to>
                                    </p:set>
                                    <p:animEffect transition="in" filter="fade">
                                      <p:cBhvr>
                                        <p:cTn id="43" dur="500"/>
                                        <p:tgtEl>
                                          <p:spTgt spid="5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hone 2">
  <p:cSld name="Phone 2">
    <p:spTree>
      <p:nvGrpSpPr>
        <p:cNvPr id="1" name="Shape 535"/>
        <p:cNvGrpSpPr/>
        <p:nvPr/>
      </p:nvGrpSpPr>
      <p:grpSpPr>
        <a:xfrm>
          <a:off x="0" y="0"/>
          <a:ext cx="0" cy="0"/>
          <a:chOff x="0" y="0"/>
          <a:chExt cx="0" cy="0"/>
        </a:xfrm>
      </p:grpSpPr>
      <p:pic>
        <p:nvPicPr>
          <p:cNvPr id="536" name="Google Shape;536;p30"/>
          <p:cNvPicPr preferRelativeResize="0"/>
          <p:nvPr/>
        </p:nvPicPr>
        <p:blipFill rotWithShape="1">
          <a:blip r:embed="rId2">
            <a:alphaModFix/>
          </a:blip>
          <a:srcRect/>
          <a:stretch/>
        </p:blipFill>
        <p:spPr>
          <a:xfrm>
            <a:off x="7943863" y="1011126"/>
            <a:ext cx="3171810" cy="5138780"/>
          </a:xfrm>
          <a:prstGeom prst="rect">
            <a:avLst/>
          </a:prstGeom>
          <a:noFill/>
          <a:ln>
            <a:noFill/>
          </a:ln>
        </p:spPr>
      </p:pic>
      <p:pic>
        <p:nvPicPr>
          <p:cNvPr id="537" name="Google Shape;537;p30"/>
          <p:cNvPicPr preferRelativeResize="0"/>
          <p:nvPr/>
        </p:nvPicPr>
        <p:blipFill rotWithShape="1">
          <a:blip r:embed="rId3">
            <a:alphaModFix amt="85000"/>
          </a:blip>
          <a:srcRect/>
          <a:stretch/>
        </p:blipFill>
        <p:spPr>
          <a:xfrm>
            <a:off x="4369123" y="1742120"/>
            <a:ext cx="3453753" cy="3402396"/>
          </a:xfrm>
          <a:prstGeom prst="rect">
            <a:avLst/>
          </a:prstGeom>
          <a:noFill/>
          <a:ln>
            <a:noFill/>
          </a:ln>
        </p:spPr>
      </p:pic>
      <p:pic>
        <p:nvPicPr>
          <p:cNvPr id="538" name="Google Shape;538;p30"/>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39" name="Google Shape;539;p30"/>
          <p:cNvSpPr txBox="1">
            <a:spLocks noGrp="1"/>
          </p:cNvSpPr>
          <p:nvPr>
            <p:ph type="ctrTitle"/>
          </p:nvPr>
        </p:nvSpPr>
        <p:spPr>
          <a:xfrm>
            <a:off x="514349" y="1048131"/>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0" name="Google Shape;540;p30"/>
          <p:cNvSpPr txBox="1">
            <a:spLocks noGrp="1"/>
          </p:cNvSpPr>
          <p:nvPr>
            <p:ph type="subTitle" idx="1"/>
          </p:nvPr>
        </p:nvSpPr>
        <p:spPr>
          <a:xfrm>
            <a:off x="514348" y="2808667"/>
            <a:ext cx="5153026" cy="228720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41" name="Google Shape;541;p3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42" name="Google Shape;542;p3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p>
        </p:txBody>
      </p:sp>
      <p:sp>
        <p:nvSpPr>
          <p:cNvPr id="543" name="Google Shape;543;p3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44" name="Google Shape;544;p3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45" name="Google Shape;545;p30"/>
          <p:cNvGrpSpPr/>
          <p:nvPr/>
        </p:nvGrpSpPr>
        <p:grpSpPr>
          <a:xfrm>
            <a:off x="817685" y="6410864"/>
            <a:ext cx="2760487" cy="403790"/>
            <a:chOff x="741485" y="6410864"/>
            <a:chExt cx="2760487" cy="403790"/>
          </a:xfrm>
        </p:grpSpPr>
        <p:sp>
          <p:nvSpPr>
            <p:cNvPr id="546" name="Google Shape;546;p3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47" name="Google Shape;547;p3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48" name="Google Shape;548;p3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p>
        </p:txBody>
      </p:sp>
      <p:pic>
        <p:nvPicPr>
          <p:cNvPr id="549" name="Google Shape;549;p30"/>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550" name="Google Shape;550;p3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1" name="Google Shape;551;p3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2" name="Google Shape;552;p30"/>
          <p:cNvSpPr>
            <a:spLocks noGrp="1"/>
          </p:cNvSpPr>
          <p:nvPr>
            <p:ph type="pic" idx="2"/>
          </p:nvPr>
        </p:nvSpPr>
        <p:spPr>
          <a:xfrm>
            <a:off x="8461702" y="1108334"/>
            <a:ext cx="2131430" cy="4626572"/>
          </a:xfrm>
          <a:prstGeom prst="rect">
            <a:avLst/>
          </a:prstGeom>
          <a:solidFill>
            <a:srgbClr val="F2F2F2"/>
          </a:solidFill>
          <a:ln>
            <a:noFill/>
          </a:ln>
        </p:spPr>
      </p:sp>
      <p:pic>
        <p:nvPicPr>
          <p:cNvPr id="553" name="Google Shape;553;p30"/>
          <p:cNvPicPr preferRelativeResize="0">
            <a:picLocks noGrp="1"/>
          </p:cNvPicPr>
          <p:nvPr>
            <p:ph type="pic" idx="3"/>
          </p:nvPr>
        </p:nvPicPr>
        <p:blipFill/>
        <p:spPr>
          <a:xfrm>
            <a:off x="9255760" y="1200818"/>
            <a:ext cx="534445" cy="155541"/>
          </a:xfrm>
          <a:prstGeom prst="rect">
            <a:avLst/>
          </a:prstGeom>
          <a:blipFill rotWithShape="1">
            <a:blip r:embed="rId6">
              <a:alphaModFix/>
            </a:blip>
            <a:stretch>
              <a:fillRect/>
            </a:stretch>
          </a:blip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500"/>
                                        <p:tgtEl>
                                          <p:spTgt spid="5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40">
                                            <p:txEl>
                                              <p:pRg st="0" end="0"/>
                                            </p:txEl>
                                          </p:spTgt>
                                        </p:tgtEl>
                                        <p:attrNameLst>
                                          <p:attrName>style.visibility</p:attrName>
                                        </p:attrNameLst>
                                      </p:cBhvr>
                                      <p:to>
                                        <p:strVal val="visible"/>
                                      </p:to>
                                    </p:set>
                                    <p:animEffect transition="in" filter="fade">
                                      <p:cBhvr>
                                        <p:cTn id="11" dur="500"/>
                                        <p:tgtEl>
                                          <p:spTgt spid="540">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40">
                                            <p:txEl>
                                              <p:pRg st="1" end="1"/>
                                            </p:txEl>
                                          </p:spTgt>
                                        </p:tgtEl>
                                        <p:attrNameLst>
                                          <p:attrName>style.visibility</p:attrName>
                                        </p:attrNameLst>
                                      </p:cBhvr>
                                      <p:to>
                                        <p:strVal val="visible"/>
                                      </p:to>
                                    </p:set>
                                    <p:animEffect transition="in" filter="fade">
                                      <p:cBhvr>
                                        <p:cTn id="15" dur="500"/>
                                        <p:tgtEl>
                                          <p:spTgt spid="540">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40">
                                            <p:txEl>
                                              <p:pRg st="2" end="2"/>
                                            </p:txEl>
                                          </p:spTgt>
                                        </p:tgtEl>
                                        <p:attrNameLst>
                                          <p:attrName>style.visibility</p:attrName>
                                        </p:attrNameLst>
                                      </p:cBhvr>
                                      <p:to>
                                        <p:strVal val="visible"/>
                                      </p:to>
                                    </p:set>
                                    <p:animEffect transition="in" filter="fade">
                                      <p:cBhvr>
                                        <p:cTn id="19" dur="500"/>
                                        <p:tgtEl>
                                          <p:spTgt spid="540">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40">
                                            <p:txEl>
                                              <p:pRg st="3" end="3"/>
                                            </p:txEl>
                                          </p:spTgt>
                                        </p:tgtEl>
                                        <p:attrNameLst>
                                          <p:attrName>style.visibility</p:attrName>
                                        </p:attrNameLst>
                                      </p:cBhvr>
                                      <p:to>
                                        <p:strVal val="visible"/>
                                      </p:to>
                                    </p:set>
                                    <p:animEffect transition="in" filter="fade">
                                      <p:cBhvr>
                                        <p:cTn id="23" dur="500"/>
                                        <p:tgtEl>
                                          <p:spTgt spid="540">
                                            <p:txEl>
                                              <p:pRg st="3" end="3"/>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0">
                                            <p:txEl>
                                              <p:pRg st="4" end="4"/>
                                            </p:txEl>
                                          </p:spTgt>
                                        </p:tgtEl>
                                        <p:attrNameLst>
                                          <p:attrName>style.visibility</p:attrName>
                                        </p:attrNameLst>
                                      </p:cBhvr>
                                      <p:to>
                                        <p:strVal val="visible"/>
                                      </p:to>
                                    </p:set>
                                    <p:animEffect transition="in" filter="fade">
                                      <p:cBhvr>
                                        <p:cTn id="27" dur="500"/>
                                        <p:tgtEl>
                                          <p:spTgt spid="540">
                                            <p:txEl>
                                              <p:pRg st="4" end="4"/>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40">
                                            <p:txEl>
                                              <p:pRg st="5" end="5"/>
                                            </p:txEl>
                                          </p:spTgt>
                                        </p:tgtEl>
                                        <p:attrNameLst>
                                          <p:attrName>style.visibility</p:attrName>
                                        </p:attrNameLst>
                                      </p:cBhvr>
                                      <p:to>
                                        <p:strVal val="visible"/>
                                      </p:to>
                                    </p:set>
                                    <p:animEffect transition="in" filter="fade">
                                      <p:cBhvr>
                                        <p:cTn id="31" dur="500"/>
                                        <p:tgtEl>
                                          <p:spTgt spid="540">
                                            <p:txEl>
                                              <p:pRg st="5" end="5"/>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40">
                                            <p:txEl>
                                              <p:pRg st="6" end="6"/>
                                            </p:txEl>
                                          </p:spTgt>
                                        </p:tgtEl>
                                        <p:attrNameLst>
                                          <p:attrName>style.visibility</p:attrName>
                                        </p:attrNameLst>
                                      </p:cBhvr>
                                      <p:to>
                                        <p:strVal val="visible"/>
                                      </p:to>
                                    </p:set>
                                    <p:animEffect transition="in" filter="fade">
                                      <p:cBhvr>
                                        <p:cTn id="35" dur="500"/>
                                        <p:tgtEl>
                                          <p:spTgt spid="540">
                                            <p:txEl>
                                              <p:pRg st="6" end="6"/>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40">
                                            <p:txEl>
                                              <p:pRg st="7" end="7"/>
                                            </p:txEl>
                                          </p:spTgt>
                                        </p:tgtEl>
                                        <p:attrNameLst>
                                          <p:attrName>style.visibility</p:attrName>
                                        </p:attrNameLst>
                                      </p:cBhvr>
                                      <p:to>
                                        <p:strVal val="visible"/>
                                      </p:to>
                                    </p:set>
                                    <p:animEffect transition="in" filter="fade">
                                      <p:cBhvr>
                                        <p:cTn id="39" dur="500"/>
                                        <p:tgtEl>
                                          <p:spTgt spid="540">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40">
                                            <p:txEl>
                                              <p:pRg st="8" end="8"/>
                                            </p:txEl>
                                          </p:spTgt>
                                        </p:tgtEl>
                                        <p:attrNameLst>
                                          <p:attrName>style.visibility</p:attrName>
                                        </p:attrNameLst>
                                      </p:cBhvr>
                                      <p:to>
                                        <p:strVal val="visible"/>
                                      </p:to>
                                    </p:set>
                                    <p:animEffect transition="in" filter="fade">
                                      <p:cBhvr>
                                        <p:cTn id="43" dur="500"/>
                                        <p:tgtEl>
                                          <p:spTgt spid="54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K2D"/>
              <a:buNone/>
              <a:defRPr sz="4400" b="0" i="0" u="none" strike="noStrike" cap="none">
                <a:solidFill>
                  <a:schemeClr val="dk1"/>
                </a:solidFill>
                <a:latin typeface="K2D"/>
                <a:ea typeface="K2D"/>
                <a:cs typeface="K2D"/>
                <a:sym typeface="K2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eadex Pro"/>
                <a:ea typeface="Readex Pro"/>
                <a:cs typeface="Readex Pro"/>
                <a:sym typeface="Readex Pr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eadex Pro"/>
                <a:ea typeface="Readex Pro"/>
                <a:cs typeface="Readex Pro"/>
                <a:sym typeface="Readex Pr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eadex Pro"/>
                <a:ea typeface="Readex Pro"/>
                <a:cs typeface="Readex Pro"/>
                <a:sym typeface="Readex Pr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eadex Pro"/>
                <a:ea typeface="Readex Pro"/>
                <a:cs typeface="Readex Pro"/>
                <a:sym typeface="Readex Pr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eadex Pro"/>
                <a:ea typeface="Readex Pro"/>
                <a:cs typeface="Readex Pro"/>
                <a:sym typeface="Readex Pr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K2D"/>
                <a:ea typeface="K2D"/>
                <a:cs typeface="K2D"/>
                <a:sym typeface="K2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K2D"/>
                <a:ea typeface="K2D"/>
                <a:cs typeface="K2D"/>
                <a:sym typeface="K2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K2D"/>
                <a:ea typeface="K2D"/>
                <a:cs typeface="K2D"/>
                <a:sym typeface="K2D"/>
              </a:defRPr>
            </a:lvl1pPr>
            <a:lvl2pPr marL="0" marR="0" lvl="1" indent="0" algn="r" rtl="0">
              <a:spcBef>
                <a:spcPts val="0"/>
              </a:spcBef>
              <a:buNone/>
              <a:defRPr sz="1200" b="0" i="0" u="none" strike="noStrike" cap="none">
                <a:solidFill>
                  <a:srgbClr val="888888"/>
                </a:solidFill>
                <a:latin typeface="K2D"/>
                <a:ea typeface="K2D"/>
                <a:cs typeface="K2D"/>
                <a:sym typeface="K2D"/>
              </a:defRPr>
            </a:lvl2pPr>
            <a:lvl3pPr marL="0" marR="0" lvl="2" indent="0" algn="r" rtl="0">
              <a:spcBef>
                <a:spcPts val="0"/>
              </a:spcBef>
              <a:buNone/>
              <a:defRPr sz="1200" b="0" i="0" u="none" strike="noStrike" cap="none">
                <a:solidFill>
                  <a:srgbClr val="888888"/>
                </a:solidFill>
                <a:latin typeface="K2D"/>
                <a:ea typeface="K2D"/>
                <a:cs typeface="K2D"/>
                <a:sym typeface="K2D"/>
              </a:defRPr>
            </a:lvl3pPr>
            <a:lvl4pPr marL="0" marR="0" lvl="3" indent="0" algn="r" rtl="0">
              <a:spcBef>
                <a:spcPts val="0"/>
              </a:spcBef>
              <a:buNone/>
              <a:defRPr sz="1200" b="0" i="0" u="none" strike="noStrike" cap="none">
                <a:solidFill>
                  <a:srgbClr val="888888"/>
                </a:solidFill>
                <a:latin typeface="K2D"/>
                <a:ea typeface="K2D"/>
                <a:cs typeface="K2D"/>
                <a:sym typeface="K2D"/>
              </a:defRPr>
            </a:lvl4pPr>
            <a:lvl5pPr marL="0" marR="0" lvl="4" indent="0" algn="r" rtl="0">
              <a:spcBef>
                <a:spcPts val="0"/>
              </a:spcBef>
              <a:buNone/>
              <a:defRPr sz="1200" b="0" i="0" u="none" strike="noStrike" cap="none">
                <a:solidFill>
                  <a:srgbClr val="888888"/>
                </a:solidFill>
                <a:latin typeface="K2D"/>
                <a:ea typeface="K2D"/>
                <a:cs typeface="K2D"/>
                <a:sym typeface="K2D"/>
              </a:defRPr>
            </a:lvl5pPr>
            <a:lvl6pPr marL="0" marR="0" lvl="5" indent="0" algn="r" rtl="0">
              <a:spcBef>
                <a:spcPts val="0"/>
              </a:spcBef>
              <a:buNone/>
              <a:defRPr sz="1200" b="0" i="0" u="none" strike="noStrike" cap="none">
                <a:solidFill>
                  <a:srgbClr val="888888"/>
                </a:solidFill>
                <a:latin typeface="K2D"/>
                <a:ea typeface="K2D"/>
                <a:cs typeface="K2D"/>
                <a:sym typeface="K2D"/>
              </a:defRPr>
            </a:lvl6pPr>
            <a:lvl7pPr marL="0" marR="0" lvl="6" indent="0" algn="r" rtl="0">
              <a:spcBef>
                <a:spcPts val="0"/>
              </a:spcBef>
              <a:buNone/>
              <a:defRPr sz="1200" b="0" i="0" u="none" strike="noStrike" cap="none">
                <a:solidFill>
                  <a:srgbClr val="888888"/>
                </a:solidFill>
                <a:latin typeface="K2D"/>
                <a:ea typeface="K2D"/>
                <a:cs typeface="K2D"/>
                <a:sym typeface="K2D"/>
              </a:defRPr>
            </a:lvl7pPr>
            <a:lvl8pPr marL="0" marR="0" lvl="7" indent="0" algn="r" rtl="0">
              <a:spcBef>
                <a:spcPts val="0"/>
              </a:spcBef>
              <a:buNone/>
              <a:defRPr sz="1200" b="0" i="0" u="none" strike="noStrike" cap="none">
                <a:solidFill>
                  <a:srgbClr val="888888"/>
                </a:solidFill>
                <a:latin typeface="K2D"/>
                <a:ea typeface="K2D"/>
                <a:cs typeface="K2D"/>
                <a:sym typeface="K2D"/>
              </a:defRPr>
            </a:lvl8pPr>
            <a:lvl9pPr marL="0" marR="0" lvl="8" indent="0" algn="r" rtl="0">
              <a:spcBef>
                <a:spcPts val="0"/>
              </a:spcBef>
              <a:buNone/>
              <a:defRPr sz="1200" b="0" i="0" u="none" strike="noStrike" cap="none">
                <a:solidFill>
                  <a:srgbClr val="888888"/>
                </a:solidFill>
                <a:latin typeface="K2D"/>
                <a:ea typeface="K2D"/>
                <a:cs typeface="K2D"/>
                <a:sym typeface="K2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31"/>
          <p:cNvSpPr txBox="1">
            <a:spLocks noGrp="1"/>
          </p:cNvSpPr>
          <p:nvPr>
            <p:ph type="ctrTitle"/>
          </p:nvPr>
        </p:nvSpPr>
        <p:spPr>
          <a:xfrm>
            <a:off x="493144" y="2008232"/>
            <a:ext cx="11205713" cy="1224826"/>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rgbClr val="0070C0"/>
              </a:buClr>
              <a:buSzPts val="3600"/>
              <a:buFont typeface="Times New Roman"/>
              <a:buNone/>
            </a:pPr>
            <a:r>
              <a:rPr lang="vi-VN" sz="3600" noProof="0" dirty="0"/>
              <a:t>HỌC PHẦN: AN NINH WEB</a:t>
            </a:r>
          </a:p>
        </p:txBody>
      </p:sp>
      <p:sp>
        <p:nvSpPr>
          <p:cNvPr id="559" name="Google Shape;559;p31"/>
          <p:cNvSpPr txBox="1">
            <a:spLocks noGrp="1"/>
          </p:cNvSpPr>
          <p:nvPr>
            <p:ph type="subTitle" idx="1"/>
          </p:nvPr>
        </p:nvSpPr>
        <p:spPr>
          <a:xfrm>
            <a:off x="493257" y="3887625"/>
            <a:ext cx="11205600" cy="1036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70C0"/>
              </a:buClr>
              <a:buSzPts val="3200"/>
              <a:buNone/>
            </a:pPr>
            <a:r>
              <a:rPr lang="vi-VN" sz="2800" noProof="0" dirty="0">
                <a:latin typeface="K2D"/>
                <a:ea typeface="K2D"/>
                <a:cs typeface="K2D"/>
                <a:sym typeface="K2D"/>
              </a:rPr>
              <a:t>MÃ HỌC PHẦN: CT490</a:t>
            </a:r>
          </a:p>
        </p:txBody>
      </p:sp>
      <p:sp>
        <p:nvSpPr>
          <p:cNvPr id="560" name="Google Shape;560;p31"/>
          <p:cNvSpPr txBox="1">
            <a:spLocks noGrp="1"/>
          </p:cNvSpPr>
          <p:nvPr>
            <p:ph type="body" idx="2"/>
          </p:nvPr>
        </p:nvSpPr>
        <p:spPr>
          <a:xfrm>
            <a:off x="493144" y="4924425"/>
            <a:ext cx="11205713" cy="921204"/>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AFEF"/>
              </a:buClr>
              <a:buSzPts val="2800"/>
              <a:buNone/>
            </a:pPr>
            <a:r>
              <a:rPr lang="vi-VN" sz="2800" b="1" noProof="0" dirty="0">
                <a:latin typeface="K2D"/>
                <a:ea typeface="K2D"/>
                <a:cs typeface="K2D"/>
                <a:sym typeface="K2D"/>
              </a:rPr>
              <a:t>Giảng viên hướng dẫn</a:t>
            </a:r>
          </a:p>
          <a:p>
            <a:pPr marL="0" lvl="0" indent="0" algn="ctr" rtl="0">
              <a:lnSpc>
                <a:spcPct val="90000"/>
              </a:lnSpc>
              <a:spcBef>
                <a:spcPts val="1000"/>
              </a:spcBef>
              <a:spcAft>
                <a:spcPts val="0"/>
              </a:spcAft>
              <a:buClr>
                <a:srgbClr val="00AFEF"/>
              </a:buClr>
              <a:buSzPts val="2800"/>
              <a:buNone/>
            </a:pPr>
            <a:r>
              <a:rPr lang="vi-VN" sz="2800" b="1" noProof="0" dirty="0">
                <a:latin typeface="K2D"/>
                <a:ea typeface="K2D"/>
                <a:cs typeface="K2D"/>
                <a:sym typeface="K2D"/>
              </a:rPr>
              <a:t>TS. Phan Thượng Cang</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3"/>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Times New Roman"/>
              <a:buNone/>
            </a:pPr>
            <a:r>
              <a:rPr lang="en-US" dirty="0"/>
              <a:t>THÀNH VIÊN NHÓM 2</a:t>
            </a:r>
            <a:endParaRPr dirty="0"/>
          </a:p>
        </p:txBody>
      </p:sp>
      <p:sp>
        <p:nvSpPr>
          <p:cNvPr id="571" name="Google Shape;571;p33"/>
          <p:cNvSpPr txBox="1">
            <a:spLocks noGrp="1"/>
          </p:cNvSpPr>
          <p:nvPr>
            <p:ph type="body" idx="1"/>
          </p:nvPr>
        </p:nvSpPr>
        <p:spPr>
          <a:xfrm>
            <a:off x="838200" y="1477575"/>
            <a:ext cx="10643400" cy="46995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1200"/>
              </a:spcBef>
              <a:spcAft>
                <a:spcPts val="0"/>
              </a:spcAft>
              <a:buClr>
                <a:schemeClr val="dk1"/>
              </a:buClr>
              <a:buSzPts val="3200"/>
              <a:buNone/>
            </a:pPr>
            <a:endParaRPr sz="3200">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dk1"/>
              </a:buClr>
              <a:buSzPts val="3200"/>
              <a:buNone/>
            </a:pPr>
            <a:endParaRPr sz="3200">
              <a:latin typeface="Times New Roman"/>
              <a:ea typeface="Times New Roman"/>
              <a:cs typeface="Times New Roman"/>
              <a:sym typeface="Times New Roman"/>
            </a:endParaRPr>
          </a:p>
        </p:txBody>
      </p:sp>
      <p:graphicFrame>
        <p:nvGraphicFramePr>
          <p:cNvPr id="572" name="Google Shape;572;p33"/>
          <p:cNvGraphicFramePr/>
          <p:nvPr>
            <p:extLst>
              <p:ext uri="{D42A27DB-BD31-4B8C-83A1-F6EECF244321}">
                <p14:modId xmlns:p14="http://schemas.microsoft.com/office/powerpoint/2010/main" val="1121446177"/>
              </p:ext>
            </p:extLst>
          </p:nvPr>
        </p:nvGraphicFramePr>
        <p:xfrm>
          <a:off x="251670" y="2339075"/>
          <a:ext cx="11652308" cy="2011560"/>
        </p:xfrm>
        <a:graphic>
          <a:graphicData uri="http://schemas.openxmlformats.org/drawingml/2006/table">
            <a:tbl>
              <a:tblPr>
                <a:noFill/>
                <a:tableStyleId>{8BC3F7D8-B29F-4B21-B28F-A05442B506F3}</a:tableStyleId>
              </a:tblPr>
              <a:tblGrid>
                <a:gridCol w="3377062">
                  <a:extLst>
                    <a:ext uri="{9D8B030D-6E8A-4147-A177-3AD203B41FA5}">
                      <a16:colId xmlns:a16="http://schemas.microsoft.com/office/drawing/2014/main" val="20000"/>
                    </a:ext>
                  </a:extLst>
                </a:gridCol>
                <a:gridCol w="1892932">
                  <a:extLst>
                    <a:ext uri="{9D8B030D-6E8A-4147-A177-3AD203B41FA5}">
                      <a16:colId xmlns:a16="http://schemas.microsoft.com/office/drawing/2014/main" val="20001"/>
                    </a:ext>
                  </a:extLst>
                </a:gridCol>
                <a:gridCol w="2478430">
                  <a:extLst>
                    <a:ext uri="{9D8B030D-6E8A-4147-A177-3AD203B41FA5}">
                      <a16:colId xmlns:a16="http://schemas.microsoft.com/office/drawing/2014/main" val="20002"/>
                    </a:ext>
                  </a:extLst>
                </a:gridCol>
                <a:gridCol w="3903884">
                  <a:extLst>
                    <a:ext uri="{9D8B030D-6E8A-4147-A177-3AD203B41FA5}">
                      <a16:colId xmlns:a16="http://schemas.microsoft.com/office/drawing/2014/main" val="20003"/>
                    </a:ext>
                  </a:extLst>
                </a:gridCol>
              </a:tblGrid>
              <a:tr h="500430">
                <a:tc>
                  <a:txBody>
                    <a:bodyPr/>
                    <a:lstStyle/>
                    <a:p>
                      <a:pPr marL="0" lvl="0" indent="0" algn="ctr" rtl="0">
                        <a:spcBef>
                          <a:spcPts val="0"/>
                        </a:spcBef>
                        <a:spcAft>
                          <a:spcPts val="0"/>
                        </a:spcAft>
                        <a:buNone/>
                      </a:pPr>
                      <a:r>
                        <a:rPr lang="en-US" sz="2100" b="1" dirty="0" err="1">
                          <a:latin typeface="Readex Pro"/>
                          <a:ea typeface="Readex Pro"/>
                          <a:cs typeface="Readex Pro"/>
                          <a:sym typeface="Readex Pro"/>
                        </a:rPr>
                        <a:t>Họ</a:t>
                      </a:r>
                      <a:r>
                        <a:rPr lang="en-US" sz="2100" b="1" dirty="0">
                          <a:latin typeface="Readex Pro"/>
                          <a:ea typeface="Readex Pro"/>
                          <a:cs typeface="Readex Pro"/>
                          <a:sym typeface="Readex Pro"/>
                        </a:rPr>
                        <a:t> </a:t>
                      </a:r>
                      <a:r>
                        <a:rPr lang="en-US" sz="2100" b="1" dirty="0" err="1">
                          <a:latin typeface="Readex Pro"/>
                          <a:ea typeface="Readex Pro"/>
                          <a:cs typeface="Readex Pro"/>
                          <a:sym typeface="Readex Pro"/>
                        </a:rPr>
                        <a:t>Tên</a:t>
                      </a:r>
                      <a:endParaRPr sz="2100" b="1" dirty="0">
                        <a:latin typeface="Readex Pro"/>
                        <a:ea typeface="Readex Pro"/>
                        <a:cs typeface="Readex Pro"/>
                        <a:sym typeface="Readex Pro"/>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b="1" dirty="0">
                          <a:latin typeface="Readex Pro"/>
                          <a:ea typeface="Readex Pro"/>
                          <a:cs typeface="Readex Pro"/>
                          <a:sym typeface="Readex Pro"/>
                        </a:rPr>
                        <a:t>MSSV</a:t>
                      </a:r>
                      <a:endParaRPr sz="2100" b="1" dirty="0">
                        <a:latin typeface="Readex Pro"/>
                        <a:ea typeface="Readex Pro"/>
                        <a:cs typeface="Readex Pro"/>
                        <a:sym typeface="Readex Pro"/>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b="1" dirty="0">
                          <a:latin typeface="Readex Pro"/>
                          <a:ea typeface="Readex Pro"/>
                          <a:cs typeface="Readex Pro"/>
                          <a:sym typeface="Readex Pro"/>
                        </a:rPr>
                        <a:t>Vai </a:t>
                      </a:r>
                      <a:r>
                        <a:rPr lang="en-US" sz="2100" b="1" dirty="0" err="1">
                          <a:latin typeface="Readex Pro"/>
                          <a:ea typeface="Readex Pro"/>
                          <a:cs typeface="Readex Pro"/>
                          <a:sym typeface="Readex Pro"/>
                        </a:rPr>
                        <a:t>trò</a:t>
                      </a:r>
                      <a:endParaRPr sz="2100" b="1" dirty="0">
                        <a:latin typeface="Readex Pro"/>
                        <a:ea typeface="Readex Pro"/>
                        <a:cs typeface="Readex Pro"/>
                        <a:sym typeface="Readex Pro"/>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b="1" dirty="0" err="1">
                          <a:latin typeface="Readex Pro"/>
                          <a:ea typeface="Readex Pro"/>
                          <a:cs typeface="Readex Pro"/>
                          <a:sym typeface="Readex Pro"/>
                        </a:rPr>
                        <a:t>Nhiệm</a:t>
                      </a:r>
                      <a:r>
                        <a:rPr lang="en-US" sz="2100" b="1" dirty="0">
                          <a:latin typeface="Readex Pro"/>
                          <a:ea typeface="Readex Pro"/>
                          <a:cs typeface="Readex Pro"/>
                          <a:sym typeface="Readex Pro"/>
                        </a:rPr>
                        <a:t> </a:t>
                      </a:r>
                      <a:r>
                        <a:rPr lang="en-US" sz="2100" b="1" dirty="0" err="1">
                          <a:latin typeface="Readex Pro"/>
                          <a:ea typeface="Readex Pro"/>
                          <a:cs typeface="Readex Pro"/>
                          <a:sym typeface="Readex Pro"/>
                        </a:rPr>
                        <a:t>vụ</a:t>
                      </a:r>
                      <a:endParaRPr sz="2100" b="1" dirty="0">
                        <a:latin typeface="Readex Pro"/>
                        <a:ea typeface="Readex Pro"/>
                        <a:cs typeface="Readex Pro"/>
                        <a:sym typeface="Readex Pro"/>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3390811007"/>
                  </a:ext>
                </a:extLst>
              </a:tr>
              <a:tr h="500430">
                <a:tc>
                  <a:txBody>
                    <a:bodyPr/>
                    <a:lstStyle/>
                    <a:p>
                      <a:pPr marL="0" lvl="0" indent="0" algn="ctr" rtl="0">
                        <a:spcBef>
                          <a:spcPts val="0"/>
                        </a:spcBef>
                        <a:spcAft>
                          <a:spcPts val="0"/>
                        </a:spcAft>
                        <a:buNone/>
                      </a:pPr>
                      <a:r>
                        <a:rPr lang="en-US" sz="2100" dirty="0">
                          <a:latin typeface="Readex Pro"/>
                          <a:ea typeface="Readex Pro"/>
                          <a:cs typeface="Readex Pro"/>
                          <a:sym typeface="Readex Pro"/>
                        </a:rPr>
                        <a:t>Nguyễn Thị Huỳnh Như</a:t>
                      </a:r>
                      <a:endParaRPr sz="2100" dirty="0">
                        <a:latin typeface="Readex Pro"/>
                        <a:ea typeface="Readex Pro"/>
                        <a:cs typeface="Readex Pro"/>
                        <a:sym typeface="Readex Pro"/>
                      </a:endParaRPr>
                    </a:p>
                  </a:txBody>
                  <a:tcPr marL="91425" marR="91425" marT="91425" marB="91425">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dirty="0">
                          <a:latin typeface="Readex Pro"/>
                          <a:ea typeface="Readex Pro"/>
                          <a:cs typeface="Readex Pro"/>
                          <a:sym typeface="Readex Pro"/>
                        </a:rPr>
                        <a:t>B2204960</a:t>
                      </a:r>
                      <a:endParaRPr sz="2100" dirty="0">
                        <a:latin typeface="Readex Pro"/>
                        <a:ea typeface="Readex Pro"/>
                        <a:cs typeface="Readex Pro"/>
                        <a:sym typeface="Readex Pro"/>
                      </a:endParaRPr>
                    </a:p>
                  </a:txBody>
                  <a:tcPr marL="91425" marR="91425" marT="91425" marB="91425">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dirty="0" err="1">
                          <a:latin typeface="Readex Pro"/>
                          <a:ea typeface="Readex Pro"/>
                          <a:cs typeface="Readex Pro"/>
                          <a:sym typeface="Readex Pro"/>
                        </a:rPr>
                        <a:t>Trưởng</a:t>
                      </a:r>
                      <a:r>
                        <a:rPr lang="en-US" sz="2100" dirty="0">
                          <a:latin typeface="Readex Pro"/>
                          <a:ea typeface="Readex Pro"/>
                          <a:cs typeface="Readex Pro"/>
                          <a:sym typeface="Readex Pro"/>
                        </a:rPr>
                        <a:t> </a:t>
                      </a:r>
                      <a:r>
                        <a:rPr lang="en-US" sz="2100" dirty="0" err="1">
                          <a:latin typeface="Readex Pro"/>
                          <a:ea typeface="Readex Pro"/>
                          <a:cs typeface="Readex Pro"/>
                          <a:sym typeface="Readex Pro"/>
                        </a:rPr>
                        <a:t>nhóm</a:t>
                      </a:r>
                      <a:endParaRPr sz="2100" dirty="0">
                        <a:latin typeface="Readex Pro"/>
                        <a:ea typeface="Readex Pro"/>
                        <a:cs typeface="Readex Pro"/>
                        <a:sym typeface="Readex Pro"/>
                      </a:endParaRPr>
                    </a:p>
                  </a:txBody>
                  <a:tcPr marL="91425" marR="91425" marT="91425" marB="91425">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sz="2100" dirty="0" err="1">
                          <a:latin typeface="Readex Pro"/>
                          <a:ea typeface="Readex Pro"/>
                          <a:cs typeface="Readex Pro"/>
                          <a:sym typeface="Readex Pro"/>
                        </a:rPr>
                        <a:t>Nội</a:t>
                      </a:r>
                      <a:r>
                        <a:rPr lang="en-US" sz="2100" dirty="0">
                          <a:latin typeface="Readex Pro"/>
                          <a:ea typeface="Readex Pro"/>
                          <a:cs typeface="Readex Pro"/>
                          <a:sym typeface="Readex Pro"/>
                        </a:rPr>
                        <a:t> dung 1, 2.1, 2.5 + demo 1</a:t>
                      </a:r>
                      <a:endParaRPr sz="2100" dirty="0">
                        <a:latin typeface="Readex Pro"/>
                        <a:ea typeface="Readex Pro"/>
                        <a:cs typeface="Readex Pro"/>
                        <a:sym typeface="Readex Pro"/>
                      </a:endParaRPr>
                    </a:p>
                  </a:txBody>
                  <a:tcPr marL="91425" marR="91425" marT="91425" marB="91425">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00430">
                <a:tc>
                  <a:txBody>
                    <a:bodyPr/>
                    <a:lstStyle/>
                    <a:p>
                      <a:pPr marL="0" lvl="0" indent="0" algn="ctr" rtl="0">
                        <a:spcBef>
                          <a:spcPts val="0"/>
                        </a:spcBef>
                        <a:spcAft>
                          <a:spcPts val="0"/>
                        </a:spcAft>
                        <a:buNone/>
                      </a:pPr>
                      <a:r>
                        <a:rPr lang="en-US" sz="2100" dirty="0">
                          <a:latin typeface="Readex Pro"/>
                          <a:ea typeface="Readex Pro"/>
                          <a:cs typeface="Readex Pro"/>
                          <a:sym typeface="Readex Pro"/>
                        </a:rPr>
                        <a:t>Lê Thị Ngọc Như </a:t>
                      </a:r>
                      <a:endParaRPr sz="2100" dirty="0">
                        <a:latin typeface="Readex Pro"/>
                        <a:ea typeface="Readex Pro"/>
                        <a:cs typeface="Readex Pro"/>
                        <a:sym typeface="Readex Pro"/>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2100" dirty="0">
                          <a:solidFill>
                            <a:schemeClr val="dk1"/>
                          </a:solidFill>
                          <a:latin typeface="Readex Pro"/>
                          <a:ea typeface="Readex Pro"/>
                          <a:cs typeface="Readex Pro"/>
                          <a:sym typeface="Readex Pro"/>
                        </a:rPr>
                        <a:t>B2204959</a:t>
                      </a:r>
                      <a:endParaRPr sz="2100" dirty="0">
                        <a:latin typeface="Readex Pro"/>
                        <a:ea typeface="Readex Pro"/>
                        <a:cs typeface="Readex Pro"/>
                        <a:sym typeface="Readex Pro"/>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US" sz="2100" dirty="0">
                          <a:latin typeface="Readex Pro"/>
                          <a:ea typeface="Readex Pro"/>
                          <a:cs typeface="Readex Pro"/>
                          <a:sym typeface="Readex Pro"/>
                        </a:rPr>
                        <a:t>Thành </a:t>
                      </a:r>
                      <a:r>
                        <a:rPr lang="en-US" sz="2100" dirty="0" err="1">
                          <a:latin typeface="Readex Pro"/>
                          <a:ea typeface="Readex Pro"/>
                          <a:cs typeface="Readex Pro"/>
                          <a:sym typeface="Readex Pro"/>
                        </a:rPr>
                        <a:t>viên</a:t>
                      </a:r>
                      <a:endParaRPr sz="2100" dirty="0">
                        <a:latin typeface="Readex Pro"/>
                        <a:ea typeface="Readex Pro"/>
                        <a:cs typeface="Readex Pro"/>
                        <a:sym typeface="Readex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2100" dirty="0" err="1">
                          <a:solidFill>
                            <a:schemeClr val="dk1"/>
                          </a:solidFill>
                          <a:latin typeface="Readex Pro"/>
                          <a:ea typeface="Readex Pro"/>
                          <a:cs typeface="Readex Pro"/>
                          <a:sym typeface="Readex Pro"/>
                        </a:rPr>
                        <a:t>Nội</a:t>
                      </a:r>
                      <a:r>
                        <a:rPr lang="en-US" sz="2100" dirty="0">
                          <a:solidFill>
                            <a:schemeClr val="dk1"/>
                          </a:solidFill>
                          <a:latin typeface="Readex Pro"/>
                          <a:ea typeface="Readex Pro"/>
                          <a:cs typeface="Readex Pro"/>
                          <a:sym typeface="Readex Pro"/>
                        </a:rPr>
                        <a:t> dung 2.2, 2.</a:t>
                      </a:r>
                      <a:r>
                        <a:rPr lang="vi-VN" sz="2100" dirty="0">
                          <a:solidFill>
                            <a:schemeClr val="dk1"/>
                          </a:solidFill>
                          <a:latin typeface="Readex Pro"/>
                          <a:ea typeface="Readex Pro"/>
                          <a:cs typeface="Readex Pro"/>
                          <a:sym typeface="Readex Pro"/>
                        </a:rPr>
                        <a:t>3</a:t>
                      </a:r>
                      <a:r>
                        <a:rPr lang="en-US" sz="2100" dirty="0">
                          <a:solidFill>
                            <a:schemeClr val="dk1"/>
                          </a:solidFill>
                          <a:latin typeface="Readex Pro"/>
                          <a:ea typeface="Readex Pro"/>
                          <a:cs typeface="Readex Pro"/>
                          <a:sym typeface="Readex Pro"/>
                        </a:rPr>
                        <a:t> + demo 2</a:t>
                      </a:r>
                      <a:endParaRPr sz="2100" dirty="0">
                        <a:latin typeface="Readex Pro"/>
                        <a:ea typeface="Readex Pro"/>
                        <a:cs typeface="Readex Pro"/>
                        <a:sym typeface="Readex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00430">
                <a:tc>
                  <a:txBody>
                    <a:bodyPr/>
                    <a:lstStyle/>
                    <a:p>
                      <a:pPr marL="0" lvl="0" indent="0" algn="ctr" rtl="0">
                        <a:spcBef>
                          <a:spcPts val="0"/>
                        </a:spcBef>
                        <a:spcAft>
                          <a:spcPts val="0"/>
                        </a:spcAft>
                        <a:buNone/>
                      </a:pPr>
                      <a:r>
                        <a:rPr lang="en-US" sz="2100" dirty="0">
                          <a:latin typeface="Readex Pro"/>
                          <a:ea typeface="Readex Pro"/>
                          <a:cs typeface="Readex Pro"/>
                          <a:sym typeface="Readex Pro"/>
                        </a:rPr>
                        <a:t>Lê Bích </a:t>
                      </a:r>
                      <a:r>
                        <a:rPr lang="en-US" sz="2100" dirty="0" err="1">
                          <a:latin typeface="Readex Pro"/>
                          <a:ea typeface="Readex Pro"/>
                          <a:cs typeface="Readex Pro"/>
                          <a:sym typeface="Readex Pro"/>
                        </a:rPr>
                        <a:t>Trâm</a:t>
                      </a:r>
                      <a:endParaRPr sz="2100" dirty="0">
                        <a:latin typeface="Readex Pro"/>
                        <a:ea typeface="Readex Pro"/>
                        <a:cs typeface="Readex Pro"/>
                        <a:sym typeface="Readex Pro"/>
                      </a:endParaRPr>
                    </a:p>
                  </a:txBody>
                  <a:tcPr marL="91425" marR="91425" marT="91425" marB="91425"/>
                </a:tc>
                <a:tc>
                  <a:txBody>
                    <a:bodyPr/>
                    <a:lstStyle/>
                    <a:p>
                      <a:pPr marL="0" lvl="0" indent="0" algn="ctr" rtl="0">
                        <a:spcBef>
                          <a:spcPts val="0"/>
                        </a:spcBef>
                        <a:spcAft>
                          <a:spcPts val="0"/>
                        </a:spcAft>
                        <a:buNone/>
                      </a:pPr>
                      <a:r>
                        <a:rPr lang="en-US" sz="2100" dirty="0">
                          <a:solidFill>
                            <a:schemeClr val="dk1"/>
                          </a:solidFill>
                          <a:latin typeface="Readex Pro"/>
                          <a:ea typeface="Readex Pro"/>
                          <a:cs typeface="Readex Pro"/>
                          <a:sym typeface="Readex Pro"/>
                        </a:rPr>
                        <a:t>B2204973</a:t>
                      </a:r>
                      <a:endParaRPr sz="2100" dirty="0">
                        <a:latin typeface="Readex Pro"/>
                        <a:ea typeface="Readex Pro"/>
                        <a:cs typeface="Readex Pro"/>
                        <a:sym typeface="Readex Pro"/>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Clr>
                          <a:schemeClr val="dk1"/>
                        </a:buClr>
                        <a:buSzPts val="1100"/>
                        <a:buFont typeface="Arial"/>
                        <a:buNone/>
                      </a:pPr>
                      <a:r>
                        <a:rPr lang="en-US" sz="2100" dirty="0">
                          <a:solidFill>
                            <a:schemeClr val="dk1"/>
                          </a:solidFill>
                          <a:latin typeface="Readex Pro"/>
                          <a:ea typeface="Readex Pro"/>
                          <a:cs typeface="Readex Pro"/>
                          <a:sym typeface="Readex Pro"/>
                        </a:rPr>
                        <a:t>Thành </a:t>
                      </a:r>
                      <a:r>
                        <a:rPr lang="en-US" sz="2100" dirty="0" err="1">
                          <a:solidFill>
                            <a:schemeClr val="dk1"/>
                          </a:solidFill>
                          <a:latin typeface="Readex Pro"/>
                          <a:ea typeface="Readex Pro"/>
                          <a:cs typeface="Readex Pro"/>
                          <a:sym typeface="Readex Pro"/>
                        </a:rPr>
                        <a:t>viên</a:t>
                      </a:r>
                      <a:endParaRPr sz="2100" dirty="0">
                        <a:latin typeface="Readex Pro"/>
                        <a:ea typeface="Readex Pro"/>
                        <a:cs typeface="Readex Pro"/>
                        <a:sym typeface="Readex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US" sz="2100" dirty="0" err="1">
                          <a:solidFill>
                            <a:schemeClr val="dk1"/>
                          </a:solidFill>
                          <a:latin typeface="Readex Pro"/>
                          <a:ea typeface="Readex Pro"/>
                          <a:cs typeface="Readex Pro"/>
                          <a:sym typeface="Readex Pro"/>
                        </a:rPr>
                        <a:t>Nội</a:t>
                      </a:r>
                      <a:r>
                        <a:rPr lang="en-US" sz="2100" dirty="0">
                          <a:solidFill>
                            <a:schemeClr val="dk1"/>
                          </a:solidFill>
                          <a:latin typeface="Readex Pro"/>
                          <a:ea typeface="Readex Pro"/>
                          <a:cs typeface="Readex Pro"/>
                          <a:sym typeface="Readex Pro"/>
                        </a:rPr>
                        <a:t> dung 2.</a:t>
                      </a:r>
                      <a:r>
                        <a:rPr lang="vi-VN" sz="2100" dirty="0">
                          <a:solidFill>
                            <a:schemeClr val="dk1"/>
                          </a:solidFill>
                          <a:latin typeface="Readex Pro"/>
                          <a:ea typeface="Readex Pro"/>
                          <a:cs typeface="Readex Pro"/>
                          <a:sym typeface="Readex Pro"/>
                        </a:rPr>
                        <a:t>4</a:t>
                      </a:r>
                      <a:r>
                        <a:rPr lang="en-US" sz="2100" dirty="0">
                          <a:solidFill>
                            <a:schemeClr val="dk1"/>
                          </a:solidFill>
                          <a:latin typeface="Readex Pro"/>
                          <a:ea typeface="Readex Pro"/>
                          <a:cs typeface="Readex Pro"/>
                          <a:sym typeface="Readex Pro"/>
                        </a:rPr>
                        <a:t> + demo 3, 4</a:t>
                      </a:r>
                      <a:endParaRPr sz="2100" dirty="0">
                        <a:solidFill>
                          <a:schemeClr val="dk1"/>
                        </a:solidFill>
                        <a:latin typeface="Readex Pro"/>
                        <a:ea typeface="Readex Pro"/>
                        <a:cs typeface="Readex Pro"/>
                        <a:sym typeface="Readex Pr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32"/>
          <p:cNvSpPr txBox="1">
            <a:spLocks noGrp="1"/>
          </p:cNvSpPr>
          <p:nvPr>
            <p:ph type="ctrTitle"/>
          </p:nvPr>
        </p:nvSpPr>
        <p:spPr>
          <a:xfrm>
            <a:off x="1457625" y="2626594"/>
            <a:ext cx="10015500" cy="8025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1F5CA9"/>
              </a:buClr>
              <a:buSzPts val="5000"/>
              <a:buFont typeface="Times New Roman"/>
              <a:buNone/>
            </a:pPr>
            <a:r>
              <a:rPr lang="en-US" sz="5000" dirty="0" err="1"/>
              <a:t>Chủ</a:t>
            </a:r>
            <a:r>
              <a:rPr lang="en-US" sz="5000" dirty="0"/>
              <a:t> </a:t>
            </a:r>
            <a:r>
              <a:rPr lang="en-US" sz="5000" dirty="0" err="1"/>
              <a:t>Đề</a:t>
            </a:r>
            <a:r>
              <a:rPr lang="en-US" sz="5000" dirty="0"/>
              <a:t>: Cryptographic Failures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34"/>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600"/>
              <a:buFont typeface="Times New Roman"/>
              <a:buNone/>
            </a:pPr>
            <a:r>
              <a:rPr lang="en-US" dirty="0"/>
              <a:t>NỘI DUNG</a:t>
            </a:r>
            <a:endParaRPr dirty="0"/>
          </a:p>
        </p:txBody>
      </p:sp>
      <p:sp>
        <p:nvSpPr>
          <p:cNvPr id="578" name="Google Shape;578;p34"/>
          <p:cNvSpPr txBox="1">
            <a:spLocks noGrp="1"/>
          </p:cNvSpPr>
          <p:nvPr>
            <p:ph type="body" idx="1"/>
          </p:nvPr>
        </p:nvSpPr>
        <p:spPr>
          <a:xfrm>
            <a:off x="838200" y="1477567"/>
            <a:ext cx="10515600" cy="4699395"/>
          </a:xfrm>
          <a:prstGeom prst="rect">
            <a:avLst/>
          </a:prstGeom>
          <a:noFill/>
          <a:ln>
            <a:noFill/>
          </a:ln>
        </p:spPr>
        <p:txBody>
          <a:bodyPr spcFirstLastPara="1" wrap="square" lIns="91425" tIns="45700" rIns="91425" bIns="45700" anchor="t" anchorCtr="0">
            <a:noAutofit/>
          </a:bodyPr>
          <a:lstStyle/>
          <a:p>
            <a:pPr marL="457200" lvl="0" indent="-431800" algn="just" rtl="0">
              <a:lnSpc>
                <a:spcPct val="100000"/>
              </a:lnSpc>
              <a:spcBef>
                <a:spcPts val="0"/>
              </a:spcBef>
              <a:spcAft>
                <a:spcPts val="0"/>
              </a:spcAft>
              <a:buSzPts val="3200"/>
              <a:buFont typeface="Readex Pro"/>
              <a:buAutoNum type="arabicPeriod"/>
            </a:pPr>
            <a:r>
              <a:rPr lang="en-US" sz="3200" dirty="0" err="1"/>
              <a:t>Giới</a:t>
            </a:r>
            <a:r>
              <a:rPr lang="en-US" sz="3200" dirty="0"/>
              <a:t> </a:t>
            </a:r>
            <a:r>
              <a:rPr lang="en-US" sz="3200" dirty="0" err="1"/>
              <a:t>thiệu</a:t>
            </a:r>
            <a:r>
              <a:rPr lang="en-US" sz="3200" dirty="0"/>
              <a:t> </a:t>
            </a:r>
            <a:r>
              <a:rPr lang="en-US" sz="3200" dirty="0" err="1"/>
              <a:t>chung</a:t>
            </a:r>
            <a:r>
              <a:rPr lang="en-US" sz="3200" dirty="0"/>
              <a:t> </a:t>
            </a:r>
            <a:endParaRPr sz="3200" dirty="0"/>
          </a:p>
          <a:p>
            <a:pPr marL="457200" lvl="0" indent="-431800" algn="just" rtl="0">
              <a:lnSpc>
                <a:spcPct val="100000"/>
              </a:lnSpc>
              <a:spcBef>
                <a:spcPts val="0"/>
              </a:spcBef>
              <a:spcAft>
                <a:spcPts val="0"/>
              </a:spcAft>
              <a:buSzPts val="3200"/>
              <a:buFont typeface="Readex Pro"/>
              <a:buAutoNum type="arabicPeriod"/>
            </a:pPr>
            <a:r>
              <a:rPr lang="en-US" sz="3200" dirty="0"/>
              <a:t>Các </a:t>
            </a:r>
            <a:r>
              <a:rPr lang="en-US" sz="3200" dirty="0" err="1"/>
              <a:t>loại</a:t>
            </a:r>
            <a:r>
              <a:rPr lang="en-US" sz="3200" dirty="0"/>
              <a:t> </a:t>
            </a:r>
            <a:r>
              <a:rPr lang="en-US" sz="3200" dirty="0" err="1"/>
              <a:t>lỗi</a:t>
            </a:r>
            <a:r>
              <a:rPr lang="en-US" sz="3200" dirty="0"/>
              <a:t> </a:t>
            </a:r>
            <a:r>
              <a:rPr lang="en-US" sz="3200" dirty="0" err="1"/>
              <a:t>mã</a:t>
            </a:r>
            <a:r>
              <a:rPr lang="en-US" sz="3200" dirty="0"/>
              <a:t> </a:t>
            </a:r>
            <a:r>
              <a:rPr lang="en-US" sz="3200" dirty="0" err="1"/>
              <a:t>hóa</a:t>
            </a:r>
            <a:r>
              <a:rPr lang="en-US" sz="3200" dirty="0"/>
              <a:t> </a:t>
            </a:r>
            <a:r>
              <a:rPr lang="en-US" sz="3200" dirty="0" err="1"/>
              <a:t>và</a:t>
            </a:r>
            <a:r>
              <a:rPr lang="en-US" sz="3200" dirty="0"/>
              <a:t> </a:t>
            </a:r>
            <a:r>
              <a:rPr lang="en-US" sz="3200" dirty="0" err="1"/>
              <a:t>cách</a:t>
            </a:r>
            <a:r>
              <a:rPr lang="en-US" sz="3200" dirty="0"/>
              <a:t> </a:t>
            </a:r>
            <a:r>
              <a:rPr lang="en-US" sz="3200" dirty="0" err="1"/>
              <a:t>phòng</a:t>
            </a:r>
            <a:r>
              <a:rPr lang="en-US" sz="3200" dirty="0"/>
              <a:t> </a:t>
            </a:r>
            <a:r>
              <a:rPr lang="en-US" sz="3200" dirty="0" err="1"/>
              <a:t>ngừa</a:t>
            </a:r>
            <a:r>
              <a:rPr lang="en-US" sz="3200" dirty="0"/>
              <a:t>, </a:t>
            </a:r>
            <a:r>
              <a:rPr lang="en-US" sz="3200" dirty="0" err="1"/>
              <a:t>ngăn</a:t>
            </a:r>
            <a:r>
              <a:rPr lang="en-US" sz="3200" dirty="0"/>
              <a:t> </a:t>
            </a:r>
            <a:r>
              <a:rPr lang="en-US" sz="3200" dirty="0" err="1"/>
              <a:t>chặn</a:t>
            </a:r>
            <a:r>
              <a:rPr lang="en-US" sz="3200" dirty="0"/>
              <a:t> </a:t>
            </a:r>
            <a:r>
              <a:rPr lang="en-US" sz="3200" dirty="0" err="1"/>
              <a:t>lỗi</a:t>
            </a:r>
            <a:endParaRPr sz="3200" dirty="0"/>
          </a:p>
          <a:p>
            <a:pPr marL="1200150" lvl="1" indent="-419100" algn="just" rtl="0">
              <a:lnSpc>
                <a:spcPct val="100000"/>
              </a:lnSpc>
              <a:spcBef>
                <a:spcPts val="0"/>
              </a:spcBef>
              <a:spcAft>
                <a:spcPts val="0"/>
              </a:spcAft>
              <a:buSzPts val="3000"/>
              <a:buFont typeface="Readex Pro"/>
              <a:buAutoNum type="arabicPeriod"/>
            </a:pPr>
            <a:r>
              <a:rPr lang="en-US" sz="3000" dirty="0" err="1"/>
              <a:t>Dùng</a:t>
            </a:r>
            <a:r>
              <a:rPr lang="en-US" sz="3000" dirty="0"/>
              <a:t> </a:t>
            </a:r>
            <a:r>
              <a:rPr lang="en-US" sz="3000" dirty="0" err="1"/>
              <a:t>thuật</a:t>
            </a:r>
            <a:r>
              <a:rPr lang="en-US" sz="3000" dirty="0"/>
              <a:t> </a:t>
            </a:r>
            <a:r>
              <a:rPr lang="en-US" sz="3000" dirty="0" err="1"/>
              <a:t>toán</a:t>
            </a:r>
            <a:r>
              <a:rPr lang="en-US" sz="3000" dirty="0"/>
              <a:t> </a:t>
            </a:r>
            <a:r>
              <a:rPr lang="en-US" sz="3000" dirty="0" err="1"/>
              <a:t>yếu</a:t>
            </a:r>
            <a:r>
              <a:rPr lang="en-US" sz="3000" dirty="0"/>
              <a:t>/</a:t>
            </a:r>
            <a:r>
              <a:rPr lang="en-US" sz="3000" dirty="0" err="1"/>
              <a:t>lỗi</a:t>
            </a:r>
            <a:r>
              <a:rPr lang="en-US" sz="3000" dirty="0"/>
              <a:t> </a:t>
            </a:r>
            <a:r>
              <a:rPr lang="en-US" sz="3000" dirty="0" err="1"/>
              <a:t>thời</a:t>
            </a:r>
            <a:r>
              <a:rPr lang="en-US" sz="3000" dirty="0"/>
              <a:t> </a:t>
            </a:r>
            <a:r>
              <a:rPr lang="en-US" sz="3000" dirty="0" err="1"/>
              <a:t>hoặc</a:t>
            </a:r>
            <a:r>
              <a:rPr lang="en-US" sz="3000" dirty="0"/>
              <a:t> </a:t>
            </a:r>
            <a:r>
              <a:rPr lang="en-US" sz="3000" dirty="0" err="1"/>
              <a:t>cấu</a:t>
            </a:r>
            <a:r>
              <a:rPr lang="en-US" sz="3000" dirty="0"/>
              <a:t> </a:t>
            </a:r>
            <a:r>
              <a:rPr lang="en-US" sz="3000" dirty="0" err="1"/>
              <a:t>hình</a:t>
            </a:r>
            <a:r>
              <a:rPr lang="en-US" sz="3000" dirty="0"/>
              <a:t> </a:t>
            </a:r>
            <a:r>
              <a:rPr lang="en-US" sz="3000" dirty="0" err="1"/>
              <a:t>sai</a:t>
            </a:r>
            <a:endParaRPr lang="en-US" sz="3000" dirty="0"/>
          </a:p>
          <a:p>
            <a:pPr marL="1200150" lvl="1" indent="-419100" algn="just" rtl="0">
              <a:lnSpc>
                <a:spcPct val="100000"/>
              </a:lnSpc>
              <a:spcBef>
                <a:spcPts val="0"/>
              </a:spcBef>
              <a:spcAft>
                <a:spcPts val="0"/>
              </a:spcAft>
              <a:buSzPts val="3000"/>
              <a:buFont typeface="Readex Pro"/>
              <a:buAutoNum type="arabicPeriod"/>
            </a:pPr>
            <a:r>
              <a:rPr lang="en-US" sz="3000" dirty="0"/>
              <a:t>Quản </a:t>
            </a:r>
            <a:r>
              <a:rPr lang="en-US" sz="3000" dirty="0" err="1"/>
              <a:t>lý</a:t>
            </a:r>
            <a:r>
              <a:rPr lang="en-US" sz="3000" dirty="0"/>
              <a:t> </a:t>
            </a:r>
            <a:r>
              <a:rPr lang="en-US" sz="3000" dirty="0" err="1"/>
              <a:t>khóa</a:t>
            </a:r>
            <a:r>
              <a:rPr lang="en-US" sz="3000" dirty="0"/>
              <a:t> </a:t>
            </a:r>
            <a:r>
              <a:rPr lang="en-US" sz="3000" dirty="0" err="1"/>
              <a:t>kém</a:t>
            </a:r>
            <a:endParaRPr lang="en-US" sz="3000" dirty="0"/>
          </a:p>
          <a:p>
            <a:pPr marL="1200150" lvl="1" indent="-419100" algn="just" rtl="0">
              <a:lnSpc>
                <a:spcPct val="100000"/>
              </a:lnSpc>
              <a:spcBef>
                <a:spcPts val="0"/>
              </a:spcBef>
              <a:spcAft>
                <a:spcPts val="0"/>
              </a:spcAft>
              <a:buSzPts val="3000"/>
              <a:buFont typeface="Readex Pro"/>
              <a:buAutoNum type="arabicPeriod"/>
            </a:pPr>
            <a:r>
              <a:rPr lang="en-US" sz="3000" dirty="0" err="1"/>
              <a:t>Không</a:t>
            </a:r>
            <a:r>
              <a:rPr lang="en-US" sz="3000" dirty="0"/>
              <a:t> </a:t>
            </a:r>
            <a:r>
              <a:rPr lang="en-US" sz="3000" dirty="0" err="1"/>
              <a:t>mã</a:t>
            </a:r>
            <a:r>
              <a:rPr lang="en-US" sz="3000" dirty="0"/>
              <a:t> </a:t>
            </a:r>
            <a:r>
              <a:rPr lang="en-US" sz="3000" dirty="0" err="1"/>
              <a:t>hóa</a:t>
            </a:r>
            <a:r>
              <a:rPr lang="en-US" sz="3000" dirty="0"/>
              <a:t> </a:t>
            </a:r>
            <a:r>
              <a:rPr lang="en-US" sz="3000" dirty="0" err="1"/>
              <a:t>dữ</a:t>
            </a:r>
            <a:r>
              <a:rPr lang="en-US" sz="3000" dirty="0"/>
              <a:t> </a:t>
            </a:r>
            <a:r>
              <a:rPr lang="en-US" sz="3000" dirty="0" err="1"/>
              <a:t>liệu</a:t>
            </a:r>
            <a:endParaRPr lang="vi-VN" sz="3000" dirty="0"/>
          </a:p>
          <a:p>
            <a:pPr marL="1200150" lvl="1" indent="-419100">
              <a:spcBef>
                <a:spcPts val="0"/>
              </a:spcBef>
              <a:buSzPts val="3000"/>
              <a:buFont typeface="Readex Pro"/>
              <a:buAutoNum type="arabicPeriod"/>
            </a:pPr>
            <a:r>
              <a:rPr lang="en-US" sz="3000" dirty="0"/>
              <a:t>Hash </a:t>
            </a:r>
            <a:r>
              <a:rPr lang="en-US" sz="3000" dirty="0" err="1"/>
              <a:t>mật</a:t>
            </a:r>
            <a:r>
              <a:rPr lang="en-US" sz="3000" dirty="0"/>
              <a:t> </a:t>
            </a:r>
            <a:r>
              <a:rPr lang="en-US" sz="3000" dirty="0" err="1"/>
              <a:t>khẩu</a:t>
            </a:r>
            <a:r>
              <a:rPr lang="en-US" sz="3000" dirty="0"/>
              <a:t> </a:t>
            </a:r>
            <a:r>
              <a:rPr lang="en-US" sz="3000" dirty="0" err="1"/>
              <a:t>yếu</a:t>
            </a:r>
            <a:endParaRPr lang="en-US" sz="3000" dirty="0"/>
          </a:p>
          <a:p>
            <a:pPr marL="1200150" lvl="1" indent="-419100" algn="just" rtl="0">
              <a:lnSpc>
                <a:spcPct val="100000"/>
              </a:lnSpc>
              <a:spcBef>
                <a:spcPts val="0"/>
              </a:spcBef>
              <a:spcAft>
                <a:spcPts val="0"/>
              </a:spcAft>
              <a:buSzPts val="3000"/>
              <a:buFont typeface="Readex Pro"/>
              <a:buAutoNum type="arabicPeriod"/>
            </a:pPr>
            <a:r>
              <a:rPr lang="en-US" sz="3000" dirty="0" err="1"/>
              <a:t>Thiếu</a:t>
            </a:r>
            <a:r>
              <a:rPr lang="en-US" sz="3000" dirty="0"/>
              <a:t> </a:t>
            </a:r>
            <a:r>
              <a:rPr lang="en-US" sz="3000" dirty="0" err="1"/>
              <a:t>xác</a:t>
            </a:r>
            <a:r>
              <a:rPr lang="en-US" sz="3000" dirty="0"/>
              <a:t> </a:t>
            </a:r>
            <a:r>
              <a:rPr lang="en-US" sz="3000" dirty="0" err="1"/>
              <a:t>thực</a:t>
            </a:r>
            <a:r>
              <a:rPr lang="en-US" sz="3000" dirty="0"/>
              <a:t> </a:t>
            </a:r>
            <a:r>
              <a:rPr lang="en-US" sz="3000" dirty="0" err="1"/>
              <a:t>tính</a:t>
            </a:r>
            <a:r>
              <a:rPr lang="en-US" sz="3000" dirty="0"/>
              <a:t> </a:t>
            </a:r>
            <a:r>
              <a:rPr lang="en-US" sz="3000" dirty="0" err="1"/>
              <a:t>toàn</a:t>
            </a:r>
            <a:r>
              <a:rPr lang="en-US" sz="3000" dirty="0"/>
              <a:t> </a:t>
            </a:r>
            <a:r>
              <a:rPr lang="en-US" sz="3000" dirty="0" err="1"/>
              <a:t>vẹn</a:t>
            </a:r>
            <a:endParaRPr sz="3000" dirty="0"/>
          </a:p>
          <a:p>
            <a:pPr marL="457200" lvl="0" indent="-419100" algn="just" rtl="0">
              <a:lnSpc>
                <a:spcPct val="100000"/>
              </a:lnSpc>
              <a:spcBef>
                <a:spcPts val="0"/>
              </a:spcBef>
              <a:spcAft>
                <a:spcPts val="0"/>
              </a:spcAft>
              <a:buSzPts val="3000"/>
              <a:buFont typeface="Readex Pro"/>
              <a:buAutoNum type="arabicPeriod"/>
            </a:pPr>
            <a:r>
              <a:rPr lang="en-US" sz="3000" dirty="0"/>
              <a:t>Demo</a:t>
            </a:r>
            <a:endParaRPr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8">
                                            <p:txEl>
                                              <p:pRg st="0" end="0"/>
                                            </p:txEl>
                                          </p:spTgt>
                                        </p:tgtEl>
                                        <p:attrNameLst>
                                          <p:attrName>style.visibility</p:attrName>
                                        </p:attrNameLst>
                                      </p:cBhvr>
                                      <p:to>
                                        <p:strVal val="visible"/>
                                      </p:to>
                                    </p:set>
                                    <p:animEffect transition="in" filter="fade">
                                      <p:cBhvr>
                                        <p:cTn id="7" dur="500"/>
                                        <p:tgtEl>
                                          <p:spTgt spid="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8">
                                            <p:txEl>
                                              <p:pRg st="1" end="1"/>
                                            </p:txEl>
                                          </p:spTgt>
                                        </p:tgtEl>
                                        <p:attrNameLst>
                                          <p:attrName>style.visibility</p:attrName>
                                        </p:attrNameLst>
                                      </p:cBhvr>
                                      <p:to>
                                        <p:strVal val="visible"/>
                                      </p:to>
                                    </p:set>
                                    <p:animEffect transition="in" filter="fade">
                                      <p:cBhvr>
                                        <p:cTn id="12" dur="500"/>
                                        <p:tgtEl>
                                          <p:spTgt spid="5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8">
                                            <p:txEl>
                                              <p:pRg st="2" end="2"/>
                                            </p:txEl>
                                          </p:spTgt>
                                        </p:tgtEl>
                                        <p:attrNameLst>
                                          <p:attrName>style.visibility</p:attrName>
                                        </p:attrNameLst>
                                      </p:cBhvr>
                                      <p:to>
                                        <p:strVal val="visible"/>
                                      </p:to>
                                    </p:set>
                                    <p:animEffect transition="in" filter="fade">
                                      <p:cBhvr>
                                        <p:cTn id="17" dur="500"/>
                                        <p:tgtEl>
                                          <p:spTgt spid="5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78">
                                            <p:txEl>
                                              <p:pRg st="3" end="3"/>
                                            </p:txEl>
                                          </p:spTgt>
                                        </p:tgtEl>
                                        <p:attrNameLst>
                                          <p:attrName>style.visibility</p:attrName>
                                        </p:attrNameLst>
                                      </p:cBhvr>
                                      <p:to>
                                        <p:strVal val="visible"/>
                                      </p:to>
                                    </p:set>
                                    <p:animEffect transition="in" filter="fade">
                                      <p:cBhvr>
                                        <p:cTn id="22" dur="500"/>
                                        <p:tgtEl>
                                          <p:spTgt spid="5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8">
                                            <p:txEl>
                                              <p:pRg st="4" end="4"/>
                                            </p:txEl>
                                          </p:spTgt>
                                        </p:tgtEl>
                                        <p:attrNameLst>
                                          <p:attrName>style.visibility</p:attrName>
                                        </p:attrNameLst>
                                      </p:cBhvr>
                                      <p:to>
                                        <p:strVal val="visible"/>
                                      </p:to>
                                    </p:set>
                                    <p:animEffect transition="in" filter="fade">
                                      <p:cBhvr>
                                        <p:cTn id="27" dur="500"/>
                                        <p:tgtEl>
                                          <p:spTgt spid="5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78">
                                            <p:txEl>
                                              <p:pRg st="5" end="5"/>
                                            </p:txEl>
                                          </p:spTgt>
                                        </p:tgtEl>
                                        <p:attrNameLst>
                                          <p:attrName>style.visibility</p:attrName>
                                        </p:attrNameLst>
                                      </p:cBhvr>
                                      <p:to>
                                        <p:strVal val="visible"/>
                                      </p:to>
                                    </p:set>
                                    <p:animEffect transition="in" filter="fade">
                                      <p:cBhvr>
                                        <p:cTn id="32" dur="500"/>
                                        <p:tgtEl>
                                          <p:spTgt spid="5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78">
                                            <p:txEl>
                                              <p:pRg st="6" end="6"/>
                                            </p:txEl>
                                          </p:spTgt>
                                        </p:tgtEl>
                                        <p:attrNameLst>
                                          <p:attrName>style.visibility</p:attrName>
                                        </p:attrNameLst>
                                      </p:cBhvr>
                                      <p:to>
                                        <p:strVal val="visible"/>
                                      </p:to>
                                    </p:set>
                                    <p:animEffect transition="in" filter="fade">
                                      <p:cBhvr>
                                        <p:cTn id="37" dur="500"/>
                                        <p:tgtEl>
                                          <p:spTgt spid="5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78">
                                            <p:txEl>
                                              <p:pRg st="7" end="7"/>
                                            </p:txEl>
                                          </p:spTgt>
                                        </p:tgtEl>
                                        <p:attrNameLst>
                                          <p:attrName>style.visibility</p:attrName>
                                        </p:attrNameLst>
                                      </p:cBhvr>
                                      <p:to>
                                        <p:strVal val="visible"/>
                                      </p:to>
                                    </p:set>
                                    <p:animEffect transition="in" filter="fade">
                                      <p:cBhvr>
                                        <p:cTn id="42" dur="500"/>
                                        <p:tgtEl>
                                          <p:spTgt spid="57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5"/>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4000" dirty="0"/>
              <a:t>1. GIỚI THIỆU CHUNG</a:t>
            </a:r>
            <a:endParaRPr sz="4000" dirty="0"/>
          </a:p>
        </p:txBody>
      </p:sp>
      <p:sp>
        <p:nvSpPr>
          <p:cNvPr id="584" name="Google Shape;584;p35"/>
          <p:cNvSpPr txBox="1">
            <a:spLocks noGrp="1"/>
          </p:cNvSpPr>
          <p:nvPr>
            <p:ph type="body" idx="1"/>
          </p:nvPr>
        </p:nvSpPr>
        <p:spPr>
          <a:xfrm>
            <a:off x="838200" y="1201480"/>
            <a:ext cx="10515600" cy="4975484"/>
          </a:xfrm>
          <a:prstGeom prst="rect">
            <a:avLst/>
          </a:prstGeom>
          <a:noFill/>
          <a:ln>
            <a:noFill/>
          </a:ln>
        </p:spPr>
        <p:txBody>
          <a:bodyPr spcFirstLastPara="1" wrap="square" lIns="91425" tIns="45700" rIns="91425" bIns="45700" anchor="t" anchorCtr="0">
            <a:normAutofit fontScale="85000" lnSpcReduction="20000"/>
          </a:bodyPr>
          <a:lstStyle/>
          <a:p>
            <a:pPr marL="0" lvl="1" indent="457200" algn="just" rtl="0">
              <a:lnSpc>
                <a:spcPct val="100000"/>
              </a:lnSpc>
              <a:spcBef>
                <a:spcPts val="500"/>
              </a:spcBef>
              <a:spcAft>
                <a:spcPts val="0"/>
              </a:spcAft>
              <a:buClr>
                <a:schemeClr val="dk1"/>
              </a:buClr>
              <a:buSzPts val="2800"/>
              <a:buNone/>
            </a:pPr>
            <a:r>
              <a:rPr lang="en-US" b="1" dirty="0"/>
              <a:t>Cryptographic Failures (</a:t>
            </a:r>
            <a:r>
              <a:rPr lang="en-US" b="1" dirty="0" err="1"/>
              <a:t>Lỗi</a:t>
            </a:r>
            <a:r>
              <a:rPr lang="en-US" b="1" dirty="0"/>
              <a:t> </a:t>
            </a:r>
            <a:r>
              <a:rPr lang="en-US" b="1" dirty="0" err="1"/>
              <a:t>mã</a:t>
            </a:r>
            <a:r>
              <a:rPr lang="en-US" b="1" dirty="0"/>
              <a:t> </a:t>
            </a:r>
            <a:r>
              <a:rPr lang="en-US" b="1" dirty="0" err="1"/>
              <a:t>hóa</a:t>
            </a:r>
            <a:r>
              <a:rPr lang="en-US" b="1" dirty="0"/>
              <a:t>)</a:t>
            </a:r>
            <a:r>
              <a:rPr lang="en-US" b="1" i="1" dirty="0"/>
              <a:t> </a:t>
            </a:r>
            <a:r>
              <a:rPr lang="en-US" dirty="0" err="1"/>
              <a:t>là</a:t>
            </a:r>
            <a:r>
              <a:rPr lang="en-US" dirty="0"/>
              <a:t> </a:t>
            </a:r>
            <a:r>
              <a:rPr lang="en-US" dirty="0" err="1"/>
              <a:t>tình</a:t>
            </a:r>
            <a:r>
              <a:rPr lang="en-US" dirty="0"/>
              <a:t> </a:t>
            </a:r>
            <a:r>
              <a:rPr lang="en-US" dirty="0" err="1"/>
              <a:t>trạng</a:t>
            </a:r>
            <a:r>
              <a:rPr lang="en-US" dirty="0"/>
              <a:t> </a:t>
            </a:r>
            <a:r>
              <a:rPr lang="en-US" dirty="0" err="1"/>
              <a:t>hệ</a:t>
            </a:r>
            <a:r>
              <a:rPr lang="en-US" dirty="0"/>
              <a:t> </a:t>
            </a:r>
            <a:r>
              <a:rPr lang="en-US" dirty="0" err="1"/>
              <a:t>thống</a:t>
            </a:r>
            <a:r>
              <a:rPr lang="en-US" dirty="0"/>
              <a:t> </a:t>
            </a:r>
            <a:r>
              <a:rPr lang="en-US" dirty="0" err="1"/>
              <a:t>không</a:t>
            </a:r>
            <a:r>
              <a:rPr lang="en-US" dirty="0"/>
              <a:t> </a:t>
            </a:r>
            <a:r>
              <a:rPr lang="en-US" dirty="0" err="1"/>
              <a:t>bảo</a:t>
            </a:r>
            <a:r>
              <a:rPr lang="en-US" dirty="0"/>
              <a:t> </a:t>
            </a:r>
            <a:r>
              <a:rPr lang="en-US" dirty="0" err="1"/>
              <a:t>vệ</a:t>
            </a:r>
            <a:r>
              <a:rPr lang="en-US" dirty="0"/>
              <a:t> </a:t>
            </a:r>
            <a:r>
              <a:rPr lang="en-US" dirty="0" err="1"/>
              <a:t>đầy</a:t>
            </a:r>
            <a:r>
              <a:rPr lang="en-US" dirty="0"/>
              <a:t> </a:t>
            </a:r>
            <a:r>
              <a:rPr lang="en-US" dirty="0" err="1"/>
              <a:t>đủ</a:t>
            </a:r>
            <a:r>
              <a:rPr lang="en-US" dirty="0"/>
              <a:t> </a:t>
            </a:r>
            <a:r>
              <a:rPr lang="en-US" dirty="0" err="1"/>
              <a:t>dữ</a:t>
            </a:r>
            <a:r>
              <a:rPr lang="en-US" dirty="0"/>
              <a:t> </a:t>
            </a:r>
            <a:r>
              <a:rPr lang="en-US" dirty="0" err="1"/>
              <a:t>liệu</a:t>
            </a:r>
            <a:r>
              <a:rPr lang="en-US" dirty="0"/>
              <a:t> </a:t>
            </a:r>
            <a:r>
              <a:rPr lang="en-US" dirty="0" err="1"/>
              <a:t>nhạy</a:t>
            </a:r>
            <a:r>
              <a:rPr lang="en-US" dirty="0"/>
              <a:t> </a:t>
            </a:r>
            <a:r>
              <a:rPr lang="en-US" dirty="0" err="1"/>
              <a:t>cảm</a:t>
            </a:r>
            <a:r>
              <a:rPr lang="en-US" dirty="0"/>
              <a:t> </a:t>
            </a:r>
            <a:r>
              <a:rPr lang="en-US" dirty="0" err="1"/>
              <a:t>thông</a:t>
            </a:r>
            <a:r>
              <a:rPr lang="en-US" dirty="0"/>
              <a:t> qua </a:t>
            </a:r>
            <a:r>
              <a:rPr lang="en-US" dirty="0" err="1"/>
              <a:t>mã</a:t>
            </a:r>
            <a:r>
              <a:rPr lang="en-US" dirty="0"/>
              <a:t> </a:t>
            </a:r>
            <a:r>
              <a:rPr lang="en-US" dirty="0" err="1"/>
              <a:t>hóa</a:t>
            </a:r>
            <a:r>
              <a:rPr lang="en-US" dirty="0"/>
              <a:t>. </a:t>
            </a:r>
            <a:r>
              <a:rPr lang="en-US" dirty="0" err="1"/>
              <a:t>Lỗi</a:t>
            </a:r>
            <a:r>
              <a:rPr lang="en-US" dirty="0"/>
              <a:t> </a:t>
            </a:r>
            <a:r>
              <a:rPr lang="en-US" dirty="0" err="1"/>
              <a:t>phát</a:t>
            </a:r>
            <a:r>
              <a:rPr lang="en-US" dirty="0"/>
              <a:t> </a:t>
            </a:r>
            <a:r>
              <a:rPr lang="en-US" dirty="0" err="1"/>
              <a:t>sinh</a:t>
            </a:r>
            <a:r>
              <a:rPr lang="en-US" dirty="0"/>
              <a:t> do </a:t>
            </a:r>
            <a:r>
              <a:rPr lang="en-US" b="1" i="1" dirty="0" err="1"/>
              <a:t>quản</a:t>
            </a:r>
            <a:r>
              <a:rPr lang="en-US" b="1" i="1" dirty="0"/>
              <a:t> </a:t>
            </a:r>
            <a:r>
              <a:rPr lang="en-US" b="1" i="1" dirty="0" err="1"/>
              <a:t>lý</a:t>
            </a:r>
            <a:r>
              <a:rPr lang="en-US" b="1" i="1" dirty="0"/>
              <a:t> </a:t>
            </a:r>
            <a:r>
              <a:rPr lang="en-US" b="1" i="1" dirty="0" err="1"/>
              <a:t>khóa</a:t>
            </a:r>
            <a:r>
              <a:rPr lang="en-US" b="1" i="1" dirty="0"/>
              <a:t> </a:t>
            </a:r>
            <a:r>
              <a:rPr lang="en-US" b="1" i="1" dirty="0" err="1"/>
              <a:t>kém</a:t>
            </a:r>
            <a:r>
              <a:rPr lang="en-US" b="1" dirty="0"/>
              <a:t>, </a:t>
            </a:r>
            <a:r>
              <a:rPr lang="en-US" dirty="0" err="1"/>
              <a:t>sử</a:t>
            </a:r>
            <a:r>
              <a:rPr lang="en-US" dirty="0"/>
              <a:t> </a:t>
            </a:r>
            <a:r>
              <a:rPr lang="en-US" dirty="0" err="1"/>
              <a:t>dụng</a:t>
            </a:r>
            <a:r>
              <a:rPr lang="en-US" dirty="0"/>
              <a:t> </a:t>
            </a:r>
            <a:r>
              <a:rPr lang="en-US" b="1" i="1" dirty="0" err="1"/>
              <a:t>thuật</a:t>
            </a:r>
            <a:r>
              <a:rPr lang="en-US" b="1" i="1" dirty="0"/>
              <a:t> </a:t>
            </a:r>
            <a:r>
              <a:rPr lang="en-US" b="1" i="1" dirty="0" err="1"/>
              <a:t>toán</a:t>
            </a:r>
            <a:r>
              <a:rPr lang="en-US" b="1" i="1" dirty="0"/>
              <a:t> </a:t>
            </a:r>
            <a:r>
              <a:rPr lang="en-US" b="1" i="1" dirty="0" err="1"/>
              <a:t>yếu</a:t>
            </a:r>
            <a:r>
              <a:rPr lang="en-US" b="1" i="1" dirty="0"/>
              <a:t>/</a:t>
            </a:r>
            <a:r>
              <a:rPr lang="en-US" b="1" i="1" dirty="0" err="1"/>
              <a:t>lỗi</a:t>
            </a:r>
            <a:r>
              <a:rPr lang="en-US" b="1" i="1" dirty="0"/>
              <a:t> </a:t>
            </a:r>
            <a:r>
              <a:rPr lang="en-US" b="1" i="1" dirty="0" err="1"/>
              <a:t>thời</a:t>
            </a:r>
            <a:r>
              <a:rPr lang="en-US" b="1" i="1" dirty="0"/>
              <a:t> </a:t>
            </a:r>
            <a:r>
              <a:rPr lang="en-US" dirty="0" err="1"/>
              <a:t>hoặc</a:t>
            </a:r>
            <a:r>
              <a:rPr lang="en-US" dirty="0"/>
              <a:t> </a:t>
            </a:r>
            <a:r>
              <a:rPr lang="en-US" b="1" i="1" dirty="0" err="1"/>
              <a:t>thiếu</a:t>
            </a:r>
            <a:r>
              <a:rPr lang="en-US" b="1" i="1" dirty="0"/>
              <a:t> </a:t>
            </a:r>
            <a:r>
              <a:rPr lang="en-US" b="1" i="1" dirty="0" err="1"/>
              <a:t>mã</a:t>
            </a:r>
            <a:r>
              <a:rPr lang="en-US" b="1" i="1" dirty="0"/>
              <a:t> </a:t>
            </a:r>
            <a:r>
              <a:rPr lang="en-US" b="1" i="1" dirty="0" err="1"/>
              <a:t>hóa</a:t>
            </a:r>
            <a:r>
              <a:rPr lang="en-US" b="1" i="1" dirty="0"/>
              <a:t> </a:t>
            </a:r>
            <a:r>
              <a:rPr lang="en-US" b="1" i="1" dirty="0" err="1"/>
              <a:t>hoàn</a:t>
            </a:r>
            <a:r>
              <a:rPr lang="en-US" b="1" i="1" dirty="0"/>
              <a:t> </a:t>
            </a:r>
            <a:r>
              <a:rPr lang="en-US" b="1" i="1" dirty="0" err="1"/>
              <a:t>toàn</a:t>
            </a:r>
            <a:r>
              <a:rPr lang="en-US" b="1" dirty="0"/>
              <a:t> </a:t>
            </a:r>
            <a:r>
              <a:rPr lang="en-US" dirty="0" err="1"/>
              <a:t>đối</a:t>
            </a:r>
            <a:r>
              <a:rPr lang="en-US" dirty="0"/>
              <a:t> </a:t>
            </a:r>
            <a:r>
              <a:rPr lang="en-US" dirty="0" err="1"/>
              <a:t>với</a:t>
            </a:r>
            <a:r>
              <a:rPr lang="en-US" dirty="0"/>
              <a:t> </a:t>
            </a:r>
            <a:r>
              <a:rPr lang="en-US" dirty="0" err="1"/>
              <a:t>các</a:t>
            </a:r>
            <a:r>
              <a:rPr lang="en-US" dirty="0"/>
              <a:t> </a:t>
            </a:r>
            <a:r>
              <a:rPr lang="en-US" dirty="0" err="1"/>
              <a:t>thông</a:t>
            </a:r>
            <a:r>
              <a:rPr lang="en-US" dirty="0"/>
              <a:t> tin </a:t>
            </a:r>
            <a:r>
              <a:rPr lang="en-US" dirty="0" err="1"/>
              <a:t>mật</a:t>
            </a:r>
            <a:r>
              <a:rPr lang="en-US" dirty="0"/>
              <a:t> (</a:t>
            </a:r>
            <a:r>
              <a:rPr lang="en-US" dirty="0" err="1"/>
              <a:t>mật</a:t>
            </a:r>
            <a:r>
              <a:rPr lang="en-US" dirty="0"/>
              <a:t> </a:t>
            </a:r>
            <a:r>
              <a:rPr lang="en-US" dirty="0" err="1"/>
              <a:t>khẩu</a:t>
            </a:r>
            <a:r>
              <a:rPr lang="en-US" dirty="0"/>
              <a:t>, </a:t>
            </a:r>
            <a:r>
              <a:rPr lang="en-US" dirty="0" err="1"/>
              <a:t>thông</a:t>
            </a:r>
            <a:r>
              <a:rPr lang="en-US" dirty="0"/>
              <a:t> tin </a:t>
            </a:r>
            <a:r>
              <a:rPr lang="en-US" dirty="0" err="1"/>
              <a:t>cá</a:t>
            </a:r>
            <a:r>
              <a:rPr lang="en-US" dirty="0"/>
              <a:t> </a:t>
            </a:r>
            <a:r>
              <a:rPr lang="en-US" dirty="0" err="1"/>
              <a:t>nhân</a:t>
            </a:r>
            <a:r>
              <a:rPr lang="en-US" dirty="0"/>
              <a:t> </a:t>
            </a:r>
            <a:r>
              <a:rPr lang="en-US" dirty="0" err="1"/>
              <a:t>và</a:t>
            </a:r>
            <a:r>
              <a:rPr lang="en-US" dirty="0"/>
              <a:t> </a:t>
            </a:r>
            <a:r>
              <a:rPr lang="en-US" dirty="0" err="1"/>
              <a:t>dữ</a:t>
            </a:r>
            <a:r>
              <a:rPr lang="en-US" dirty="0"/>
              <a:t> </a:t>
            </a:r>
            <a:r>
              <a:rPr lang="en-US" dirty="0" err="1"/>
              <a:t>liệu</a:t>
            </a:r>
            <a:r>
              <a:rPr lang="en-US" dirty="0"/>
              <a:t> </a:t>
            </a:r>
            <a:r>
              <a:rPr lang="en-US" dirty="0" err="1"/>
              <a:t>tài</a:t>
            </a:r>
            <a:r>
              <a:rPr lang="en-US" dirty="0"/>
              <a:t> </a:t>
            </a:r>
            <a:r>
              <a:rPr lang="en-US" dirty="0" err="1"/>
              <a:t>chính</a:t>
            </a:r>
            <a:r>
              <a:rPr lang="en-US" dirty="0"/>
              <a:t>).</a:t>
            </a:r>
          </a:p>
          <a:p>
            <a:pPr marL="0" lvl="1" indent="457200" algn="just" rtl="0">
              <a:lnSpc>
                <a:spcPct val="100000"/>
              </a:lnSpc>
              <a:spcBef>
                <a:spcPts val="500"/>
              </a:spcBef>
              <a:spcAft>
                <a:spcPts val="0"/>
              </a:spcAft>
              <a:buClr>
                <a:schemeClr val="dk1"/>
              </a:buClr>
              <a:buSzPts val="2800"/>
              <a:buNone/>
            </a:pPr>
            <a:endParaRPr dirty="0"/>
          </a:p>
          <a:p>
            <a:pPr marL="0" lvl="1" indent="457200" algn="just" rtl="0">
              <a:lnSpc>
                <a:spcPct val="100000"/>
              </a:lnSpc>
              <a:spcBef>
                <a:spcPts val="500"/>
              </a:spcBef>
              <a:spcAft>
                <a:spcPts val="0"/>
              </a:spcAft>
              <a:buClr>
                <a:schemeClr val="dk1"/>
              </a:buClr>
              <a:buSzPts val="2800"/>
              <a:buFont typeface="Arial"/>
              <a:buNone/>
            </a:pPr>
            <a:r>
              <a:rPr lang="en-US" dirty="0"/>
              <a:t>Hậu </a:t>
            </a:r>
            <a:r>
              <a:rPr lang="en-US" dirty="0" err="1"/>
              <a:t>quả</a:t>
            </a:r>
            <a:r>
              <a:rPr lang="en-US" dirty="0"/>
              <a:t> </a:t>
            </a:r>
            <a:r>
              <a:rPr lang="en-US" dirty="0" err="1"/>
              <a:t>của</a:t>
            </a:r>
            <a:r>
              <a:rPr lang="en-US" dirty="0"/>
              <a:t> </a:t>
            </a:r>
            <a:r>
              <a:rPr lang="en-US" dirty="0" err="1"/>
              <a:t>lỗ</a:t>
            </a:r>
            <a:r>
              <a:rPr lang="en-US" dirty="0"/>
              <a:t> </a:t>
            </a:r>
            <a:r>
              <a:rPr lang="en-US" dirty="0" err="1"/>
              <a:t>hổng</a:t>
            </a:r>
            <a:r>
              <a:rPr lang="en-US" dirty="0"/>
              <a:t> </a:t>
            </a:r>
            <a:r>
              <a:rPr lang="en-US" dirty="0" err="1"/>
              <a:t>này</a:t>
            </a:r>
            <a:r>
              <a:rPr lang="en-US" dirty="0"/>
              <a:t> </a:t>
            </a:r>
            <a:r>
              <a:rPr lang="en-US" dirty="0" err="1"/>
              <a:t>dẫn</a:t>
            </a:r>
            <a:r>
              <a:rPr lang="en-US" dirty="0"/>
              <a:t> </a:t>
            </a:r>
            <a:r>
              <a:rPr lang="en-US" dirty="0" err="1"/>
              <a:t>đến</a:t>
            </a:r>
            <a:r>
              <a:rPr lang="en-US" dirty="0"/>
              <a:t> </a:t>
            </a:r>
            <a:r>
              <a:rPr lang="en-US" dirty="0" err="1"/>
              <a:t>các</a:t>
            </a:r>
            <a:r>
              <a:rPr lang="en-US" dirty="0"/>
              <a:t> </a:t>
            </a:r>
            <a:r>
              <a:rPr lang="en-US" dirty="0" err="1"/>
              <a:t>sự</a:t>
            </a:r>
            <a:r>
              <a:rPr lang="en-US" dirty="0"/>
              <a:t> </a:t>
            </a:r>
            <a:r>
              <a:rPr lang="en-US" dirty="0" err="1"/>
              <a:t>cố</a:t>
            </a:r>
            <a:r>
              <a:rPr lang="en-US" dirty="0"/>
              <a:t> </a:t>
            </a:r>
            <a:r>
              <a:rPr lang="en-US" dirty="0" err="1"/>
              <a:t>rò</a:t>
            </a:r>
            <a:r>
              <a:rPr lang="en-US" dirty="0"/>
              <a:t> </a:t>
            </a:r>
            <a:r>
              <a:rPr lang="en-US" dirty="0" err="1"/>
              <a:t>rĩ</a:t>
            </a:r>
            <a:r>
              <a:rPr lang="en-US" dirty="0"/>
              <a:t> </a:t>
            </a:r>
            <a:r>
              <a:rPr lang="en-US" dirty="0" err="1"/>
              <a:t>dữ</a:t>
            </a:r>
            <a:r>
              <a:rPr lang="en-US" dirty="0"/>
              <a:t> </a:t>
            </a:r>
            <a:r>
              <a:rPr lang="en-US" dirty="0" err="1"/>
              <a:t>liệu</a:t>
            </a:r>
            <a:r>
              <a:rPr lang="en-US" dirty="0"/>
              <a:t> </a:t>
            </a:r>
            <a:r>
              <a:rPr lang="en-US" dirty="0" err="1"/>
              <a:t>nghiêm</a:t>
            </a:r>
            <a:r>
              <a:rPr lang="en-US" dirty="0"/>
              <a:t> </a:t>
            </a:r>
            <a:r>
              <a:rPr lang="en-US" dirty="0" err="1"/>
              <a:t>trọng</a:t>
            </a:r>
            <a:r>
              <a:rPr lang="en-US" dirty="0"/>
              <a:t>. Chi </a:t>
            </a:r>
            <a:r>
              <a:rPr lang="en-US" dirty="0" err="1"/>
              <a:t>phí</a:t>
            </a:r>
            <a:r>
              <a:rPr lang="en-US" dirty="0"/>
              <a:t> </a:t>
            </a:r>
            <a:r>
              <a:rPr lang="en-US" dirty="0" err="1"/>
              <a:t>trung</a:t>
            </a:r>
            <a:r>
              <a:rPr lang="en-US" dirty="0"/>
              <a:t> </a:t>
            </a:r>
            <a:r>
              <a:rPr lang="en-US" dirty="0" err="1"/>
              <a:t>bình</a:t>
            </a:r>
            <a:r>
              <a:rPr lang="en-US" dirty="0"/>
              <a:t> </a:t>
            </a:r>
            <a:r>
              <a:rPr lang="en-US" dirty="0" err="1"/>
              <a:t>cho</a:t>
            </a:r>
            <a:r>
              <a:rPr lang="en-US" dirty="0"/>
              <a:t> </a:t>
            </a:r>
            <a:r>
              <a:rPr lang="en-US" dirty="0" err="1"/>
              <a:t>một</a:t>
            </a:r>
            <a:r>
              <a:rPr lang="en-US" dirty="0"/>
              <a:t> </a:t>
            </a:r>
            <a:r>
              <a:rPr lang="en-US" dirty="0" err="1"/>
              <a:t>vụ</a:t>
            </a:r>
            <a:r>
              <a:rPr lang="en-US" dirty="0"/>
              <a:t> </a:t>
            </a:r>
            <a:r>
              <a:rPr lang="en-US" dirty="0" err="1"/>
              <a:t>rò</a:t>
            </a:r>
            <a:r>
              <a:rPr lang="en-US" dirty="0"/>
              <a:t> </a:t>
            </a:r>
            <a:r>
              <a:rPr lang="en-US" dirty="0" err="1"/>
              <a:t>rỉ</a:t>
            </a:r>
            <a:r>
              <a:rPr lang="en-US" dirty="0"/>
              <a:t> </a:t>
            </a:r>
            <a:r>
              <a:rPr lang="en-US" dirty="0" err="1"/>
              <a:t>dữ</a:t>
            </a:r>
            <a:r>
              <a:rPr lang="en-US" dirty="0"/>
              <a:t> </a:t>
            </a:r>
            <a:r>
              <a:rPr lang="en-US" dirty="0" err="1"/>
              <a:t>liệu</a:t>
            </a:r>
            <a:r>
              <a:rPr lang="en-US" dirty="0"/>
              <a:t> </a:t>
            </a:r>
            <a:r>
              <a:rPr lang="en-US" dirty="0" err="1"/>
              <a:t>toàn</a:t>
            </a:r>
            <a:r>
              <a:rPr lang="en-US" dirty="0"/>
              <a:t> </a:t>
            </a:r>
            <a:r>
              <a:rPr lang="en-US" dirty="0" err="1"/>
              <a:t>cầu</a:t>
            </a:r>
            <a:r>
              <a:rPr lang="en-US" dirty="0"/>
              <a:t> </a:t>
            </a:r>
            <a:r>
              <a:rPr lang="en-US" dirty="0" err="1"/>
              <a:t>năm</a:t>
            </a:r>
            <a:r>
              <a:rPr lang="en-US" dirty="0"/>
              <a:t> </a:t>
            </a:r>
            <a:r>
              <a:rPr lang="en-US" b="1" i="1" dirty="0"/>
              <a:t>2024</a:t>
            </a:r>
            <a:r>
              <a:rPr lang="en-US" dirty="0"/>
              <a:t> </a:t>
            </a:r>
            <a:r>
              <a:rPr lang="en-US" dirty="0" err="1"/>
              <a:t>ước</a:t>
            </a:r>
            <a:r>
              <a:rPr lang="en-US" dirty="0"/>
              <a:t> </a:t>
            </a:r>
            <a:r>
              <a:rPr lang="en-US" dirty="0" err="1"/>
              <a:t>tính</a:t>
            </a:r>
            <a:r>
              <a:rPr lang="en-US" dirty="0"/>
              <a:t> </a:t>
            </a:r>
            <a:r>
              <a:rPr lang="en-US" dirty="0" err="1"/>
              <a:t>khoảng</a:t>
            </a:r>
            <a:r>
              <a:rPr lang="en-US" dirty="0"/>
              <a:t> </a:t>
            </a:r>
            <a:r>
              <a:rPr lang="en-US" b="1" i="1" dirty="0"/>
              <a:t>4,88 </a:t>
            </a:r>
            <a:r>
              <a:rPr lang="en-US" b="1" i="1" dirty="0" err="1"/>
              <a:t>triệu</a:t>
            </a:r>
            <a:r>
              <a:rPr lang="en-US" b="1" i="1" dirty="0"/>
              <a:t> USD</a:t>
            </a:r>
            <a:r>
              <a:rPr lang="en-US" dirty="0"/>
              <a:t>. </a:t>
            </a:r>
            <a:r>
              <a:rPr lang="en-US" dirty="0" err="1"/>
              <a:t>Vụ</a:t>
            </a:r>
            <a:r>
              <a:rPr lang="en-US" dirty="0"/>
              <a:t> </a:t>
            </a:r>
            <a:r>
              <a:rPr lang="en-US" dirty="0" err="1"/>
              <a:t>tấn</a:t>
            </a:r>
            <a:r>
              <a:rPr lang="en-US" dirty="0"/>
              <a:t> </a:t>
            </a:r>
            <a:r>
              <a:rPr lang="en-US" dirty="0" err="1"/>
              <a:t>công</a:t>
            </a:r>
            <a:r>
              <a:rPr lang="en-US" dirty="0"/>
              <a:t> Balancer Protocol (</a:t>
            </a:r>
            <a:r>
              <a:rPr lang="en-US" b="1" i="1" dirty="0"/>
              <a:t>03/11/2025</a:t>
            </a:r>
            <a:r>
              <a:rPr lang="en-US" dirty="0"/>
              <a:t>) </a:t>
            </a:r>
            <a:r>
              <a:rPr lang="en-US" dirty="0" err="1"/>
              <a:t>là</a:t>
            </a:r>
            <a:r>
              <a:rPr lang="en-US" dirty="0"/>
              <a:t> </a:t>
            </a:r>
            <a:r>
              <a:rPr lang="en-US" dirty="0" err="1"/>
              <a:t>minh</a:t>
            </a:r>
            <a:r>
              <a:rPr lang="en-US" dirty="0"/>
              <a:t> </a:t>
            </a:r>
            <a:r>
              <a:rPr lang="en-US" dirty="0" err="1"/>
              <a:t>chứng</a:t>
            </a:r>
            <a:r>
              <a:rPr lang="en-US" dirty="0"/>
              <a:t> </a:t>
            </a:r>
            <a:r>
              <a:rPr lang="en-US" dirty="0" err="1"/>
              <a:t>thời</a:t>
            </a:r>
            <a:r>
              <a:rPr lang="en-US" dirty="0"/>
              <a:t> </a:t>
            </a:r>
            <a:r>
              <a:rPr lang="en-US" dirty="0" err="1"/>
              <a:t>sự</a:t>
            </a:r>
            <a:r>
              <a:rPr lang="en-US" dirty="0"/>
              <a:t> </a:t>
            </a:r>
            <a:r>
              <a:rPr lang="en-US" dirty="0" err="1"/>
              <a:t>cho</a:t>
            </a:r>
            <a:r>
              <a:rPr lang="en-US" dirty="0"/>
              <a:t> </a:t>
            </a:r>
            <a:r>
              <a:rPr lang="en-US" dirty="0" err="1"/>
              <a:t>Lỗi</a:t>
            </a:r>
            <a:r>
              <a:rPr lang="en-US" dirty="0"/>
              <a:t> </a:t>
            </a:r>
            <a:r>
              <a:rPr lang="en-US" dirty="0" err="1"/>
              <a:t>mã</a:t>
            </a:r>
            <a:r>
              <a:rPr lang="en-US" dirty="0"/>
              <a:t> </a:t>
            </a:r>
            <a:r>
              <a:rPr lang="en-US" dirty="0" err="1"/>
              <a:t>hóa</a:t>
            </a:r>
            <a:r>
              <a:rPr lang="en-US" dirty="0"/>
              <a:t>. </a:t>
            </a:r>
            <a:r>
              <a:rPr lang="en-US" dirty="0" err="1"/>
              <a:t>Kẻ</a:t>
            </a:r>
            <a:r>
              <a:rPr lang="en-US" dirty="0"/>
              <a:t> </a:t>
            </a:r>
            <a:r>
              <a:rPr lang="en-US" dirty="0" err="1"/>
              <a:t>tấn</a:t>
            </a:r>
            <a:r>
              <a:rPr lang="en-US" dirty="0"/>
              <a:t> </a:t>
            </a:r>
            <a:r>
              <a:rPr lang="en-US" dirty="0" err="1"/>
              <a:t>công</a:t>
            </a:r>
            <a:r>
              <a:rPr lang="en-US" dirty="0"/>
              <a:t> </a:t>
            </a:r>
            <a:r>
              <a:rPr lang="en-US" dirty="0" err="1"/>
              <a:t>không</a:t>
            </a:r>
            <a:r>
              <a:rPr lang="en-US" dirty="0"/>
              <a:t> </a:t>
            </a:r>
            <a:r>
              <a:rPr lang="en-US" dirty="0" err="1"/>
              <a:t>phá</a:t>
            </a:r>
            <a:r>
              <a:rPr lang="en-US" dirty="0"/>
              <a:t> </a:t>
            </a:r>
            <a:r>
              <a:rPr lang="en-US" dirty="0" err="1"/>
              <a:t>mã</a:t>
            </a:r>
            <a:r>
              <a:rPr lang="en-US" dirty="0"/>
              <a:t> </a:t>
            </a:r>
            <a:r>
              <a:rPr lang="en-US" dirty="0" err="1"/>
              <a:t>hóa</a:t>
            </a:r>
            <a:r>
              <a:rPr lang="en-US" dirty="0"/>
              <a:t> </a:t>
            </a:r>
            <a:r>
              <a:rPr lang="en-US" dirty="0" err="1"/>
              <a:t>mà</a:t>
            </a:r>
            <a:r>
              <a:rPr lang="en-US" dirty="0"/>
              <a:t> </a:t>
            </a:r>
            <a:r>
              <a:rPr lang="en-US" dirty="0" err="1"/>
              <a:t>lợi</a:t>
            </a:r>
            <a:r>
              <a:rPr lang="en-US" dirty="0"/>
              <a:t> </a:t>
            </a:r>
            <a:r>
              <a:rPr lang="en-US" dirty="0" err="1"/>
              <a:t>dụng</a:t>
            </a:r>
            <a:r>
              <a:rPr lang="en-US" dirty="0"/>
              <a:t> </a:t>
            </a:r>
            <a:r>
              <a:rPr lang="en-US" dirty="0" err="1"/>
              <a:t>lỗi</a:t>
            </a:r>
            <a:r>
              <a:rPr lang="en-US" dirty="0"/>
              <a:t> </a:t>
            </a:r>
            <a:r>
              <a:rPr lang="en-US" dirty="0" err="1"/>
              <a:t>tính</a:t>
            </a:r>
            <a:r>
              <a:rPr lang="en-US" dirty="0"/>
              <a:t> </a:t>
            </a:r>
            <a:r>
              <a:rPr lang="en-US" dirty="0" err="1"/>
              <a:t>toán</a:t>
            </a:r>
            <a:r>
              <a:rPr lang="en-US" dirty="0"/>
              <a:t> </a:t>
            </a:r>
            <a:r>
              <a:rPr lang="en-US" dirty="0" err="1"/>
              <a:t>làm</a:t>
            </a:r>
            <a:r>
              <a:rPr lang="en-US" dirty="0"/>
              <a:t> </a:t>
            </a:r>
            <a:r>
              <a:rPr lang="en-US" dirty="0" err="1"/>
              <a:t>tròn</a:t>
            </a:r>
            <a:r>
              <a:rPr lang="en-US" dirty="0"/>
              <a:t> </a:t>
            </a:r>
            <a:r>
              <a:rPr lang="en-US" dirty="0" err="1"/>
              <a:t>số</a:t>
            </a:r>
            <a:r>
              <a:rPr lang="en-US" dirty="0"/>
              <a:t> </a:t>
            </a:r>
            <a:r>
              <a:rPr lang="en-US" dirty="0" err="1"/>
              <a:t>để</a:t>
            </a:r>
            <a:r>
              <a:rPr lang="en-US" dirty="0"/>
              <a:t> </a:t>
            </a:r>
            <a:r>
              <a:rPr lang="en-US" dirty="0" err="1"/>
              <a:t>sửa</a:t>
            </a:r>
            <a:r>
              <a:rPr lang="en-US" dirty="0"/>
              <a:t> </a:t>
            </a:r>
            <a:r>
              <a:rPr lang="en-US" dirty="0" err="1"/>
              <a:t>đổi</a:t>
            </a:r>
            <a:r>
              <a:rPr lang="en-US" dirty="0"/>
              <a:t> </a:t>
            </a:r>
            <a:r>
              <a:rPr lang="en-US" dirty="0" err="1"/>
              <a:t>giá</a:t>
            </a:r>
            <a:r>
              <a:rPr lang="en-US" dirty="0"/>
              <a:t> </a:t>
            </a:r>
            <a:r>
              <a:rPr lang="en-US" dirty="0" err="1"/>
              <a:t>trị</a:t>
            </a:r>
            <a:r>
              <a:rPr lang="en-US" dirty="0"/>
              <a:t> </a:t>
            </a:r>
            <a:r>
              <a:rPr lang="en-US" dirty="0" err="1"/>
              <a:t>nội</a:t>
            </a:r>
            <a:r>
              <a:rPr lang="en-US" dirty="0"/>
              <a:t> </a:t>
            </a:r>
            <a:r>
              <a:rPr lang="en-US" dirty="0" err="1"/>
              <a:t>bộ</a:t>
            </a:r>
            <a:r>
              <a:rPr lang="en-US" dirty="0"/>
              <a:t> </a:t>
            </a:r>
            <a:r>
              <a:rPr lang="en-US" dirty="0" err="1"/>
              <a:t>của</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đó</a:t>
            </a:r>
            <a:r>
              <a:rPr lang="en-US" dirty="0"/>
              <a:t> </a:t>
            </a:r>
            <a:r>
              <a:rPr lang="en-US" dirty="0" err="1"/>
              <a:t>phá</a:t>
            </a:r>
            <a:r>
              <a:rPr lang="en-US" dirty="0"/>
              <a:t> </a:t>
            </a:r>
            <a:r>
              <a:rPr lang="en-US" dirty="0" err="1"/>
              <a:t>vỡ</a:t>
            </a:r>
            <a:r>
              <a:rPr lang="en-US" dirty="0"/>
              <a:t> </a:t>
            </a:r>
            <a:r>
              <a:rPr lang="en-US" dirty="0" err="1"/>
              <a:t>tính</a:t>
            </a:r>
            <a:r>
              <a:rPr lang="en-US" dirty="0"/>
              <a:t> </a:t>
            </a:r>
            <a:r>
              <a:rPr lang="en-US" dirty="0" err="1"/>
              <a:t>toàn</a:t>
            </a:r>
            <a:r>
              <a:rPr lang="en-US" dirty="0"/>
              <a:t> </a:t>
            </a:r>
            <a:r>
              <a:rPr lang="en-US" dirty="0" err="1"/>
              <a:t>vẹn</a:t>
            </a:r>
            <a:r>
              <a:rPr lang="en-US" dirty="0"/>
              <a:t> </a:t>
            </a:r>
            <a:r>
              <a:rPr lang="en-US" dirty="0" err="1"/>
              <a:t>và</a:t>
            </a:r>
            <a:r>
              <a:rPr lang="en-US" dirty="0"/>
              <a:t> </a:t>
            </a:r>
            <a:r>
              <a:rPr lang="en-US" dirty="0" err="1"/>
              <a:t>chiếm</a:t>
            </a:r>
            <a:r>
              <a:rPr lang="en-US" dirty="0"/>
              <a:t> </a:t>
            </a:r>
            <a:r>
              <a:rPr lang="en-US" dirty="0" err="1"/>
              <a:t>đoạt</a:t>
            </a:r>
            <a:r>
              <a:rPr lang="en-US" dirty="0"/>
              <a:t> </a:t>
            </a:r>
            <a:r>
              <a:rPr lang="en-US" dirty="0" err="1"/>
              <a:t>hơn</a:t>
            </a:r>
            <a:r>
              <a:rPr lang="en-US" dirty="0"/>
              <a:t> </a:t>
            </a:r>
            <a:r>
              <a:rPr lang="en-US" b="1" i="1" dirty="0"/>
              <a:t>120 </a:t>
            </a:r>
            <a:r>
              <a:rPr lang="en-US" b="1" i="1" dirty="0" err="1"/>
              <a:t>triệu</a:t>
            </a:r>
            <a:r>
              <a:rPr lang="en-US" b="1" i="1" dirty="0"/>
              <a:t> USD </a:t>
            </a:r>
            <a:r>
              <a:rPr lang="en-US" dirty="0" err="1"/>
              <a:t>tài</a:t>
            </a:r>
            <a:r>
              <a:rPr lang="en-US" dirty="0"/>
              <a:t> </a:t>
            </a:r>
            <a:r>
              <a:rPr lang="en-US" dirty="0" err="1"/>
              <a:t>sản</a:t>
            </a:r>
            <a:r>
              <a:rPr lang="en-US" dirty="0"/>
              <a:t>. </a:t>
            </a:r>
          </a:p>
          <a:p>
            <a:pPr marL="0" lvl="1" indent="457200" algn="just" rtl="0">
              <a:lnSpc>
                <a:spcPct val="100000"/>
              </a:lnSpc>
              <a:spcBef>
                <a:spcPts val="500"/>
              </a:spcBef>
              <a:spcAft>
                <a:spcPts val="0"/>
              </a:spcAft>
              <a:buClr>
                <a:schemeClr val="dk1"/>
              </a:buClr>
              <a:buSzPts val="2800"/>
              <a:buFont typeface="Arial"/>
              <a:buNone/>
            </a:pPr>
            <a:endParaRPr lang="en-US" dirty="0"/>
          </a:p>
          <a:p>
            <a:pPr marL="0" lvl="1" indent="457200" algn="just" rtl="0">
              <a:lnSpc>
                <a:spcPct val="100000"/>
              </a:lnSpc>
              <a:spcBef>
                <a:spcPts val="500"/>
              </a:spcBef>
              <a:spcAft>
                <a:spcPts val="0"/>
              </a:spcAft>
              <a:buClr>
                <a:schemeClr val="dk1"/>
              </a:buClr>
              <a:buSzPts val="2800"/>
              <a:buFont typeface="Arial"/>
              <a:buNone/>
            </a:pPr>
            <a:r>
              <a:rPr lang="en-US" dirty="0" err="1"/>
              <a:t>Cùng</a:t>
            </a:r>
            <a:r>
              <a:rPr lang="en-US" dirty="0"/>
              <a:t> </a:t>
            </a:r>
            <a:r>
              <a:rPr lang="en-US" dirty="0" err="1"/>
              <a:t>với</a:t>
            </a:r>
            <a:r>
              <a:rPr lang="en-US" dirty="0"/>
              <a:t> </a:t>
            </a:r>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a:t>
            </a:r>
            <a:r>
              <a:rPr lang="en-US" dirty="0" err="1"/>
              <a:t>máy</a:t>
            </a:r>
            <a:r>
              <a:rPr lang="en-US" dirty="0"/>
              <a:t> </a:t>
            </a:r>
            <a:r>
              <a:rPr lang="en-US" dirty="0" err="1"/>
              <a:t>tính</a:t>
            </a:r>
            <a:r>
              <a:rPr lang="en-US" dirty="0"/>
              <a:t> </a:t>
            </a:r>
            <a:r>
              <a:rPr lang="en-US" dirty="0" err="1"/>
              <a:t>lượng</a:t>
            </a:r>
            <a:r>
              <a:rPr lang="en-US" dirty="0"/>
              <a:t> </a:t>
            </a:r>
            <a:r>
              <a:rPr lang="en-US" dirty="0" err="1"/>
              <a:t>tử</a:t>
            </a:r>
            <a:r>
              <a:rPr lang="en-US" dirty="0"/>
              <a:t>, </a:t>
            </a:r>
            <a:r>
              <a:rPr lang="en-US" dirty="0" err="1"/>
              <a:t>các</a:t>
            </a:r>
            <a:r>
              <a:rPr lang="en-US" dirty="0"/>
              <a:t> </a:t>
            </a:r>
            <a:r>
              <a:rPr lang="en-US" dirty="0" err="1"/>
              <a:t>thuật</a:t>
            </a:r>
            <a:r>
              <a:rPr lang="en-US" dirty="0"/>
              <a:t> </a:t>
            </a:r>
            <a:r>
              <a:rPr lang="en-US" dirty="0" err="1"/>
              <a:t>toán</a:t>
            </a:r>
            <a:r>
              <a:rPr lang="en-US" dirty="0"/>
              <a:t> </a:t>
            </a:r>
            <a:r>
              <a:rPr lang="en-US" dirty="0" err="1"/>
              <a:t>mã</a:t>
            </a:r>
            <a:r>
              <a:rPr lang="en-US" dirty="0"/>
              <a:t> </a:t>
            </a:r>
            <a:r>
              <a:rPr lang="en-US" dirty="0" err="1"/>
              <a:t>hóa</a:t>
            </a:r>
            <a:r>
              <a:rPr lang="en-US" dirty="0"/>
              <a:t> </a:t>
            </a:r>
            <a:r>
              <a:rPr lang="en-US" dirty="0" err="1"/>
              <a:t>công</a:t>
            </a:r>
            <a:r>
              <a:rPr lang="en-US" dirty="0"/>
              <a:t> </a:t>
            </a:r>
            <a:r>
              <a:rPr lang="en-US" dirty="0" err="1"/>
              <a:t>khai</a:t>
            </a:r>
            <a:r>
              <a:rPr lang="en-US" dirty="0"/>
              <a:t> </a:t>
            </a:r>
            <a:r>
              <a:rPr lang="en-US" dirty="0" err="1"/>
              <a:t>tiêu</a:t>
            </a:r>
            <a:r>
              <a:rPr lang="en-US" dirty="0"/>
              <a:t> </a:t>
            </a:r>
            <a:r>
              <a:rPr lang="en-US" dirty="0" err="1"/>
              <a:t>chuẩn</a:t>
            </a:r>
            <a:r>
              <a:rPr lang="en-US" dirty="0"/>
              <a:t> </a:t>
            </a:r>
            <a:r>
              <a:rPr lang="en-US" b="1" i="1" dirty="0"/>
              <a:t>(RSA, ECC, DH) </a:t>
            </a:r>
            <a:r>
              <a:rPr lang="en-US" dirty="0" err="1"/>
              <a:t>sẽ</a:t>
            </a:r>
            <a:r>
              <a:rPr lang="en-US" dirty="0"/>
              <a:t> </a:t>
            </a:r>
            <a:r>
              <a:rPr lang="en-US" dirty="0" err="1"/>
              <a:t>đối</a:t>
            </a:r>
            <a:r>
              <a:rPr lang="en-US" dirty="0"/>
              <a:t> </a:t>
            </a:r>
            <a:r>
              <a:rPr lang="en-US" dirty="0" err="1"/>
              <a:t>mặt</a:t>
            </a:r>
            <a:r>
              <a:rPr lang="en-US" dirty="0"/>
              <a:t> </a:t>
            </a:r>
            <a:r>
              <a:rPr lang="en-US" dirty="0" err="1"/>
              <a:t>nguy</a:t>
            </a:r>
            <a:r>
              <a:rPr lang="en-US" dirty="0"/>
              <a:t> </a:t>
            </a:r>
            <a:r>
              <a:rPr lang="en-US" dirty="0" err="1"/>
              <a:t>cơ</a:t>
            </a:r>
            <a:r>
              <a:rPr lang="en-US" dirty="0"/>
              <a:t> </a:t>
            </a:r>
            <a:r>
              <a:rPr lang="en-US" dirty="0" err="1"/>
              <a:t>bị</a:t>
            </a:r>
            <a:r>
              <a:rPr lang="en-US" dirty="0"/>
              <a:t> </a:t>
            </a:r>
            <a:r>
              <a:rPr lang="en-US" dirty="0" err="1"/>
              <a:t>phá</a:t>
            </a:r>
            <a:r>
              <a:rPr lang="en-US" dirty="0"/>
              <a:t> </a:t>
            </a:r>
            <a:r>
              <a:rPr lang="en-US" dirty="0" err="1"/>
              <a:t>hủy</a:t>
            </a:r>
            <a:r>
              <a:rPr lang="en-US" dirty="0"/>
              <a:t> </a:t>
            </a:r>
            <a:r>
              <a:rPr lang="en-US" dirty="0" err="1"/>
              <a:t>hoàn</a:t>
            </a:r>
            <a:r>
              <a:rPr lang="en-US" dirty="0"/>
              <a:t> </a:t>
            </a:r>
            <a:r>
              <a:rPr lang="en-US" dirty="0" err="1"/>
              <a:t>toàn</a:t>
            </a:r>
            <a:r>
              <a:rPr lang="en-US" dirty="0"/>
              <a:t>. </a:t>
            </a:r>
            <a:r>
              <a:rPr lang="en-US" dirty="0" err="1"/>
              <a:t>Điều</a:t>
            </a:r>
            <a:r>
              <a:rPr lang="en-US" dirty="0"/>
              <a:t> </a:t>
            </a:r>
            <a:r>
              <a:rPr lang="en-US" dirty="0" err="1"/>
              <a:t>đó</a:t>
            </a:r>
            <a:r>
              <a:rPr lang="en-US" dirty="0"/>
              <a:t> </a:t>
            </a:r>
            <a:r>
              <a:rPr lang="en-US" dirty="0" err="1"/>
              <a:t>đặt</a:t>
            </a:r>
            <a:r>
              <a:rPr lang="en-US" dirty="0"/>
              <a:t> </a:t>
            </a:r>
            <a:r>
              <a:rPr lang="en-US" dirty="0" err="1"/>
              <a:t>ra</a:t>
            </a:r>
            <a:r>
              <a:rPr lang="en-US" dirty="0"/>
              <a:t> </a:t>
            </a:r>
            <a:r>
              <a:rPr lang="en-US" dirty="0" err="1"/>
              <a:t>thách</a:t>
            </a:r>
            <a:r>
              <a:rPr lang="en-US" dirty="0"/>
              <a:t> </a:t>
            </a:r>
            <a:r>
              <a:rPr lang="en-US" dirty="0" err="1"/>
              <a:t>thức</a:t>
            </a:r>
            <a:r>
              <a:rPr lang="en-US" dirty="0"/>
              <a:t> </a:t>
            </a:r>
            <a:r>
              <a:rPr lang="en-US" dirty="0" err="1"/>
              <a:t>lớn</a:t>
            </a:r>
            <a:r>
              <a:rPr lang="en-US" dirty="0"/>
              <a:t> </a:t>
            </a:r>
            <a:r>
              <a:rPr lang="en-US" dirty="0" err="1"/>
              <a:t>cho</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phải</a:t>
            </a:r>
            <a:r>
              <a:rPr lang="en-US" dirty="0"/>
              <a:t> </a:t>
            </a:r>
            <a:r>
              <a:rPr lang="en-US" dirty="0" err="1"/>
              <a:t>nắm</a:t>
            </a:r>
            <a:r>
              <a:rPr lang="en-US" dirty="0"/>
              <a:t> </a:t>
            </a:r>
            <a:r>
              <a:rPr lang="en-US" dirty="0" err="1"/>
              <a:t>bắt</a:t>
            </a:r>
            <a:r>
              <a:rPr lang="en-US" dirty="0"/>
              <a:t> </a:t>
            </a:r>
            <a:r>
              <a:rPr lang="en-US" dirty="0" err="1"/>
              <a:t>kịp</a:t>
            </a:r>
            <a:r>
              <a:rPr lang="en-US" dirty="0"/>
              <a:t> </a:t>
            </a:r>
            <a:r>
              <a:rPr lang="en-US" dirty="0" err="1"/>
              <a:t>thời</a:t>
            </a:r>
            <a:r>
              <a:rPr lang="en-US" dirty="0"/>
              <a:t>, </a:t>
            </a:r>
            <a:r>
              <a:rPr lang="en-US" dirty="0" err="1"/>
              <a:t>thực</a:t>
            </a:r>
            <a:r>
              <a:rPr lang="en-US" dirty="0"/>
              <a:t> </a:t>
            </a:r>
            <a:r>
              <a:rPr lang="en-US" dirty="0" err="1"/>
              <a:t>hiện</a:t>
            </a:r>
            <a:r>
              <a:rPr lang="en-US" dirty="0"/>
              <a:t> </a:t>
            </a:r>
            <a:r>
              <a:rPr lang="en-US" dirty="0" err="1"/>
              <a:t>chuyển</a:t>
            </a:r>
            <a:r>
              <a:rPr lang="en-US" dirty="0"/>
              <a:t> </a:t>
            </a:r>
            <a:r>
              <a:rPr lang="en-US" dirty="0" err="1"/>
              <a:t>đổi</a:t>
            </a:r>
            <a:r>
              <a:rPr lang="en-US" dirty="0"/>
              <a:t> sang </a:t>
            </a:r>
            <a:r>
              <a:rPr lang="en-US" b="1" i="1" dirty="0" err="1"/>
              <a:t>mã</a:t>
            </a:r>
            <a:r>
              <a:rPr lang="en-US" b="1" i="1" dirty="0"/>
              <a:t> </a:t>
            </a:r>
            <a:r>
              <a:rPr lang="en-US" b="1" i="1" dirty="0" err="1"/>
              <a:t>hóa</a:t>
            </a:r>
            <a:r>
              <a:rPr lang="en-US" b="1" i="1" dirty="0"/>
              <a:t> </a:t>
            </a:r>
            <a:r>
              <a:rPr lang="en-US" b="1" i="1" dirty="0" err="1"/>
              <a:t>hậu</a:t>
            </a:r>
            <a:r>
              <a:rPr lang="en-US" b="1" i="1" dirty="0"/>
              <a:t> </a:t>
            </a:r>
            <a:r>
              <a:rPr lang="en-US" b="1" i="1" dirty="0" err="1"/>
              <a:t>lượng</a:t>
            </a:r>
            <a:r>
              <a:rPr lang="en-US" b="1" i="1" dirty="0"/>
              <a:t> </a:t>
            </a:r>
            <a:r>
              <a:rPr lang="en-US" b="1" i="1" dirty="0" err="1"/>
              <a:t>tử</a:t>
            </a:r>
            <a:r>
              <a:rPr lang="en-US" b="1" i="1" dirty="0"/>
              <a:t> (PQC) </a:t>
            </a:r>
            <a:r>
              <a:rPr lang="en-US" dirty="0" err="1"/>
              <a:t>nhằm</a:t>
            </a:r>
            <a:r>
              <a:rPr lang="en-US" dirty="0"/>
              <a:t> </a:t>
            </a:r>
            <a:r>
              <a:rPr lang="en-US" dirty="0" err="1"/>
              <a:t>bảo</a:t>
            </a:r>
            <a:r>
              <a:rPr lang="en-US" dirty="0"/>
              <a:t> </a:t>
            </a:r>
            <a:r>
              <a:rPr lang="en-US" dirty="0" err="1"/>
              <a:t>vệ</a:t>
            </a:r>
            <a:r>
              <a:rPr lang="en-US" dirty="0"/>
              <a:t> </a:t>
            </a:r>
            <a:r>
              <a:rPr lang="en-US" dirty="0" err="1"/>
              <a:t>dữ</a:t>
            </a:r>
            <a:r>
              <a:rPr lang="en-US" dirty="0"/>
              <a:t> </a:t>
            </a:r>
            <a:r>
              <a:rPr lang="en-US" dirty="0" err="1"/>
              <a:t>liệu</a:t>
            </a:r>
            <a:r>
              <a:rPr lang="en-US" dirty="0"/>
              <a:t> </a:t>
            </a:r>
            <a:r>
              <a:rPr lang="en-US" dirty="0" err="1"/>
              <a:t>lâu</a:t>
            </a:r>
            <a:r>
              <a:rPr lang="en-US" dirty="0"/>
              <a:t> </a:t>
            </a:r>
            <a:r>
              <a:rPr lang="en-US" dirty="0" err="1"/>
              <a:t>dài</a:t>
            </a:r>
            <a:r>
              <a:rPr lang="en-US" dirty="0"/>
              <a:t> </a:t>
            </a:r>
            <a:r>
              <a:rPr lang="en-US" dirty="0" err="1"/>
              <a:t>khỏi</a:t>
            </a:r>
            <a:r>
              <a:rPr lang="en-US" dirty="0"/>
              <a:t> </a:t>
            </a:r>
            <a:r>
              <a:rPr lang="en-US" dirty="0" err="1"/>
              <a:t>các</a:t>
            </a:r>
            <a:r>
              <a:rPr lang="en-US" dirty="0"/>
              <a:t> </a:t>
            </a:r>
            <a:r>
              <a:rPr lang="en-US" dirty="0" err="1"/>
              <a:t>cuộc</a:t>
            </a:r>
            <a:r>
              <a:rPr lang="en-US" dirty="0"/>
              <a:t> </a:t>
            </a:r>
            <a:r>
              <a:rPr lang="en-US" dirty="0" err="1"/>
              <a:t>tấn</a:t>
            </a:r>
            <a:r>
              <a:rPr lang="en-US" dirty="0"/>
              <a:t> </a:t>
            </a:r>
            <a:r>
              <a:rPr lang="en-US" dirty="0" err="1"/>
              <a:t>công</a:t>
            </a:r>
            <a:r>
              <a:rPr lang="en-US" dirty="0"/>
              <a:t> “</a:t>
            </a:r>
            <a:r>
              <a:rPr lang="en-US" dirty="0" err="1"/>
              <a:t>thu</a:t>
            </a:r>
            <a:r>
              <a:rPr lang="en-US" dirty="0"/>
              <a:t> </a:t>
            </a:r>
            <a:r>
              <a:rPr lang="en-US" dirty="0" err="1"/>
              <a:t>thập</a:t>
            </a:r>
            <a:r>
              <a:rPr lang="en-US" dirty="0"/>
              <a:t> </a:t>
            </a:r>
            <a:r>
              <a:rPr lang="en-US" dirty="0" err="1"/>
              <a:t>ngay</a:t>
            </a:r>
            <a:r>
              <a:rPr lang="en-US" dirty="0"/>
              <a:t>, </a:t>
            </a:r>
            <a:r>
              <a:rPr lang="en-US" dirty="0" err="1"/>
              <a:t>giải</a:t>
            </a:r>
            <a:r>
              <a:rPr lang="en-US" dirty="0"/>
              <a:t> </a:t>
            </a:r>
            <a:r>
              <a:rPr lang="en-US" dirty="0" err="1"/>
              <a:t>mã</a:t>
            </a:r>
            <a:r>
              <a:rPr lang="en-US" dirty="0"/>
              <a:t> </a:t>
            </a:r>
            <a:r>
              <a:rPr lang="en-US" dirty="0" err="1"/>
              <a:t>sau</a:t>
            </a:r>
            <a:r>
              <a:rPr lang="en-US" dirty="0"/>
              <a:t> </a:t>
            </a:r>
            <a:r>
              <a:rPr lang="en-US" i="1" dirty="0"/>
              <a:t>(Store Now, Decrypt Later)”</a:t>
            </a:r>
            <a:endParaRPr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4">
                                            <p:txEl>
                                              <p:pRg st="0" end="0"/>
                                            </p:txEl>
                                          </p:spTgt>
                                        </p:tgtEl>
                                        <p:attrNameLst>
                                          <p:attrName>style.visibility</p:attrName>
                                        </p:attrNameLst>
                                      </p:cBhvr>
                                      <p:to>
                                        <p:strVal val="visible"/>
                                      </p:to>
                                    </p:set>
                                    <p:animEffect transition="in" filter="fade">
                                      <p:cBhvr>
                                        <p:cTn id="7" dur="500"/>
                                        <p:tgtEl>
                                          <p:spTgt spid="5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4">
                                            <p:txEl>
                                              <p:pRg st="2" end="2"/>
                                            </p:txEl>
                                          </p:spTgt>
                                        </p:tgtEl>
                                        <p:attrNameLst>
                                          <p:attrName>style.visibility</p:attrName>
                                        </p:attrNameLst>
                                      </p:cBhvr>
                                      <p:to>
                                        <p:strVal val="visible"/>
                                      </p:to>
                                    </p:set>
                                    <p:animEffect transition="in" filter="fade">
                                      <p:cBhvr>
                                        <p:cTn id="12" dur="500"/>
                                        <p:tgtEl>
                                          <p:spTgt spid="58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4">
                                            <p:txEl>
                                              <p:pRg st="4" end="4"/>
                                            </p:txEl>
                                          </p:spTgt>
                                        </p:tgtEl>
                                        <p:attrNameLst>
                                          <p:attrName>style.visibility</p:attrName>
                                        </p:attrNameLst>
                                      </p:cBhvr>
                                      <p:to>
                                        <p:strVal val="visible"/>
                                      </p:to>
                                    </p:set>
                                    <p:animEffect transition="in" filter="fade">
                                      <p:cBhvr>
                                        <p:cTn id="17" dur="500"/>
                                        <p:tgtEl>
                                          <p:spTgt spid="58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36"/>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4000" dirty="0"/>
              <a:t>1. GIỚI THIỆU CHUNG</a:t>
            </a:r>
            <a:endParaRPr sz="4000" dirty="0"/>
          </a:p>
        </p:txBody>
      </p:sp>
      <p:pic>
        <p:nvPicPr>
          <p:cNvPr id="1026" name="Picture 2">
            <a:extLst>
              <a:ext uri="{FF2B5EF4-FFF2-40B4-BE49-F238E27FC236}">
                <a16:creationId xmlns:a16="http://schemas.microsoft.com/office/drawing/2014/main" id="{159138C5-AEAE-05CB-350E-C033BD437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57400"/>
            <a:ext cx="12192000" cy="3352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44EA927-56CD-7F56-7ABE-F8CF359F11C5}"/>
              </a:ext>
            </a:extLst>
          </p:cNvPr>
          <p:cNvSpPr txBox="1"/>
          <p:nvPr/>
        </p:nvSpPr>
        <p:spPr>
          <a:xfrm>
            <a:off x="4076056" y="1477705"/>
            <a:ext cx="4039888" cy="400110"/>
          </a:xfrm>
          <a:prstGeom prst="rect">
            <a:avLst/>
          </a:prstGeom>
          <a:noFill/>
        </p:spPr>
        <p:txBody>
          <a:bodyPr wrap="none" rtlCol="0">
            <a:spAutoFit/>
          </a:bodyPr>
          <a:lstStyle/>
          <a:p>
            <a:r>
              <a:rPr lang="en-US" sz="2000" i="1" dirty="0" err="1">
                <a:latin typeface="Readex Pro" panose="020B0604020202020204" charset="-78"/>
                <a:cs typeface="Readex Pro" panose="020B0604020202020204" charset="-78"/>
              </a:rPr>
              <a:t>Biểu</a:t>
            </a:r>
            <a:r>
              <a:rPr lang="en-US" sz="2000" i="1" dirty="0">
                <a:latin typeface="Readex Pro" panose="020B0604020202020204" charset="-78"/>
                <a:cs typeface="Readex Pro" panose="020B0604020202020204" charset="-78"/>
              </a:rPr>
              <a:t> </a:t>
            </a:r>
            <a:r>
              <a:rPr lang="en-US" sz="2000" i="1" dirty="0" err="1">
                <a:latin typeface="Readex Pro" panose="020B0604020202020204" charset="-78"/>
                <a:cs typeface="Readex Pro" panose="020B0604020202020204" charset="-78"/>
              </a:rPr>
              <a:t>đồ</a:t>
            </a:r>
            <a:r>
              <a:rPr lang="en-US" sz="2000" i="1" dirty="0">
                <a:latin typeface="Readex Pro" panose="020B0604020202020204" charset="-78"/>
                <a:cs typeface="Readex Pro" panose="020B0604020202020204" charset="-78"/>
              </a:rPr>
              <a:t> so </a:t>
            </a:r>
            <a:r>
              <a:rPr lang="en-US" sz="2000" i="1" dirty="0" err="1">
                <a:latin typeface="Readex Pro" panose="020B0604020202020204" charset="-78"/>
                <a:cs typeface="Readex Pro" panose="020B0604020202020204" charset="-78"/>
              </a:rPr>
              <a:t>sánh</a:t>
            </a:r>
            <a:r>
              <a:rPr lang="en-US" sz="2000" i="1" dirty="0">
                <a:latin typeface="Readex Pro" panose="020B0604020202020204" charset="-78"/>
                <a:cs typeface="Readex Pro" panose="020B0604020202020204" charset="-78"/>
              </a:rPr>
              <a:t> OWASP Top 10</a:t>
            </a:r>
            <a:endParaRPr lang="vi-VN" sz="2000" i="1" dirty="0">
              <a:latin typeface="Readex Pro" panose="020B0604020202020204" charset="-78"/>
              <a:cs typeface="Readex Pro" panose="020B0604020202020204"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7"/>
          <p:cNvSpPr txBox="1">
            <a:spLocks noGrp="1"/>
          </p:cNvSpPr>
          <p:nvPr>
            <p:ph type="title"/>
          </p:nvPr>
        </p:nvSpPr>
        <p:spPr>
          <a:xfrm>
            <a:off x="838200" y="299375"/>
            <a:ext cx="10515600" cy="983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4000"/>
              <a:t>2. PHÂN LOẠI</a:t>
            </a:r>
            <a:endParaRPr sz="4000"/>
          </a:p>
        </p:txBody>
      </p:sp>
      <p:sp>
        <p:nvSpPr>
          <p:cNvPr id="597" name="Google Shape;597;p37"/>
          <p:cNvSpPr/>
          <p:nvPr/>
        </p:nvSpPr>
        <p:spPr>
          <a:xfrm>
            <a:off x="6462405" y="662731"/>
            <a:ext cx="5063100" cy="650110"/>
          </a:xfrm>
          <a:prstGeom prst="roundRect">
            <a:avLst>
              <a:gd name="adj" fmla="val 16667"/>
            </a:avLst>
          </a:prstGeom>
          <a:solidFill>
            <a:srgbClr val="0E63F0"/>
          </a:solidFill>
          <a:ln w="9525" cap="flat" cmpd="sng">
            <a:solidFill>
              <a:schemeClr val="accent1"/>
            </a:solidFill>
            <a:prstDash val="solid"/>
            <a:round/>
            <a:headEnd type="none" w="sm" len="sm"/>
            <a:tailEnd type="none" w="sm" len="sm"/>
          </a:ln>
        </p:spPr>
        <p:txBody>
          <a:bodyPr spcFirstLastPara="1" wrap="square" lIns="141800" tIns="141800" rIns="141800" bIns="141800" anchor="ctr" anchorCtr="0">
            <a:noAutofit/>
          </a:bodyPr>
          <a:lstStyle/>
          <a:p>
            <a:pPr marL="0" lvl="0" indent="0" algn="l" rtl="0">
              <a:spcBef>
                <a:spcPts val="0"/>
              </a:spcBef>
              <a:spcAft>
                <a:spcPts val="0"/>
              </a:spcAft>
              <a:buNone/>
            </a:pPr>
            <a:r>
              <a:rPr lang="en-US" sz="2044" dirty="0" err="1">
                <a:solidFill>
                  <a:schemeClr val="lt1"/>
                </a:solidFill>
                <a:latin typeface="Readex Pro"/>
                <a:ea typeface="Readex Pro"/>
                <a:cs typeface="Readex Pro"/>
                <a:sym typeface="Readex Pro"/>
              </a:rPr>
              <a:t>Dùng</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thuật</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toán</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yếu</a:t>
            </a:r>
            <a:r>
              <a:rPr lang="en-US" sz="2044" dirty="0">
                <a:solidFill>
                  <a:schemeClr val="lt1"/>
                </a:solidFill>
                <a:latin typeface="Readex Pro"/>
                <a:ea typeface="Readex Pro"/>
                <a:cs typeface="Readex Pro"/>
                <a:sym typeface="Readex Pro"/>
              </a:rPr>
              <a:t>/</a:t>
            </a:r>
            <a:r>
              <a:rPr lang="en-US" sz="2044" dirty="0" err="1">
                <a:solidFill>
                  <a:schemeClr val="lt1"/>
                </a:solidFill>
                <a:latin typeface="Readex Pro"/>
                <a:ea typeface="Readex Pro"/>
                <a:cs typeface="Readex Pro"/>
                <a:sym typeface="Readex Pro"/>
              </a:rPr>
              <a:t>lỗi</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thời</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hoặc</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cấu</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hình</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sai</a:t>
            </a:r>
            <a:endParaRPr sz="2044" dirty="0">
              <a:solidFill>
                <a:schemeClr val="lt1"/>
              </a:solidFill>
              <a:latin typeface="Readex Pro"/>
              <a:ea typeface="Readex Pro"/>
              <a:cs typeface="Readex Pro"/>
              <a:sym typeface="Readex Pro"/>
            </a:endParaRPr>
          </a:p>
        </p:txBody>
      </p:sp>
      <p:sp>
        <p:nvSpPr>
          <p:cNvPr id="598" name="Google Shape;598;p37"/>
          <p:cNvSpPr/>
          <p:nvPr/>
        </p:nvSpPr>
        <p:spPr>
          <a:xfrm>
            <a:off x="498738" y="3224855"/>
            <a:ext cx="3339000" cy="495000"/>
          </a:xfrm>
          <a:prstGeom prst="roundRect">
            <a:avLst>
              <a:gd name="adj" fmla="val 16667"/>
            </a:avLst>
          </a:prstGeom>
          <a:solidFill>
            <a:srgbClr val="0942A1"/>
          </a:solidFill>
          <a:ln>
            <a:noFill/>
          </a:ln>
        </p:spPr>
        <p:txBody>
          <a:bodyPr spcFirstLastPara="1" wrap="square" lIns="141800" tIns="141800" rIns="141800" bIns="141800" anchor="ctr" anchorCtr="0">
            <a:noAutofit/>
          </a:bodyPr>
          <a:lstStyle/>
          <a:p>
            <a:pPr marL="0" lvl="0" indent="0" algn="just" rtl="0">
              <a:spcBef>
                <a:spcPts val="0"/>
              </a:spcBef>
              <a:spcAft>
                <a:spcPts val="0"/>
              </a:spcAft>
              <a:buNone/>
            </a:pPr>
            <a:r>
              <a:rPr lang="en-US" sz="2044" dirty="0">
                <a:solidFill>
                  <a:schemeClr val="lt1"/>
                </a:solidFill>
                <a:latin typeface="Readex Pro"/>
                <a:ea typeface="Readex Pro"/>
                <a:cs typeface="Readex Pro"/>
                <a:sym typeface="Readex Pro"/>
              </a:rPr>
              <a:t>Cryptographic Failures</a:t>
            </a:r>
            <a:endParaRPr sz="2044" dirty="0">
              <a:solidFill>
                <a:schemeClr val="lt1"/>
              </a:solidFill>
              <a:latin typeface="Readex Pro"/>
              <a:ea typeface="Readex Pro"/>
              <a:cs typeface="Readex Pro"/>
              <a:sym typeface="Readex Pro"/>
            </a:endParaRPr>
          </a:p>
        </p:txBody>
      </p:sp>
      <p:sp>
        <p:nvSpPr>
          <p:cNvPr id="599" name="Google Shape;599;p37"/>
          <p:cNvSpPr/>
          <p:nvPr/>
        </p:nvSpPr>
        <p:spPr>
          <a:xfrm>
            <a:off x="6488733" y="2039523"/>
            <a:ext cx="5063100" cy="495000"/>
          </a:xfrm>
          <a:prstGeom prst="roundRect">
            <a:avLst>
              <a:gd name="adj" fmla="val 16667"/>
            </a:avLst>
          </a:prstGeom>
          <a:solidFill>
            <a:srgbClr val="0E63F0"/>
          </a:solidFill>
          <a:ln w="9525" cap="flat" cmpd="sng">
            <a:solidFill>
              <a:schemeClr val="accent1"/>
            </a:solidFill>
            <a:prstDash val="solid"/>
            <a:round/>
            <a:headEnd type="none" w="sm" len="sm"/>
            <a:tailEnd type="none" w="sm" len="sm"/>
          </a:ln>
        </p:spPr>
        <p:txBody>
          <a:bodyPr spcFirstLastPara="1" wrap="square" lIns="141800" tIns="141800" rIns="141800" bIns="141800" anchor="ctr" anchorCtr="0">
            <a:noAutofit/>
          </a:bodyPr>
          <a:lstStyle/>
          <a:p>
            <a:pPr marL="0" lvl="0" indent="0" algn="l" rtl="0">
              <a:spcBef>
                <a:spcPts val="0"/>
              </a:spcBef>
              <a:spcAft>
                <a:spcPts val="0"/>
              </a:spcAft>
              <a:buClr>
                <a:schemeClr val="dk1"/>
              </a:buClr>
              <a:buSzPts val="1100"/>
              <a:buFont typeface="Arial"/>
              <a:buNone/>
            </a:pPr>
            <a:r>
              <a:rPr lang="en-US" sz="2044" dirty="0">
                <a:solidFill>
                  <a:schemeClr val="lt1"/>
                </a:solidFill>
                <a:latin typeface="Readex Pro"/>
                <a:ea typeface="Readex Pro"/>
                <a:cs typeface="Readex Pro"/>
                <a:sym typeface="Readex Pro"/>
              </a:rPr>
              <a:t>Quản </a:t>
            </a:r>
            <a:r>
              <a:rPr lang="en-US" sz="2044" dirty="0" err="1">
                <a:solidFill>
                  <a:schemeClr val="lt1"/>
                </a:solidFill>
                <a:latin typeface="Readex Pro"/>
                <a:ea typeface="Readex Pro"/>
                <a:cs typeface="Readex Pro"/>
                <a:sym typeface="Readex Pro"/>
              </a:rPr>
              <a:t>lý</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khóa</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kém</a:t>
            </a:r>
            <a:endParaRPr sz="2044" dirty="0">
              <a:solidFill>
                <a:schemeClr val="lt1"/>
              </a:solidFill>
              <a:latin typeface="Readex Pro"/>
              <a:ea typeface="Readex Pro"/>
              <a:cs typeface="Readex Pro"/>
              <a:sym typeface="Readex Pro"/>
            </a:endParaRPr>
          </a:p>
        </p:txBody>
      </p:sp>
      <p:sp>
        <p:nvSpPr>
          <p:cNvPr id="600" name="Google Shape;600;p37"/>
          <p:cNvSpPr/>
          <p:nvPr/>
        </p:nvSpPr>
        <p:spPr>
          <a:xfrm>
            <a:off x="6509534" y="3261205"/>
            <a:ext cx="5063100" cy="495000"/>
          </a:xfrm>
          <a:prstGeom prst="roundRect">
            <a:avLst>
              <a:gd name="adj" fmla="val 16667"/>
            </a:avLst>
          </a:prstGeom>
          <a:solidFill>
            <a:srgbClr val="0E63F0"/>
          </a:solidFill>
          <a:ln w="9525" cap="flat" cmpd="sng">
            <a:solidFill>
              <a:schemeClr val="accent1"/>
            </a:solidFill>
            <a:prstDash val="solid"/>
            <a:round/>
            <a:headEnd type="none" w="sm" len="sm"/>
            <a:tailEnd type="none" w="sm" len="sm"/>
          </a:ln>
        </p:spPr>
        <p:txBody>
          <a:bodyPr spcFirstLastPara="1" wrap="square" lIns="141800" tIns="141800" rIns="141800" bIns="141800" anchor="ctr" anchorCtr="0">
            <a:noAutofit/>
          </a:bodyPr>
          <a:lstStyle/>
          <a:p>
            <a:r>
              <a:rPr lang="en-US" sz="2040" dirty="0" err="1">
                <a:solidFill>
                  <a:schemeClr val="bg1"/>
                </a:solidFill>
                <a:latin typeface="Readex Pro" panose="020B0604020202020204" charset="-78"/>
                <a:cs typeface="Readex Pro" panose="020B0604020202020204" charset="-78"/>
              </a:rPr>
              <a:t>Không</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mã</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hóa</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dữ</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liệu</a:t>
            </a:r>
            <a:endParaRPr lang="en-US" sz="2040" dirty="0">
              <a:solidFill>
                <a:schemeClr val="bg1"/>
              </a:solidFill>
              <a:effectLst/>
              <a:latin typeface="Readex Pro" panose="020B0604020202020204" charset="-78"/>
              <a:cs typeface="Readex Pro" panose="020B0604020202020204" charset="-78"/>
            </a:endParaRPr>
          </a:p>
        </p:txBody>
      </p:sp>
      <p:sp>
        <p:nvSpPr>
          <p:cNvPr id="601" name="Google Shape;601;p37"/>
          <p:cNvSpPr/>
          <p:nvPr/>
        </p:nvSpPr>
        <p:spPr>
          <a:xfrm>
            <a:off x="6509534" y="4387739"/>
            <a:ext cx="5063100" cy="495000"/>
          </a:xfrm>
          <a:prstGeom prst="roundRect">
            <a:avLst>
              <a:gd name="adj" fmla="val 16667"/>
            </a:avLst>
          </a:prstGeom>
          <a:solidFill>
            <a:srgbClr val="0E63F0"/>
          </a:solidFill>
          <a:ln w="9525" cap="flat" cmpd="sng">
            <a:solidFill>
              <a:schemeClr val="accent1"/>
            </a:solidFill>
            <a:prstDash val="solid"/>
            <a:round/>
            <a:headEnd type="none" w="sm" len="sm"/>
            <a:tailEnd type="none" w="sm" len="sm"/>
          </a:ln>
        </p:spPr>
        <p:txBody>
          <a:bodyPr spcFirstLastPara="1" wrap="square" lIns="141800" tIns="141800" rIns="141800" bIns="141800" anchor="ctr" anchorCtr="0">
            <a:noAutofit/>
          </a:bodyPr>
          <a:lstStyle/>
          <a:p>
            <a:r>
              <a:rPr lang="en-US" sz="2040" dirty="0">
                <a:solidFill>
                  <a:schemeClr val="bg1"/>
                </a:solidFill>
                <a:latin typeface="Readex Pro" panose="020B0604020202020204" charset="-78"/>
                <a:cs typeface="Readex Pro" panose="020B0604020202020204" charset="-78"/>
              </a:rPr>
              <a:t>Hash </a:t>
            </a:r>
            <a:r>
              <a:rPr lang="en-US" sz="2040" dirty="0" err="1">
                <a:solidFill>
                  <a:schemeClr val="bg1"/>
                </a:solidFill>
                <a:latin typeface="Readex Pro" panose="020B0604020202020204" charset="-78"/>
                <a:cs typeface="Readex Pro" panose="020B0604020202020204" charset="-78"/>
              </a:rPr>
              <a:t>mật</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khẩu</a:t>
            </a:r>
            <a:r>
              <a:rPr lang="en-US" sz="2040" dirty="0">
                <a:solidFill>
                  <a:schemeClr val="bg1"/>
                </a:solidFill>
                <a:latin typeface="Readex Pro" panose="020B0604020202020204" charset="-78"/>
                <a:cs typeface="Readex Pro" panose="020B0604020202020204" charset="-78"/>
              </a:rPr>
              <a:t> </a:t>
            </a:r>
            <a:r>
              <a:rPr lang="en-US" sz="2040" dirty="0" err="1">
                <a:solidFill>
                  <a:schemeClr val="bg1"/>
                </a:solidFill>
                <a:latin typeface="Readex Pro" panose="020B0604020202020204" charset="-78"/>
                <a:cs typeface="Readex Pro" panose="020B0604020202020204" charset="-78"/>
              </a:rPr>
              <a:t>yếu</a:t>
            </a:r>
            <a:endParaRPr lang="en-US" sz="2040" dirty="0">
              <a:solidFill>
                <a:schemeClr val="bg1"/>
              </a:solidFill>
              <a:effectLst/>
              <a:latin typeface="Readex Pro" panose="020B0604020202020204" charset="-78"/>
              <a:cs typeface="Readex Pro" panose="020B0604020202020204" charset="-78"/>
            </a:endParaRPr>
          </a:p>
        </p:txBody>
      </p:sp>
      <p:cxnSp>
        <p:nvCxnSpPr>
          <p:cNvPr id="602" name="Google Shape;602;p37"/>
          <p:cNvCxnSpPr>
            <a:cxnSpLocks/>
          </p:cNvCxnSpPr>
          <p:nvPr/>
        </p:nvCxnSpPr>
        <p:spPr>
          <a:xfrm>
            <a:off x="4909239" y="1065341"/>
            <a:ext cx="21294" cy="4814028"/>
          </a:xfrm>
          <a:prstGeom prst="straightConnector1">
            <a:avLst/>
          </a:prstGeom>
          <a:noFill/>
          <a:ln w="33250" cap="flat" cmpd="sng">
            <a:solidFill>
              <a:schemeClr val="accent1"/>
            </a:solidFill>
            <a:prstDash val="solid"/>
            <a:round/>
            <a:headEnd type="none" w="med" len="med"/>
            <a:tailEnd type="none" w="med" len="med"/>
          </a:ln>
        </p:spPr>
      </p:cxnSp>
      <p:cxnSp>
        <p:nvCxnSpPr>
          <p:cNvPr id="603" name="Google Shape;603;p37"/>
          <p:cNvCxnSpPr/>
          <p:nvPr/>
        </p:nvCxnSpPr>
        <p:spPr>
          <a:xfrm>
            <a:off x="4893705" y="1065341"/>
            <a:ext cx="1568700"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604" name="Google Shape;604;p37"/>
          <p:cNvCxnSpPr>
            <a:cxnSpLocks/>
            <a:stCxn id="598" idx="3"/>
          </p:cNvCxnSpPr>
          <p:nvPr/>
        </p:nvCxnSpPr>
        <p:spPr>
          <a:xfrm>
            <a:off x="3837738" y="3472355"/>
            <a:ext cx="1096544"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605" name="Google Shape;605;p37"/>
          <p:cNvCxnSpPr/>
          <p:nvPr/>
        </p:nvCxnSpPr>
        <p:spPr>
          <a:xfrm>
            <a:off x="4927683" y="3575466"/>
            <a:ext cx="1563900"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 name="Google Shape;601;p37">
            <a:extLst>
              <a:ext uri="{FF2B5EF4-FFF2-40B4-BE49-F238E27FC236}">
                <a16:creationId xmlns:a16="http://schemas.microsoft.com/office/drawing/2014/main" id="{41657DDD-C91D-CDED-DF51-11B434942C77}"/>
              </a:ext>
            </a:extLst>
          </p:cNvPr>
          <p:cNvSpPr/>
          <p:nvPr/>
        </p:nvSpPr>
        <p:spPr>
          <a:xfrm>
            <a:off x="6472706" y="5557901"/>
            <a:ext cx="5063100" cy="495000"/>
          </a:xfrm>
          <a:prstGeom prst="roundRect">
            <a:avLst>
              <a:gd name="adj" fmla="val 16667"/>
            </a:avLst>
          </a:prstGeom>
          <a:solidFill>
            <a:srgbClr val="0E63F0"/>
          </a:solidFill>
          <a:ln w="9525" cap="flat" cmpd="sng">
            <a:solidFill>
              <a:schemeClr val="accent1"/>
            </a:solidFill>
            <a:prstDash val="solid"/>
            <a:round/>
            <a:headEnd type="none" w="sm" len="sm"/>
            <a:tailEnd type="none" w="sm" len="sm"/>
          </a:ln>
        </p:spPr>
        <p:txBody>
          <a:bodyPr spcFirstLastPara="1" wrap="square" lIns="141800" tIns="141800" rIns="141800" bIns="141800" anchor="ctr" anchorCtr="0">
            <a:noAutofit/>
          </a:bodyPr>
          <a:lstStyle/>
          <a:p>
            <a:pPr marL="0" marR="0" lvl="0" indent="0" algn="l" rtl="0">
              <a:lnSpc>
                <a:spcPct val="100000"/>
              </a:lnSpc>
              <a:spcBef>
                <a:spcPts val="0"/>
              </a:spcBef>
              <a:spcAft>
                <a:spcPts val="0"/>
              </a:spcAft>
              <a:buNone/>
            </a:pPr>
            <a:r>
              <a:rPr lang="en-US" sz="2044" dirty="0" err="1">
                <a:solidFill>
                  <a:schemeClr val="lt1"/>
                </a:solidFill>
                <a:latin typeface="Readex Pro"/>
                <a:ea typeface="Readex Pro"/>
                <a:cs typeface="Readex Pro"/>
                <a:sym typeface="Readex Pro"/>
              </a:rPr>
              <a:t>Thiếu</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xác</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thực</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tính</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toàn</a:t>
            </a:r>
            <a:r>
              <a:rPr lang="en-US" sz="2044" dirty="0">
                <a:solidFill>
                  <a:schemeClr val="lt1"/>
                </a:solidFill>
                <a:latin typeface="Readex Pro"/>
                <a:ea typeface="Readex Pro"/>
                <a:cs typeface="Readex Pro"/>
                <a:sym typeface="Readex Pro"/>
              </a:rPr>
              <a:t> </a:t>
            </a:r>
            <a:r>
              <a:rPr lang="en-US" sz="2044" dirty="0" err="1">
                <a:solidFill>
                  <a:schemeClr val="lt1"/>
                </a:solidFill>
                <a:latin typeface="Readex Pro"/>
                <a:ea typeface="Readex Pro"/>
                <a:cs typeface="Readex Pro"/>
                <a:sym typeface="Readex Pro"/>
              </a:rPr>
              <a:t>vẹn</a:t>
            </a:r>
            <a:endParaRPr sz="2044" dirty="0">
              <a:solidFill>
                <a:schemeClr val="lt1"/>
              </a:solidFill>
              <a:latin typeface="Readex Pro"/>
              <a:ea typeface="Readex Pro"/>
              <a:cs typeface="Readex Pro"/>
              <a:sym typeface="Readex Pro"/>
            </a:endParaRPr>
          </a:p>
        </p:txBody>
      </p:sp>
      <p:cxnSp>
        <p:nvCxnSpPr>
          <p:cNvPr id="12" name="Google Shape;603;p37">
            <a:extLst>
              <a:ext uri="{FF2B5EF4-FFF2-40B4-BE49-F238E27FC236}">
                <a16:creationId xmlns:a16="http://schemas.microsoft.com/office/drawing/2014/main" id="{D3601EC0-0F59-85BF-7FC0-056AC0A7EDE4}"/>
              </a:ext>
            </a:extLst>
          </p:cNvPr>
          <p:cNvCxnSpPr/>
          <p:nvPr/>
        </p:nvCxnSpPr>
        <p:spPr>
          <a:xfrm>
            <a:off x="4919886" y="2277097"/>
            <a:ext cx="1568700"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3" name="Google Shape;605;p37">
            <a:extLst>
              <a:ext uri="{FF2B5EF4-FFF2-40B4-BE49-F238E27FC236}">
                <a16:creationId xmlns:a16="http://schemas.microsoft.com/office/drawing/2014/main" id="{BCA02C80-2166-8CD7-B83F-10FFF79A95D5}"/>
              </a:ext>
            </a:extLst>
          </p:cNvPr>
          <p:cNvCxnSpPr>
            <a:cxnSpLocks/>
            <a:endCxn id="601" idx="1"/>
          </p:cNvCxnSpPr>
          <p:nvPr/>
        </p:nvCxnSpPr>
        <p:spPr>
          <a:xfrm>
            <a:off x="4909239" y="4626850"/>
            <a:ext cx="1600295" cy="8389"/>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4" name="Google Shape;605;p37">
            <a:extLst>
              <a:ext uri="{FF2B5EF4-FFF2-40B4-BE49-F238E27FC236}">
                <a16:creationId xmlns:a16="http://schemas.microsoft.com/office/drawing/2014/main" id="{AB5936AA-3EB6-BF99-1D10-AF7F5655C9C5}"/>
              </a:ext>
            </a:extLst>
          </p:cNvPr>
          <p:cNvCxnSpPr/>
          <p:nvPr/>
        </p:nvCxnSpPr>
        <p:spPr>
          <a:xfrm>
            <a:off x="4909239" y="5879369"/>
            <a:ext cx="1563900"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8"/>
                                        </p:tgtEl>
                                        <p:attrNameLst>
                                          <p:attrName>style.visibility</p:attrName>
                                        </p:attrNameLst>
                                      </p:cBhvr>
                                      <p:to>
                                        <p:strVal val="visible"/>
                                      </p:to>
                                    </p:set>
                                    <p:animEffect transition="in" filter="fade">
                                      <p:cBhvr>
                                        <p:cTn id="7" dur="500"/>
                                        <p:tgtEl>
                                          <p:spTgt spid="5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
                                        </p:tgtEl>
                                        <p:attrNameLst>
                                          <p:attrName>style.visibility</p:attrName>
                                        </p:attrNameLst>
                                      </p:cBhvr>
                                      <p:to>
                                        <p:strVal val="visible"/>
                                      </p:to>
                                    </p:set>
                                    <p:animEffect transition="in" filter="fade">
                                      <p:cBhvr>
                                        <p:cTn id="12" dur="500"/>
                                        <p:tgtEl>
                                          <p:spTgt spid="6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2"/>
                                        </p:tgtEl>
                                        <p:attrNameLst>
                                          <p:attrName>style.visibility</p:attrName>
                                        </p:attrNameLst>
                                      </p:cBhvr>
                                      <p:to>
                                        <p:strVal val="visible"/>
                                      </p:to>
                                    </p:set>
                                    <p:animEffect transition="in" filter="fade">
                                      <p:cBhvr>
                                        <p:cTn id="17" dur="500"/>
                                        <p:tgtEl>
                                          <p:spTgt spid="6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3"/>
                                        </p:tgtEl>
                                        <p:attrNameLst>
                                          <p:attrName>style.visibility</p:attrName>
                                        </p:attrNameLst>
                                      </p:cBhvr>
                                      <p:to>
                                        <p:strVal val="visible"/>
                                      </p:to>
                                    </p:set>
                                    <p:animEffect transition="in" filter="fade">
                                      <p:cBhvr>
                                        <p:cTn id="22" dur="500"/>
                                        <p:tgtEl>
                                          <p:spTgt spid="6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97"/>
                                        </p:tgtEl>
                                        <p:attrNameLst>
                                          <p:attrName>style.visibility</p:attrName>
                                        </p:attrNameLst>
                                      </p:cBhvr>
                                      <p:to>
                                        <p:strVal val="visible"/>
                                      </p:to>
                                    </p:set>
                                    <p:animEffect transition="in" filter="fade">
                                      <p:cBhvr>
                                        <p:cTn id="27" dur="500"/>
                                        <p:tgtEl>
                                          <p:spTgt spid="59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99"/>
                                        </p:tgtEl>
                                        <p:attrNameLst>
                                          <p:attrName>style.visibility</p:attrName>
                                        </p:attrNameLst>
                                      </p:cBhvr>
                                      <p:to>
                                        <p:strVal val="visible"/>
                                      </p:to>
                                    </p:set>
                                    <p:animEffect transition="in" filter="fade">
                                      <p:cBhvr>
                                        <p:cTn id="37" dur="500"/>
                                        <p:tgtEl>
                                          <p:spTgt spid="59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5"/>
                                        </p:tgtEl>
                                        <p:attrNameLst>
                                          <p:attrName>style.visibility</p:attrName>
                                        </p:attrNameLst>
                                      </p:cBhvr>
                                      <p:to>
                                        <p:strVal val="visible"/>
                                      </p:to>
                                    </p:set>
                                    <p:animEffect transition="in" filter="fade">
                                      <p:cBhvr>
                                        <p:cTn id="42" dur="500"/>
                                        <p:tgtEl>
                                          <p:spTgt spid="60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00"/>
                                        </p:tgtEl>
                                        <p:attrNameLst>
                                          <p:attrName>style.visibility</p:attrName>
                                        </p:attrNameLst>
                                      </p:cBhvr>
                                      <p:to>
                                        <p:strVal val="visible"/>
                                      </p:to>
                                    </p:set>
                                    <p:animEffect transition="in" filter="fade">
                                      <p:cBhvr>
                                        <p:cTn id="47" dur="500"/>
                                        <p:tgtEl>
                                          <p:spTgt spid="60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01"/>
                                        </p:tgtEl>
                                        <p:attrNameLst>
                                          <p:attrName>style.visibility</p:attrName>
                                        </p:attrNameLst>
                                      </p:cBhvr>
                                      <p:to>
                                        <p:strVal val="visible"/>
                                      </p:to>
                                    </p:set>
                                    <p:animEffect transition="in" filter="fade">
                                      <p:cBhvr>
                                        <p:cTn id="57" dur="500"/>
                                        <p:tgtEl>
                                          <p:spTgt spid="60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fade">
                                      <p:cBhvr>
                                        <p:cTn id="6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 grpId="0" animBg="1"/>
      <p:bldP spid="598" grpId="0" animBg="1"/>
      <p:bldP spid="599" grpId="0" animBg="1"/>
      <p:bldP spid="600" grpId="0" animBg="1"/>
      <p:bldP spid="601" grpId="0" animBg="1"/>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38"/>
          <p:cNvSpPr txBox="1">
            <a:spLocks noGrp="1"/>
          </p:cNvSpPr>
          <p:nvPr>
            <p:ph type="title"/>
          </p:nvPr>
        </p:nvSpPr>
        <p:spPr>
          <a:xfrm>
            <a:off x="838200" y="152005"/>
            <a:ext cx="10515600" cy="122378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YẾU/LỖI THỜI HOẶC CẤU HÌNH SAI</a:t>
            </a:r>
            <a:endParaRPr sz="3200" dirty="0"/>
          </a:p>
          <a:p>
            <a:pPr marL="0" lvl="0" indent="0" algn="l" rtl="0">
              <a:lnSpc>
                <a:spcPct val="90000"/>
              </a:lnSpc>
              <a:spcBef>
                <a:spcPts val="0"/>
              </a:spcBef>
              <a:spcAft>
                <a:spcPts val="0"/>
              </a:spcAft>
              <a:buClr>
                <a:srgbClr val="0070C0"/>
              </a:buClr>
              <a:buSzPts val="4000"/>
              <a:buFont typeface="Times New Roman"/>
              <a:buNone/>
            </a:pPr>
            <a:r>
              <a:rPr lang="en-US" sz="3200" dirty="0"/>
              <a:t>	</a:t>
            </a:r>
            <a:r>
              <a:rPr lang="en-US" sz="2800" dirty="0"/>
              <a:t>2.1.1. GIỚI THIỆU</a:t>
            </a:r>
            <a:endParaRPr sz="2800" dirty="0"/>
          </a:p>
        </p:txBody>
      </p:sp>
      <p:sp>
        <p:nvSpPr>
          <p:cNvPr id="614" name="Google Shape;614;p38"/>
          <p:cNvSpPr txBox="1">
            <a:spLocks noGrp="1"/>
          </p:cNvSpPr>
          <p:nvPr>
            <p:ph type="body" idx="1"/>
          </p:nvPr>
        </p:nvSpPr>
        <p:spPr>
          <a:xfrm>
            <a:off x="838200" y="1477568"/>
            <a:ext cx="10515600" cy="4699395"/>
          </a:xfrm>
          <a:prstGeom prst="rect">
            <a:avLst/>
          </a:prstGeom>
          <a:noFill/>
          <a:ln>
            <a:noFill/>
          </a:ln>
        </p:spPr>
        <p:txBody>
          <a:bodyPr spcFirstLastPara="1" wrap="square" lIns="91425" tIns="45700" rIns="91425" bIns="45700" anchor="t" anchorCtr="0">
            <a:normAutofit fontScale="85000" lnSpcReduction="10000"/>
          </a:bodyPr>
          <a:lstStyle/>
          <a:p>
            <a:pPr marL="0" lvl="1" indent="457200" algn="just" rtl="0">
              <a:spcBef>
                <a:spcPts val="500"/>
              </a:spcBef>
              <a:spcAft>
                <a:spcPts val="0"/>
              </a:spcAft>
              <a:buClr>
                <a:schemeClr val="dk1"/>
              </a:buClr>
              <a:buSzPct val="107692"/>
              <a:buNone/>
            </a:pPr>
            <a:r>
              <a:rPr lang="en-US" sz="2600" b="1" i="1" dirty="0" err="1"/>
              <a:t>Lỗ</a:t>
            </a:r>
            <a:r>
              <a:rPr lang="en-US" sz="2600" b="1" i="1" dirty="0"/>
              <a:t> </a:t>
            </a:r>
            <a:r>
              <a:rPr lang="en-US" sz="2600" b="1" i="1" dirty="0" err="1"/>
              <a:t>hổng</a:t>
            </a:r>
            <a:r>
              <a:rPr lang="en-US" sz="2600" b="1" i="1" dirty="0"/>
              <a:t> </a:t>
            </a:r>
            <a:r>
              <a:rPr lang="en-US" sz="2600" b="1" i="1" dirty="0" err="1"/>
              <a:t>bảo</a:t>
            </a:r>
            <a:r>
              <a:rPr lang="en-US" sz="2600" b="1" i="1" dirty="0"/>
              <a:t> </a:t>
            </a:r>
            <a:r>
              <a:rPr lang="en-US" sz="2600" b="1" i="1" dirty="0" err="1"/>
              <a:t>mật</a:t>
            </a:r>
            <a:r>
              <a:rPr lang="en-US" sz="2600" b="1" i="1" dirty="0"/>
              <a:t> </a:t>
            </a:r>
            <a:r>
              <a:rPr lang="en-US" sz="2600" dirty="0" err="1"/>
              <a:t>là</a:t>
            </a:r>
            <a:r>
              <a:rPr lang="en-US" sz="2600" dirty="0"/>
              <a:t> </a:t>
            </a:r>
            <a:r>
              <a:rPr lang="en-US" sz="2600" dirty="0" err="1"/>
              <a:t>những</a:t>
            </a:r>
            <a:r>
              <a:rPr lang="en-US" sz="2600" dirty="0"/>
              <a:t> </a:t>
            </a:r>
            <a:r>
              <a:rPr lang="en-US" sz="2600" dirty="0" err="1"/>
              <a:t>điểm</a:t>
            </a:r>
            <a:r>
              <a:rPr lang="en-US" sz="2600" dirty="0"/>
              <a:t> </a:t>
            </a:r>
            <a:r>
              <a:rPr lang="en-US" sz="2600" dirty="0" err="1"/>
              <a:t>yếu</a:t>
            </a:r>
            <a:r>
              <a:rPr lang="en-US" sz="2600" dirty="0"/>
              <a:t> </a:t>
            </a:r>
            <a:r>
              <a:rPr lang="en-US" sz="2600" dirty="0" err="1"/>
              <a:t>tồn</a:t>
            </a:r>
            <a:r>
              <a:rPr lang="en-US" sz="2600" dirty="0"/>
              <a:t> </a:t>
            </a:r>
            <a:r>
              <a:rPr lang="en-US" sz="2600" dirty="0" err="1"/>
              <a:t>tại</a:t>
            </a:r>
            <a:r>
              <a:rPr lang="en-US" sz="2600" dirty="0"/>
              <a:t> </a:t>
            </a:r>
            <a:r>
              <a:rPr lang="en-US" sz="2600" dirty="0" err="1"/>
              <a:t>trong</a:t>
            </a:r>
            <a:r>
              <a:rPr lang="en-US" sz="2600" dirty="0"/>
              <a:t> </a:t>
            </a:r>
            <a:r>
              <a:rPr lang="en-US" sz="2600" dirty="0" err="1"/>
              <a:t>phần</a:t>
            </a:r>
            <a:r>
              <a:rPr lang="en-US" sz="2600" dirty="0"/>
              <a:t> </a:t>
            </a:r>
            <a:r>
              <a:rPr lang="en-US" sz="2600" dirty="0" err="1"/>
              <a:t>mềm</a:t>
            </a:r>
            <a:r>
              <a:rPr lang="en-US" sz="2600" dirty="0"/>
              <a:t>, </a:t>
            </a:r>
            <a:r>
              <a:rPr lang="en-US" sz="2600" dirty="0" err="1"/>
              <a:t>phần</a:t>
            </a:r>
            <a:r>
              <a:rPr lang="en-US" sz="2600" dirty="0"/>
              <a:t> </a:t>
            </a:r>
            <a:r>
              <a:rPr lang="en-US" sz="2600" dirty="0" err="1"/>
              <a:t>cứng</a:t>
            </a:r>
            <a:r>
              <a:rPr lang="en-US" sz="2600" dirty="0"/>
              <a:t> </a:t>
            </a:r>
            <a:r>
              <a:rPr lang="en-US" sz="2600" dirty="0" err="1"/>
              <a:t>hoặc</a:t>
            </a:r>
            <a:r>
              <a:rPr lang="en-US" sz="2600" dirty="0"/>
              <a:t> </a:t>
            </a:r>
            <a:r>
              <a:rPr lang="en-US" sz="2600" dirty="0" err="1"/>
              <a:t>quy</a:t>
            </a:r>
            <a:r>
              <a:rPr lang="en-US" sz="2600" dirty="0"/>
              <a:t> </a:t>
            </a:r>
            <a:r>
              <a:rPr lang="en-US" sz="2600" dirty="0" err="1"/>
              <a:t>trình</a:t>
            </a:r>
            <a:r>
              <a:rPr lang="en-US" sz="2600" dirty="0"/>
              <a:t> </a:t>
            </a:r>
            <a:r>
              <a:rPr lang="en-US" sz="2600" dirty="0" err="1"/>
              <a:t>vận</a:t>
            </a:r>
            <a:r>
              <a:rPr lang="en-US" sz="2600" dirty="0"/>
              <a:t> </a:t>
            </a:r>
            <a:r>
              <a:rPr lang="en-US" sz="2600" dirty="0" err="1"/>
              <a:t>hành</a:t>
            </a:r>
            <a:r>
              <a:rPr lang="en-US" sz="2600" dirty="0"/>
              <a:t> </a:t>
            </a:r>
            <a:r>
              <a:rPr lang="en-US" sz="2600" dirty="0" err="1"/>
              <a:t>mà</a:t>
            </a:r>
            <a:r>
              <a:rPr lang="en-US" sz="2600" dirty="0"/>
              <a:t> </a:t>
            </a:r>
            <a:r>
              <a:rPr lang="en-US" sz="2600" dirty="0" err="1"/>
              <a:t>kẻ</a:t>
            </a:r>
            <a:r>
              <a:rPr lang="en-US" sz="2600" dirty="0"/>
              <a:t> </a:t>
            </a:r>
            <a:r>
              <a:rPr lang="en-US" sz="2600" dirty="0" err="1"/>
              <a:t>tấn</a:t>
            </a:r>
            <a:r>
              <a:rPr lang="en-US" sz="2600" dirty="0"/>
              <a:t> </a:t>
            </a:r>
            <a:r>
              <a:rPr lang="en-US" sz="2600" dirty="0" err="1"/>
              <a:t>công</a:t>
            </a:r>
            <a:r>
              <a:rPr lang="en-US" sz="2600" dirty="0"/>
              <a:t> </a:t>
            </a:r>
            <a:r>
              <a:rPr lang="en-US" sz="2600" dirty="0" err="1"/>
              <a:t>có</a:t>
            </a:r>
            <a:r>
              <a:rPr lang="en-US" sz="2600" dirty="0"/>
              <a:t> </a:t>
            </a:r>
            <a:r>
              <a:rPr lang="en-US" sz="2600" dirty="0" err="1"/>
              <a:t>thể</a:t>
            </a:r>
            <a:r>
              <a:rPr lang="en-US" sz="2600" dirty="0"/>
              <a:t> </a:t>
            </a:r>
            <a:r>
              <a:rPr lang="en-US" sz="2600" dirty="0" err="1"/>
              <a:t>lợi</a:t>
            </a:r>
            <a:r>
              <a:rPr lang="en-US" sz="2600" dirty="0"/>
              <a:t> </a:t>
            </a:r>
            <a:r>
              <a:rPr lang="en-US" sz="2600" dirty="0" err="1"/>
              <a:t>dụng</a:t>
            </a:r>
            <a:r>
              <a:rPr lang="en-US" sz="2600" dirty="0"/>
              <a:t> </a:t>
            </a:r>
            <a:r>
              <a:rPr lang="en-US" sz="2600" dirty="0" err="1"/>
              <a:t>để</a:t>
            </a:r>
            <a:r>
              <a:rPr lang="en-US" sz="2600" dirty="0"/>
              <a:t> </a:t>
            </a:r>
            <a:r>
              <a:rPr lang="en-US" sz="2600" dirty="0" err="1"/>
              <a:t>xâm</a:t>
            </a:r>
            <a:r>
              <a:rPr lang="en-US" sz="2600" dirty="0"/>
              <a:t> </a:t>
            </a:r>
            <a:r>
              <a:rPr lang="en-US" sz="2600" dirty="0" err="1"/>
              <a:t>nhập</a:t>
            </a:r>
            <a:r>
              <a:rPr lang="en-US" sz="2600" dirty="0"/>
              <a:t>, </a:t>
            </a:r>
            <a:r>
              <a:rPr lang="en-US" sz="2600" dirty="0" err="1"/>
              <a:t>làm</a:t>
            </a:r>
            <a:r>
              <a:rPr lang="en-US" sz="2600" dirty="0"/>
              <a:t> </a:t>
            </a:r>
            <a:r>
              <a:rPr lang="en-US" sz="2600" dirty="0" err="1"/>
              <a:t>gián</a:t>
            </a:r>
            <a:r>
              <a:rPr lang="en-US" sz="2600" dirty="0"/>
              <a:t> </a:t>
            </a:r>
            <a:r>
              <a:rPr lang="en-US" sz="2600" dirty="0" err="1"/>
              <a:t>đoạn</a:t>
            </a:r>
            <a:r>
              <a:rPr lang="en-US" sz="2600" dirty="0"/>
              <a:t> </a:t>
            </a:r>
            <a:r>
              <a:rPr lang="en-US" sz="2600" dirty="0" err="1"/>
              <a:t>hoặc</a:t>
            </a:r>
            <a:r>
              <a:rPr lang="en-US" sz="2600" dirty="0"/>
              <a:t> </a:t>
            </a:r>
            <a:r>
              <a:rPr lang="en-US" sz="2600" dirty="0" err="1"/>
              <a:t>gây</a:t>
            </a:r>
            <a:r>
              <a:rPr lang="en-US" sz="2600" dirty="0"/>
              <a:t> </a:t>
            </a:r>
            <a:r>
              <a:rPr lang="en-US" sz="2600" dirty="0" err="1"/>
              <a:t>hư</a:t>
            </a:r>
            <a:r>
              <a:rPr lang="en-US" sz="2600" dirty="0"/>
              <a:t> hao </a:t>
            </a:r>
            <a:r>
              <a:rPr lang="en-US" sz="2600" dirty="0" err="1"/>
              <a:t>về</a:t>
            </a:r>
            <a:r>
              <a:rPr lang="en-US" sz="2600" dirty="0"/>
              <a:t> </a:t>
            </a:r>
            <a:r>
              <a:rPr lang="en-US" sz="2600" dirty="0" err="1"/>
              <a:t>mặt</a:t>
            </a:r>
            <a:r>
              <a:rPr lang="en-US" sz="2600" dirty="0"/>
              <a:t> </a:t>
            </a:r>
            <a:r>
              <a:rPr lang="en-US" sz="2600" dirty="0" err="1"/>
              <a:t>dữ</a:t>
            </a:r>
            <a:r>
              <a:rPr lang="en-US" sz="2600" dirty="0"/>
              <a:t> </a:t>
            </a:r>
            <a:r>
              <a:rPr lang="en-US" sz="2600" dirty="0" err="1"/>
              <a:t>liệu</a:t>
            </a:r>
            <a:r>
              <a:rPr lang="en-US" sz="2600" dirty="0"/>
              <a:t> </a:t>
            </a:r>
            <a:r>
              <a:rPr lang="en-US" sz="2600" dirty="0" err="1"/>
              <a:t>và</a:t>
            </a:r>
            <a:r>
              <a:rPr lang="en-US" sz="2600" dirty="0"/>
              <a:t> </a:t>
            </a:r>
            <a:r>
              <a:rPr lang="en-US" sz="2600" dirty="0" err="1"/>
              <a:t>hệ</a:t>
            </a:r>
            <a:r>
              <a:rPr lang="en-US" sz="2600" dirty="0"/>
              <a:t> </a:t>
            </a:r>
            <a:r>
              <a:rPr lang="en-US" sz="2600" dirty="0" err="1"/>
              <a:t>thống</a:t>
            </a:r>
            <a:r>
              <a:rPr lang="en-US" sz="2600" dirty="0"/>
              <a:t>. </a:t>
            </a:r>
            <a:r>
              <a:rPr lang="en-US" sz="2600" dirty="0" err="1"/>
              <a:t>Chúng</a:t>
            </a:r>
            <a:r>
              <a:rPr lang="en-US" sz="2600" dirty="0"/>
              <a:t> </a:t>
            </a:r>
            <a:r>
              <a:rPr lang="en-US" sz="2600" dirty="0" err="1"/>
              <a:t>có</a:t>
            </a:r>
            <a:r>
              <a:rPr lang="en-US" sz="2600" dirty="0"/>
              <a:t> </a:t>
            </a:r>
            <a:r>
              <a:rPr lang="en-US" sz="2600" dirty="0" err="1"/>
              <a:t>thể</a:t>
            </a:r>
            <a:r>
              <a:rPr lang="en-US" sz="2600" dirty="0"/>
              <a:t> </a:t>
            </a:r>
            <a:r>
              <a:rPr lang="en-US" sz="2600" dirty="0" err="1"/>
              <a:t>phát</a:t>
            </a:r>
            <a:r>
              <a:rPr lang="en-US" sz="2600" dirty="0"/>
              <a:t> </a:t>
            </a:r>
            <a:r>
              <a:rPr lang="en-US" sz="2600" dirty="0" err="1"/>
              <a:t>sinh</a:t>
            </a:r>
            <a:r>
              <a:rPr lang="en-US" sz="2600" dirty="0"/>
              <a:t> </a:t>
            </a:r>
            <a:r>
              <a:rPr lang="en-US" sz="2600" dirty="0" err="1"/>
              <a:t>từ</a:t>
            </a:r>
            <a:r>
              <a:rPr lang="en-US" sz="2600" dirty="0"/>
              <a:t> </a:t>
            </a:r>
            <a:r>
              <a:rPr lang="en-US" sz="2600" dirty="0" err="1"/>
              <a:t>lỗi</a:t>
            </a:r>
            <a:r>
              <a:rPr lang="en-US" sz="2600" dirty="0"/>
              <a:t> </a:t>
            </a:r>
            <a:r>
              <a:rPr lang="en-US" sz="2600" dirty="0" err="1"/>
              <a:t>lập</a:t>
            </a:r>
            <a:r>
              <a:rPr lang="en-US" sz="2600" dirty="0"/>
              <a:t> </a:t>
            </a:r>
            <a:r>
              <a:rPr lang="en-US" sz="2600" dirty="0" err="1"/>
              <a:t>trình</a:t>
            </a:r>
            <a:r>
              <a:rPr lang="en-US" sz="2600" dirty="0"/>
              <a:t>, </a:t>
            </a:r>
            <a:r>
              <a:rPr lang="en-US" sz="2600" dirty="0" err="1"/>
              <a:t>cấu</a:t>
            </a:r>
            <a:r>
              <a:rPr lang="en-US" sz="2600" dirty="0"/>
              <a:t> </a:t>
            </a:r>
            <a:r>
              <a:rPr lang="en-US" sz="2600" dirty="0" err="1"/>
              <a:t>hình</a:t>
            </a:r>
            <a:r>
              <a:rPr lang="en-US" sz="2600" dirty="0"/>
              <a:t> </a:t>
            </a:r>
            <a:r>
              <a:rPr lang="en-US" sz="2600" dirty="0" err="1"/>
              <a:t>sai</a:t>
            </a:r>
            <a:r>
              <a:rPr lang="en-US" sz="2600" dirty="0"/>
              <a:t> </a:t>
            </a:r>
            <a:r>
              <a:rPr lang="en-US" sz="2600" dirty="0" err="1"/>
              <a:t>hoặc</a:t>
            </a:r>
            <a:r>
              <a:rPr lang="en-US" sz="2600" dirty="0"/>
              <a:t> </a:t>
            </a:r>
            <a:r>
              <a:rPr lang="en-US" sz="2600" dirty="0" err="1"/>
              <a:t>thiếu</a:t>
            </a:r>
            <a:r>
              <a:rPr lang="en-US" sz="2600" dirty="0"/>
              <a:t> </a:t>
            </a:r>
            <a:r>
              <a:rPr lang="en-US" sz="2600" dirty="0" err="1"/>
              <a:t>các</a:t>
            </a:r>
            <a:r>
              <a:rPr lang="en-US" sz="2600" dirty="0"/>
              <a:t> </a:t>
            </a:r>
            <a:r>
              <a:rPr lang="en-US" sz="2600" dirty="0" err="1"/>
              <a:t>biện</a:t>
            </a:r>
            <a:r>
              <a:rPr lang="en-US" sz="2600" dirty="0"/>
              <a:t> </a:t>
            </a:r>
            <a:r>
              <a:rPr lang="en-US" sz="2600" dirty="0" err="1"/>
              <a:t>pháp</a:t>
            </a:r>
            <a:r>
              <a:rPr lang="en-US" sz="2600" dirty="0"/>
              <a:t> </a:t>
            </a:r>
            <a:r>
              <a:rPr lang="en-US" sz="2600" dirty="0" err="1"/>
              <a:t>bảo</a:t>
            </a:r>
            <a:r>
              <a:rPr lang="en-US" sz="2600" dirty="0"/>
              <a:t> </a:t>
            </a:r>
            <a:r>
              <a:rPr lang="en-US" sz="2600" dirty="0" err="1"/>
              <a:t>vệ</a:t>
            </a:r>
            <a:r>
              <a:rPr lang="en-US" sz="2600" dirty="0"/>
              <a:t> </a:t>
            </a:r>
            <a:r>
              <a:rPr lang="en-US" sz="2600" dirty="0" err="1"/>
              <a:t>cần</a:t>
            </a:r>
            <a:r>
              <a:rPr lang="en-US" sz="2600" dirty="0"/>
              <a:t> </a:t>
            </a:r>
            <a:r>
              <a:rPr lang="en-US" sz="2600" dirty="0" err="1"/>
              <a:t>thiết</a:t>
            </a:r>
            <a:r>
              <a:rPr lang="en-US" sz="2600" dirty="0"/>
              <a:t>.</a:t>
            </a:r>
          </a:p>
          <a:p>
            <a:pPr marL="0" lvl="1" indent="457200" algn="just" rtl="0">
              <a:spcBef>
                <a:spcPts val="500"/>
              </a:spcBef>
              <a:spcAft>
                <a:spcPts val="0"/>
              </a:spcAft>
              <a:buClr>
                <a:schemeClr val="dk1"/>
              </a:buClr>
              <a:buSzPct val="107692"/>
              <a:buNone/>
            </a:pPr>
            <a:endParaRPr lang="en-US" sz="2600" dirty="0"/>
          </a:p>
          <a:p>
            <a:pPr marL="0" lvl="1" indent="457200" algn="just" rtl="0">
              <a:spcBef>
                <a:spcPts val="500"/>
              </a:spcBef>
              <a:spcAft>
                <a:spcPts val="0"/>
              </a:spcAft>
              <a:buClr>
                <a:schemeClr val="dk1"/>
              </a:buClr>
              <a:buSzPct val="107692"/>
              <a:buNone/>
            </a:pPr>
            <a:r>
              <a:rPr lang="en-US" sz="2600" dirty="0" err="1"/>
              <a:t>Việc</a:t>
            </a:r>
            <a:r>
              <a:rPr lang="en-US" sz="2600" dirty="0"/>
              <a:t> </a:t>
            </a:r>
            <a:r>
              <a:rPr lang="en-US" sz="2600" dirty="0" err="1"/>
              <a:t>dùng</a:t>
            </a:r>
            <a:r>
              <a:rPr lang="en-US" sz="2600" dirty="0"/>
              <a:t> </a:t>
            </a:r>
            <a:r>
              <a:rPr lang="en-US" sz="2600" dirty="0" err="1"/>
              <a:t>thuật</a:t>
            </a:r>
            <a:r>
              <a:rPr lang="en-US" sz="2600" dirty="0"/>
              <a:t> </a:t>
            </a:r>
            <a:r>
              <a:rPr lang="en-US" sz="2600" dirty="0" err="1"/>
              <a:t>toán</a:t>
            </a:r>
            <a:r>
              <a:rPr lang="en-US" sz="2600" dirty="0"/>
              <a:t> </a:t>
            </a:r>
            <a:r>
              <a:rPr lang="en-US" sz="2600" dirty="0" err="1"/>
              <a:t>mã</a:t>
            </a:r>
            <a:r>
              <a:rPr lang="en-US" sz="2600" dirty="0"/>
              <a:t> </a:t>
            </a:r>
            <a:r>
              <a:rPr lang="en-US" sz="2600" dirty="0" err="1"/>
              <a:t>hóa</a:t>
            </a:r>
            <a:r>
              <a:rPr lang="en-US" sz="2600" dirty="0"/>
              <a:t> </a:t>
            </a:r>
            <a:r>
              <a:rPr lang="en-US" sz="2600" dirty="0" err="1"/>
              <a:t>lỗi</a:t>
            </a:r>
            <a:r>
              <a:rPr lang="en-US" sz="2600" dirty="0"/>
              <a:t> </a:t>
            </a:r>
            <a:r>
              <a:rPr lang="en-US" sz="2600" dirty="0" err="1"/>
              <a:t>thời</a:t>
            </a:r>
            <a:r>
              <a:rPr lang="en-US" sz="2600" dirty="0"/>
              <a:t> </a:t>
            </a:r>
            <a:r>
              <a:rPr lang="en-US" sz="2600" dirty="0" err="1"/>
              <a:t>hoặc</a:t>
            </a:r>
            <a:r>
              <a:rPr lang="en-US" sz="2600" dirty="0"/>
              <a:t> </a:t>
            </a:r>
            <a:r>
              <a:rPr lang="en-US" sz="2600" dirty="0" err="1"/>
              <a:t>cấu</a:t>
            </a:r>
            <a:r>
              <a:rPr lang="en-US" sz="2600" dirty="0"/>
              <a:t> </a:t>
            </a:r>
            <a:r>
              <a:rPr lang="en-US" sz="2600" dirty="0" err="1"/>
              <a:t>hình</a:t>
            </a:r>
            <a:r>
              <a:rPr lang="en-US" sz="2600" dirty="0"/>
              <a:t> </a:t>
            </a:r>
            <a:r>
              <a:rPr lang="en-US" sz="2600" dirty="0" err="1"/>
              <a:t>không</a:t>
            </a:r>
            <a:r>
              <a:rPr lang="en-US" sz="2600" dirty="0"/>
              <a:t> </a:t>
            </a:r>
            <a:r>
              <a:rPr lang="en-US" sz="2600" dirty="0" err="1"/>
              <a:t>đúng</a:t>
            </a:r>
            <a:r>
              <a:rPr lang="en-US" sz="2600" dirty="0"/>
              <a:t> </a:t>
            </a:r>
            <a:r>
              <a:rPr lang="en-US" sz="2600" dirty="0" err="1"/>
              <a:t>chuẩn</a:t>
            </a:r>
            <a:r>
              <a:rPr lang="en-US" sz="2600" dirty="0"/>
              <a:t> </a:t>
            </a:r>
            <a:r>
              <a:rPr lang="en-US" sz="2600" dirty="0" err="1"/>
              <a:t>làm</a:t>
            </a:r>
            <a:r>
              <a:rPr lang="en-US" sz="2600" dirty="0"/>
              <a:t> </a:t>
            </a:r>
            <a:r>
              <a:rPr lang="en-US" sz="2600" dirty="0" err="1"/>
              <a:t>suy</a:t>
            </a:r>
            <a:r>
              <a:rPr lang="en-US" sz="2600" dirty="0"/>
              <a:t> </a:t>
            </a:r>
            <a:r>
              <a:rPr lang="en-US" sz="2600" dirty="0" err="1"/>
              <a:t>giảm</a:t>
            </a:r>
            <a:r>
              <a:rPr lang="en-US" sz="2600" dirty="0"/>
              <a:t> </a:t>
            </a:r>
            <a:r>
              <a:rPr lang="en-US" sz="2600" dirty="0" err="1"/>
              <a:t>khả</a:t>
            </a:r>
            <a:r>
              <a:rPr lang="en-US" sz="2600" dirty="0"/>
              <a:t> </a:t>
            </a:r>
            <a:r>
              <a:rPr lang="en-US" sz="2600" dirty="0" err="1"/>
              <a:t>năng</a:t>
            </a:r>
            <a:r>
              <a:rPr lang="en-US" sz="2600" dirty="0"/>
              <a:t> </a:t>
            </a:r>
            <a:r>
              <a:rPr lang="en-US" sz="2600" dirty="0" err="1"/>
              <a:t>tự</a:t>
            </a:r>
            <a:r>
              <a:rPr lang="en-US" sz="2600" dirty="0"/>
              <a:t> </a:t>
            </a:r>
            <a:r>
              <a:rPr lang="en-US" sz="2600" dirty="0" err="1"/>
              <a:t>vệ</a:t>
            </a:r>
            <a:r>
              <a:rPr lang="en-US" sz="2600" dirty="0"/>
              <a:t> </a:t>
            </a:r>
            <a:r>
              <a:rPr lang="en-US" sz="2600" dirty="0" err="1"/>
              <a:t>của</a:t>
            </a:r>
            <a:r>
              <a:rPr lang="en-US" sz="2600" dirty="0"/>
              <a:t> </a:t>
            </a:r>
            <a:r>
              <a:rPr lang="en-US" sz="2600" dirty="0" err="1"/>
              <a:t>hệ</a:t>
            </a:r>
            <a:r>
              <a:rPr lang="en-US" sz="2600" dirty="0"/>
              <a:t> </a:t>
            </a:r>
            <a:r>
              <a:rPr lang="en-US" sz="2600" dirty="0" err="1"/>
              <a:t>thống</a:t>
            </a:r>
            <a:r>
              <a:rPr lang="en-US" sz="2600" dirty="0"/>
              <a:t>, </a:t>
            </a:r>
            <a:r>
              <a:rPr lang="en-US" sz="2600" dirty="0" err="1"/>
              <a:t>khiến</a:t>
            </a:r>
            <a:r>
              <a:rPr lang="en-US" sz="2600" dirty="0"/>
              <a:t> </a:t>
            </a:r>
            <a:r>
              <a:rPr lang="en-US" sz="2600" dirty="0" err="1"/>
              <a:t>thông</a:t>
            </a:r>
            <a:r>
              <a:rPr lang="en-US" sz="2600" dirty="0"/>
              <a:t> tin </a:t>
            </a:r>
            <a:r>
              <a:rPr lang="en-US" sz="2600" dirty="0" err="1"/>
              <a:t>nhạy</a:t>
            </a:r>
            <a:r>
              <a:rPr lang="en-US" sz="2600" dirty="0"/>
              <a:t> </a:t>
            </a:r>
            <a:r>
              <a:rPr lang="en-US" sz="2600" dirty="0" err="1"/>
              <a:t>cảm</a:t>
            </a:r>
            <a:r>
              <a:rPr lang="en-US" sz="2600" dirty="0"/>
              <a:t> </a:t>
            </a:r>
            <a:r>
              <a:rPr lang="en-US" sz="2600" i="1" dirty="0"/>
              <a:t>(</a:t>
            </a:r>
            <a:r>
              <a:rPr lang="en-US" sz="2600" b="1" i="1" dirty="0" err="1"/>
              <a:t>mật</a:t>
            </a:r>
            <a:r>
              <a:rPr lang="en-US" sz="2600" b="1" i="1" dirty="0"/>
              <a:t> </a:t>
            </a:r>
            <a:r>
              <a:rPr lang="en-US" sz="2600" b="1" i="1" dirty="0" err="1"/>
              <a:t>khẩu</a:t>
            </a:r>
            <a:r>
              <a:rPr lang="en-US" sz="2600" b="1" i="1" dirty="0"/>
              <a:t>, </a:t>
            </a:r>
            <a:r>
              <a:rPr lang="en-US" sz="2600" b="1" i="1" dirty="0" err="1"/>
              <a:t>tài</a:t>
            </a:r>
            <a:r>
              <a:rPr lang="en-US" sz="2600" b="1" i="1" dirty="0"/>
              <a:t> </a:t>
            </a:r>
            <a:r>
              <a:rPr lang="en-US" sz="2600" b="1" i="1" dirty="0" err="1"/>
              <a:t>khoản</a:t>
            </a:r>
            <a:r>
              <a:rPr lang="en-US" sz="2600" b="1" i="1" dirty="0"/>
              <a:t>, </a:t>
            </a:r>
            <a:r>
              <a:rPr lang="en-US" sz="2600" b="1" i="1" dirty="0" err="1"/>
              <a:t>dữ</a:t>
            </a:r>
            <a:r>
              <a:rPr lang="en-US" sz="2600" b="1" i="1" dirty="0"/>
              <a:t> </a:t>
            </a:r>
            <a:r>
              <a:rPr lang="en-US" sz="2600" b="1" i="1" dirty="0" err="1"/>
              <a:t>liệu</a:t>
            </a:r>
            <a:r>
              <a:rPr lang="en-US" sz="2600" b="1" i="1" dirty="0"/>
              <a:t> </a:t>
            </a:r>
            <a:r>
              <a:rPr lang="en-US" sz="2600" b="1" i="1" dirty="0" err="1"/>
              <a:t>cá</a:t>
            </a:r>
            <a:r>
              <a:rPr lang="en-US" sz="2600" b="1" i="1" dirty="0"/>
              <a:t> </a:t>
            </a:r>
            <a:r>
              <a:rPr lang="en-US" sz="2600" b="1" i="1" dirty="0" err="1"/>
              <a:t>nhân</a:t>
            </a:r>
            <a:r>
              <a:rPr lang="en-US" sz="2600" i="1" dirty="0"/>
              <a:t>) </a:t>
            </a:r>
            <a:r>
              <a:rPr lang="en-US" sz="2600" dirty="0" err="1"/>
              <a:t>dễ</a:t>
            </a:r>
            <a:r>
              <a:rPr lang="en-US" sz="2600" dirty="0"/>
              <a:t> </a:t>
            </a:r>
            <a:r>
              <a:rPr lang="en-US" sz="2600" dirty="0" err="1"/>
              <a:t>dàng</a:t>
            </a:r>
            <a:r>
              <a:rPr lang="en-US" sz="2600" dirty="0"/>
              <a:t> </a:t>
            </a:r>
            <a:r>
              <a:rPr lang="en-US" sz="2600" dirty="0" err="1"/>
              <a:t>bị</a:t>
            </a:r>
            <a:r>
              <a:rPr lang="en-US" sz="2600" dirty="0"/>
              <a:t> </a:t>
            </a:r>
            <a:r>
              <a:rPr lang="en-US" sz="2600" dirty="0" err="1"/>
              <a:t>lộ</a:t>
            </a:r>
            <a:r>
              <a:rPr lang="en-US" sz="2600" dirty="0"/>
              <a:t> </a:t>
            </a:r>
            <a:r>
              <a:rPr lang="en-US" sz="2600" dirty="0" err="1"/>
              <a:t>hoặc</a:t>
            </a:r>
            <a:r>
              <a:rPr lang="en-US" sz="2600" dirty="0"/>
              <a:t> </a:t>
            </a:r>
            <a:r>
              <a:rPr lang="en-US" sz="2600" dirty="0" err="1"/>
              <a:t>bị</a:t>
            </a:r>
            <a:r>
              <a:rPr lang="en-US" sz="2600" dirty="0"/>
              <a:t> </a:t>
            </a:r>
            <a:r>
              <a:rPr lang="en-US" sz="2600" dirty="0" err="1"/>
              <a:t>giải</a:t>
            </a:r>
            <a:r>
              <a:rPr lang="en-US" sz="2600" dirty="0"/>
              <a:t> </a:t>
            </a:r>
            <a:r>
              <a:rPr lang="en-US" sz="2600" dirty="0" err="1"/>
              <a:t>mã</a:t>
            </a:r>
            <a:r>
              <a:rPr lang="en-US" sz="2600" dirty="0"/>
              <a:t>. </a:t>
            </a:r>
          </a:p>
          <a:p>
            <a:pPr marL="0" lvl="1" indent="457200" algn="just" rtl="0">
              <a:spcBef>
                <a:spcPts val="500"/>
              </a:spcBef>
              <a:spcAft>
                <a:spcPts val="0"/>
              </a:spcAft>
              <a:buClr>
                <a:schemeClr val="dk1"/>
              </a:buClr>
              <a:buSzPct val="107692"/>
              <a:buNone/>
            </a:pPr>
            <a:endParaRPr lang="en-US" sz="2600" i="1" dirty="0"/>
          </a:p>
          <a:p>
            <a:pPr marL="0" lvl="1" indent="457200" algn="just" rtl="0">
              <a:spcBef>
                <a:spcPts val="500"/>
              </a:spcBef>
              <a:spcAft>
                <a:spcPts val="0"/>
              </a:spcAft>
              <a:buClr>
                <a:schemeClr val="dk1"/>
              </a:buClr>
              <a:buSzPct val="107692"/>
              <a:buNone/>
            </a:pPr>
            <a:r>
              <a:rPr lang="en-US" sz="2600" dirty="0"/>
              <a:t>Ngay </a:t>
            </a:r>
            <a:r>
              <a:rPr lang="en-US" sz="2600" dirty="0" err="1"/>
              <a:t>cả</a:t>
            </a:r>
            <a:r>
              <a:rPr lang="en-US" sz="2600" dirty="0"/>
              <a:t> </a:t>
            </a:r>
            <a:r>
              <a:rPr lang="en-US" sz="2600" dirty="0" err="1"/>
              <a:t>những</a:t>
            </a:r>
            <a:r>
              <a:rPr lang="en-US" sz="2600" dirty="0"/>
              <a:t> </a:t>
            </a:r>
            <a:r>
              <a:rPr lang="en-US" sz="2600" dirty="0" err="1"/>
              <a:t>lỗ</a:t>
            </a:r>
            <a:r>
              <a:rPr lang="en-US" sz="2600" dirty="0"/>
              <a:t> </a:t>
            </a:r>
            <a:r>
              <a:rPr lang="en-US" sz="2600" dirty="0" err="1"/>
              <a:t>hổng</a:t>
            </a:r>
            <a:r>
              <a:rPr lang="en-US" sz="2600" dirty="0"/>
              <a:t> </a:t>
            </a:r>
            <a:r>
              <a:rPr lang="en-US" sz="2600" dirty="0" err="1"/>
              <a:t>nhỏ</a:t>
            </a:r>
            <a:r>
              <a:rPr lang="en-US" sz="2600" dirty="0"/>
              <a:t> </a:t>
            </a:r>
            <a:r>
              <a:rPr lang="en-US" sz="2600" dirty="0" err="1"/>
              <a:t>cũng</a:t>
            </a:r>
            <a:r>
              <a:rPr lang="en-US" sz="2600" dirty="0"/>
              <a:t> </a:t>
            </a:r>
            <a:r>
              <a:rPr lang="en-US" sz="2600" dirty="0" err="1"/>
              <a:t>có</a:t>
            </a:r>
            <a:r>
              <a:rPr lang="en-US" sz="2600" dirty="0"/>
              <a:t> </a:t>
            </a:r>
            <a:r>
              <a:rPr lang="en-US" sz="2600" dirty="0" err="1"/>
              <a:t>thể</a:t>
            </a:r>
            <a:r>
              <a:rPr lang="en-US" sz="2600" dirty="0"/>
              <a:t> </a:t>
            </a:r>
            <a:r>
              <a:rPr lang="en-US" sz="2600" dirty="0" err="1"/>
              <a:t>là</a:t>
            </a:r>
            <a:r>
              <a:rPr lang="en-US" sz="2600" dirty="0"/>
              <a:t> </a:t>
            </a:r>
            <a:r>
              <a:rPr lang="en-US" sz="2600" dirty="0" err="1"/>
              <a:t>điểm</a:t>
            </a:r>
            <a:r>
              <a:rPr lang="en-US" sz="2600" dirty="0"/>
              <a:t> </a:t>
            </a:r>
            <a:r>
              <a:rPr lang="en-US" sz="2600" dirty="0" err="1"/>
              <a:t>khởi</a:t>
            </a:r>
            <a:r>
              <a:rPr lang="en-US" sz="2600" dirty="0"/>
              <a:t> </a:t>
            </a:r>
            <a:r>
              <a:rPr lang="en-US" sz="2600" dirty="0" err="1"/>
              <a:t>đầu</a:t>
            </a:r>
            <a:r>
              <a:rPr lang="en-US" sz="2600" dirty="0"/>
              <a:t> </a:t>
            </a:r>
            <a:r>
              <a:rPr lang="en-US" sz="2600" dirty="0" err="1"/>
              <a:t>cho</a:t>
            </a:r>
            <a:r>
              <a:rPr lang="en-US" sz="2600" dirty="0"/>
              <a:t> </a:t>
            </a:r>
            <a:r>
              <a:rPr lang="en-US" sz="2600" dirty="0" err="1"/>
              <a:t>các</a:t>
            </a:r>
            <a:r>
              <a:rPr lang="en-US" sz="2600" dirty="0"/>
              <a:t> </a:t>
            </a:r>
            <a:r>
              <a:rPr lang="en-US" sz="2600" dirty="0" err="1"/>
              <a:t>cuộc</a:t>
            </a:r>
            <a:r>
              <a:rPr lang="en-US" sz="2600" dirty="0"/>
              <a:t> </a:t>
            </a:r>
            <a:r>
              <a:rPr lang="en-US" sz="2600" dirty="0" err="1"/>
              <a:t>tấn</a:t>
            </a:r>
            <a:r>
              <a:rPr lang="en-US" sz="2600" dirty="0"/>
              <a:t> </a:t>
            </a:r>
            <a:r>
              <a:rPr lang="en-US" sz="2600" dirty="0" err="1"/>
              <a:t>công</a:t>
            </a:r>
            <a:r>
              <a:rPr lang="en-US" sz="2600" dirty="0"/>
              <a:t> </a:t>
            </a:r>
            <a:r>
              <a:rPr lang="en-US" sz="2600" dirty="0" err="1"/>
              <a:t>sâu</a:t>
            </a:r>
            <a:r>
              <a:rPr lang="en-US" sz="2600" dirty="0"/>
              <a:t> </a:t>
            </a:r>
            <a:r>
              <a:rPr lang="en-US" sz="2600" dirty="0" err="1"/>
              <a:t>hơn</a:t>
            </a:r>
            <a:r>
              <a:rPr lang="en-US" sz="2600" dirty="0"/>
              <a:t>. Do </a:t>
            </a:r>
            <a:r>
              <a:rPr lang="en-US" sz="2600" dirty="0" err="1"/>
              <a:t>đó</a:t>
            </a:r>
            <a:r>
              <a:rPr lang="en-US" sz="2600" dirty="0"/>
              <a:t>, </a:t>
            </a:r>
            <a:r>
              <a:rPr lang="en-US" sz="2600" dirty="0" err="1"/>
              <a:t>cần</a:t>
            </a:r>
            <a:r>
              <a:rPr lang="en-US" sz="2600" dirty="0"/>
              <a:t> </a:t>
            </a:r>
            <a:r>
              <a:rPr lang="en-US" sz="2600" dirty="0" err="1"/>
              <a:t>ưu</a:t>
            </a:r>
            <a:r>
              <a:rPr lang="en-US" sz="2600" dirty="0"/>
              <a:t> </a:t>
            </a:r>
            <a:r>
              <a:rPr lang="en-US" sz="2600" dirty="0" err="1"/>
              <a:t>tiên</a:t>
            </a:r>
            <a:r>
              <a:rPr lang="en-US" sz="2600" dirty="0"/>
              <a:t> </a:t>
            </a:r>
            <a:r>
              <a:rPr lang="en-US" sz="2600" dirty="0" err="1"/>
              <a:t>áp</a:t>
            </a:r>
            <a:r>
              <a:rPr lang="en-US" sz="2600" dirty="0"/>
              <a:t> </a:t>
            </a:r>
            <a:r>
              <a:rPr lang="en-US" sz="2600" dirty="0" err="1"/>
              <a:t>dụng</a:t>
            </a:r>
            <a:r>
              <a:rPr lang="en-US" sz="2600" dirty="0"/>
              <a:t> </a:t>
            </a:r>
            <a:r>
              <a:rPr lang="en-US" sz="2600" dirty="0" err="1"/>
              <a:t>thuật</a:t>
            </a:r>
            <a:r>
              <a:rPr lang="en-US" sz="2600" dirty="0"/>
              <a:t> </a:t>
            </a:r>
            <a:r>
              <a:rPr lang="en-US" sz="2600" dirty="0" err="1"/>
              <a:t>toán</a:t>
            </a:r>
            <a:r>
              <a:rPr lang="en-US" sz="2600" dirty="0"/>
              <a:t> </a:t>
            </a:r>
            <a:r>
              <a:rPr lang="en-US" sz="2600" dirty="0" err="1"/>
              <a:t>mã</a:t>
            </a:r>
            <a:r>
              <a:rPr lang="en-US" sz="2600" dirty="0"/>
              <a:t> </a:t>
            </a:r>
            <a:r>
              <a:rPr lang="en-US" sz="2600" dirty="0" err="1"/>
              <a:t>hóa</a:t>
            </a:r>
            <a:r>
              <a:rPr lang="en-US" sz="2600" dirty="0"/>
              <a:t> </a:t>
            </a:r>
            <a:r>
              <a:rPr lang="en-US" sz="2600" dirty="0" err="1"/>
              <a:t>mạnh</a:t>
            </a:r>
            <a:r>
              <a:rPr lang="en-US" sz="2600" dirty="0"/>
              <a:t> </a:t>
            </a:r>
            <a:r>
              <a:rPr lang="en-US" sz="2600" dirty="0" err="1"/>
              <a:t>mẽ</a:t>
            </a:r>
            <a:r>
              <a:rPr lang="en-US" sz="2600" dirty="0"/>
              <a:t> </a:t>
            </a:r>
            <a:r>
              <a:rPr lang="en-US" sz="2600" dirty="0" err="1"/>
              <a:t>và</a:t>
            </a:r>
            <a:r>
              <a:rPr lang="en-US" sz="2600" dirty="0"/>
              <a:t> </a:t>
            </a:r>
            <a:r>
              <a:rPr lang="en-US" sz="2600" dirty="0" err="1"/>
              <a:t>thiết</a:t>
            </a:r>
            <a:r>
              <a:rPr lang="en-US" sz="2600" dirty="0"/>
              <a:t> </a:t>
            </a:r>
            <a:r>
              <a:rPr lang="en-US" sz="2600" dirty="0" err="1"/>
              <a:t>lập</a:t>
            </a:r>
            <a:r>
              <a:rPr lang="en-US" sz="2600" dirty="0"/>
              <a:t> </a:t>
            </a:r>
            <a:r>
              <a:rPr lang="en-US" sz="2600" dirty="0" err="1"/>
              <a:t>cấu</a:t>
            </a:r>
            <a:r>
              <a:rPr lang="en-US" sz="2600" dirty="0"/>
              <a:t> </a:t>
            </a:r>
            <a:r>
              <a:rPr lang="en-US" sz="2600" dirty="0" err="1"/>
              <a:t>hình</a:t>
            </a:r>
            <a:r>
              <a:rPr lang="en-US" sz="2600" dirty="0"/>
              <a:t> an </a:t>
            </a:r>
            <a:r>
              <a:rPr lang="en-US" sz="2600" dirty="0" err="1"/>
              <a:t>toàn</a:t>
            </a:r>
            <a:r>
              <a:rPr lang="en-US" sz="2600" dirty="0"/>
              <a:t> </a:t>
            </a:r>
            <a:r>
              <a:rPr lang="en-US" sz="2600" dirty="0" err="1"/>
              <a:t>để</a:t>
            </a:r>
            <a:r>
              <a:rPr lang="en-US" sz="2600" dirty="0"/>
              <a:t> </a:t>
            </a:r>
            <a:r>
              <a:rPr lang="en-US" sz="2600" dirty="0" err="1"/>
              <a:t>giảm</a:t>
            </a:r>
            <a:r>
              <a:rPr lang="en-US" sz="2600" dirty="0"/>
              <a:t> </a:t>
            </a:r>
            <a:r>
              <a:rPr lang="en-US" sz="2600" dirty="0" err="1"/>
              <a:t>rủi</a:t>
            </a:r>
            <a:r>
              <a:rPr lang="en-US" sz="2600" dirty="0"/>
              <a:t> </a:t>
            </a:r>
            <a:r>
              <a:rPr lang="en-US" sz="2600" dirty="0" err="1"/>
              <a:t>ro</a:t>
            </a:r>
            <a:r>
              <a:rPr lang="en-US" sz="2600" dirty="0"/>
              <a:t> </a:t>
            </a:r>
            <a:r>
              <a:rPr lang="en-US" sz="2600" dirty="0" err="1"/>
              <a:t>và</a:t>
            </a:r>
            <a:r>
              <a:rPr lang="en-US" sz="2600" dirty="0"/>
              <a:t> </a:t>
            </a:r>
            <a:r>
              <a:rPr lang="en-US" sz="2600" dirty="0" err="1"/>
              <a:t>bảo</a:t>
            </a:r>
            <a:r>
              <a:rPr lang="en-US" sz="2600" dirty="0"/>
              <a:t> </a:t>
            </a:r>
            <a:r>
              <a:rPr lang="en-US" sz="2600" dirty="0" err="1"/>
              <a:t>vệ</a:t>
            </a:r>
            <a:r>
              <a:rPr lang="en-US" sz="2600" dirty="0"/>
              <a:t> </a:t>
            </a:r>
            <a:r>
              <a:rPr lang="en-US" sz="2600" dirty="0" err="1"/>
              <a:t>thông</a:t>
            </a:r>
            <a:r>
              <a:rPr lang="en-US" sz="2600" dirty="0"/>
              <a:t> tin.</a:t>
            </a:r>
            <a:endParaRP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
                                            <p:txEl>
                                              <p:pRg st="0" end="0"/>
                                            </p:txEl>
                                          </p:spTgt>
                                        </p:tgtEl>
                                        <p:attrNameLst>
                                          <p:attrName>style.visibility</p:attrName>
                                        </p:attrNameLst>
                                      </p:cBhvr>
                                      <p:to>
                                        <p:strVal val="visible"/>
                                      </p:to>
                                    </p:set>
                                    <p:animEffect transition="in" filter="fade">
                                      <p:cBhvr>
                                        <p:cTn id="7" dur="500"/>
                                        <p:tgtEl>
                                          <p:spTgt spid="6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
                                            <p:txEl>
                                              <p:pRg st="2" end="2"/>
                                            </p:txEl>
                                          </p:spTgt>
                                        </p:tgtEl>
                                        <p:attrNameLst>
                                          <p:attrName>style.visibility</p:attrName>
                                        </p:attrNameLst>
                                      </p:cBhvr>
                                      <p:to>
                                        <p:strVal val="visible"/>
                                      </p:to>
                                    </p:set>
                                    <p:animEffect transition="in" filter="fade">
                                      <p:cBhvr>
                                        <p:cTn id="12" dur="500"/>
                                        <p:tgtEl>
                                          <p:spTgt spid="6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
                                            <p:txEl>
                                              <p:pRg st="4" end="4"/>
                                            </p:txEl>
                                          </p:spTgt>
                                        </p:tgtEl>
                                        <p:attrNameLst>
                                          <p:attrName>style.visibility</p:attrName>
                                        </p:attrNameLst>
                                      </p:cBhvr>
                                      <p:to>
                                        <p:strVal val="visible"/>
                                      </p:to>
                                    </p:set>
                                    <p:animEffect transition="in" filter="fade">
                                      <p:cBhvr>
                                        <p:cTn id="17" dur="500"/>
                                        <p:tgtEl>
                                          <p:spTgt spid="6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40"/>
          <p:cNvSpPr txBox="1">
            <a:spLocks noGrp="1"/>
          </p:cNvSpPr>
          <p:nvPr>
            <p:ph type="title"/>
          </p:nvPr>
        </p:nvSpPr>
        <p:spPr>
          <a:xfrm>
            <a:off x="838200" y="152005"/>
            <a:ext cx="10515600" cy="119862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 HOẶC CẤU HÌNH SAI</a:t>
            </a:r>
            <a:endParaRPr sz="3200" dirty="0"/>
          </a:p>
          <a:p>
            <a:pPr marL="0" lvl="0" indent="457200" algn="l" rtl="0">
              <a:lnSpc>
                <a:spcPct val="90000"/>
              </a:lnSpc>
              <a:spcBef>
                <a:spcPts val="0"/>
              </a:spcBef>
              <a:spcAft>
                <a:spcPts val="0"/>
              </a:spcAft>
              <a:buClr>
                <a:srgbClr val="0070C0"/>
              </a:buClr>
              <a:buSzPts val="4000"/>
              <a:buFont typeface="Times New Roman"/>
              <a:buNone/>
            </a:pPr>
            <a:r>
              <a:rPr lang="en-US" sz="2800" dirty="0"/>
              <a:t>2.1.2. LỖ HỔNG DO THUẬT TOÁN YẾU:</a:t>
            </a:r>
            <a:endParaRPr sz="3200" dirty="0"/>
          </a:p>
        </p:txBody>
      </p:sp>
      <p:sp>
        <p:nvSpPr>
          <p:cNvPr id="628" name="Google Shape;628;p40"/>
          <p:cNvSpPr txBox="1"/>
          <p:nvPr/>
        </p:nvSpPr>
        <p:spPr>
          <a:xfrm>
            <a:off x="1704500" y="1236600"/>
            <a:ext cx="8605800" cy="45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400" i="1" u="sng" dirty="0" err="1">
                <a:solidFill>
                  <a:schemeClr val="dk1"/>
                </a:solidFill>
                <a:latin typeface="Readex Pro"/>
                <a:ea typeface="Readex Pro"/>
                <a:cs typeface="Readex Pro"/>
                <a:sym typeface="Readex Pro"/>
              </a:rPr>
              <a:t>Cơ</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chế</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hoạt</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động</a:t>
            </a:r>
            <a:r>
              <a:rPr lang="en-US" sz="2400" i="1" u="sng" dirty="0">
                <a:solidFill>
                  <a:schemeClr val="dk1"/>
                </a:solidFill>
                <a:latin typeface="Readex Pro"/>
                <a:ea typeface="Readex Pro"/>
                <a:cs typeface="Readex Pro"/>
                <a:sym typeface="Readex Pro"/>
              </a:rPr>
              <a:t>:</a:t>
            </a:r>
            <a:endParaRPr sz="2400" i="1" u="sng" dirty="0">
              <a:solidFill>
                <a:schemeClr val="dk1"/>
              </a:solidFill>
              <a:latin typeface="Readex Pro"/>
              <a:ea typeface="Readex Pro"/>
              <a:cs typeface="Readex Pro"/>
              <a:sym typeface="Readex Pro"/>
            </a:endParaRPr>
          </a:p>
          <a:p>
            <a:pPr marL="0" lvl="0" indent="0" algn="l" rtl="0">
              <a:spcBef>
                <a:spcPts val="0"/>
              </a:spcBef>
              <a:spcAft>
                <a:spcPts val="0"/>
              </a:spcAft>
              <a:buNone/>
            </a:pPr>
            <a:endParaRPr sz="2400" b="1" i="1" dirty="0">
              <a:solidFill>
                <a:schemeClr val="dk1"/>
              </a:solidFill>
              <a:latin typeface="Readex Pro"/>
              <a:ea typeface="Readex Pro"/>
              <a:cs typeface="Readex Pro"/>
              <a:sym typeface="Readex Pro"/>
            </a:endParaRPr>
          </a:p>
        </p:txBody>
      </p:sp>
      <p:sp>
        <p:nvSpPr>
          <p:cNvPr id="2" name="AutoShape 2" descr="Generated image">
            <a:extLst>
              <a:ext uri="{FF2B5EF4-FFF2-40B4-BE49-F238E27FC236}">
                <a16:creationId xmlns:a16="http://schemas.microsoft.com/office/drawing/2014/main" id="{4900395B-22FC-2FBD-1A53-70A44937F6DF}"/>
              </a:ext>
            </a:extLst>
          </p:cNvPr>
          <p:cNvSpPr>
            <a:spLocks noChangeAspect="1" noChangeArrowheads="1"/>
          </p:cNvSpPr>
          <p:nvPr/>
        </p:nvSpPr>
        <p:spPr bwMode="auto">
          <a:xfrm>
            <a:off x="4480560" y="3017520"/>
            <a:ext cx="2712720" cy="27127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7" name="Picture 6">
            <a:extLst>
              <a:ext uri="{FF2B5EF4-FFF2-40B4-BE49-F238E27FC236}">
                <a16:creationId xmlns:a16="http://schemas.microsoft.com/office/drawing/2014/main" id="{10E79F85-1D18-07DD-D947-A466D38B6244}"/>
              </a:ext>
            </a:extLst>
          </p:cNvPr>
          <p:cNvPicPr>
            <a:picLocks noChangeAspect="1"/>
          </p:cNvPicPr>
          <p:nvPr/>
        </p:nvPicPr>
        <p:blipFill>
          <a:blip r:embed="rId3"/>
          <a:stretch>
            <a:fillRect/>
          </a:stretch>
        </p:blipFill>
        <p:spPr>
          <a:xfrm>
            <a:off x="1869289" y="1815334"/>
            <a:ext cx="8605800" cy="4493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8"/>
                                        </p:tgtEl>
                                        <p:attrNameLst>
                                          <p:attrName>style.visibility</p:attrName>
                                        </p:attrNameLst>
                                      </p:cBhvr>
                                      <p:to>
                                        <p:strVal val="visible"/>
                                      </p:to>
                                    </p:set>
                                    <p:animEffect transition="in" filter="fade">
                                      <p:cBhvr>
                                        <p:cTn id="7" dur="500"/>
                                        <p:tgtEl>
                                          <p:spTgt spid="6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6">
          <a:extLst>
            <a:ext uri="{FF2B5EF4-FFF2-40B4-BE49-F238E27FC236}">
              <a16:creationId xmlns:a16="http://schemas.microsoft.com/office/drawing/2014/main" id="{C3A46FD2-DEF2-0748-4EE8-A02C827ED0A1}"/>
            </a:ext>
          </a:extLst>
        </p:cNvPr>
        <p:cNvGrpSpPr/>
        <p:nvPr/>
      </p:nvGrpSpPr>
      <p:grpSpPr>
        <a:xfrm>
          <a:off x="0" y="0"/>
          <a:ext cx="0" cy="0"/>
          <a:chOff x="0" y="0"/>
          <a:chExt cx="0" cy="0"/>
        </a:xfrm>
      </p:grpSpPr>
      <p:sp>
        <p:nvSpPr>
          <p:cNvPr id="627" name="Google Shape;627;p40">
            <a:extLst>
              <a:ext uri="{FF2B5EF4-FFF2-40B4-BE49-F238E27FC236}">
                <a16:creationId xmlns:a16="http://schemas.microsoft.com/office/drawing/2014/main" id="{7EEB203F-6855-DC68-7D1B-B7864B83E8E3}"/>
              </a:ext>
            </a:extLst>
          </p:cNvPr>
          <p:cNvSpPr txBox="1">
            <a:spLocks noGrp="1"/>
          </p:cNvSpPr>
          <p:nvPr>
            <p:ph type="title"/>
          </p:nvPr>
        </p:nvSpPr>
        <p:spPr>
          <a:xfrm>
            <a:off x="838200" y="110060"/>
            <a:ext cx="10515600" cy="11772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 HOẶC CẤU HÌNH SAI</a:t>
            </a:r>
            <a:endParaRPr sz="3200" dirty="0"/>
          </a:p>
          <a:p>
            <a:pPr marL="0" lvl="0" indent="457200" algn="l" rtl="0">
              <a:lnSpc>
                <a:spcPct val="90000"/>
              </a:lnSpc>
              <a:spcBef>
                <a:spcPts val="0"/>
              </a:spcBef>
              <a:spcAft>
                <a:spcPts val="0"/>
              </a:spcAft>
              <a:buClr>
                <a:srgbClr val="0070C0"/>
              </a:buClr>
              <a:buSzPts val="4000"/>
              <a:buFont typeface="Times New Roman"/>
              <a:buNone/>
            </a:pPr>
            <a:r>
              <a:rPr lang="en-US" sz="2800" dirty="0"/>
              <a:t>2.1.2. LỖ HỔNG DO THUẬT TOÁN YẾU:</a:t>
            </a:r>
            <a:endParaRPr sz="3200" dirty="0"/>
          </a:p>
        </p:txBody>
      </p:sp>
      <p:sp>
        <p:nvSpPr>
          <p:cNvPr id="628" name="Google Shape;628;p40">
            <a:extLst>
              <a:ext uri="{FF2B5EF4-FFF2-40B4-BE49-F238E27FC236}">
                <a16:creationId xmlns:a16="http://schemas.microsoft.com/office/drawing/2014/main" id="{1251E9B5-C067-8D97-33F8-5540082C4E5E}"/>
              </a:ext>
            </a:extLst>
          </p:cNvPr>
          <p:cNvSpPr txBox="1"/>
          <p:nvPr/>
        </p:nvSpPr>
        <p:spPr>
          <a:xfrm>
            <a:off x="988906" y="1396378"/>
            <a:ext cx="10214187" cy="492892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400" i="1" u="sng" dirty="0" err="1">
                <a:solidFill>
                  <a:schemeClr val="dk1"/>
                </a:solidFill>
                <a:latin typeface="Readex Pro"/>
                <a:ea typeface="Readex Pro"/>
                <a:cs typeface="Readex Pro"/>
                <a:sym typeface="Readex Pro"/>
              </a:rPr>
              <a:t>Ví</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dụ</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minh</a:t>
            </a:r>
            <a:r>
              <a:rPr lang="en-US" sz="2400" i="1" u="sng" dirty="0">
                <a:solidFill>
                  <a:schemeClr val="dk1"/>
                </a:solidFill>
                <a:latin typeface="Readex Pro"/>
                <a:ea typeface="Readex Pro"/>
                <a:cs typeface="Readex Pro"/>
                <a:sym typeface="Readex Pro"/>
              </a:rPr>
              <a:t> </a:t>
            </a:r>
            <a:r>
              <a:rPr lang="en-US" sz="2400" i="1" u="sng" dirty="0" err="1">
                <a:solidFill>
                  <a:schemeClr val="dk1"/>
                </a:solidFill>
                <a:latin typeface="Readex Pro"/>
                <a:ea typeface="Readex Pro"/>
                <a:cs typeface="Readex Pro"/>
                <a:sym typeface="Readex Pro"/>
              </a:rPr>
              <a:t>họa</a:t>
            </a:r>
            <a:r>
              <a:rPr lang="en-US" sz="2400" i="1" u="sng" dirty="0">
                <a:solidFill>
                  <a:schemeClr val="dk1"/>
                </a:solidFill>
                <a:latin typeface="Readex Pro"/>
                <a:ea typeface="Readex Pro"/>
                <a:cs typeface="Readex Pro"/>
                <a:sym typeface="Readex Pro"/>
              </a:rPr>
              <a:t>: </a:t>
            </a:r>
          </a:p>
          <a:p>
            <a:pPr marL="0" lvl="0" indent="0" algn="l" rtl="0">
              <a:spcBef>
                <a:spcPts val="0"/>
              </a:spcBef>
              <a:spcAft>
                <a:spcPts val="0"/>
              </a:spcAft>
              <a:buClr>
                <a:schemeClr val="dk1"/>
              </a:buClr>
              <a:buSzPts val="1100"/>
              <a:buFont typeface="Arial"/>
              <a:buNone/>
            </a:pPr>
            <a:endParaRPr sz="2400" i="1" u="sng" dirty="0">
              <a:solidFill>
                <a:schemeClr val="dk1"/>
              </a:solidFill>
              <a:latin typeface="Readex Pro"/>
              <a:ea typeface="Readex Pro"/>
              <a:cs typeface="Readex Pro"/>
              <a:sym typeface="Readex Pro"/>
            </a:endParaRPr>
          </a:p>
          <a:p>
            <a:pPr marL="457200" lvl="0" indent="-457200">
              <a:buAutoNum type="arabicPeriod"/>
            </a:pPr>
            <a:r>
              <a:rPr lang="en-US" sz="2000" dirty="0" err="1">
                <a:solidFill>
                  <a:schemeClr val="dk1"/>
                </a:solidFill>
                <a:latin typeface="Readex Pro"/>
                <a:ea typeface="Readex Pro"/>
                <a:cs typeface="Readex Pro"/>
                <a:sym typeface="Readex Pro"/>
              </a:rPr>
              <a:t>Dùng</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hàm</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băm</a:t>
            </a:r>
            <a:r>
              <a:rPr lang="en-US" sz="2000" dirty="0">
                <a:solidFill>
                  <a:schemeClr val="dk1"/>
                </a:solidFill>
                <a:latin typeface="Readex Pro"/>
                <a:ea typeface="Readex Pro"/>
                <a:cs typeface="Readex Pro"/>
                <a:sym typeface="Readex Pro"/>
              </a:rPr>
              <a:t> </a:t>
            </a:r>
            <a:r>
              <a:rPr lang="en-US" sz="2000" b="1" i="1" dirty="0">
                <a:solidFill>
                  <a:schemeClr val="dk1"/>
                </a:solidFill>
                <a:latin typeface="Readex Pro"/>
                <a:ea typeface="Readex Pro"/>
                <a:cs typeface="Readex Pro"/>
                <a:sym typeface="Readex Pro"/>
              </a:rPr>
              <a:t>MD5</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để</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lưu</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trữ</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mật</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khẩu</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người</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dùng</a:t>
            </a:r>
            <a:r>
              <a:rPr lang="en-US" sz="2000" dirty="0">
                <a:solidFill>
                  <a:schemeClr val="dk1"/>
                </a:solidFill>
                <a:latin typeface="Readex Pro"/>
                <a:ea typeface="Readex Pro"/>
                <a:cs typeface="Readex Pro"/>
                <a:sym typeface="Readex Pro"/>
              </a:rPr>
              <a:t> </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có</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thể</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sinh</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ra</a:t>
            </a:r>
            <a:r>
              <a:rPr lang="en-US" sz="2000" dirty="0">
                <a:solidFill>
                  <a:schemeClr val="dk1"/>
                </a:solidFill>
                <a:latin typeface="Readex Pro"/>
                <a:ea typeface="Readex Pro"/>
                <a:cs typeface="Readex Pro"/>
                <a:sym typeface="Wingdings" panose="05000000000000000000" pitchFamily="2" charset="2"/>
              </a:rPr>
              <a:t> </a:t>
            </a:r>
            <a:r>
              <a:rPr lang="en-US" sz="2000" i="1" dirty="0">
                <a:solidFill>
                  <a:schemeClr val="dk1"/>
                </a:solidFill>
                <a:latin typeface="Readex Pro"/>
                <a:ea typeface="Readex Pro"/>
                <a:cs typeface="Readex Pro"/>
                <a:sym typeface="Wingdings" panose="05000000000000000000" pitchFamily="2" charset="2"/>
              </a:rPr>
              <a:t>collision </a:t>
            </a:r>
            <a:r>
              <a:rPr lang="vi-VN" sz="2000" dirty="0">
                <a:solidFill>
                  <a:schemeClr val="dk1"/>
                </a:solidFill>
                <a:latin typeface="Readex Pro"/>
                <a:ea typeface="Readex Pro"/>
                <a:cs typeface="Readex Pro"/>
                <a:sym typeface="Wingdings" panose="05000000000000000000" pitchFamily="2" charset="2"/>
              </a:rPr>
              <a:t>kẻ tấn công dễ dò </a:t>
            </a:r>
            <a:r>
              <a:rPr lang="en-US" sz="2000" dirty="0" err="1">
                <a:solidFill>
                  <a:schemeClr val="dk1"/>
                </a:solidFill>
                <a:latin typeface="Readex Pro"/>
                <a:ea typeface="Readex Pro"/>
                <a:cs typeface="Readex Pro"/>
                <a:sym typeface="Wingdings" panose="05000000000000000000" pitchFamily="2" charset="2"/>
              </a:rPr>
              <a:t>được</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hoặc</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tạo</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bản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sao</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dữ</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liệu</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hợp</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lệ</a:t>
            </a:r>
            <a:r>
              <a:rPr lang="en-US" sz="2000" dirty="0">
                <a:solidFill>
                  <a:schemeClr val="dk1"/>
                </a:solidFill>
                <a:latin typeface="Readex Pro"/>
                <a:ea typeface="Readex Pro"/>
                <a:cs typeface="Readex Pro"/>
                <a:sym typeface="Wingdings" panose="05000000000000000000" pitchFamily="2" charset="2"/>
              </a:rPr>
              <a:t>.</a:t>
            </a:r>
          </a:p>
          <a:p>
            <a:pPr marL="457200" lvl="0" indent="-457200">
              <a:buAutoNum type="arabicPeriod"/>
            </a:pPr>
            <a:endParaRPr lang="en-US" sz="2000" dirty="0">
              <a:solidFill>
                <a:schemeClr val="dk1"/>
              </a:solidFill>
              <a:latin typeface="Readex Pro"/>
              <a:ea typeface="Readex Pro"/>
              <a:cs typeface="Readex Pro"/>
              <a:sym typeface="Wingdings" panose="05000000000000000000" pitchFamily="2" charset="2"/>
            </a:endParaRPr>
          </a:p>
          <a:p>
            <a:pPr marL="457200" lvl="0" indent="-457200">
              <a:buAutoNum type="arabicPeriod"/>
            </a:pPr>
            <a:r>
              <a:rPr lang="en-US" sz="2000" dirty="0" err="1">
                <a:solidFill>
                  <a:schemeClr val="dk1"/>
                </a:solidFill>
                <a:latin typeface="Readex Pro"/>
                <a:ea typeface="Readex Pro"/>
                <a:cs typeface="Readex Pro"/>
                <a:sym typeface="Wingdings" panose="05000000000000000000" pitchFamily="2" charset="2"/>
              </a:rPr>
              <a:t>Dùng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thuật</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toán</a:t>
            </a:r>
            <a:r>
              <a:rPr lang="en-US" sz="2000" dirty="0">
                <a:solidFill>
                  <a:schemeClr val="dk1"/>
                </a:solidFill>
                <a:latin typeface="Readex Pro"/>
                <a:ea typeface="Readex Pro"/>
                <a:cs typeface="Readex Pro"/>
                <a:sym typeface="Wingdings" panose="05000000000000000000" pitchFamily="2" charset="2"/>
              </a:rPr>
              <a:t> </a:t>
            </a:r>
            <a:r>
              <a:rPr lang="en-US" sz="2000" b="1" i="1" dirty="0">
                <a:solidFill>
                  <a:schemeClr val="dk1"/>
                </a:solidFill>
                <a:latin typeface="Readex Pro"/>
                <a:ea typeface="Readex Pro"/>
                <a:cs typeface="Readex Pro"/>
                <a:sym typeface="Wingdings" panose="05000000000000000000" pitchFamily="2" charset="2"/>
              </a:rPr>
              <a:t>SHA-1</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để</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kiểm</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tra</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tính</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toàn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vẹn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của</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dữ</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liệu</a:t>
            </a:r>
            <a:r>
              <a:rPr lang="en-US" sz="2000" dirty="0">
                <a:solidFill>
                  <a:schemeClr val="dk1"/>
                </a:solidFill>
                <a:latin typeface="Readex Pro"/>
                <a:ea typeface="Readex Pro"/>
                <a:cs typeface="Readex Pro"/>
                <a:sym typeface="Wingdings" panose="05000000000000000000" pitchFamily="2" charset="2"/>
              </a:rPr>
              <a:t>  </a:t>
            </a:r>
            <a:r>
              <a:rPr lang="en-US" sz="2000" dirty="0" err="1">
                <a:solidFill>
                  <a:schemeClr val="dk1"/>
                </a:solidFill>
                <a:latin typeface="Readex Pro"/>
                <a:ea typeface="Readex Pro"/>
                <a:cs typeface="Readex Pro"/>
                <a:sym typeface="Wingdings" panose="05000000000000000000" pitchFamily="2" charset="2"/>
              </a:rPr>
              <a:t>bị</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tấn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công</a:t>
            </a:r>
            <a:r>
              <a:rPr lang="en-US" sz="2000" dirty="0">
                <a:solidFill>
                  <a:schemeClr val="dk1"/>
                </a:solidFill>
                <a:latin typeface="Readex Pro"/>
                <a:ea typeface="Readex Pro"/>
                <a:cs typeface="Readex Pro"/>
                <a:sym typeface="Wingdings" panose="05000000000000000000" pitchFamily="2" charset="2"/>
              </a:rPr>
              <a:t> collision attack, </a:t>
            </a:r>
            <a:r>
              <a:rPr lang="en-US" sz="2000" dirty="0" err="1">
                <a:solidFill>
                  <a:schemeClr val="dk1"/>
                </a:solidFill>
                <a:latin typeface="Readex Pro"/>
                <a:ea typeface="Readex Pro"/>
                <a:cs typeface="Readex Pro"/>
                <a:sym typeface="Wingdings" panose="05000000000000000000" pitchFamily="2" charset="2"/>
              </a:rPr>
              <a:t>dễ</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khiến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dữ</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liệu</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bị</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giả</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mạo</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mà</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không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phát</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hiện</a:t>
            </a:r>
            <a:r>
              <a:rPr lang="en-US" sz="2000" dirty="0">
                <a:solidFill>
                  <a:schemeClr val="dk1"/>
                </a:solidFill>
                <a:latin typeface="Readex Pro"/>
                <a:ea typeface="Readex Pro"/>
                <a:cs typeface="Readex Pro"/>
                <a:sym typeface="Wingdings" panose="05000000000000000000" pitchFamily="2" charset="2"/>
              </a:rPr>
              <a:t>.</a:t>
            </a:r>
          </a:p>
          <a:p>
            <a:pPr marL="457200" lvl="0" indent="-457200">
              <a:buAutoNum type="arabicPeriod"/>
            </a:pPr>
            <a:endParaRPr lang="en-US" sz="2000" dirty="0">
              <a:solidFill>
                <a:schemeClr val="dk1"/>
              </a:solidFill>
              <a:latin typeface="Readex Pro"/>
              <a:ea typeface="Readex Pro"/>
              <a:cs typeface="Readex Pro"/>
              <a:sym typeface="Readex Pro"/>
            </a:endParaRPr>
          </a:p>
          <a:p>
            <a:pPr marL="457200" lvl="0" indent="-457200">
              <a:buAutoNum type="arabicPeriod"/>
            </a:pPr>
            <a:r>
              <a:rPr lang="en-US" sz="2000" dirty="0" err="1">
                <a:solidFill>
                  <a:schemeClr val="dk1"/>
                </a:solidFill>
                <a:latin typeface="Readex Pro"/>
                <a:ea typeface="Readex Pro"/>
                <a:cs typeface="Readex Pro"/>
                <a:sym typeface="Readex Pro"/>
              </a:rPr>
              <a:t>Mã</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hóa</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dữ</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liệu</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bằng</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thuật</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toán</a:t>
            </a:r>
            <a:r>
              <a:rPr lang="en-US" sz="2000" dirty="0">
                <a:solidFill>
                  <a:schemeClr val="dk1"/>
                </a:solidFill>
                <a:latin typeface="Readex Pro"/>
                <a:ea typeface="Readex Pro"/>
                <a:cs typeface="Readex Pro"/>
                <a:sym typeface="Readex Pro"/>
              </a:rPr>
              <a:t> </a:t>
            </a:r>
            <a:r>
              <a:rPr lang="en-US" sz="2000" b="1" i="1" dirty="0">
                <a:solidFill>
                  <a:schemeClr val="dk1"/>
                </a:solidFill>
                <a:latin typeface="Readex Pro"/>
                <a:ea typeface="Readex Pro"/>
                <a:cs typeface="Readex Pro"/>
                <a:sym typeface="Readex Pro"/>
              </a:rPr>
              <a:t>DES</a:t>
            </a:r>
            <a:r>
              <a:rPr lang="en-US" sz="2000" dirty="0">
                <a:solidFill>
                  <a:schemeClr val="dk1"/>
                </a:solidFill>
                <a:latin typeface="Readex Pro"/>
                <a:ea typeface="Readex Pro"/>
                <a:cs typeface="Readex Pro"/>
                <a:sym typeface="Readex Pro"/>
              </a:rPr>
              <a:t> </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độ</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dài</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khóa</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ngắn</a:t>
            </a:r>
            <a:r>
              <a:rPr lang="en-US" sz="2000" dirty="0">
                <a:solidFill>
                  <a:schemeClr val="dk1"/>
                </a:solidFill>
                <a:latin typeface="Readex Pro"/>
                <a:ea typeface="Readex Pro"/>
                <a:cs typeface="Readex Pro"/>
                <a:sym typeface="Wingdings" panose="05000000000000000000" pitchFamily="2" charset="2"/>
              </a:rPr>
              <a:t> </a:t>
            </a:r>
            <a:r>
              <a:rPr lang="en-US" sz="2000" i="1" dirty="0">
                <a:solidFill>
                  <a:schemeClr val="dk1"/>
                </a:solidFill>
                <a:latin typeface="Readex Pro"/>
                <a:ea typeface="Readex Pro"/>
                <a:cs typeface="Readex Pro"/>
                <a:sym typeface="Wingdings" panose="05000000000000000000" pitchFamily="2" charset="2"/>
              </a:rPr>
              <a:t>(56 bits) </a:t>
            </a:r>
            <a:r>
              <a:rPr lang="en-US" sz="2000" dirty="0" err="1">
                <a:solidFill>
                  <a:schemeClr val="dk1"/>
                </a:solidFill>
                <a:latin typeface="Readex Pro"/>
                <a:ea typeface="Readex Pro"/>
                <a:cs typeface="Readex Pro"/>
                <a:sym typeface="Wingdings" panose="05000000000000000000" pitchFamily="2" charset="2"/>
              </a:rPr>
              <a:t>dễ</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bị</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tấn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công</a:t>
            </a:r>
            <a:r>
              <a:rPr lang="en-US" sz="2000" dirty="0">
                <a:solidFill>
                  <a:schemeClr val="dk1"/>
                </a:solidFill>
                <a:latin typeface="Readex Pro"/>
                <a:ea typeface="Readex Pro"/>
                <a:cs typeface="Readex Pro"/>
                <a:sym typeface="Wingdings" panose="05000000000000000000" pitchFamily="2" charset="2"/>
              </a:rPr>
              <a:t> brute-force.</a:t>
            </a:r>
          </a:p>
          <a:p>
            <a:pPr marL="457200" lvl="0" indent="-457200">
              <a:buAutoNum type="arabicPeriod"/>
            </a:pPr>
            <a:endParaRPr lang="en-US" sz="2000" dirty="0">
              <a:solidFill>
                <a:schemeClr val="dk1"/>
              </a:solidFill>
              <a:latin typeface="Readex Pro"/>
              <a:ea typeface="Readex Pro"/>
              <a:cs typeface="Readex Pro"/>
              <a:sym typeface="Readex Pro"/>
            </a:endParaRPr>
          </a:p>
          <a:p>
            <a:pPr marL="457200" lvl="0" indent="-457200">
              <a:buAutoNum type="arabicPeriod"/>
            </a:pPr>
            <a:r>
              <a:rPr lang="en-US" sz="2000" dirty="0" err="1">
                <a:solidFill>
                  <a:schemeClr val="dk1"/>
                </a:solidFill>
                <a:latin typeface="Readex Pro"/>
                <a:ea typeface="Readex Pro"/>
                <a:cs typeface="Readex Pro"/>
                <a:sym typeface="Readex Pro"/>
              </a:rPr>
              <a:t>Dùng</a:t>
            </a:r>
            <a:r>
              <a:rPr lang="en-US" sz="2000" dirty="0">
                <a:solidFill>
                  <a:schemeClr val="dk1"/>
                </a:solidFill>
                <a:latin typeface="Readex Pro"/>
                <a:ea typeface="Readex Pro"/>
                <a:cs typeface="Readex Pro"/>
                <a:sym typeface="Readex Pro"/>
              </a:rPr>
              <a:t> Triple DES (</a:t>
            </a:r>
            <a:r>
              <a:rPr lang="en-US" sz="2000" b="1" i="1" dirty="0">
                <a:solidFill>
                  <a:schemeClr val="dk1"/>
                </a:solidFill>
                <a:latin typeface="Readex Pro"/>
                <a:ea typeface="Readex Pro"/>
                <a:cs typeface="Readex Pro"/>
                <a:sym typeface="Readex Pro"/>
              </a:rPr>
              <a:t>3DES</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trong</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ứng</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dụng</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bảo</a:t>
            </a:r>
            <a:r>
              <a:rPr lang="en-US" sz="2000" dirty="0">
                <a:solidFill>
                  <a:schemeClr val="dk1"/>
                </a:solidFill>
                <a:latin typeface="Readex Pro"/>
                <a:ea typeface="Readex Pro"/>
                <a:cs typeface="Readex Pro"/>
                <a:sym typeface="Readex Pro"/>
              </a:rPr>
              <a:t> </a:t>
            </a:r>
            <a:r>
              <a:rPr lang="en-US" sz="2000" dirty="0" err="1">
                <a:solidFill>
                  <a:schemeClr val="dk1"/>
                </a:solidFill>
                <a:latin typeface="Readex Pro"/>
                <a:ea typeface="Readex Pro"/>
                <a:cs typeface="Readex Pro"/>
                <a:sym typeface="Readex Pro"/>
              </a:rPr>
              <a:t>mật</a:t>
            </a:r>
            <a:r>
              <a:rPr lang="en-US" sz="2000" dirty="0">
                <a:solidFill>
                  <a:schemeClr val="dk1"/>
                </a:solidFill>
                <a:latin typeface="Readex Pro"/>
                <a:ea typeface="Readex Pro"/>
                <a:cs typeface="Readex Pro"/>
                <a:sym typeface="Readex Pro"/>
              </a:rPr>
              <a:t> </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dễ</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bị</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tấn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công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MiTM</a:t>
            </a:r>
            <a:r>
              <a:rPr lang="en-US" sz="2000" dirty="0">
                <a:solidFill>
                  <a:schemeClr val="dk1"/>
                </a:solidFill>
                <a:latin typeface="Readex Pro"/>
                <a:ea typeface="Readex Pro"/>
                <a:cs typeface="Readex Pro"/>
                <a:sym typeface="Wingdings" panose="05000000000000000000" pitchFamily="2" charset="2"/>
              </a:rPr>
              <a:t>.</a:t>
            </a:r>
          </a:p>
          <a:p>
            <a:pPr marL="457200" lvl="0" indent="-457200">
              <a:buAutoNum type="arabicPeriod"/>
            </a:pPr>
            <a:endParaRPr lang="en-US" sz="2000" dirty="0">
              <a:solidFill>
                <a:schemeClr val="dk1"/>
              </a:solidFill>
              <a:latin typeface="Readex Pro"/>
              <a:ea typeface="Readex Pro"/>
              <a:cs typeface="Readex Pro"/>
              <a:sym typeface="Wingdings" panose="05000000000000000000" pitchFamily="2" charset="2"/>
            </a:endParaRPr>
          </a:p>
          <a:p>
            <a:pPr marL="457200" lvl="0" indent="-457200">
              <a:buAutoNum type="arabicPeriod"/>
            </a:pPr>
            <a:r>
              <a:rPr lang="en-US" sz="2000" dirty="0" err="1">
                <a:solidFill>
                  <a:schemeClr val="dk1"/>
                </a:solidFill>
                <a:latin typeface="Readex Pro"/>
                <a:ea typeface="Readex Pro"/>
                <a:cs typeface="Readex Pro"/>
                <a:sym typeface="Wingdings" panose="05000000000000000000" pitchFamily="2" charset="2"/>
              </a:rPr>
              <a:t>Dùng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giao</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thức</a:t>
            </a:r>
            <a:r>
              <a:rPr lang="en-US" sz="2000" dirty="0">
                <a:solidFill>
                  <a:schemeClr val="dk1"/>
                </a:solidFill>
                <a:latin typeface="Readex Pro"/>
                <a:ea typeface="Readex Pro"/>
                <a:cs typeface="Readex Pro"/>
                <a:sym typeface="Wingdings" panose="05000000000000000000" pitchFamily="2" charset="2"/>
              </a:rPr>
              <a:t> </a:t>
            </a:r>
            <a:r>
              <a:rPr lang="en-US" sz="2000" b="1" i="1" dirty="0">
                <a:solidFill>
                  <a:schemeClr val="dk1"/>
                </a:solidFill>
                <a:latin typeface="Readex Pro"/>
                <a:ea typeface="Readex Pro"/>
                <a:cs typeface="Readex Pro"/>
                <a:sym typeface="Wingdings" panose="05000000000000000000" pitchFamily="2" charset="2"/>
              </a:rPr>
              <a:t>SSL 3.0 </a:t>
            </a:r>
            <a:r>
              <a:rPr lang="en-US" sz="2000" dirty="0" err="1">
                <a:solidFill>
                  <a:schemeClr val="dk1"/>
                </a:solidFill>
                <a:latin typeface="Readex Pro"/>
                <a:ea typeface="Readex Pro"/>
                <a:cs typeface="Readex Pro"/>
                <a:sym typeface="Wingdings" panose="05000000000000000000" pitchFamily="2" charset="2"/>
              </a:rPr>
              <a:t>hoặc</a:t>
            </a:r>
            <a:r>
              <a:rPr lang="en-US" sz="2000" dirty="0">
                <a:solidFill>
                  <a:schemeClr val="dk1"/>
                </a:solidFill>
                <a:latin typeface="Readex Pro"/>
                <a:ea typeface="Readex Pro"/>
                <a:cs typeface="Readex Pro"/>
                <a:sym typeface="Wingdings" panose="05000000000000000000" pitchFamily="2" charset="2"/>
              </a:rPr>
              <a:t> </a:t>
            </a:r>
            <a:r>
              <a:rPr lang="en-US" sz="2000" b="1" i="1" dirty="0">
                <a:solidFill>
                  <a:schemeClr val="dk1"/>
                </a:solidFill>
                <a:latin typeface="Readex Pro"/>
                <a:ea typeface="Readex Pro"/>
                <a:cs typeface="Readex Pro"/>
                <a:sym typeface="Wingdings" panose="05000000000000000000" pitchFamily="2" charset="2"/>
              </a:rPr>
              <a:t>TLS 1.0 </a:t>
            </a:r>
            <a:r>
              <a:rPr lang="en-US" sz="2000" dirty="0" err="1">
                <a:solidFill>
                  <a:schemeClr val="dk1"/>
                </a:solidFill>
                <a:latin typeface="Readex Pro"/>
                <a:ea typeface="Readex Pro"/>
                <a:cs typeface="Readex Pro"/>
                <a:sym typeface="Wingdings" panose="05000000000000000000" pitchFamily="2" charset="2"/>
              </a:rPr>
              <a:t>trong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truyền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thông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mạng</a:t>
            </a:r>
            <a:r>
              <a:rPr lang="en-US" sz="2000" dirty="0">
                <a:solidFill>
                  <a:schemeClr val="dk1"/>
                </a:solidFill>
                <a:latin typeface="Readex Pro"/>
                <a:ea typeface="Readex Pro"/>
                <a:cs typeface="Readex Pro"/>
                <a:sym typeface="Wingdings" panose="05000000000000000000" pitchFamily="2" charset="2"/>
              </a:rPr>
              <a:t>  </a:t>
            </a:r>
            <a:r>
              <a:rPr lang="en-US" sz="2000" dirty="0" err="1">
                <a:solidFill>
                  <a:schemeClr val="dk1"/>
                </a:solidFill>
                <a:latin typeface="Readex Pro"/>
                <a:ea typeface="Readex Pro"/>
                <a:cs typeface="Readex Pro"/>
                <a:sym typeface="Wingdings" panose="05000000000000000000" pitchFamily="2" charset="2"/>
              </a:rPr>
              <a:t>dễ</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bị</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tấn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công</a:t>
            </a:r>
            <a:r>
              <a:rPr lang="en-US" sz="2000" dirty="0">
                <a:solidFill>
                  <a:schemeClr val="dk1"/>
                </a:solidFill>
                <a:latin typeface="Readex Pro"/>
                <a:ea typeface="Readex Pro"/>
                <a:cs typeface="Readex Pro"/>
                <a:sym typeface="Wingdings" panose="05000000000000000000" pitchFamily="2" charset="2"/>
              </a:rPr>
              <a:t> </a:t>
            </a:r>
            <a:r>
              <a:rPr lang="en-US" sz="2000" i="1" dirty="0">
                <a:solidFill>
                  <a:schemeClr val="dk1"/>
                </a:solidFill>
                <a:latin typeface="Readex Pro"/>
                <a:ea typeface="Readex Pro"/>
                <a:cs typeface="Readex Pro"/>
                <a:sym typeface="Wingdings" panose="05000000000000000000" pitchFamily="2" charset="2"/>
              </a:rPr>
              <a:t>POODLE/BEAST</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kẻ</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tấn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công</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chặn</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giải</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mã</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dữ</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liệu</a:t>
            </a:r>
            <a:r>
              <a:rPr lang="en-US" sz="2000" dirty="0">
                <a:solidFill>
                  <a:schemeClr val="dk1"/>
                </a:solidFill>
                <a:latin typeface="Readex Pro"/>
                <a:ea typeface="Readex Pro"/>
                <a:cs typeface="Readex Pro"/>
                <a:sym typeface="Wingdings" panose="05000000000000000000" pitchFamily="2" charset="2"/>
              </a:rPr>
              <a:t> </a:t>
            </a:r>
            <a:r>
              <a:rPr lang="en-US" sz="2000" dirty="0" err="1">
                <a:solidFill>
                  <a:schemeClr val="dk1"/>
                </a:solidFill>
                <a:latin typeface="Readex Pro"/>
                <a:ea typeface="Readex Pro"/>
                <a:cs typeface="Readex Pro"/>
                <a:sym typeface="Wingdings" panose="05000000000000000000" pitchFamily="2" charset="2"/>
              </a:rPr>
              <a:t>truyền</a:t>
            </a:r>
            <a:r>
              <a:rPr lang="en-US" sz="2000" dirty="0">
                <a:solidFill>
                  <a:schemeClr val="dk1"/>
                </a:solidFill>
                <a:latin typeface="Readex Pro"/>
                <a:ea typeface="Readex Pro"/>
                <a:cs typeface="Readex Pro"/>
                <a:sym typeface="Wingdings" panose="05000000000000000000" pitchFamily="2" charset="2"/>
              </a:rPr>
              <a:t> qua Internet.</a:t>
            </a:r>
            <a:endParaRPr lang="en-US" sz="2000" dirty="0">
              <a:solidFill>
                <a:schemeClr val="dk1"/>
              </a:solidFill>
              <a:latin typeface="Readex Pro"/>
              <a:ea typeface="Readex Pro"/>
              <a:cs typeface="Readex Pro"/>
              <a:sym typeface="Readex Pro"/>
            </a:endParaRPr>
          </a:p>
          <a:p>
            <a:pPr marL="0" lvl="0" indent="0" algn="l" rtl="0">
              <a:spcBef>
                <a:spcPts val="0"/>
              </a:spcBef>
              <a:spcAft>
                <a:spcPts val="0"/>
              </a:spcAft>
              <a:buNone/>
            </a:pPr>
            <a:endParaRPr lang="en-US" sz="2400" dirty="0">
              <a:solidFill>
                <a:schemeClr val="dk1"/>
              </a:solidFill>
              <a:latin typeface="Readex Pro"/>
              <a:ea typeface="Readex Pro"/>
              <a:cs typeface="Readex Pro"/>
              <a:sym typeface="Readex Pro"/>
            </a:endParaRPr>
          </a:p>
        </p:txBody>
      </p:sp>
      <p:sp>
        <p:nvSpPr>
          <p:cNvPr id="2" name="AutoShape 2" descr="Generated image">
            <a:extLst>
              <a:ext uri="{FF2B5EF4-FFF2-40B4-BE49-F238E27FC236}">
                <a16:creationId xmlns:a16="http://schemas.microsoft.com/office/drawing/2014/main" id="{99D7AFD0-75E4-DA8A-2FF6-16FFDC7482CF}"/>
              </a:ext>
            </a:extLst>
          </p:cNvPr>
          <p:cNvSpPr>
            <a:spLocks noChangeAspect="1" noChangeArrowheads="1"/>
          </p:cNvSpPr>
          <p:nvPr/>
        </p:nvSpPr>
        <p:spPr bwMode="auto">
          <a:xfrm>
            <a:off x="4480560" y="3017520"/>
            <a:ext cx="2712720" cy="27127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55367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animEffect transition="in" filter="fade">
                                      <p:cBhvr>
                                        <p:cTn id="7" dur="500"/>
                                        <p:tgtEl>
                                          <p:spTgt spid="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8">
                                            <p:txEl>
                                              <p:pRg st="2" end="2"/>
                                            </p:txEl>
                                          </p:spTgt>
                                        </p:tgtEl>
                                        <p:attrNameLst>
                                          <p:attrName>style.visibility</p:attrName>
                                        </p:attrNameLst>
                                      </p:cBhvr>
                                      <p:to>
                                        <p:strVal val="visible"/>
                                      </p:to>
                                    </p:set>
                                    <p:animEffect transition="in" filter="fade">
                                      <p:cBhvr>
                                        <p:cTn id="12" dur="500"/>
                                        <p:tgtEl>
                                          <p:spTgt spid="6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8">
                                            <p:txEl>
                                              <p:pRg st="4" end="4"/>
                                            </p:txEl>
                                          </p:spTgt>
                                        </p:tgtEl>
                                        <p:attrNameLst>
                                          <p:attrName>style.visibility</p:attrName>
                                        </p:attrNameLst>
                                      </p:cBhvr>
                                      <p:to>
                                        <p:strVal val="visible"/>
                                      </p:to>
                                    </p:set>
                                    <p:animEffect transition="in" filter="fade">
                                      <p:cBhvr>
                                        <p:cTn id="17" dur="500"/>
                                        <p:tgtEl>
                                          <p:spTgt spid="62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8">
                                            <p:txEl>
                                              <p:pRg st="6" end="6"/>
                                            </p:txEl>
                                          </p:spTgt>
                                        </p:tgtEl>
                                        <p:attrNameLst>
                                          <p:attrName>style.visibility</p:attrName>
                                        </p:attrNameLst>
                                      </p:cBhvr>
                                      <p:to>
                                        <p:strVal val="visible"/>
                                      </p:to>
                                    </p:set>
                                    <p:animEffect transition="in" filter="fade">
                                      <p:cBhvr>
                                        <p:cTn id="22" dur="500"/>
                                        <p:tgtEl>
                                          <p:spTgt spid="62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8">
                                            <p:txEl>
                                              <p:pRg st="8" end="8"/>
                                            </p:txEl>
                                          </p:spTgt>
                                        </p:tgtEl>
                                        <p:attrNameLst>
                                          <p:attrName>style.visibility</p:attrName>
                                        </p:attrNameLst>
                                      </p:cBhvr>
                                      <p:to>
                                        <p:strVal val="visible"/>
                                      </p:to>
                                    </p:set>
                                    <p:animEffect transition="in" filter="fade">
                                      <p:cBhvr>
                                        <p:cTn id="27" dur="500"/>
                                        <p:tgtEl>
                                          <p:spTgt spid="628">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28">
                                            <p:txEl>
                                              <p:pRg st="10" end="10"/>
                                            </p:txEl>
                                          </p:spTgt>
                                        </p:tgtEl>
                                        <p:attrNameLst>
                                          <p:attrName>style.visibility</p:attrName>
                                        </p:attrNameLst>
                                      </p:cBhvr>
                                      <p:to>
                                        <p:strVal val="visible"/>
                                      </p:to>
                                    </p:set>
                                    <p:animEffect transition="in" filter="fade">
                                      <p:cBhvr>
                                        <p:cTn id="32" dur="500"/>
                                        <p:tgtEl>
                                          <p:spTgt spid="62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41"/>
          <p:cNvSpPr txBox="1">
            <a:spLocks noGrp="1"/>
          </p:cNvSpPr>
          <p:nvPr>
            <p:ph type="title"/>
          </p:nvPr>
        </p:nvSpPr>
        <p:spPr>
          <a:xfrm>
            <a:off x="838200" y="152005"/>
            <a:ext cx="10515600" cy="105115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 HOẶC CẤU HÌNH SAI</a:t>
            </a:r>
            <a:endParaRPr sz="3200" dirty="0"/>
          </a:p>
          <a:p>
            <a:pPr marL="0" lvl="0" indent="457200" algn="l" rtl="0">
              <a:lnSpc>
                <a:spcPct val="90000"/>
              </a:lnSpc>
              <a:spcBef>
                <a:spcPts val="0"/>
              </a:spcBef>
              <a:spcAft>
                <a:spcPts val="0"/>
              </a:spcAft>
              <a:buClr>
                <a:srgbClr val="0070C0"/>
              </a:buClr>
              <a:buSzPts val="4000"/>
              <a:buFont typeface="Times New Roman"/>
              <a:buNone/>
            </a:pPr>
            <a:r>
              <a:rPr lang="en-US" sz="2800" dirty="0"/>
              <a:t>2.1.3. LỖ HỔNG DO CẤU HÌNH SAI:</a:t>
            </a:r>
            <a:endParaRPr sz="3200" dirty="0"/>
          </a:p>
        </p:txBody>
      </p:sp>
      <p:sp>
        <p:nvSpPr>
          <p:cNvPr id="636" name="Google Shape;636;p41"/>
          <p:cNvSpPr txBox="1">
            <a:spLocks noGrp="1"/>
          </p:cNvSpPr>
          <p:nvPr>
            <p:ph type="body" idx="1"/>
          </p:nvPr>
        </p:nvSpPr>
        <p:spPr>
          <a:xfrm>
            <a:off x="524933" y="1464733"/>
            <a:ext cx="10741526" cy="4678523"/>
          </a:xfrm>
          <a:prstGeom prst="rect">
            <a:avLst/>
          </a:prstGeom>
          <a:noFill/>
          <a:ln>
            <a:noFill/>
          </a:ln>
        </p:spPr>
        <p:txBody>
          <a:bodyPr spcFirstLastPara="1" wrap="square" lIns="91425" tIns="45700" rIns="91425" bIns="45700" anchor="t" anchorCtr="0">
            <a:noAutofit/>
          </a:bodyPr>
          <a:lstStyle/>
          <a:p>
            <a:pPr marL="990600" lvl="0" indent="-457200" algn="just" rtl="0">
              <a:lnSpc>
                <a:spcPct val="115000"/>
              </a:lnSpc>
              <a:spcBef>
                <a:spcPts val="1200"/>
              </a:spcBef>
              <a:spcAft>
                <a:spcPts val="0"/>
              </a:spcAft>
              <a:buClr>
                <a:srgbClr val="111111"/>
              </a:buClr>
              <a:buSzPts val="2400"/>
              <a:buAutoNum type="arabicPeriod"/>
            </a:pPr>
            <a:r>
              <a:rPr lang="en-US" sz="2000" dirty="0" err="1"/>
              <a:t>Cấu</a:t>
            </a:r>
            <a:r>
              <a:rPr lang="en-US" sz="2000" dirty="0"/>
              <a:t> </a:t>
            </a:r>
            <a:r>
              <a:rPr lang="en-US" sz="2000" dirty="0" err="1"/>
              <a:t>hình</a:t>
            </a:r>
            <a:r>
              <a:rPr lang="en-US" sz="2000" dirty="0"/>
              <a:t> Header </a:t>
            </a:r>
            <a:r>
              <a:rPr lang="en-US" sz="2000" dirty="0" err="1"/>
              <a:t>bảo</a:t>
            </a:r>
            <a:r>
              <a:rPr lang="en-US" sz="2000" dirty="0"/>
              <a:t> </a:t>
            </a:r>
            <a:r>
              <a:rPr lang="en-US" sz="2000" dirty="0" err="1"/>
              <a:t>mật</a:t>
            </a:r>
            <a:r>
              <a:rPr lang="en-US" sz="2000" dirty="0"/>
              <a:t> </a:t>
            </a:r>
            <a:r>
              <a:rPr lang="en-US" sz="2000" dirty="0" err="1"/>
              <a:t>thiếu</a:t>
            </a:r>
            <a:r>
              <a:rPr lang="en-US" sz="2000" dirty="0"/>
              <a:t>/</a:t>
            </a:r>
            <a:r>
              <a:rPr lang="en-US" sz="2000" dirty="0" err="1"/>
              <a:t>sai</a:t>
            </a:r>
            <a:r>
              <a:rPr lang="en-US" sz="2000" dirty="0"/>
              <a:t> </a:t>
            </a:r>
            <a:r>
              <a:rPr lang="en-US" sz="2000" dirty="0">
                <a:sym typeface="Wingdings" panose="05000000000000000000" pitchFamily="2" charset="2"/>
              </a:rPr>
              <a:t> </a:t>
            </a:r>
            <a:r>
              <a:rPr lang="en-US" sz="2000" dirty="0" err="1">
                <a:sym typeface="Wingdings" panose="05000000000000000000" pitchFamily="2" charset="2"/>
              </a:rPr>
              <a:t>cho</a:t>
            </a:r>
            <a:r>
              <a:rPr lang="en-US" sz="2000" dirty="0">
                <a:sym typeface="Wingdings" panose="05000000000000000000" pitchFamily="2" charset="2"/>
              </a:rPr>
              <a:t> </a:t>
            </a:r>
            <a:r>
              <a:rPr lang="en-US" sz="2000" dirty="0" err="1">
                <a:sym typeface="Wingdings" panose="05000000000000000000" pitchFamily="2" charset="2"/>
              </a:rPr>
              <a:t>phép</a:t>
            </a:r>
            <a:r>
              <a:rPr lang="en-US" sz="2000" dirty="0">
                <a:sym typeface="Wingdings" panose="05000000000000000000" pitchFamily="2" charset="2"/>
              </a:rPr>
              <a:t> </a:t>
            </a:r>
            <a:r>
              <a:rPr lang="en-US" sz="2000" dirty="0" err="1">
                <a:sym typeface="Wingdings" panose="05000000000000000000" pitchFamily="2" charset="2"/>
              </a:rPr>
              <a:t>kẻ</a:t>
            </a:r>
            <a:r>
              <a:rPr lang="en-US" sz="2000" dirty="0">
                <a:sym typeface="Wingdings" panose="05000000000000000000" pitchFamily="2" charset="2"/>
              </a:rPr>
              <a:t> </a:t>
            </a:r>
            <a:r>
              <a:rPr lang="en-US" sz="2000" dirty="0" err="1">
                <a:sym typeface="Wingdings" panose="05000000000000000000" pitchFamily="2" charset="2"/>
              </a:rPr>
              <a:t>tấn</a:t>
            </a:r>
            <a:r>
              <a:rPr lang="en-US" sz="2000" dirty="0">
                <a:sym typeface="Wingdings" panose="05000000000000000000" pitchFamily="2" charset="2"/>
              </a:rPr>
              <a:t> </a:t>
            </a:r>
            <a:r>
              <a:rPr lang="en-US" sz="2000" dirty="0" err="1">
                <a:sym typeface="Wingdings" panose="05000000000000000000" pitchFamily="2" charset="2"/>
              </a:rPr>
              <a:t>công</a:t>
            </a:r>
            <a:r>
              <a:rPr lang="en-US" sz="2000" dirty="0">
                <a:sym typeface="Wingdings" panose="05000000000000000000" pitchFamily="2" charset="2"/>
              </a:rPr>
              <a:t> </a:t>
            </a:r>
            <a:r>
              <a:rPr lang="en-US" sz="2000" dirty="0" err="1">
                <a:sym typeface="Wingdings" panose="05000000000000000000" pitchFamily="2" charset="2"/>
              </a:rPr>
              <a:t>thực</a:t>
            </a:r>
            <a:r>
              <a:rPr lang="en-US" sz="2000" dirty="0">
                <a:sym typeface="Wingdings" panose="05000000000000000000" pitchFamily="2" charset="2"/>
              </a:rPr>
              <a:t> </a:t>
            </a:r>
            <a:r>
              <a:rPr lang="en-US" sz="2000" dirty="0" err="1">
                <a:sym typeface="Wingdings" panose="05000000000000000000" pitchFamily="2" charset="2"/>
              </a:rPr>
              <a:t>hiện</a:t>
            </a:r>
            <a:r>
              <a:rPr lang="en-US" sz="2000" dirty="0">
                <a:sym typeface="Wingdings" panose="05000000000000000000" pitchFamily="2" charset="2"/>
              </a:rPr>
              <a:t> </a:t>
            </a:r>
            <a:r>
              <a:rPr lang="en-US" sz="2000" dirty="0" err="1">
                <a:sym typeface="Wingdings" panose="05000000000000000000" pitchFamily="2" charset="2"/>
              </a:rPr>
              <a:t>hạ</a:t>
            </a:r>
            <a:r>
              <a:rPr lang="en-US" sz="2000" dirty="0">
                <a:sym typeface="Wingdings" panose="05000000000000000000" pitchFamily="2" charset="2"/>
              </a:rPr>
              <a:t> </a:t>
            </a:r>
            <a:r>
              <a:rPr lang="en-US" sz="2000" dirty="0" err="1">
                <a:sym typeface="Wingdings" panose="05000000000000000000" pitchFamily="2" charset="2"/>
              </a:rPr>
              <a:t>cấp</a:t>
            </a:r>
            <a:r>
              <a:rPr lang="en-US" sz="2000" dirty="0">
                <a:sym typeface="Wingdings" panose="05000000000000000000" pitchFamily="2" charset="2"/>
              </a:rPr>
              <a:t> </a:t>
            </a:r>
            <a:r>
              <a:rPr lang="en-US" sz="2000" dirty="0" err="1">
                <a:sym typeface="Wingdings" panose="05000000000000000000" pitchFamily="2" charset="2"/>
              </a:rPr>
              <a:t>giao</a:t>
            </a:r>
            <a:r>
              <a:rPr lang="en-US" sz="2000" dirty="0">
                <a:sym typeface="Wingdings" panose="05000000000000000000" pitchFamily="2" charset="2"/>
              </a:rPr>
              <a:t> </a:t>
            </a:r>
            <a:r>
              <a:rPr lang="en-US" sz="2000" dirty="0" err="1">
                <a:sym typeface="Wingdings" panose="05000000000000000000" pitchFamily="2" charset="2"/>
              </a:rPr>
              <a:t>thức</a:t>
            </a:r>
            <a:r>
              <a:rPr lang="en-US" sz="2000" dirty="0">
                <a:sym typeface="Wingdings" panose="05000000000000000000" pitchFamily="2" charset="2"/>
              </a:rPr>
              <a:t> (</a:t>
            </a:r>
            <a:r>
              <a:rPr lang="en-US" sz="2000" i="1" dirty="0">
                <a:sym typeface="Wingdings" panose="05000000000000000000" pitchFamily="2" charset="2"/>
              </a:rPr>
              <a:t>downgrade https</a:t>
            </a:r>
            <a:r>
              <a:rPr lang="en-US" sz="2000" dirty="0">
                <a:sym typeface="Wingdings" panose="05000000000000000000" pitchFamily="2" charset="2"/>
              </a:rPr>
              <a:t>), </a:t>
            </a:r>
            <a:r>
              <a:rPr lang="en-US" sz="2000" dirty="0" err="1">
                <a:sym typeface="Wingdings" panose="05000000000000000000" pitchFamily="2" charset="2"/>
              </a:rPr>
              <a:t>tấn</a:t>
            </a:r>
            <a:r>
              <a:rPr lang="en-US" sz="2000" dirty="0">
                <a:sym typeface="Wingdings" panose="05000000000000000000" pitchFamily="2" charset="2"/>
              </a:rPr>
              <a:t> </a:t>
            </a:r>
            <a:r>
              <a:rPr lang="en-US" sz="2000" dirty="0" err="1">
                <a:sym typeface="Wingdings" panose="05000000000000000000" pitchFamily="2" charset="2"/>
              </a:rPr>
              <a:t>công</a:t>
            </a:r>
            <a:r>
              <a:rPr lang="en-US" sz="2000" dirty="0">
                <a:sym typeface="Wingdings" panose="05000000000000000000" pitchFamily="2" charset="2"/>
              </a:rPr>
              <a:t> </a:t>
            </a:r>
            <a:r>
              <a:rPr lang="en-US" sz="2000" b="1" dirty="0">
                <a:sym typeface="Wingdings" panose="05000000000000000000" pitchFamily="2" charset="2"/>
              </a:rPr>
              <a:t>session hijacking</a:t>
            </a:r>
            <a:r>
              <a:rPr lang="en-US" sz="2000" dirty="0">
                <a:sym typeface="Wingdings" panose="05000000000000000000" pitchFamily="2" charset="2"/>
              </a:rPr>
              <a:t>.</a:t>
            </a:r>
          </a:p>
          <a:p>
            <a:pPr marL="990600" lvl="0" indent="-457200" algn="just" rtl="0">
              <a:lnSpc>
                <a:spcPct val="115000"/>
              </a:lnSpc>
              <a:spcBef>
                <a:spcPts val="1200"/>
              </a:spcBef>
              <a:spcAft>
                <a:spcPts val="0"/>
              </a:spcAft>
              <a:buClr>
                <a:srgbClr val="111111"/>
              </a:buClr>
              <a:buSzPts val="2400"/>
              <a:buAutoNum type="arabicPeriod"/>
            </a:pPr>
            <a:r>
              <a:rPr lang="en-US" sz="2000" dirty="0">
                <a:sym typeface="Wingdings" panose="05000000000000000000" pitchFamily="2" charset="2"/>
              </a:rPr>
              <a:t>Cho </a:t>
            </a:r>
            <a:r>
              <a:rPr lang="en-US" sz="2000" dirty="0" err="1">
                <a:sym typeface="Wingdings" panose="05000000000000000000" pitchFamily="2" charset="2"/>
              </a:rPr>
              <a:t>phép</a:t>
            </a:r>
            <a:r>
              <a:rPr lang="en-US" sz="2000" dirty="0">
                <a:sym typeface="Wingdings" panose="05000000000000000000" pitchFamily="2" charset="2"/>
              </a:rPr>
              <a:t> </a:t>
            </a:r>
            <a:r>
              <a:rPr lang="en-US" sz="2000" dirty="0" err="1">
                <a:sym typeface="Wingdings" panose="05000000000000000000" pitchFamily="2" charset="2"/>
              </a:rPr>
              <a:t>các</a:t>
            </a:r>
            <a:r>
              <a:rPr lang="en-US" sz="2000" dirty="0">
                <a:sym typeface="Wingdings" panose="05000000000000000000" pitchFamily="2" charset="2"/>
              </a:rPr>
              <a:t> </a:t>
            </a:r>
            <a:r>
              <a:rPr lang="en-US" sz="2000" dirty="0" err="1">
                <a:sym typeface="Wingdings" panose="05000000000000000000" pitchFamily="2" charset="2"/>
              </a:rPr>
              <a:t>phiên</a:t>
            </a:r>
            <a:r>
              <a:rPr lang="en-US" sz="2000" dirty="0">
                <a:sym typeface="Wingdings" panose="05000000000000000000" pitchFamily="2" charset="2"/>
              </a:rPr>
              <a:t> </a:t>
            </a:r>
            <a:r>
              <a:rPr lang="en-US" sz="2000" dirty="0" err="1">
                <a:sym typeface="Wingdings" panose="05000000000000000000" pitchFamily="2" charset="2"/>
              </a:rPr>
              <a:t>bản</a:t>
            </a:r>
            <a:r>
              <a:rPr lang="en-US" sz="2000" dirty="0">
                <a:sym typeface="Wingdings" panose="05000000000000000000" pitchFamily="2" charset="2"/>
              </a:rPr>
              <a:t> </a:t>
            </a:r>
            <a:r>
              <a:rPr lang="en-US" sz="2000" dirty="0" err="1">
                <a:sym typeface="Wingdings" panose="05000000000000000000" pitchFamily="2" charset="2"/>
              </a:rPr>
              <a:t>giao</a:t>
            </a:r>
            <a:r>
              <a:rPr lang="en-US" sz="2000" dirty="0">
                <a:sym typeface="Wingdings" panose="05000000000000000000" pitchFamily="2" charset="2"/>
              </a:rPr>
              <a:t> </a:t>
            </a:r>
            <a:r>
              <a:rPr lang="en-US" sz="2000" dirty="0" err="1">
                <a:sym typeface="Wingdings" panose="05000000000000000000" pitchFamily="2" charset="2"/>
              </a:rPr>
              <a:t>thức</a:t>
            </a:r>
            <a:r>
              <a:rPr lang="en-US" sz="2000" dirty="0">
                <a:sym typeface="Wingdings" panose="05000000000000000000" pitchFamily="2" charset="2"/>
              </a:rPr>
              <a:t> </a:t>
            </a:r>
            <a:r>
              <a:rPr lang="en-US" sz="2000" dirty="0" err="1">
                <a:sym typeface="Wingdings" panose="05000000000000000000" pitchFamily="2" charset="2"/>
              </a:rPr>
              <a:t>yếu</a:t>
            </a:r>
            <a:r>
              <a:rPr lang="en-US" sz="2000" dirty="0">
                <a:sym typeface="Wingdings" panose="05000000000000000000" pitchFamily="2" charset="2"/>
              </a:rPr>
              <a:t> (</a:t>
            </a:r>
            <a:r>
              <a:rPr lang="en-US" sz="2000" i="1" dirty="0">
                <a:sym typeface="Wingdings" panose="05000000000000000000" pitchFamily="2" charset="2"/>
              </a:rPr>
              <a:t>TLS 1.0, TLS 1.1</a:t>
            </a:r>
            <a:r>
              <a:rPr lang="en-US" sz="2000" dirty="0">
                <a:sym typeface="Wingdings" panose="05000000000000000000" pitchFamily="2" charset="2"/>
              </a:rPr>
              <a:t>)  </a:t>
            </a:r>
            <a:r>
              <a:rPr lang="en-US" sz="2000" dirty="0" err="1">
                <a:sym typeface="Wingdings" panose="05000000000000000000" pitchFamily="2" charset="2"/>
              </a:rPr>
              <a:t>mở</a:t>
            </a:r>
            <a:r>
              <a:rPr lang="en-US" sz="2000" dirty="0">
                <a:sym typeface="Wingdings" panose="05000000000000000000" pitchFamily="2" charset="2"/>
              </a:rPr>
              <a:t> </a:t>
            </a:r>
            <a:r>
              <a:rPr lang="en-US" sz="2000" dirty="0" err="1">
                <a:sym typeface="Wingdings" panose="05000000000000000000" pitchFamily="2" charset="2"/>
              </a:rPr>
              <a:t>ra</a:t>
            </a:r>
            <a:r>
              <a:rPr lang="en-US" sz="2000" dirty="0">
                <a:sym typeface="Wingdings" panose="05000000000000000000" pitchFamily="2" charset="2"/>
              </a:rPr>
              <a:t> </a:t>
            </a:r>
            <a:r>
              <a:rPr lang="en-US" sz="2000" dirty="0" err="1">
                <a:sym typeface="Wingdings" panose="05000000000000000000" pitchFamily="2" charset="2"/>
              </a:rPr>
              <a:t>cánh</a:t>
            </a:r>
            <a:r>
              <a:rPr lang="en-US" sz="2000" dirty="0">
                <a:sym typeface="Wingdings" panose="05000000000000000000" pitchFamily="2" charset="2"/>
              </a:rPr>
              <a:t> </a:t>
            </a:r>
            <a:r>
              <a:rPr lang="en-US" sz="2000" dirty="0" err="1">
                <a:sym typeface="Wingdings" panose="05000000000000000000" pitchFamily="2" charset="2"/>
              </a:rPr>
              <a:t>cửa</a:t>
            </a:r>
            <a:r>
              <a:rPr lang="en-US" sz="2000" dirty="0">
                <a:sym typeface="Wingdings" panose="05000000000000000000" pitchFamily="2" charset="2"/>
              </a:rPr>
              <a:t> </a:t>
            </a:r>
            <a:r>
              <a:rPr lang="en-US" sz="2000" dirty="0" err="1">
                <a:sym typeface="Wingdings" panose="05000000000000000000" pitchFamily="2" charset="2"/>
              </a:rPr>
              <a:t>cho</a:t>
            </a:r>
            <a:r>
              <a:rPr lang="en-US" sz="2000" dirty="0">
                <a:sym typeface="Wingdings" panose="05000000000000000000" pitchFamily="2" charset="2"/>
              </a:rPr>
              <a:t> </a:t>
            </a:r>
            <a:r>
              <a:rPr lang="en-US" sz="2000" dirty="0" err="1">
                <a:sym typeface="Wingdings" panose="05000000000000000000" pitchFamily="2" charset="2"/>
              </a:rPr>
              <a:t>tấn</a:t>
            </a:r>
            <a:r>
              <a:rPr lang="en-US" sz="2000" dirty="0">
                <a:sym typeface="Wingdings" panose="05000000000000000000" pitchFamily="2" charset="2"/>
              </a:rPr>
              <a:t> </a:t>
            </a:r>
            <a:r>
              <a:rPr lang="en-US" sz="2000" dirty="0" err="1">
                <a:sym typeface="Wingdings" panose="05000000000000000000" pitchFamily="2" charset="2"/>
              </a:rPr>
              <a:t>công</a:t>
            </a:r>
            <a:r>
              <a:rPr lang="en-US" sz="2000" dirty="0">
                <a:sym typeface="Wingdings" panose="05000000000000000000" pitchFamily="2" charset="2"/>
              </a:rPr>
              <a:t> </a:t>
            </a:r>
            <a:r>
              <a:rPr lang="en-US" sz="2000" b="1" dirty="0" err="1">
                <a:sym typeface="Wingdings" panose="05000000000000000000" pitchFamily="2" charset="2"/>
              </a:rPr>
              <a:t>khai</a:t>
            </a:r>
            <a:r>
              <a:rPr lang="en-US" sz="2000" b="1" dirty="0">
                <a:sym typeface="Wingdings" panose="05000000000000000000" pitchFamily="2" charset="2"/>
              </a:rPr>
              <a:t> </a:t>
            </a:r>
            <a:r>
              <a:rPr lang="en-US" sz="2000" b="1" dirty="0" err="1">
                <a:sym typeface="Wingdings" panose="05000000000000000000" pitchFamily="2" charset="2"/>
              </a:rPr>
              <a:t>thác</a:t>
            </a:r>
            <a:r>
              <a:rPr lang="en-US" sz="2000" b="1" dirty="0">
                <a:sym typeface="Wingdings" panose="05000000000000000000" pitchFamily="2" charset="2"/>
              </a:rPr>
              <a:t> </a:t>
            </a:r>
            <a:r>
              <a:rPr lang="en-US" sz="2000" b="1" dirty="0" err="1">
                <a:sym typeface="Wingdings" panose="05000000000000000000" pitchFamily="2" charset="2"/>
              </a:rPr>
              <a:t>lỗ</a:t>
            </a:r>
            <a:r>
              <a:rPr lang="en-US" sz="2000" b="1" dirty="0">
                <a:sym typeface="Wingdings" panose="05000000000000000000" pitchFamily="2" charset="2"/>
              </a:rPr>
              <a:t> </a:t>
            </a:r>
            <a:r>
              <a:rPr lang="en-US" sz="2000" b="1" dirty="0" err="1">
                <a:sym typeface="Wingdings" panose="05000000000000000000" pitchFamily="2" charset="2"/>
              </a:rPr>
              <a:t>hổng</a:t>
            </a:r>
            <a:r>
              <a:rPr lang="en-US" sz="2000" dirty="0">
                <a:sym typeface="Wingdings" panose="05000000000000000000" pitchFamily="2" charset="2"/>
              </a:rPr>
              <a:t>, </a:t>
            </a:r>
            <a:r>
              <a:rPr lang="en-US" sz="2000" dirty="0" err="1">
                <a:sym typeface="Wingdings" panose="05000000000000000000" pitchFamily="2" charset="2"/>
              </a:rPr>
              <a:t>làm</a:t>
            </a:r>
            <a:r>
              <a:rPr lang="en-US" sz="2000" dirty="0">
                <a:sym typeface="Wingdings" panose="05000000000000000000" pitchFamily="2" charset="2"/>
              </a:rPr>
              <a:t> </a:t>
            </a:r>
            <a:r>
              <a:rPr lang="en-US" sz="2000" dirty="0" err="1">
                <a:sym typeface="Wingdings" panose="05000000000000000000" pitchFamily="2" charset="2"/>
              </a:rPr>
              <a:t>lộ</a:t>
            </a:r>
            <a:r>
              <a:rPr lang="en-US" sz="2000" dirty="0">
                <a:sym typeface="Wingdings" panose="05000000000000000000" pitchFamily="2" charset="2"/>
              </a:rPr>
              <a:t> </a:t>
            </a:r>
            <a:r>
              <a:rPr lang="en-US" sz="2000" dirty="0" err="1">
                <a:sym typeface="Wingdings" panose="05000000000000000000" pitchFamily="2" charset="2"/>
              </a:rPr>
              <a:t>dữ</a:t>
            </a:r>
            <a:r>
              <a:rPr lang="en-US" sz="2000" dirty="0">
                <a:sym typeface="Wingdings" panose="05000000000000000000" pitchFamily="2" charset="2"/>
              </a:rPr>
              <a:t> </a:t>
            </a:r>
            <a:r>
              <a:rPr lang="en-US" sz="2000" dirty="0" err="1">
                <a:sym typeface="Wingdings" panose="05000000000000000000" pitchFamily="2" charset="2"/>
              </a:rPr>
              <a:t>liệu</a:t>
            </a:r>
            <a:r>
              <a:rPr lang="en-US" sz="2000" dirty="0">
                <a:sym typeface="Wingdings" panose="05000000000000000000" pitchFamily="2" charset="2"/>
              </a:rPr>
              <a:t> </a:t>
            </a:r>
            <a:r>
              <a:rPr lang="en-US" sz="2000" dirty="0" err="1">
                <a:sym typeface="Wingdings" panose="05000000000000000000" pitchFamily="2" charset="2"/>
              </a:rPr>
              <a:t>trong</a:t>
            </a:r>
            <a:r>
              <a:rPr lang="en-US" sz="2000" dirty="0">
                <a:sym typeface="Wingdings" panose="05000000000000000000" pitchFamily="2" charset="2"/>
              </a:rPr>
              <a:t> </a:t>
            </a:r>
            <a:r>
              <a:rPr lang="en-US" sz="2000" dirty="0" err="1">
                <a:sym typeface="Wingdings" panose="05000000000000000000" pitchFamily="2" charset="2"/>
              </a:rPr>
              <a:t>quá</a:t>
            </a:r>
            <a:r>
              <a:rPr lang="en-US" sz="2000" dirty="0">
                <a:sym typeface="Wingdings" panose="05000000000000000000" pitchFamily="2" charset="2"/>
              </a:rPr>
              <a:t> </a:t>
            </a:r>
            <a:r>
              <a:rPr lang="en-US" sz="2000" dirty="0" err="1">
                <a:sym typeface="Wingdings" panose="05000000000000000000" pitchFamily="2" charset="2"/>
              </a:rPr>
              <a:t>trình</a:t>
            </a:r>
            <a:r>
              <a:rPr lang="en-US" sz="2000" dirty="0">
                <a:sym typeface="Wingdings" panose="05000000000000000000" pitchFamily="2" charset="2"/>
              </a:rPr>
              <a:t> </a:t>
            </a:r>
            <a:r>
              <a:rPr lang="en-US" sz="2000" dirty="0" err="1">
                <a:sym typeface="Wingdings" panose="05000000000000000000" pitchFamily="2" charset="2"/>
              </a:rPr>
              <a:t>truyền</a:t>
            </a:r>
            <a:r>
              <a:rPr lang="en-US" sz="2000" dirty="0">
                <a:sym typeface="Wingdings" panose="05000000000000000000" pitchFamily="2" charset="2"/>
              </a:rPr>
              <a:t> </a:t>
            </a:r>
            <a:r>
              <a:rPr lang="en-US" sz="2000" dirty="0" err="1">
                <a:sym typeface="Wingdings" panose="05000000000000000000" pitchFamily="2" charset="2"/>
              </a:rPr>
              <a:t>tải</a:t>
            </a:r>
            <a:r>
              <a:rPr lang="en-US" sz="2000" dirty="0">
                <a:sym typeface="Wingdings" panose="05000000000000000000" pitchFamily="2" charset="2"/>
              </a:rPr>
              <a:t>.</a:t>
            </a:r>
          </a:p>
          <a:p>
            <a:pPr marL="990600" lvl="0" indent="-457200" algn="just" rtl="0">
              <a:lnSpc>
                <a:spcPct val="115000"/>
              </a:lnSpc>
              <a:spcBef>
                <a:spcPts val="1200"/>
              </a:spcBef>
              <a:spcAft>
                <a:spcPts val="0"/>
              </a:spcAft>
              <a:buClr>
                <a:srgbClr val="111111"/>
              </a:buClr>
              <a:buSzPts val="2400"/>
              <a:buAutoNum type="arabicPeriod"/>
            </a:pPr>
            <a:r>
              <a:rPr lang="en-US" sz="2000" dirty="0">
                <a:sym typeface="Wingdings" panose="05000000000000000000" pitchFamily="2" charset="2"/>
              </a:rPr>
              <a:t>Lưu </a:t>
            </a:r>
            <a:r>
              <a:rPr lang="en-US" sz="2000" dirty="0" err="1">
                <a:sym typeface="Wingdings" panose="05000000000000000000" pitchFamily="2" charset="2"/>
              </a:rPr>
              <a:t>trữ</a:t>
            </a:r>
            <a:r>
              <a:rPr lang="en-US" sz="2000" dirty="0">
                <a:sym typeface="Wingdings" panose="05000000000000000000" pitchFamily="2" charset="2"/>
              </a:rPr>
              <a:t> </a:t>
            </a:r>
            <a:r>
              <a:rPr lang="en-US" sz="2000" dirty="0" err="1">
                <a:sym typeface="Wingdings" panose="05000000000000000000" pitchFamily="2" charset="2"/>
              </a:rPr>
              <a:t>khóa</a:t>
            </a:r>
            <a:r>
              <a:rPr lang="en-US" sz="2000" dirty="0">
                <a:sym typeface="Wingdings" panose="05000000000000000000" pitchFamily="2" charset="2"/>
              </a:rPr>
              <a:t> </a:t>
            </a:r>
            <a:r>
              <a:rPr lang="en-US" sz="2000" dirty="0" err="1">
                <a:sym typeface="Wingdings" panose="05000000000000000000" pitchFamily="2" charset="2"/>
              </a:rPr>
              <a:t>mã</a:t>
            </a:r>
            <a:r>
              <a:rPr lang="en-US" sz="2000" dirty="0">
                <a:sym typeface="Wingdings" panose="05000000000000000000" pitchFamily="2" charset="2"/>
              </a:rPr>
              <a:t> </a:t>
            </a:r>
            <a:r>
              <a:rPr lang="en-US" sz="2000" dirty="0" err="1">
                <a:sym typeface="Wingdings" panose="05000000000000000000" pitchFamily="2" charset="2"/>
              </a:rPr>
              <a:t>hóa</a:t>
            </a:r>
            <a:r>
              <a:rPr lang="en-US" sz="2000" dirty="0">
                <a:sym typeface="Wingdings" panose="05000000000000000000" pitchFamily="2" charset="2"/>
              </a:rPr>
              <a:t> </a:t>
            </a:r>
            <a:r>
              <a:rPr lang="en-US" sz="2000" dirty="0" err="1">
                <a:sym typeface="Wingdings" panose="05000000000000000000" pitchFamily="2" charset="2"/>
              </a:rPr>
              <a:t>không</a:t>
            </a:r>
            <a:r>
              <a:rPr lang="en-US" sz="2000" dirty="0">
                <a:sym typeface="Wingdings" panose="05000000000000000000" pitchFamily="2" charset="2"/>
              </a:rPr>
              <a:t> an </a:t>
            </a:r>
            <a:r>
              <a:rPr lang="en-US" sz="2000" dirty="0" err="1">
                <a:sym typeface="Wingdings" panose="05000000000000000000" pitchFamily="2" charset="2"/>
              </a:rPr>
              <a:t>toàn</a:t>
            </a:r>
            <a:r>
              <a:rPr lang="en-US" sz="2000" dirty="0">
                <a:sym typeface="Wingdings" panose="05000000000000000000" pitchFamily="2" charset="2"/>
              </a:rPr>
              <a:t> (private key), </a:t>
            </a:r>
            <a:r>
              <a:rPr lang="en-US" sz="2000" dirty="0" err="1">
                <a:sym typeface="Wingdings" panose="05000000000000000000" pitchFamily="2" charset="2"/>
              </a:rPr>
              <a:t>khóa</a:t>
            </a:r>
            <a:r>
              <a:rPr lang="en-US" sz="2000" dirty="0">
                <a:sym typeface="Wingdings" panose="05000000000000000000" pitchFamily="2" charset="2"/>
              </a:rPr>
              <a:t> </a:t>
            </a:r>
            <a:r>
              <a:rPr lang="en-US" sz="2000" dirty="0" err="1">
                <a:sym typeface="Wingdings" panose="05000000000000000000" pitchFamily="2" charset="2"/>
              </a:rPr>
              <a:t>dễ</a:t>
            </a:r>
            <a:r>
              <a:rPr lang="en-US" sz="2000" dirty="0">
                <a:sym typeface="Wingdings" panose="05000000000000000000" pitchFamily="2" charset="2"/>
              </a:rPr>
              <a:t> </a:t>
            </a:r>
            <a:r>
              <a:rPr lang="en-US" sz="2000" dirty="0" err="1">
                <a:sym typeface="Wingdings" panose="05000000000000000000" pitchFamily="2" charset="2"/>
              </a:rPr>
              <a:t>bị</a:t>
            </a:r>
            <a:r>
              <a:rPr lang="en-US" sz="2000" dirty="0">
                <a:sym typeface="Wingdings" panose="05000000000000000000" pitchFamily="2" charset="2"/>
              </a:rPr>
              <a:t> </a:t>
            </a:r>
            <a:r>
              <a:rPr lang="en-US" sz="2000" dirty="0" err="1">
                <a:sym typeface="Wingdings" panose="05000000000000000000" pitchFamily="2" charset="2"/>
              </a:rPr>
              <a:t>đánh</a:t>
            </a:r>
            <a:r>
              <a:rPr lang="en-US" sz="2000" dirty="0">
                <a:sym typeface="Wingdings" panose="05000000000000000000" pitchFamily="2" charset="2"/>
              </a:rPr>
              <a:t> </a:t>
            </a:r>
            <a:r>
              <a:rPr lang="en-US" sz="2000" dirty="0" err="1">
                <a:sym typeface="Wingdings" panose="05000000000000000000" pitchFamily="2" charset="2"/>
              </a:rPr>
              <a:t>cắp</a:t>
            </a:r>
            <a:r>
              <a:rPr lang="en-US" sz="2000" dirty="0">
                <a:sym typeface="Wingdings" panose="05000000000000000000" pitchFamily="2" charset="2"/>
              </a:rPr>
              <a:t> </a:t>
            </a:r>
            <a:r>
              <a:rPr lang="en-US" sz="2000" dirty="0" err="1">
                <a:sym typeface="Wingdings" panose="05000000000000000000" pitchFamily="2" charset="2"/>
              </a:rPr>
              <a:t>nếu</a:t>
            </a:r>
            <a:r>
              <a:rPr lang="en-US" sz="2000" dirty="0">
                <a:sym typeface="Wingdings" panose="05000000000000000000" pitchFamily="2" charset="2"/>
              </a:rPr>
              <a:t> </a:t>
            </a:r>
            <a:r>
              <a:rPr lang="en-US" sz="2000" dirty="0" err="1">
                <a:sym typeface="Wingdings" panose="05000000000000000000" pitchFamily="2" charset="2"/>
              </a:rPr>
              <a:t>không</a:t>
            </a:r>
            <a:r>
              <a:rPr lang="en-US" sz="2000" dirty="0">
                <a:sym typeface="Wingdings" panose="05000000000000000000" pitchFamily="2" charset="2"/>
              </a:rPr>
              <a:t> </a:t>
            </a:r>
            <a:r>
              <a:rPr lang="en-US" sz="2000" dirty="0" err="1">
                <a:sym typeface="Wingdings" panose="05000000000000000000" pitchFamily="2" charset="2"/>
              </a:rPr>
              <a:t>được</a:t>
            </a:r>
            <a:r>
              <a:rPr lang="en-US" sz="2000" dirty="0">
                <a:sym typeface="Wingdings" panose="05000000000000000000" pitchFamily="2" charset="2"/>
              </a:rPr>
              <a:t> </a:t>
            </a:r>
            <a:r>
              <a:rPr lang="en-US" sz="2000" dirty="0" err="1">
                <a:sym typeface="Wingdings" panose="05000000000000000000" pitchFamily="2" charset="2"/>
              </a:rPr>
              <a:t>bảo</a:t>
            </a:r>
            <a:r>
              <a:rPr lang="en-US" sz="2000" dirty="0">
                <a:sym typeface="Wingdings" panose="05000000000000000000" pitchFamily="2" charset="2"/>
              </a:rPr>
              <a:t> </a:t>
            </a:r>
            <a:r>
              <a:rPr lang="en-US" sz="2000" dirty="0" err="1">
                <a:sym typeface="Wingdings" panose="05000000000000000000" pitchFamily="2" charset="2"/>
              </a:rPr>
              <a:t>vệ</a:t>
            </a:r>
            <a:r>
              <a:rPr lang="en-US" sz="2000" dirty="0">
                <a:sym typeface="Wingdings" panose="05000000000000000000" pitchFamily="2" charset="2"/>
              </a:rPr>
              <a:t> </a:t>
            </a:r>
            <a:r>
              <a:rPr lang="en-US" sz="2000" dirty="0" err="1">
                <a:sym typeface="Wingdings" panose="05000000000000000000" pitchFamily="2" charset="2"/>
              </a:rPr>
              <a:t>bằng</a:t>
            </a:r>
            <a:r>
              <a:rPr lang="en-US" sz="2000" dirty="0">
                <a:sym typeface="Wingdings" panose="05000000000000000000" pitchFamily="2" charset="2"/>
              </a:rPr>
              <a:t> </a:t>
            </a:r>
            <a:r>
              <a:rPr lang="en-US" sz="2000" dirty="0" err="1">
                <a:sym typeface="Wingdings" panose="05000000000000000000" pitchFamily="2" charset="2"/>
              </a:rPr>
              <a:t>mật</a:t>
            </a:r>
            <a:r>
              <a:rPr lang="en-US" sz="2000" dirty="0">
                <a:sym typeface="Wingdings" panose="05000000000000000000" pitchFamily="2" charset="2"/>
              </a:rPr>
              <a:t> </a:t>
            </a:r>
            <a:r>
              <a:rPr lang="en-US" sz="2000" dirty="0" err="1">
                <a:sym typeface="Wingdings" panose="05000000000000000000" pitchFamily="2" charset="2"/>
              </a:rPr>
              <a:t>khẩu</a:t>
            </a:r>
            <a:r>
              <a:rPr lang="en-US" sz="2000" dirty="0">
                <a:sym typeface="Wingdings" panose="05000000000000000000" pitchFamily="2" charset="2"/>
              </a:rPr>
              <a:t> </a:t>
            </a:r>
            <a:r>
              <a:rPr lang="en-US" sz="2000" dirty="0" err="1">
                <a:sym typeface="Wingdings" panose="05000000000000000000" pitchFamily="2" charset="2"/>
              </a:rPr>
              <a:t>hoặc</a:t>
            </a:r>
            <a:r>
              <a:rPr lang="en-US" sz="2000" dirty="0">
                <a:sym typeface="Wingdings" panose="05000000000000000000" pitchFamily="2" charset="2"/>
              </a:rPr>
              <a:t> </a:t>
            </a:r>
            <a:r>
              <a:rPr lang="en-US" sz="2000" dirty="0" err="1">
                <a:sym typeface="Wingdings" panose="05000000000000000000" pitchFamily="2" charset="2"/>
              </a:rPr>
              <a:t>đặt</a:t>
            </a:r>
            <a:r>
              <a:rPr lang="en-US" sz="2000" dirty="0">
                <a:sym typeface="Wingdings" panose="05000000000000000000" pitchFamily="2" charset="2"/>
              </a:rPr>
              <a:t> </a:t>
            </a:r>
            <a:r>
              <a:rPr lang="en-US" sz="2000" dirty="0" err="1">
                <a:sym typeface="Wingdings" panose="05000000000000000000" pitchFamily="2" charset="2"/>
              </a:rPr>
              <a:t>trong</a:t>
            </a:r>
            <a:r>
              <a:rPr lang="en-US" sz="2000" dirty="0">
                <a:sym typeface="Wingdings" panose="05000000000000000000" pitchFamily="2" charset="2"/>
              </a:rPr>
              <a:t> </a:t>
            </a:r>
            <a:r>
              <a:rPr lang="en-US" sz="2000" b="1" dirty="0">
                <a:sym typeface="Wingdings" panose="05000000000000000000" pitchFamily="2" charset="2"/>
              </a:rPr>
              <a:t>Key Vault </a:t>
            </a:r>
            <a:r>
              <a:rPr lang="en-US" sz="2000" dirty="0" err="1">
                <a:sym typeface="Wingdings" panose="05000000000000000000" pitchFamily="2" charset="2"/>
              </a:rPr>
              <a:t>chuyên</a:t>
            </a:r>
            <a:r>
              <a:rPr lang="en-US" sz="2000" dirty="0">
                <a:sym typeface="Wingdings" panose="05000000000000000000" pitchFamily="2" charset="2"/>
              </a:rPr>
              <a:t> </a:t>
            </a:r>
            <a:r>
              <a:rPr lang="en-US" sz="2000" dirty="0" err="1">
                <a:sym typeface="Wingdings" panose="05000000000000000000" pitchFamily="2" charset="2"/>
              </a:rPr>
              <a:t>dụng</a:t>
            </a:r>
            <a:r>
              <a:rPr lang="en-US" sz="2000" dirty="0">
                <a:sym typeface="Wingdings" panose="05000000000000000000" pitchFamily="2" charset="2"/>
              </a:rPr>
              <a:t>.</a:t>
            </a:r>
          </a:p>
          <a:p>
            <a:pPr marL="990600" lvl="0" indent="-457200" algn="just" rtl="0">
              <a:lnSpc>
                <a:spcPct val="115000"/>
              </a:lnSpc>
              <a:spcBef>
                <a:spcPts val="1200"/>
              </a:spcBef>
              <a:spcAft>
                <a:spcPts val="0"/>
              </a:spcAft>
              <a:buClr>
                <a:srgbClr val="111111"/>
              </a:buClr>
              <a:buSzPts val="2400"/>
              <a:buAutoNum type="arabicPeriod"/>
            </a:pPr>
            <a:r>
              <a:rPr lang="en-US" sz="2000" dirty="0">
                <a:sym typeface="Wingdings" panose="05000000000000000000" pitchFamily="2" charset="2"/>
              </a:rPr>
              <a:t>Cài </a:t>
            </a:r>
            <a:r>
              <a:rPr lang="en-US" sz="2000" dirty="0" err="1">
                <a:sym typeface="Wingdings" panose="05000000000000000000" pitchFamily="2" charset="2"/>
              </a:rPr>
              <a:t>đặt</a:t>
            </a:r>
            <a:r>
              <a:rPr lang="en-US" sz="2000" dirty="0">
                <a:sym typeface="Wingdings" panose="05000000000000000000" pitchFamily="2" charset="2"/>
              </a:rPr>
              <a:t> Session Cookie </a:t>
            </a:r>
            <a:r>
              <a:rPr lang="en-US" sz="2000" dirty="0" err="1">
                <a:sym typeface="Wingdings" panose="05000000000000000000" pitchFamily="2" charset="2"/>
              </a:rPr>
              <a:t>lỏng</a:t>
            </a:r>
            <a:r>
              <a:rPr lang="en-US" sz="2000" dirty="0">
                <a:sym typeface="Wingdings" panose="05000000000000000000" pitchFamily="2" charset="2"/>
              </a:rPr>
              <a:t> </a:t>
            </a:r>
            <a:r>
              <a:rPr lang="en-US" sz="2000" dirty="0" err="1">
                <a:sym typeface="Wingdings" panose="05000000000000000000" pitchFamily="2" charset="2"/>
              </a:rPr>
              <a:t>lẻo</a:t>
            </a:r>
            <a:r>
              <a:rPr lang="en-US" sz="2000" dirty="0">
                <a:sym typeface="Wingdings" panose="05000000000000000000" pitchFamily="2" charset="2"/>
              </a:rPr>
              <a:t>, </a:t>
            </a:r>
            <a:r>
              <a:rPr lang="en-US" sz="2000" dirty="0" err="1">
                <a:sym typeface="Wingdings" panose="05000000000000000000" pitchFamily="2" charset="2"/>
              </a:rPr>
              <a:t>không</a:t>
            </a:r>
            <a:r>
              <a:rPr lang="en-US" sz="2000" dirty="0">
                <a:sym typeface="Wingdings" panose="05000000000000000000" pitchFamily="2" charset="2"/>
              </a:rPr>
              <a:t> </a:t>
            </a:r>
            <a:r>
              <a:rPr lang="en-US" sz="2000" dirty="0" err="1">
                <a:sym typeface="Wingdings" panose="05000000000000000000" pitchFamily="2" charset="2"/>
              </a:rPr>
              <a:t>đặt</a:t>
            </a:r>
            <a:r>
              <a:rPr lang="en-US" sz="2000" dirty="0">
                <a:sym typeface="Wingdings" panose="05000000000000000000" pitchFamily="2" charset="2"/>
              </a:rPr>
              <a:t> </a:t>
            </a:r>
            <a:r>
              <a:rPr lang="en-US" sz="2000" dirty="0" err="1">
                <a:sym typeface="Wingdings" panose="05000000000000000000" pitchFamily="2" charset="2"/>
              </a:rPr>
              <a:t>cờ</a:t>
            </a:r>
            <a:r>
              <a:rPr lang="en-US" sz="2000" dirty="0">
                <a:sym typeface="Wingdings" panose="05000000000000000000" pitchFamily="2" charset="2"/>
              </a:rPr>
              <a:t> </a:t>
            </a:r>
            <a:r>
              <a:rPr lang="en-US" sz="2000" dirty="0" err="1">
                <a:sym typeface="Wingdings" panose="05000000000000000000" pitchFamily="2" charset="2"/>
              </a:rPr>
              <a:t>bảo</a:t>
            </a:r>
            <a:r>
              <a:rPr lang="en-US" sz="2000" dirty="0">
                <a:sym typeface="Wingdings" panose="05000000000000000000" pitchFamily="2" charset="2"/>
              </a:rPr>
              <a:t> </a:t>
            </a:r>
            <a:r>
              <a:rPr lang="en-US" sz="2000" dirty="0" err="1">
                <a:sym typeface="Wingdings" panose="05000000000000000000" pitchFamily="2" charset="2"/>
              </a:rPr>
              <a:t>mật</a:t>
            </a:r>
            <a:r>
              <a:rPr lang="en-US" sz="2000" dirty="0">
                <a:sym typeface="Wingdings" panose="05000000000000000000" pitchFamily="2" charset="2"/>
              </a:rPr>
              <a:t> (</a:t>
            </a:r>
            <a:r>
              <a:rPr lang="en-US" sz="2000" i="1" dirty="0" err="1">
                <a:sym typeface="Wingdings" panose="05000000000000000000" pitchFamily="2" charset="2"/>
              </a:rPr>
              <a:t>Secure</a:t>
            </a:r>
            <a:r>
              <a:rPr lang="en-US" sz="2000" dirty="0" err="1">
                <a:sym typeface="Wingdings" panose="05000000000000000000" pitchFamily="2" charset="2"/>
              </a:rPr>
              <a:t>_không</a:t>
            </a:r>
            <a:r>
              <a:rPr lang="en-US" sz="2000" dirty="0">
                <a:sym typeface="Wingdings" panose="05000000000000000000" pitchFamily="2" charset="2"/>
              </a:rPr>
              <a:t> </a:t>
            </a:r>
            <a:r>
              <a:rPr lang="en-US" sz="2000" dirty="0" err="1">
                <a:sym typeface="Wingdings" panose="05000000000000000000" pitchFamily="2" charset="2"/>
              </a:rPr>
              <a:t>gửi</a:t>
            </a:r>
            <a:r>
              <a:rPr lang="en-US" sz="2000" dirty="0">
                <a:sym typeface="Wingdings" panose="05000000000000000000" pitchFamily="2" charset="2"/>
              </a:rPr>
              <a:t> qua HTTP; </a:t>
            </a:r>
            <a:r>
              <a:rPr lang="en-US" sz="2000" i="1" dirty="0" err="1">
                <a:sym typeface="Wingdings" panose="05000000000000000000" pitchFamily="2" charset="2"/>
              </a:rPr>
              <a:t>HttpOnly</a:t>
            </a:r>
            <a:r>
              <a:rPr lang="en-US" sz="2000" dirty="0" err="1">
                <a:sym typeface="Wingdings" panose="05000000000000000000" pitchFamily="2" charset="2"/>
              </a:rPr>
              <a:t>_không</a:t>
            </a:r>
            <a:r>
              <a:rPr lang="en-US" sz="2000" dirty="0">
                <a:sym typeface="Wingdings" panose="05000000000000000000" pitchFamily="2" charset="2"/>
              </a:rPr>
              <a:t> </a:t>
            </a:r>
            <a:r>
              <a:rPr lang="en-US" sz="2000" dirty="0" err="1">
                <a:sym typeface="Wingdings" panose="05000000000000000000" pitchFamily="2" charset="2"/>
              </a:rPr>
              <a:t>cho</a:t>
            </a:r>
            <a:r>
              <a:rPr lang="en-US" sz="2000" dirty="0">
                <a:sym typeface="Wingdings" panose="05000000000000000000" pitchFamily="2" charset="2"/>
              </a:rPr>
              <a:t> </a:t>
            </a:r>
            <a:r>
              <a:rPr lang="en-US" sz="2000" dirty="0" err="1">
                <a:sym typeface="Wingdings" panose="05000000000000000000" pitchFamily="2" charset="2"/>
              </a:rPr>
              <a:t>truy</a:t>
            </a:r>
            <a:r>
              <a:rPr lang="en-US" sz="2000" dirty="0">
                <a:sym typeface="Wingdings" panose="05000000000000000000" pitchFamily="2" charset="2"/>
              </a:rPr>
              <a:t> </a:t>
            </a:r>
            <a:r>
              <a:rPr lang="en-US" sz="2000" dirty="0" err="1">
                <a:sym typeface="Wingdings" panose="05000000000000000000" pitchFamily="2" charset="2"/>
              </a:rPr>
              <a:t>cập</a:t>
            </a:r>
            <a:r>
              <a:rPr lang="en-US" sz="2000" dirty="0">
                <a:sym typeface="Wingdings" panose="05000000000000000000" pitchFamily="2" charset="2"/>
              </a:rPr>
              <a:t> qua JavaScript)  </a:t>
            </a:r>
            <a:r>
              <a:rPr lang="en-US" sz="2000" dirty="0" err="1">
                <a:sym typeface="Wingdings" panose="05000000000000000000" pitchFamily="2" charset="2"/>
              </a:rPr>
              <a:t>dễ</a:t>
            </a:r>
            <a:r>
              <a:rPr lang="en-US" sz="2000" dirty="0">
                <a:sym typeface="Wingdings" panose="05000000000000000000" pitchFamily="2" charset="2"/>
              </a:rPr>
              <a:t> </a:t>
            </a:r>
            <a:r>
              <a:rPr lang="en-US" sz="2000" dirty="0" err="1">
                <a:sym typeface="Wingdings" panose="05000000000000000000" pitchFamily="2" charset="2"/>
              </a:rPr>
              <a:t>bị</a:t>
            </a:r>
            <a:r>
              <a:rPr lang="en-US" sz="2000" dirty="0">
                <a:sym typeface="Wingdings" panose="05000000000000000000" pitchFamily="2" charset="2"/>
              </a:rPr>
              <a:t> </a:t>
            </a:r>
            <a:r>
              <a:rPr lang="en-US" sz="2000" dirty="0" err="1">
                <a:sym typeface="Wingdings" panose="05000000000000000000" pitchFamily="2" charset="2"/>
              </a:rPr>
              <a:t>đánh</a:t>
            </a:r>
            <a:r>
              <a:rPr lang="en-US" sz="2000" dirty="0">
                <a:sym typeface="Wingdings" panose="05000000000000000000" pitchFamily="2" charset="2"/>
              </a:rPr>
              <a:t> </a:t>
            </a:r>
            <a:r>
              <a:rPr lang="en-US" sz="2000" dirty="0" err="1">
                <a:sym typeface="Wingdings" panose="05000000000000000000" pitchFamily="2" charset="2"/>
              </a:rPr>
              <a:t>cắp</a:t>
            </a:r>
            <a:r>
              <a:rPr lang="en-US" sz="2000" dirty="0">
                <a:sym typeface="Wingdings" panose="05000000000000000000" pitchFamily="2" charset="2"/>
              </a:rPr>
              <a:t> </a:t>
            </a:r>
            <a:r>
              <a:rPr lang="en-US" sz="2000" dirty="0" err="1">
                <a:sym typeface="Wingdings" panose="05000000000000000000" pitchFamily="2" charset="2"/>
              </a:rPr>
              <a:t>thông</a:t>
            </a:r>
            <a:r>
              <a:rPr lang="en-US" sz="2000" dirty="0">
                <a:sym typeface="Wingdings" panose="05000000000000000000" pitchFamily="2" charset="2"/>
              </a:rPr>
              <a:t> tin qua </a:t>
            </a:r>
            <a:r>
              <a:rPr lang="en-US" sz="2000" dirty="0" err="1">
                <a:sym typeface="Wingdings" panose="05000000000000000000" pitchFamily="2" charset="2"/>
              </a:rPr>
              <a:t>tấn</a:t>
            </a:r>
            <a:r>
              <a:rPr lang="en-US" sz="2000" dirty="0">
                <a:sym typeface="Wingdings" panose="05000000000000000000" pitchFamily="2" charset="2"/>
              </a:rPr>
              <a:t> </a:t>
            </a:r>
            <a:r>
              <a:rPr lang="en-US" sz="2000" dirty="0" err="1">
                <a:sym typeface="Wingdings" panose="05000000000000000000" pitchFamily="2" charset="2"/>
              </a:rPr>
              <a:t>công</a:t>
            </a:r>
            <a:r>
              <a:rPr lang="en-US" sz="2000" dirty="0">
                <a:sym typeface="Wingdings" panose="05000000000000000000" pitchFamily="2" charset="2"/>
              </a:rPr>
              <a:t> </a:t>
            </a:r>
            <a:r>
              <a:rPr lang="en-US" sz="2000" b="1" dirty="0">
                <a:sym typeface="Wingdings" panose="05000000000000000000" pitchFamily="2" charset="2"/>
              </a:rPr>
              <a:t>XSS</a:t>
            </a:r>
            <a:r>
              <a:rPr lang="en-US" sz="2000" dirty="0">
                <a:sym typeface="Wingdings" panose="05000000000000000000" pitchFamily="2" charset="2"/>
              </a:rPr>
              <a:t>.</a:t>
            </a:r>
            <a:r>
              <a:rPr lang="en-US" sz="2000" dirty="0"/>
              <a:t> </a:t>
            </a:r>
          </a:p>
          <a:p>
            <a:pPr marL="990600" lvl="0" indent="-457200" algn="just" rtl="0">
              <a:lnSpc>
                <a:spcPct val="115000"/>
              </a:lnSpc>
              <a:spcBef>
                <a:spcPts val="1200"/>
              </a:spcBef>
              <a:spcAft>
                <a:spcPts val="0"/>
              </a:spcAft>
              <a:buClr>
                <a:srgbClr val="111111"/>
              </a:buClr>
              <a:buSzPts val="2400"/>
              <a:buAutoNum type="arabicPeriod"/>
            </a:pPr>
            <a:r>
              <a:rPr lang="en-US" sz="2000" dirty="0" err="1"/>
              <a:t>Không</a:t>
            </a:r>
            <a:r>
              <a:rPr lang="en-US" sz="2000" dirty="0"/>
              <a:t> </a:t>
            </a:r>
            <a:r>
              <a:rPr lang="en-US" sz="2000" dirty="0" err="1"/>
              <a:t>cập</a:t>
            </a:r>
            <a:r>
              <a:rPr lang="en-US" sz="2000" dirty="0"/>
              <a:t> </a:t>
            </a:r>
            <a:r>
              <a:rPr lang="en-US" sz="2000" dirty="0" err="1"/>
              <a:t>nhật</a:t>
            </a:r>
            <a:r>
              <a:rPr lang="en-US" sz="2000" dirty="0"/>
              <a:t> </a:t>
            </a:r>
            <a:r>
              <a:rPr lang="en-US" sz="2000" dirty="0" err="1"/>
              <a:t>bản</a:t>
            </a:r>
            <a:r>
              <a:rPr lang="en-US" sz="2000" dirty="0"/>
              <a:t> </a:t>
            </a:r>
            <a:r>
              <a:rPr lang="en-US" sz="2000" dirty="0" err="1"/>
              <a:t>vá</a:t>
            </a:r>
            <a:r>
              <a:rPr lang="en-US" sz="2000" dirty="0"/>
              <a:t> </a:t>
            </a:r>
            <a:r>
              <a:rPr lang="en-US" sz="2000" dirty="0" err="1"/>
              <a:t>lỗi</a:t>
            </a:r>
            <a:r>
              <a:rPr lang="en-US" sz="2000" dirty="0"/>
              <a:t> </a:t>
            </a:r>
            <a:r>
              <a:rPr lang="en-US" sz="2000" dirty="0" err="1"/>
              <a:t>bảo</a:t>
            </a:r>
            <a:r>
              <a:rPr lang="en-US" sz="2000" dirty="0"/>
              <a:t> </a:t>
            </a:r>
            <a:r>
              <a:rPr lang="en-US" sz="2000" dirty="0" err="1"/>
              <a:t>mật</a:t>
            </a:r>
            <a:r>
              <a:rPr lang="en-US" sz="2000" dirty="0"/>
              <a:t> </a:t>
            </a:r>
            <a:r>
              <a:rPr lang="en-US" sz="2000" dirty="0">
                <a:sym typeface="Wingdings" panose="05000000000000000000" pitchFamily="2" charset="2"/>
              </a:rPr>
              <a:t> </a:t>
            </a:r>
            <a:r>
              <a:rPr lang="en-US" sz="2000" dirty="0" err="1">
                <a:sym typeface="Wingdings" panose="05000000000000000000" pitchFamily="2" charset="2"/>
              </a:rPr>
              <a:t>hệ</a:t>
            </a:r>
            <a:r>
              <a:rPr lang="en-US" sz="2000" dirty="0">
                <a:sym typeface="Wingdings" panose="05000000000000000000" pitchFamily="2" charset="2"/>
              </a:rPr>
              <a:t> </a:t>
            </a:r>
            <a:r>
              <a:rPr lang="en-US" sz="2000" dirty="0" err="1">
                <a:sym typeface="Wingdings" panose="05000000000000000000" pitchFamily="2" charset="2"/>
              </a:rPr>
              <a:t>thống</a:t>
            </a:r>
            <a:r>
              <a:rPr lang="en-US" sz="2000" dirty="0">
                <a:sym typeface="Wingdings" panose="05000000000000000000" pitchFamily="2" charset="2"/>
              </a:rPr>
              <a:t> </a:t>
            </a:r>
            <a:r>
              <a:rPr lang="en-US" sz="2000" dirty="0" err="1">
                <a:sym typeface="Wingdings" panose="05000000000000000000" pitchFamily="2" charset="2"/>
              </a:rPr>
              <a:t>tồn</a:t>
            </a:r>
            <a:r>
              <a:rPr lang="en-US" sz="2000" dirty="0">
                <a:sym typeface="Wingdings" panose="05000000000000000000" pitchFamily="2" charset="2"/>
              </a:rPr>
              <a:t> </a:t>
            </a:r>
            <a:r>
              <a:rPr lang="en-US" sz="2000" dirty="0" err="1">
                <a:sym typeface="Wingdings" panose="05000000000000000000" pitchFamily="2" charset="2"/>
              </a:rPr>
              <a:t>tại</a:t>
            </a:r>
            <a:r>
              <a:rPr lang="en-US" sz="2000" dirty="0">
                <a:sym typeface="Wingdings" panose="05000000000000000000" pitchFamily="2" charset="2"/>
              </a:rPr>
              <a:t> </a:t>
            </a:r>
            <a:r>
              <a:rPr lang="en-US" sz="2000" dirty="0" err="1">
                <a:sym typeface="Wingdings" panose="05000000000000000000" pitchFamily="2" charset="2"/>
              </a:rPr>
              <a:t>lỗ</a:t>
            </a:r>
            <a:r>
              <a:rPr lang="en-US" sz="2000" dirty="0">
                <a:sym typeface="Wingdings" panose="05000000000000000000" pitchFamily="2" charset="2"/>
              </a:rPr>
              <a:t> </a:t>
            </a:r>
            <a:r>
              <a:rPr lang="en-US" sz="2000" dirty="0" err="1">
                <a:sym typeface="Wingdings" panose="05000000000000000000" pitchFamily="2" charset="2"/>
              </a:rPr>
              <a:t>hổng</a:t>
            </a:r>
            <a:r>
              <a:rPr lang="en-US" sz="2000" dirty="0">
                <a:sym typeface="Wingdings" panose="05000000000000000000" pitchFamily="2" charset="2"/>
              </a:rPr>
              <a:t> </a:t>
            </a:r>
            <a:r>
              <a:rPr lang="en-US" sz="2000" dirty="0" err="1">
                <a:sym typeface="Wingdings" panose="05000000000000000000" pitchFamily="2" charset="2"/>
              </a:rPr>
              <a:t>đã</a:t>
            </a:r>
            <a:r>
              <a:rPr lang="en-US" sz="2000" dirty="0">
                <a:sym typeface="Wingdings" panose="05000000000000000000" pitchFamily="2" charset="2"/>
              </a:rPr>
              <a:t> </a:t>
            </a:r>
            <a:r>
              <a:rPr lang="en-US" sz="2000" dirty="0" err="1">
                <a:sym typeface="Wingdings" panose="05000000000000000000" pitchFamily="2" charset="2"/>
              </a:rPr>
              <a:t>biết</a:t>
            </a:r>
            <a:r>
              <a:rPr lang="en-US" sz="2000" dirty="0">
                <a:sym typeface="Wingdings" panose="05000000000000000000" pitchFamily="2" charset="2"/>
              </a:rPr>
              <a:t> </a:t>
            </a:r>
            <a:r>
              <a:rPr lang="en-US" sz="2000" dirty="0" err="1">
                <a:sym typeface="Wingdings" panose="05000000000000000000" pitchFamily="2" charset="2"/>
              </a:rPr>
              <a:t>trước</a:t>
            </a:r>
            <a:r>
              <a:rPr lang="en-US" sz="2000" dirty="0">
                <a:sym typeface="Wingdings" panose="05000000000000000000" pitchFamily="2" charset="2"/>
              </a:rPr>
              <a:t> </a:t>
            </a:r>
            <a:r>
              <a:rPr lang="en-US" sz="2000" dirty="0" err="1">
                <a:sym typeface="Wingdings" panose="05000000000000000000" pitchFamily="2" charset="2"/>
              </a:rPr>
              <a:t>đó</a:t>
            </a:r>
            <a:r>
              <a:rPr lang="en-US" sz="2000" dirty="0">
                <a:sym typeface="Wingdings" panose="05000000000000000000" pitchFamily="2" charset="2"/>
              </a:rPr>
              <a:t>.</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6">
                                            <p:txEl>
                                              <p:pRg st="0" end="0"/>
                                            </p:txEl>
                                          </p:spTgt>
                                        </p:tgtEl>
                                        <p:attrNameLst>
                                          <p:attrName>style.visibility</p:attrName>
                                        </p:attrNameLst>
                                      </p:cBhvr>
                                      <p:to>
                                        <p:strVal val="visible"/>
                                      </p:to>
                                    </p:set>
                                    <p:animEffect transition="in" filter="fade">
                                      <p:cBhvr>
                                        <p:cTn id="7" dur="500"/>
                                        <p:tgtEl>
                                          <p:spTgt spid="6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6">
                                            <p:txEl>
                                              <p:pRg st="1" end="1"/>
                                            </p:txEl>
                                          </p:spTgt>
                                        </p:tgtEl>
                                        <p:attrNameLst>
                                          <p:attrName>style.visibility</p:attrName>
                                        </p:attrNameLst>
                                      </p:cBhvr>
                                      <p:to>
                                        <p:strVal val="visible"/>
                                      </p:to>
                                    </p:set>
                                    <p:animEffect transition="in" filter="fade">
                                      <p:cBhvr>
                                        <p:cTn id="12" dur="500"/>
                                        <p:tgtEl>
                                          <p:spTgt spid="6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6">
                                            <p:txEl>
                                              <p:pRg st="2" end="2"/>
                                            </p:txEl>
                                          </p:spTgt>
                                        </p:tgtEl>
                                        <p:attrNameLst>
                                          <p:attrName>style.visibility</p:attrName>
                                        </p:attrNameLst>
                                      </p:cBhvr>
                                      <p:to>
                                        <p:strVal val="visible"/>
                                      </p:to>
                                    </p:set>
                                    <p:animEffect transition="in" filter="fade">
                                      <p:cBhvr>
                                        <p:cTn id="17" dur="500"/>
                                        <p:tgtEl>
                                          <p:spTgt spid="6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6">
                                            <p:txEl>
                                              <p:pRg st="3" end="3"/>
                                            </p:txEl>
                                          </p:spTgt>
                                        </p:tgtEl>
                                        <p:attrNameLst>
                                          <p:attrName>style.visibility</p:attrName>
                                        </p:attrNameLst>
                                      </p:cBhvr>
                                      <p:to>
                                        <p:strVal val="visible"/>
                                      </p:to>
                                    </p:set>
                                    <p:animEffect transition="in" filter="fade">
                                      <p:cBhvr>
                                        <p:cTn id="22" dur="500"/>
                                        <p:tgtEl>
                                          <p:spTgt spid="6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6">
                                            <p:txEl>
                                              <p:pRg st="4" end="4"/>
                                            </p:txEl>
                                          </p:spTgt>
                                        </p:tgtEl>
                                        <p:attrNameLst>
                                          <p:attrName>style.visibility</p:attrName>
                                        </p:attrNameLst>
                                      </p:cBhvr>
                                      <p:to>
                                        <p:strVal val="visible"/>
                                      </p:to>
                                    </p:set>
                                    <p:animEffect transition="in" filter="fade">
                                      <p:cBhvr>
                                        <p:cTn id="27" dur="500"/>
                                        <p:tgtEl>
                                          <p:spTgt spid="6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42"/>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 HOẶC CẤU HÌNH SAI</a:t>
            </a:r>
            <a:endParaRPr sz="3200" dirty="0"/>
          </a:p>
          <a:p>
            <a:pPr marL="0" lvl="0" indent="457200" algn="l" rtl="0">
              <a:lnSpc>
                <a:spcPct val="90000"/>
              </a:lnSpc>
              <a:spcBef>
                <a:spcPts val="0"/>
              </a:spcBef>
              <a:spcAft>
                <a:spcPts val="0"/>
              </a:spcAft>
              <a:buClr>
                <a:srgbClr val="0070C0"/>
              </a:buClr>
              <a:buSzPts val="4000"/>
              <a:buFont typeface="Times New Roman"/>
              <a:buNone/>
            </a:pPr>
            <a:r>
              <a:rPr lang="en-US" sz="2800" dirty="0"/>
              <a:t>2.1.4. HẬU QUẢ</a:t>
            </a:r>
            <a:endParaRPr sz="3200" dirty="0"/>
          </a:p>
        </p:txBody>
      </p:sp>
      <p:sp>
        <p:nvSpPr>
          <p:cNvPr id="643" name="Google Shape;643;p42"/>
          <p:cNvSpPr txBox="1">
            <a:spLocks noGrp="1"/>
          </p:cNvSpPr>
          <p:nvPr>
            <p:ph type="body" idx="1"/>
          </p:nvPr>
        </p:nvSpPr>
        <p:spPr>
          <a:xfrm>
            <a:off x="838200" y="1477693"/>
            <a:ext cx="10515600" cy="4268766"/>
          </a:xfrm>
          <a:prstGeom prst="rect">
            <a:avLst/>
          </a:prstGeom>
          <a:noFill/>
          <a:ln>
            <a:noFill/>
          </a:ln>
        </p:spPr>
        <p:txBody>
          <a:bodyPr spcFirstLastPara="1" wrap="square" lIns="91425" tIns="45700" rIns="91425" bIns="45700" anchor="t" anchorCtr="0">
            <a:noAutofit/>
          </a:bodyPr>
          <a:lstStyle/>
          <a:p>
            <a:pPr marL="1371600" lvl="0" indent="-457200" algn="just" rtl="0">
              <a:lnSpc>
                <a:spcPct val="100000"/>
              </a:lnSpc>
              <a:spcBef>
                <a:spcPts val="500"/>
              </a:spcBef>
              <a:spcAft>
                <a:spcPts val="0"/>
              </a:spcAft>
              <a:buAutoNum type="arabicPeriod"/>
            </a:pPr>
            <a:r>
              <a:rPr lang="en-US" dirty="0" err="1"/>
              <a:t>Rò</a:t>
            </a:r>
            <a:r>
              <a:rPr lang="en-US" dirty="0"/>
              <a:t> </a:t>
            </a:r>
            <a:r>
              <a:rPr lang="en-US" dirty="0" err="1"/>
              <a:t>rỉ</a:t>
            </a:r>
            <a:r>
              <a:rPr lang="en-US" dirty="0"/>
              <a:t> </a:t>
            </a:r>
            <a:r>
              <a:rPr lang="en-US" dirty="0" err="1"/>
              <a:t>mật</a:t>
            </a:r>
            <a:r>
              <a:rPr lang="en-US" dirty="0"/>
              <a:t> </a:t>
            </a:r>
            <a:r>
              <a:rPr lang="en-US" dirty="0" err="1"/>
              <a:t>khẩu</a:t>
            </a:r>
            <a:r>
              <a:rPr lang="en-US" dirty="0"/>
              <a:t> </a:t>
            </a:r>
            <a:r>
              <a:rPr lang="en-US" dirty="0" err="1"/>
              <a:t>dễ</a:t>
            </a:r>
            <a:r>
              <a:rPr lang="en-US" dirty="0"/>
              <a:t> </a:t>
            </a:r>
            <a:r>
              <a:rPr lang="en-US" dirty="0" err="1"/>
              <a:t>dàng</a:t>
            </a:r>
            <a:endParaRPr lang="en-US" dirty="0"/>
          </a:p>
          <a:p>
            <a:pPr marL="1371600" lvl="0" indent="-457200" algn="just" rtl="0">
              <a:lnSpc>
                <a:spcPct val="100000"/>
              </a:lnSpc>
              <a:spcBef>
                <a:spcPts val="500"/>
              </a:spcBef>
              <a:spcAft>
                <a:spcPts val="0"/>
              </a:spcAft>
              <a:buAutoNum type="arabicPeriod"/>
            </a:pPr>
            <a:endParaRPr lang="en-US" dirty="0"/>
          </a:p>
          <a:p>
            <a:pPr marL="1371600" lvl="0" indent="-457200" algn="just" rtl="0">
              <a:lnSpc>
                <a:spcPct val="100000"/>
              </a:lnSpc>
              <a:spcBef>
                <a:spcPts val="500"/>
              </a:spcBef>
              <a:spcAft>
                <a:spcPts val="0"/>
              </a:spcAft>
              <a:buAutoNum type="arabicPeriod"/>
            </a:pPr>
            <a:r>
              <a:rPr lang="en-US" dirty="0" err="1"/>
              <a:t>Giải</a:t>
            </a:r>
            <a:r>
              <a:rPr lang="en-US" dirty="0"/>
              <a:t> </a:t>
            </a:r>
            <a:r>
              <a:rPr lang="en-US" dirty="0" err="1"/>
              <a:t>mã</a:t>
            </a:r>
            <a:r>
              <a:rPr lang="en-US" dirty="0"/>
              <a:t> </a:t>
            </a:r>
            <a:r>
              <a:rPr lang="en-US" dirty="0" err="1"/>
              <a:t>lưu</a:t>
            </a:r>
            <a:r>
              <a:rPr lang="en-US" dirty="0"/>
              <a:t> </a:t>
            </a:r>
            <a:r>
              <a:rPr lang="en-US" dirty="0" err="1"/>
              <a:t>lượng</a:t>
            </a:r>
            <a:r>
              <a:rPr lang="en-US" dirty="0"/>
              <a:t> </a:t>
            </a:r>
            <a:r>
              <a:rPr lang="en-US" dirty="0" err="1"/>
              <a:t>truyền</a:t>
            </a:r>
            <a:r>
              <a:rPr lang="en-US" dirty="0"/>
              <a:t> </a:t>
            </a:r>
            <a:r>
              <a:rPr lang="en-US" dirty="0" err="1"/>
              <a:t>tải</a:t>
            </a:r>
            <a:r>
              <a:rPr lang="en-US" dirty="0"/>
              <a:t> </a:t>
            </a:r>
            <a:r>
              <a:rPr lang="en-US" dirty="0" err="1"/>
              <a:t>dựa</a:t>
            </a:r>
            <a:r>
              <a:rPr lang="en-US" dirty="0"/>
              <a:t> </a:t>
            </a:r>
            <a:r>
              <a:rPr lang="en-US" dirty="0" err="1"/>
              <a:t>vào</a:t>
            </a:r>
            <a:r>
              <a:rPr lang="en-US" dirty="0"/>
              <a:t> History</a:t>
            </a:r>
          </a:p>
          <a:p>
            <a:pPr marL="1371600" lvl="0" indent="-457200" algn="just" rtl="0">
              <a:lnSpc>
                <a:spcPct val="100000"/>
              </a:lnSpc>
              <a:spcBef>
                <a:spcPts val="500"/>
              </a:spcBef>
              <a:spcAft>
                <a:spcPts val="0"/>
              </a:spcAft>
              <a:buAutoNum type="arabicPeriod"/>
            </a:pPr>
            <a:endParaRPr lang="en-US" dirty="0"/>
          </a:p>
          <a:p>
            <a:pPr marL="1371600" lvl="0" indent="-457200" algn="just" rtl="0">
              <a:lnSpc>
                <a:spcPct val="100000"/>
              </a:lnSpc>
              <a:spcBef>
                <a:spcPts val="500"/>
              </a:spcBef>
              <a:spcAft>
                <a:spcPts val="0"/>
              </a:spcAft>
              <a:buAutoNum type="arabicPeriod"/>
            </a:pPr>
            <a:r>
              <a:rPr lang="en-US" dirty="0" err="1"/>
              <a:t>Hạ</a:t>
            </a:r>
            <a:r>
              <a:rPr lang="en-US" dirty="0"/>
              <a:t> </a:t>
            </a:r>
            <a:r>
              <a:rPr lang="en-US" dirty="0" err="1"/>
              <a:t>cấp</a:t>
            </a:r>
            <a:r>
              <a:rPr lang="en-US" dirty="0"/>
              <a:t> </a:t>
            </a:r>
            <a:r>
              <a:rPr lang="en-US" dirty="0" err="1"/>
              <a:t>giao</a:t>
            </a:r>
            <a:r>
              <a:rPr lang="en-US" dirty="0"/>
              <a:t> </a:t>
            </a:r>
            <a:r>
              <a:rPr lang="en-US" dirty="0" err="1"/>
              <a:t>thức</a:t>
            </a:r>
            <a:r>
              <a:rPr lang="en-US" dirty="0"/>
              <a:t> </a:t>
            </a:r>
            <a:r>
              <a:rPr lang="en-US" i="1" dirty="0"/>
              <a:t>(Protocol Downgrade) </a:t>
            </a:r>
          </a:p>
          <a:p>
            <a:pPr marL="1371600" lvl="0" indent="-457200" algn="just" rtl="0">
              <a:lnSpc>
                <a:spcPct val="100000"/>
              </a:lnSpc>
              <a:spcBef>
                <a:spcPts val="500"/>
              </a:spcBef>
              <a:spcAft>
                <a:spcPts val="0"/>
              </a:spcAft>
              <a:buAutoNum type="arabicPeriod"/>
            </a:pPr>
            <a:endParaRPr lang="en-US" dirty="0"/>
          </a:p>
          <a:p>
            <a:pPr marL="1371600" lvl="0" indent="-457200" algn="just" rtl="0">
              <a:lnSpc>
                <a:spcPct val="100000"/>
              </a:lnSpc>
              <a:spcBef>
                <a:spcPts val="500"/>
              </a:spcBef>
              <a:spcAft>
                <a:spcPts val="0"/>
              </a:spcAft>
              <a:buAutoNum type="arabicPeriod"/>
            </a:pPr>
            <a:r>
              <a:rPr lang="en-US" dirty="0" err="1"/>
              <a:t>Mất</a:t>
            </a:r>
            <a:r>
              <a:rPr lang="en-US" dirty="0"/>
              <a:t> </a:t>
            </a:r>
            <a:r>
              <a:rPr lang="en-US" dirty="0" err="1"/>
              <a:t>tính</a:t>
            </a:r>
            <a:r>
              <a:rPr lang="en-US" dirty="0"/>
              <a:t> </a:t>
            </a:r>
            <a:r>
              <a:rPr lang="en-US" dirty="0" err="1"/>
              <a:t>toàn</a:t>
            </a:r>
            <a:r>
              <a:rPr lang="en-US" dirty="0"/>
              <a:t> </a:t>
            </a:r>
            <a:r>
              <a:rPr lang="en-US" dirty="0" err="1"/>
              <a:t>vẹn</a:t>
            </a:r>
            <a:r>
              <a:rPr lang="en-US" dirty="0"/>
              <a:t> </a:t>
            </a:r>
            <a:r>
              <a:rPr lang="en-US" dirty="0" err="1"/>
              <a:t>dữ</a:t>
            </a:r>
            <a:r>
              <a:rPr lang="en-US" dirty="0"/>
              <a:t> </a:t>
            </a:r>
            <a:r>
              <a:rPr lang="en-US" dirty="0" err="1"/>
              <a:t>liệu</a:t>
            </a:r>
            <a:endParaRPr lang="en-US" dirty="0"/>
          </a:p>
          <a:p>
            <a:pPr marL="1371600" lvl="0" indent="-457200" algn="just" rtl="0">
              <a:lnSpc>
                <a:spcPct val="100000"/>
              </a:lnSpc>
              <a:spcBef>
                <a:spcPts val="500"/>
              </a:spcBef>
              <a:spcAft>
                <a:spcPts val="0"/>
              </a:spcAft>
              <a:buAutoNum type="arabicPeriod"/>
            </a:pPr>
            <a:endParaRPr lang="en-US" dirty="0"/>
          </a:p>
          <a:p>
            <a:pPr marL="1371600" lvl="0" indent="-457200" algn="just" rtl="0">
              <a:lnSpc>
                <a:spcPct val="100000"/>
              </a:lnSpc>
              <a:spcBef>
                <a:spcPts val="500"/>
              </a:spcBef>
              <a:spcAft>
                <a:spcPts val="0"/>
              </a:spcAft>
              <a:buAutoNum type="arabicPeriod"/>
            </a:pPr>
            <a:r>
              <a:rPr lang="en-US" dirty="0" err="1"/>
              <a:t>Bị</a:t>
            </a:r>
            <a:r>
              <a:rPr lang="en-US" dirty="0"/>
              <a:t> </a:t>
            </a:r>
            <a:r>
              <a:rPr lang="en-US" dirty="0" err="1"/>
              <a:t>tấn</a:t>
            </a:r>
            <a:r>
              <a:rPr lang="en-US" dirty="0"/>
              <a:t> </a:t>
            </a:r>
            <a:r>
              <a:rPr lang="en-US" dirty="0" err="1"/>
              <a:t>công</a:t>
            </a:r>
            <a:r>
              <a:rPr lang="en-US" dirty="0"/>
              <a:t> </a:t>
            </a:r>
            <a:r>
              <a:rPr lang="en-US" dirty="0" err="1"/>
              <a:t>giả</a:t>
            </a:r>
            <a:r>
              <a:rPr lang="en-US" dirty="0"/>
              <a:t> </a:t>
            </a:r>
            <a:r>
              <a:rPr lang="en-US" dirty="0" err="1"/>
              <a:t>mạo</a:t>
            </a:r>
            <a:r>
              <a:rPr lang="en-US" dirty="0"/>
              <a:t> </a:t>
            </a:r>
            <a:r>
              <a:rPr lang="en-US" dirty="0" err="1"/>
              <a:t>danh</a:t>
            </a:r>
            <a:r>
              <a:rPr lang="en-US" dirty="0"/>
              <a:t> </a:t>
            </a:r>
            <a:r>
              <a:rPr lang="en-US" dirty="0" err="1"/>
              <a:t>tính</a:t>
            </a:r>
            <a:r>
              <a:rPr lang="en-US" dirty="0"/>
              <a:t> </a:t>
            </a:r>
            <a:r>
              <a:rPr lang="en-US" i="1" dirty="0"/>
              <a:t>(Session hijacking)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3">
                                            <p:txEl>
                                              <p:pRg st="0" end="0"/>
                                            </p:txEl>
                                          </p:spTgt>
                                        </p:tgtEl>
                                        <p:attrNameLst>
                                          <p:attrName>style.visibility</p:attrName>
                                        </p:attrNameLst>
                                      </p:cBhvr>
                                      <p:to>
                                        <p:strVal val="visible"/>
                                      </p:to>
                                    </p:set>
                                    <p:animEffect transition="in" filter="fade">
                                      <p:cBhvr>
                                        <p:cTn id="7" dur="500"/>
                                        <p:tgtEl>
                                          <p:spTgt spid="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3">
                                            <p:txEl>
                                              <p:pRg st="2" end="2"/>
                                            </p:txEl>
                                          </p:spTgt>
                                        </p:tgtEl>
                                        <p:attrNameLst>
                                          <p:attrName>style.visibility</p:attrName>
                                        </p:attrNameLst>
                                      </p:cBhvr>
                                      <p:to>
                                        <p:strVal val="visible"/>
                                      </p:to>
                                    </p:set>
                                    <p:animEffect transition="in" filter="fade">
                                      <p:cBhvr>
                                        <p:cTn id="12" dur="500"/>
                                        <p:tgtEl>
                                          <p:spTgt spid="6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3">
                                            <p:txEl>
                                              <p:pRg st="4" end="4"/>
                                            </p:txEl>
                                          </p:spTgt>
                                        </p:tgtEl>
                                        <p:attrNameLst>
                                          <p:attrName>style.visibility</p:attrName>
                                        </p:attrNameLst>
                                      </p:cBhvr>
                                      <p:to>
                                        <p:strVal val="visible"/>
                                      </p:to>
                                    </p:set>
                                    <p:animEffect transition="in" filter="fade">
                                      <p:cBhvr>
                                        <p:cTn id="17" dur="500"/>
                                        <p:tgtEl>
                                          <p:spTgt spid="64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3">
                                            <p:txEl>
                                              <p:pRg st="6" end="6"/>
                                            </p:txEl>
                                          </p:spTgt>
                                        </p:tgtEl>
                                        <p:attrNameLst>
                                          <p:attrName>style.visibility</p:attrName>
                                        </p:attrNameLst>
                                      </p:cBhvr>
                                      <p:to>
                                        <p:strVal val="visible"/>
                                      </p:to>
                                    </p:set>
                                    <p:animEffect transition="in" filter="fade">
                                      <p:cBhvr>
                                        <p:cTn id="22" dur="500"/>
                                        <p:tgtEl>
                                          <p:spTgt spid="64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43">
                                            <p:txEl>
                                              <p:pRg st="8" end="8"/>
                                            </p:txEl>
                                          </p:spTgt>
                                        </p:tgtEl>
                                        <p:attrNameLst>
                                          <p:attrName>style.visibility</p:attrName>
                                        </p:attrNameLst>
                                      </p:cBhvr>
                                      <p:to>
                                        <p:strVal val="visible"/>
                                      </p:to>
                                    </p:set>
                                    <p:animEffect transition="in" filter="fade">
                                      <p:cBhvr>
                                        <p:cTn id="27" dur="500"/>
                                        <p:tgtEl>
                                          <p:spTgt spid="6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43"/>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2.1</a:t>
            </a:r>
            <a:r>
              <a:rPr lang="en-US" sz="4000" dirty="0"/>
              <a:t>. </a:t>
            </a:r>
            <a:r>
              <a:rPr lang="en-US" sz="3200" dirty="0"/>
              <a:t>DÙNG THUẬT TOÁN YẾU HOẶC CẤU HÌNH SAI</a:t>
            </a:r>
            <a:endParaRPr sz="3200" dirty="0"/>
          </a:p>
          <a:p>
            <a:pPr marL="0" lvl="0" indent="457200" algn="l" rtl="0">
              <a:lnSpc>
                <a:spcPct val="90000"/>
              </a:lnSpc>
              <a:spcBef>
                <a:spcPts val="0"/>
              </a:spcBef>
              <a:spcAft>
                <a:spcPts val="0"/>
              </a:spcAft>
              <a:buClr>
                <a:srgbClr val="0070C0"/>
              </a:buClr>
              <a:buSzPts val="4000"/>
              <a:buFont typeface="Times New Roman"/>
              <a:buNone/>
            </a:pPr>
            <a:r>
              <a:rPr lang="en-US" sz="2800" dirty="0"/>
              <a:t>2.1.4. PHÒNG NGỪA, NGĂN CHẶN</a:t>
            </a:r>
            <a:endParaRPr sz="3200" dirty="0"/>
          </a:p>
        </p:txBody>
      </p:sp>
      <p:sp>
        <p:nvSpPr>
          <p:cNvPr id="650" name="Google Shape;650;p43"/>
          <p:cNvSpPr txBox="1">
            <a:spLocks noGrp="1"/>
          </p:cNvSpPr>
          <p:nvPr>
            <p:ph type="body" idx="1"/>
          </p:nvPr>
        </p:nvSpPr>
        <p:spPr>
          <a:xfrm>
            <a:off x="838200" y="1477693"/>
            <a:ext cx="10515600" cy="4699500"/>
          </a:xfrm>
          <a:prstGeom prst="rect">
            <a:avLst/>
          </a:prstGeom>
          <a:noFill/>
          <a:ln>
            <a:noFill/>
          </a:ln>
        </p:spPr>
        <p:txBody>
          <a:bodyPr spcFirstLastPara="1" wrap="square" lIns="91425" tIns="45700" rIns="91425" bIns="45700" anchor="t" anchorCtr="0">
            <a:normAutofit fontScale="85000" lnSpcReduction="20000"/>
          </a:bodyPr>
          <a:lstStyle/>
          <a:p>
            <a:pPr marL="533400" lvl="0" indent="-457200" algn="just" rtl="0">
              <a:spcBef>
                <a:spcPts val="0"/>
              </a:spcBef>
              <a:spcAft>
                <a:spcPts val="0"/>
              </a:spcAft>
              <a:buSzPts val="2400"/>
              <a:buAutoNum type="arabicPeriod"/>
            </a:pPr>
            <a:r>
              <a:rPr lang="en-US" dirty="0"/>
              <a:t>Thường </a:t>
            </a:r>
            <a:r>
              <a:rPr lang="en-US" dirty="0" err="1"/>
              <a:t>xuyên</a:t>
            </a:r>
            <a:r>
              <a:rPr lang="en-US" dirty="0"/>
              <a:t> </a:t>
            </a:r>
            <a:r>
              <a:rPr lang="en-US" dirty="0" err="1"/>
              <a:t>cập</a:t>
            </a:r>
            <a:r>
              <a:rPr lang="en-US" dirty="0"/>
              <a:t> </a:t>
            </a:r>
            <a:r>
              <a:rPr lang="en-US" dirty="0" err="1"/>
              <a:t>nhật</a:t>
            </a:r>
            <a:r>
              <a:rPr lang="en-US" dirty="0"/>
              <a:t> </a:t>
            </a:r>
            <a:r>
              <a:rPr lang="en-US" dirty="0" err="1"/>
              <a:t>các</a:t>
            </a:r>
            <a:r>
              <a:rPr lang="en-US" dirty="0"/>
              <a:t> </a:t>
            </a:r>
            <a:r>
              <a:rPr lang="en-US" dirty="0" err="1"/>
              <a:t>bản</a:t>
            </a:r>
            <a:r>
              <a:rPr lang="en-US" dirty="0"/>
              <a:t> </a:t>
            </a:r>
            <a:r>
              <a:rPr lang="en-US" dirty="0" err="1"/>
              <a:t>vá</a:t>
            </a:r>
            <a:r>
              <a:rPr lang="en-US" dirty="0"/>
              <a:t> </a:t>
            </a:r>
            <a:r>
              <a:rPr lang="en-US" dirty="0" err="1"/>
              <a:t>lỗi</a:t>
            </a:r>
            <a:r>
              <a:rPr lang="en-US" dirty="0"/>
              <a:t> </a:t>
            </a:r>
            <a:r>
              <a:rPr lang="en-US" dirty="0" err="1"/>
              <a:t>bảo</a:t>
            </a:r>
            <a:r>
              <a:rPr lang="en-US" dirty="0"/>
              <a:t> </a:t>
            </a:r>
            <a:r>
              <a:rPr lang="en-US" dirty="0" err="1"/>
              <a:t>mật</a:t>
            </a:r>
            <a:r>
              <a:rPr lang="en-US" dirty="0"/>
              <a:t>. </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Dùng</a:t>
            </a:r>
            <a:r>
              <a:rPr lang="en-US" dirty="0"/>
              <a:t> </a:t>
            </a:r>
            <a:r>
              <a:rPr lang="en-US" dirty="0" err="1"/>
              <a:t>các</a:t>
            </a:r>
            <a:r>
              <a:rPr lang="en-US" dirty="0"/>
              <a:t> </a:t>
            </a:r>
            <a:r>
              <a:rPr lang="en-US" dirty="0" err="1"/>
              <a:t>thuật</a:t>
            </a:r>
            <a:r>
              <a:rPr lang="en-US" dirty="0"/>
              <a:t> </a:t>
            </a:r>
            <a:r>
              <a:rPr lang="en-US" dirty="0" err="1"/>
              <a:t>toán</a:t>
            </a:r>
            <a:r>
              <a:rPr lang="en-US" dirty="0"/>
              <a:t> </a:t>
            </a:r>
            <a:r>
              <a:rPr lang="en-US" dirty="0" err="1"/>
              <a:t>mạnh</a:t>
            </a:r>
            <a:r>
              <a:rPr lang="en-US" dirty="0"/>
              <a:t> </a:t>
            </a:r>
            <a:r>
              <a:rPr lang="en-US" dirty="0" err="1"/>
              <a:t>được</a:t>
            </a:r>
            <a:r>
              <a:rPr lang="en-US" dirty="0"/>
              <a:t> </a:t>
            </a:r>
            <a:r>
              <a:rPr lang="en-US" dirty="0" err="1"/>
              <a:t>khuyến</a:t>
            </a:r>
            <a:r>
              <a:rPr lang="en-US" dirty="0"/>
              <a:t> </a:t>
            </a:r>
            <a:r>
              <a:rPr lang="en-US" dirty="0" err="1"/>
              <a:t>nghị</a:t>
            </a:r>
            <a:r>
              <a:rPr lang="en-US" dirty="0"/>
              <a:t> </a:t>
            </a:r>
            <a:r>
              <a:rPr lang="en-US" dirty="0" err="1"/>
              <a:t>đi</a:t>
            </a:r>
            <a:r>
              <a:rPr lang="en-US" dirty="0"/>
              <a:t> </a:t>
            </a:r>
            <a:r>
              <a:rPr lang="en-US" dirty="0" err="1"/>
              <a:t>kèm</a:t>
            </a:r>
            <a:r>
              <a:rPr lang="en-US" dirty="0"/>
              <a:t> </a:t>
            </a:r>
            <a:r>
              <a:rPr lang="en-US" dirty="0" err="1"/>
              <a:t>với</a:t>
            </a:r>
            <a:r>
              <a:rPr lang="en-US" dirty="0"/>
              <a:t> </a:t>
            </a:r>
            <a:r>
              <a:rPr lang="en-US" dirty="0" err="1"/>
              <a:t>tăng</a:t>
            </a:r>
            <a:r>
              <a:rPr lang="en-US" dirty="0"/>
              <a:t> </a:t>
            </a:r>
            <a:r>
              <a:rPr lang="en-US" dirty="0" err="1"/>
              <a:t>cường</a:t>
            </a:r>
            <a:r>
              <a:rPr lang="en-US" dirty="0"/>
              <a:t> </a:t>
            </a:r>
            <a:r>
              <a:rPr lang="en-US" dirty="0" err="1"/>
              <a:t>độ</a:t>
            </a:r>
            <a:r>
              <a:rPr lang="en-US" dirty="0"/>
              <a:t> </a:t>
            </a:r>
            <a:r>
              <a:rPr lang="en-US" dirty="0" err="1"/>
              <a:t>dài</a:t>
            </a:r>
            <a:r>
              <a:rPr lang="en-US" dirty="0"/>
              <a:t> </a:t>
            </a:r>
            <a:r>
              <a:rPr lang="en-US" dirty="0" err="1"/>
              <a:t>khóa</a:t>
            </a:r>
            <a:r>
              <a:rPr lang="en-US" dirty="0"/>
              <a:t> </a:t>
            </a:r>
            <a:r>
              <a:rPr lang="en-US" dirty="0" err="1"/>
              <a:t>mã</a:t>
            </a:r>
            <a:r>
              <a:rPr lang="en-US" dirty="0"/>
              <a:t> </a:t>
            </a:r>
            <a:r>
              <a:rPr lang="en-US" dirty="0" err="1"/>
              <a:t>hóa</a:t>
            </a:r>
            <a:r>
              <a:rPr lang="en-US" dirty="0"/>
              <a:t>.</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Luôn</a:t>
            </a:r>
            <a:r>
              <a:rPr lang="en-US" dirty="0"/>
              <a:t> </a:t>
            </a:r>
            <a:r>
              <a:rPr lang="en-US" dirty="0" err="1"/>
              <a:t>dùng</a:t>
            </a:r>
            <a:r>
              <a:rPr lang="en-US" dirty="0"/>
              <a:t> </a:t>
            </a:r>
            <a:r>
              <a:rPr lang="en-US" b="1" dirty="0"/>
              <a:t>HTTPS</a:t>
            </a:r>
            <a:r>
              <a:rPr lang="en-US" dirty="0"/>
              <a:t> </a:t>
            </a:r>
            <a:r>
              <a:rPr lang="en-US" dirty="0" err="1"/>
              <a:t>để</a:t>
            </a:r>
            <a:r>
              <a:rPr lang="en-US" dirty="0"/>
              <a:t> </a:t>
            </a:r>
            <a:r>
              <a:rPr lang="en-US" dirty="0" err="1"/>
              <a:t>chặn</a:t>
            </a:r>
            <a:r>
              <a:rPr lang="en-US" dirty="0"/>
              <a:t> </a:t>
            </a:r>
            <a:r>
              <a:rPr lang="en-US" dirty="0" err="1"/>
              <a:t>tấn</a:t>
            </a:r>
            <a:r>
              <a:rPr lang="en-US" dirty="0"/>
              <a:t> </a:t>
            </a:r>
            <a:r>
              <a:rPr lang="en-US" dirty="0" err="1"/>
              <a:t>công</a:t>
            </a:r>
            <a:r>
              <a:rPr lang="en-US" dirty="0"/>
              <a:t> </a:t>
            </a:r>
            <a:r>
              <a:rPr lang="en-US" dirty="0" err="1"/>
              <a:t>hạ</a:t>
            </a:r>
            <a:r>
              <a:rPr lang="en-US" dirty="0"/>
              <a:t> </a:t>
            </a:r>
            <a:r>
              <a:rPr lang="en-US" dirty="0" err="1"/>
              <a:t>cấp</a:t>
            </a:r>
            <a:r>
              <a:rPr lang="en-US" dirty="0"/>
              <a:t>.</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Vô</a:t>
            </a:r>
            <a:r>
              <a:rPr lang="en-US" dirty="0"/>
              <a:t> </a:t>
            </a:r>
            <a:r>
              <a:rPr lang="en-US" dirty="0" err="1"/>
              <a:t>hiệu</a:t>
            </a:r>
            <a:r>
              <a:rPr lang="en-US" dirty="0"/>
              <a:t> </a:t>
            </a:r>
            <a:r>
              <a:rPr lang="en-US" dirty="0" err="1"/>
              <a:t>hóa</a:t>
            </a:r>
            <a:r>
              <a:rPr lang="en-US" dirty="0"/>
              <a:t> </a:t>
            </a:r>
            <a:r>
              <a:rPr lang="en-US" dirty="0" err="1"/>
              <a:t>giao</a:t>
            </a:r>
            <a:r>
              <a:rPr lang="en-US" dirty="0"/>
              <a:t> </a:t>
            </a:r>
            <a:r>
              <a:rPr lang="en-US" dirty="0" err="1"/>
              <a:t>thức</a:t>
            </a:r>
            <a:r>
              <a:rPr lang="en-US" dirty="0"/>
              <a:t>, cipher </a:t>
            </a:r>
            <a:r>
              <a:rPr lang="en-US" dirty="0" err="1"/>
              <a:t>yếu</a:t>
            </a:r>
            <a:r>
              <a:rPr lang="en-US" dirty="0"/>
              <a:t> </a:t>
            </a:r>
            <a:r>
              <a:rPr lang="en-US" dirty="0" err="1"/>
              <a:t>nhằm</a:t>
            </a:r>
            <a:r>
              <a:rPr lang="en-US" dirty="0"/>
              <a:t> </a:t>
            </a:r>
            <a:r>
              <a:rPr lang="en-US" dirty="0" err="1"/>
              <a:t>thiết</a:t>
            </a:r>
            <a:r>
              <a:rPr lang="en-US" dirty="0"/>
              <a:t> </a:t>
            </a:r>
            <a:r>
              <a:rPr lang="en-US" dirty="0" err="1"/>
              <a:t>lập</a:t>
            </a:r>
            <a:r>
              <a:rPr lang="en-US" dirty="0"/>
              <a:t> </a:t>
            </a:r>
            <a:r>
              <a:rPr lang="en-US" dirty="0" err="1"/>
              <a:t>cấu</a:t>
            </a:r>
            <a:r>
              <a:rPr lang="en-US" dirty="0"/>
              <a:t> </a:t>
            </a:r>
            <a:r>
              <a:rPr lang="en-US" dirty="0" err="1"/>
              <a:t>hình</a:t>
            </a:r>
            <a:r>
              <a:rPr lang="en-US" dirty="0"/>
              <a:t> an </a:t>
            </a:r>
            <a:r>
              <a:rPr lang="en-US" dirty="0" err="1"/>
              <a:t>toàn</a:t>
            </a:r>
            <a:r>
              <a:rPr lang="en-US" dirty="0"/>
              <a:t> </a:t>
            </a:r>
            <a:r>
              <a:rPr lang="en-US" dirty="0" err="1"/>
              <a:t>mặc</a:t>
            </a:r>
            <a:r>
              <a:rPr lang="en-US" dirty="0"/>
              <a:t> </a:t>
            </a:r>
            <a:r>
              <a:rPr lang="en-US" dirty="0" err="1"/>
              <a:t>định</a:t>
            </a:r>
            <a:r>
              <a:rPr lang="en-US" dirty="0"/>
              <a:t>.</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Thiết</a:t>
            </a:r>
            <a:r>
              <a:rPr lang="en-US" dirty="0"/>
              <a:t> </a:t>
            </a:r>
            <a:r>
              <a:rPr lang="en-US" dirty="0" err="1"/>
              <a:t>lập</a:t>
            </a:r>
            <a:r>
              <a:rPr lang="en-US" dirty="0"/>
              <a:t> </a:t>
            </a:r>
            <a:r>
              <a:rPr lang="en-US" dirty="0" err="1"/>
              <a:t>quy</a:t>
            </a:r>
            <a:r>
              <a:rPr lang="en-US" dirty="0"/>
              <a:t> </a:t>
            </a:r>
            <a:r>
              <a:rPr lang="en-US" dirty="0" err="1"/>
              <a:t>trình</a:t>
            </a:r>
            <a:r>
              <a:rPr lang="en-US" dirty="0"/>
              <a:t> </a:t>
            </a:r>
            <a:r>
              <a:rPr lang="en-US" dirty="0" err="1"/>
              <a:t>xoay</a:t>
            </a:r>
            <a:r>
              <a:rPr lang="en-US" dirty="0"/>
              <a:t> </a:t>
            </a:r>
            <a:r>
              <a:rPr lang="en-US" dirty="0" err="1"/>
              <a:t>vòng</a:t>
            </a:r>
            <a:r>
              <a:rPr lang="en-US" dirty="0"/>
              <a:t> </a:t>
            </a:r>
            <a:r>
              <a:rPr lang="en-US" dirty="0" err="1"/>
              <a:t>định</a:t>
            </a:r>
            <a:r>
              <a:rPr lang="en-US" dirty="0"/>
              <a:t> </a:t>
            </a:r>
            <a:r>
              <a:rPr lang="en-US" dirty="0" err="1"/>
              <a:t>kỳ</a:t>
            </a:r>
            <a:r>
              <a:rPr lang="en-US" dirty="0"/>
              <a:t> </a:t>
            </a:r>
            <a:r>
              <a:rPr lang="en-US" dirty="0" err="1"/>
              <a:t>các</a:t>
            </a:r>
            <a:r>
              <a:rPr lang="en-US" dirty="0"/>
              <a:t> </a:t>
            </a:r>
            <a:r>
              <a:rPr lang="en-US" dirty="0" err="1"/>
              <a:t>khóa</a:t>
            </a:r>
            <a:r>
              <a:rPr lang="en-US" dirty="0"/>
              <a:t> </a:t>
            </a:r>
            <a:r>
              <a:rPr lang="en-US" dirty="0" err="1"/>
              <a:t>mã</a:t>
            </a:r>
            <a:r>
              <a:rPr lang="en-US" dirty="0"/>
              <a:t> </a:t>
            </a:r>
            <a:r>
              <a:rPr lang="en-US" dirty="0" err="1"/>
              <a:t>hóa</a:t>
            </a:r>
            <a:r>
              <a:rPr lang="en-US" dirty="0"/>
              <a:t>, </a:t>
            </a:r>
            <a:r>
              <a:rPr lang="en-US" dirty="0" err="1"/>
              <a:t>chứng</a:t>
            </a:r>
            <a:r>
              <a:rPr lang="en-US" dirty="0"/>
              <a:t> </a:t>
            </a:r>
            <a:r>
              <a:rPr lang="en-US" dirty="0" err="1"/>
              <a:t>chỉ</a:t>
            </a:r>
            <a:r>
              <a:rPr lang="en-US" dirty="0"/>
              <a:t> TLS/SSL </a:t>
            </a:r>
            <a:r>
              <a:rPr lang="en-US" dirty="0" err="1"/>
              <a:t>kèm</a:t>
            </a:r>
            <a:r>
              <a:rPr lang="en-US" dirty="0"/>
              <a:t> </a:t>
            </a:r>
            <a:r>
              <a:rPr lang="en-US" dirty="0" err="1"/>
              <a:t>theo</a:t>
            </a:r>
            <a:r>
              <a:rPr lang="en-US" dirty="0"/>
              <a:t> </a:t>
            </a:r>
            <a:r>
              <a:rPr lang="en-US" dirty="0" err="1"/>
              <a:t>triển</a:t>
            </a:r>
            <a:r>
              <a:rPr lang="en-US" dirty="0"/>
              <a:t> </a:t>
            </a:r>
            <a:r>
              <a:rPr lang="en-US" dirty="0" err="1"/>
              <a:t>khai</a:t>
            </a:r>
            <a:r>
              <a:rPr lang="en-US" dirty="0"/>
              <a:t> </a:t>
            </a:r>
            <a:r>
              <a:rPr lang="en-US" dirty="0" err="1"/>
              <a:t>cơ</a:t>
            </a:r>
            <a:r>
              <a:rPr lang="en-US" dirty="0"/>
              <a:t> </a:t>
            </a:r>
            <a:r>
              <a:rPr lang="en-US" dirty="0" err="1"/>
              <a:t>chế</a:t>
            </a:r>
            <a:r>
              <a:rPr lang="en-US" dirty="0"/>
              <a:t> </a:t>
            </a:r>
            <a:r>
              <a:rPr lang="en-US" dirty="0" err="1"/>
              <a:t>thu</a:t>
            </a:r>
            <a:r>
              <a:rPr lang="en-US" dirty="0"/>
              <a:t> </a:t>
            </a:r>
            <a:r>
              <a:rPr lang="en-US" dirty="0" err="1"/>
              <a:t>hồi</a:t>
            </a:r>
            <a:r>
              <a:rPr lang="en-US" dirty="0"/>
              <a:t> </a:t>
            </a:r>
            <a:r>
              <a:rPr lang="en-US" i="1" dirty="0"/>
              <a:t>(</a:t>
            </a:r>
            <a:r>
              <a:rPr lang="en-US" b="1" dirty="0"/>
              <a:t>Revocation</a:t>
            </a:r>
            <a:r>
              <a:rPr lang="en-US" i="1" dirty="0"/>
              <a:t>) </a:t>
            </a:r>
            <a:r>
              <a:rPr lang="en-US" dirty="0" err="1"/>
              <a:t>chứng</a:t>
            </a:r>
            <a:r>
              <a:rPr lang="en-US" dirty="0"/>
              <a:t> </a:t>
            </a:r>
            <a:r>
              <a:rPr lang="en-US" dirty="0" err="1"/>
              <a:t>chỉ</a:t>
            </a:r>
            <a:r>
              <a:rPr lang="en-US" dirty="0"/>
              <a:t> </a:t>
            </a:r>
            <a:r>
              <a:rPr lang="en-US" dirty="0" err="1"/>
              <a:t>ngay</a:t>
            </a:r>
            <a:r>
              <a:rPr lang="en-US" dirty="0"/>
              <a:t> </a:t>
            </a:r>
            <a:r>
              <a:rPr lang="en-US" dirty="0" err="1"/>
              <a:t>khi</a:t>
            </a:r>
            <a:r>
              <a:rPr lang="en-US" dirty="0"/>
              <a:t> </a:t>
            </a:r>
            <a:r>
              <a:rPr lang="en-US" dirty="0" err="1"/>
              <a:t>phát</a:t>
            </a:r>
            <a:r>
              <a:rPr lang="en-US" dirty="0"/>
              <a:t> </a:t>
            </a:r>
            <a:r>
              <a:rPr lang="en-US" dirty="0" err="1"/>
              <a:t>hiện</a:t>
            </a:r>
            <a:r>
              <a:rPr lang="en-US" dirty="0"/>
              <a:t> </a:t>
            </a:r>
            <a:r>
              <a:rPr lang="en-US" dirty="0" err="1"/>
              <a:t>bị</a:t>
            </a:r>
            <a:r>
              <a:rPr lang="en-US" dirty="0"/>
              <a:t> </a:t>
            </a:r>
            <a:r>
              <a:rPr lang="en-US" dirty="0" err="1"/>
              <a:t>xâm</a:t>
            </a:r>
            <a:r>
              <a:rPr lang="en-US" dirty="0"/>
              <a:t> </a:t>
            </a:r>
            <a:r>
              <a:rPr lang="en-US" dirty="0" err="1"/>
              <a:t>nhập</a:t>
            </a:r>
            <a:r>
              <a:rPr lang="en-US" dirty="0"/>
              <a:t>.</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Dùng</a:t>
            </a:r>
            <a:r>
              <a:rPr lang="en-US" dirty="0"/>
              <a:t> MACs/HMACs </a:t>
            </a:r>
            <a:r>
              <a:rPr lang="en-US" dirty="0" err="1"/>
              <a:t>để</a:t>
            </a:r>
            <a:r>
              <a:rPr lang="en-US" dirty="0"/>
              <a:t> </a:t>
            </a:r>
            <a:r>
              <a:rPr lang="en-US" dirty="0" err="1"/>
              <a:t>xác</a:t>
            </a:r>
            <a:r>
              <a:rPr lang="en-US" dirty="0"/>
              <a:t> </a:t>
            </a:r>
            <a:r>
              <a:rPr lang="en-US" dirty="0" err="1"/>
              <a:t>minh</a:t>
            </a:r>
            <a:r>
              <a:rPr lang="en-US" dirty="0"/>
              <a:t> </a:t>
            </a:r>
            <a:r>
              <a:rPr lang="en-US" dirty="0" err="1"/>
              <a:t>tính</a:t>
            </a:r>
            <a:r>
              <a:rPr lang="en-US" dirty="0"/>
              <a:t> </a:t>
            </a:r>
            <a:r>
              <a:rPr lang="en-US" dirty="0" err="1"/>
              <a:t>toàn</a:t>
            </a:r>
            <a:r>
              <a:rPr lang="en-US" dirty="0"/>
              <a:t> </a:t>
            </a:r>
            <a:r>
              <a:rPr lang="en-US" dirty="0" err="1"/>
              <a:t>vẹn</a:t>
            </a:r>
            <a:r>
              <a:rPr lang="en-US" dirty="0"/>
              <a:t>, </a:t>
            </a:r>
            <a:r>
              <a:rPr lang="en-US" dirty="0" err="1"/>
              <a:t>tính</a:t>
            </a:r>
            <a:r>
              <a:rPr lang="en-US" dirty="0"/>
              <a:t> </a:t>
            </a:r>
            <a:r>
              <a:rPr lang="en-US" dirty="0" err="1"/>
              <a:t>xác</a:t>
            </a:r>
            <a:r>
              <a:rPr lang="en-US" dirty="0"/>
              <a:t> </a:t>
            </a:r>
            <a:r>
              <a:rPr lang="en-US" dirty="0" err="1"/>
              <a:t>thực</a:t>
            </a:r>
            <a:r>
              <a:rPr lang="en-US" dirty="0"/>
              <a:t> </a:t>
            </a:r>
            <a:r>
              <a:rPr lang="en-US" dirty="0" err="1"/>
              <a:t>của</a:t>
            </a:r>
            <a:r>
              <a:rPr lang="en-US" dirty="0"/>
              <a:t> </a:t>
            </a:r>
            <a:r>
              <a:rPr lang="en-US" dirty="0" err="1"/>
              <a:t>dữ</a:t>
            </a:r>
            <a:r>
              <a:rPr lang="en-US" dirty="0"/>
              <a:t> </a:t>
            </a:r>
            <a:r>
              <a:rPr lang="en-US" dirty="0" err="1"/>
              <a:t>liệu</a:t>
            </a:r>
            <a:r>
              <a:rPr lang="en-US" dirty="0"/>
              <a:t>.</a:t>
            </a:r>
          </a:p>
          <a:p>
            <a:pPr marL="533400" lvl="0" indent="-457200" algn="just" rtl="0">
              <a:spcBef>
                <a:spcPts val="0"/>
              </a:spcBef>
              <a:spcAft>
                <a:spcPts val="0"/>
              </a:spcAft>
              <a:buSzPts val="2400"/>
              <a:buAutoNum type="arabicPeriod"/>
            </a:pPr>
            <a:endParaRPr lang="en-US" dirty="0"/>
          </a:p>
          <a:p>
            <a:pPr marL="533400" lvl="0" indent="-457200" algn="just" rtl="0">
              <a:spcBef>
                <a:spcPts val="0"/>
              </a:spcBef>
              <a:spcAft>
                <a:spcPts val="0"/>
              </a:spcAft>
              <a:buSzPts val="2400"/>
              <a:buAutoNum type="arabicPeriod"/>
            </a:pPr>
            <a:r>
              <a:rPr lang="en-US" dirty="0" err="1"/>
              <a:t>Giám</a:t>
            </a:r>
            <a:r>
              <a:rPr lang="en-US" dirty="0"/>
              <a:t> </a:t>
            </a:r>
            <a:r>
              <a:rPr lang="en-US" dirty="0" err="1"/>
              <a:t>sát</a:t>
            </a:r>
            <a:r>
              <a:rPr lang="en-US" dirty="0"/>
              <a:t>, </a:t>
            </a:r>
            <a:r>
              <a:rPr lang="en-US" dirty="0" err="1"/>
              <a:t>cảnh</a:t>
            </a:r>
            <a:r>
              <a:rPr lang="en-US" dirty="0"/>
              <a:t> </a:t>
            </a:r>
            <a:r>
              <a:rPr lang="en-US" dirty="0" err="1"/>
              <a:t>bảo</a:t>
            </a:r>
            <a:r>
              <a:rPr lang="en-US" dirty="0"/>
              <a:t> </a:t>
            </a:r>
            <a:r>
              <a:rPr lang="en-US" dirty="0" err="1"/>
              <a:t>lưu</a:t>
            </a:r>
            <a:r>
              <a:rPr lang="en-US" dirty="0"/>
              <a:t> </a:t>
            </a:r>
            <a:r>
              <a:rPr lang="en-US" dirty="0" err="1"/>
              <a:t>lượng</a:t>
            </a:r>
            <a:r>
              <a:rPr lang="en-US" dirty="0"/>
              <a:t> </a:t>
            </a:r>
            <a:r>
              <a:rPr lang="en-US" dirty="0" err="1"/>
              <a:t>truy</a:t>
            </a:r>
            <a:r>
              <a:rPr lang="en-US" dirty="0"/>
              <a:t> </a:t>
            </a:r>
            <a:r>
              <a:rPr lang="en-US" dirty="0" err="1"/>
              <a:t>cập</a:t>
            </a:r>
            <a:r>
              <a:rPr lang="en-US" dirty="0"/>
              <a:t> </a:t>
            </a:r>
            <a:r>
              <a:rPr lang="en-US" dirty="0" err="1"/>
              <a:t>không</a:t>
            </a:r>
            <a:r>
              <a:rPr lang="en-US" dirty="0"/>
              <a:t> </a:t>
            </a:r>
            <a:r>
              <a:rPr lang="en-US" dirty="0" err="1"/>
              <a:t>mã</a:t>
            </a:r>
            <a:r>
              <a:rPr lang="en-US" dirty="0"/>
              <a:t> </a:t>
            </a:r>
            <a:r>
              <a:rPr lang="en-US" dirty="0" err="1"/>
              <a:t>hóa</a:t>
            </a:r>
            <a:r>
              <a:rPr lang="en-US" dirty="0"/>
              <a:t> (</a:t>
            </a:r>
            <a:r>
              <a:rPr lang="en-US" i="1" dirty="0"/>
              <a:t>HTTP</a:t>
            </a:r>
            <a:r>
              <a:rPr lang="en-US" dirty="0"/>
              <a:t>) </a:t>
            </a:r>
            <a:r>
              <a:rPr lang="en-US" dirty="0" err="1"/>
              <a:t>trên</a:t>
            </a:r>
            <a:r>
              <a:rPr lang="en-US" dirty="0"/>
              <a:t> </a:t>
            </a:r>
            <a:r>
              <a:rPr lang="en-US" dirty="0" err="1"/>
              <a:t>các</a:t>
            </a:r>
            <a:r>
              <a:rPr lang="en-US" dirty="0"/>
              <a:t> </a:t>
            </a:r>
            <a:r>
              <a:rPr lang="en-US" dirty="0" err="1"/>
              <a:t>cổng</a:t>
            </a:r>
            <a:r>
              <a:rPr lang="en-US" dirty="0"/>
              <a:t> </a:t>
            </a:r>
            <a:r>
              <a:rPr lang="en-US" dirty="0" err="1"/>
              <a:t>nhạy</a:t>
            </a:r>
            <a:r>
              <a:rPr lang="en-US" dirty="0"/>
              <a:t> </a:t>
            </a:r>
            <a:r>
              <a:rPr lang="en-US" dirty="0" err="1"/>
              <a:t>cảm</a:t>
            </a:r>
            <a:r>
              <a:rPr lang="en-US" dirty="0"/>
              <a:t>, </a:t>
            </a:r>
            <a:r>
              <a:rPr lang="en-US" dirty="0" err="1"/>
              <a:t>phát</a:t>
            </a:r>
            <a:r>
              <a:rPr lang="en-US" dirty="0"/>
              <a:t> </a:t>
            </a:r>
            <a:r>
              <a:rPr lang="en-US" dirty="0" err="1"/>
              <a:t>hiện</a:t>
            </a:r>
            <a:r>
              <a:rPr lang="en-US" dirty="0"/>
              <a:t> </a:t>
            </a:r>
            <a:r>
              <a:rPr lang="en-US" dirty="0" err="1"/>
              <a:t>phiên</a:t>
            </a:r>
            <a:r>
              <a:rPr lang="en-US" dirty="0"/>
              <a:t> </a:t>
            </a:r>
            <a:r>
              <a:rPr lang="en-US" dirty="0" err="1"/>
              <a:t>bản</a:t>
            </a:r>
            <a:r>
              <a:rPr lang="en-US" dirty="0"/>
              <a:t> </a:t>
            </a:r>
            <a:r>
              <a:rPr lang="en-US" dirty="0" err="1"/>
              <a:t>giao</a:t>
            </a:r>
            <a:r>
              <a:rPr lang="en-US" dirty="0"/>
              <a:t> </a:t>
            </a:r>
            <a:r>
              <a:rPr lang="en-US" dirty="0" err="1"/>
              <a:t>thức</a:t>
            </a:r>
            <a:r>
              <a:rPr lang="en-US" dirty="0"/>
              <a:t> </a:t>
            </a:r>
            <a:r>
              <a:rPr lang="en-US" dirty="0" err="1"/>
              <a:t>yếu</a:t>
            </a:r>
            <a:r>
              <a:rPr lang="en-US" dirty="0"/>
              <a:t> </a:t>
            </a:r>
            <a:r>
              <a:rPr lang="en-US" dirty="0" err="1"/>
              <a:t>đang</a:t>
            </a:r>
            <a:r>
              <a:rPr lang="en-US" dirty="0"/>
              <a:t> </a:t>
            </a:r>
            <a:r>
              <a:rPr lang="en-US" dirty="0" err="1"/>
              <a:t>được</a:t>
            </a:r>
            <a:r>
              <a:rPr lang="en-US" dirty="0"/>
              <a:t> </a:t>
            </a:r>
            <a:r>
              <a:rPr lang="en-US" dirty="0" err="1"/>
              <a:t>dùng</a:t>
            </a:r>
            <a:r>
              <a:rPr lang="en-US" dirty="0"/>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0">
                                            <p:txEl>
                                              <p:pRg st="0" end="0"/>
                                            </p:txEl>
                                          </p:spTgt>
                                        </p:tgtEl>
                                        <p:attrNameLst>
                                          <p:attrName>style.visibility</p:attrName>
                                        </p:attrNameLst>
                                      </p:cBhvr>
                                      <p:to>
                                        <p:strVal val="visible"/>
                                      </p:to>
                                    </p:set>
                                    <p:animEffect transition="in" filter="fade">
                                      <p:cBhvr>
                                        <p:cTn id="7" dur="500"/>
                                        <p:tgtEl>
                                          <p:spTgt spid="6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0">
                                            <p:txEl>
                                              <p:pRg st="2" end="2"/>
                                            </p:txEl>
                                          </p:spTgt>
                                        </p:tgtEl>
                                        <p:attrNameLst>
                                          <p:attrName>style.visibility</p:attrName>
                                        </p:attrNameLst>
                                      </p:cBhvr>
                                      <p:to>
                                        <p:strVal val="visible"/>
                                      </p:to>
                                    </p:set>
                                    <p:animEffect transition="in" filter="fade">
                                      <p:cBhvr>
                                        <p:cTn id="12" dur="500"/>
                                        <p:tgtEl>
                                          <p:spTgt spid="65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0">
                                            <p:txEl>
                                              <p:pRg st="4" end="4"/>
                                            </p:txEl>
                                          </p:spTgt>
                                        </p:tgtEl>
                                        <p:attrNameLst>
                                          <p:attrName>style.visibility</p:attrName>
                                        </p:attrNameLst>
                                      </p:cBhvr>
                                      <p:to>
                                        <p:strVal val="visible"/>
                                      </p:to>
                                    </p:set>
                                    <p:animEffect transition="in" filter="fade">
                                      <p:cBhvr>
                                        <p:cTn id="17" dur="500"/>
                                        <p:tgtEl>
                                          <p:spTgt spid="65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0">
                                            <p:txEl>
                                              <p:pRg st="6" end="6"/>
                                            </p:txEl>
                                          </p:spTgt>
                                        </p:tgtEl>
                                        <p:attrNameLst>
                                          <p:attrName>style.visibility</p:attrName>
                                        </p:attrNameLst>
                                      </p:cBhvr>
                                      <p:to>
                                        <p:strVal val="visible"/>
                                      </p:to>
                                    </p:set>
                                    <p:animEffect transition="in" filter="fade">
                                      <p:cBhvr>
                                        <p:cTn id="22" dur="500"/>
                                        <p:tgtEl>
                                          <p:spTgt spid="65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0">
                                            <p:txEl>
                                              <p:pRg st="8" end="8"/>
                                            </p:txEl>
                                          </p:spTgt>
                                        </p:tgtEl>
                                        <p:attrNameLst>
                                          <p:attrName>style.visibility</p:attrName>
                                        </p:attrNameLst>
                                      </p:cBhvr>
                                      <p:to>
                                        <p:strVal val="visible"/>
                                      </p:to>
                                    </p:set>
                                    <p:animEffect transition="in" filter="fade">
                                      <p:cBhvr>
                                        <p:cTn id="27" dur="500"/>
                                        <p:tgtEl>
                                          <p:spTgt spid="650">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50">
                                            <p:txEl>
                                              <p:pRg st="10" end="10"/>
                                            </p:txEl>
                                          </p:spTgt>
                                        </p:tgtEl>
                                        <p:attrNameLst>
                                          <p:attrName>style.visibility</p:attrName>
                                        </p:attrNameLst>
                                      </p:cBhvr>
                                      <p:to>
                                        <p:strVal val="visible"/>
                                      </p:to>
                                    </p:set>
                                    <p:animEffect transition="in" filter="fade">
                                      <p:cBhvr>
                                        <p:cTn id="32" dur="500"/>
                                        <p:tgtEl>
                                          <p:spTgt spid="650">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0">
                                            <p:txEl>
                                              <p:pRg st="12" end="12"/>
                                            </p:txEl>
                                          </p:spTgt>
                                        </p:tgtEl>
                                        <p:attrNameLst>
                                          <p:attrName>style.visibility</p:attrName>
                                        </p:attrNameLst>
                                      </p:cBhvr>
                                      <p:to>
                                        <p:strVal val="visible"/>
                                      </p:to>
                                    </p:set>
                                    <p:animEffect transition="in" filter="fade">
                                      <p:cBhvr>
                                        <p:cTn id="37" dur="500"/>
                                        <p:tgtEl>
                                          <p:spTgt spid="65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44"/>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2.2. QUẢN LÝ KHÓA KÉM</a:t>
            </a:r>
            <a:endParaRPr sz="3200" dirty="0"/>
          </a:p>
          <a:p>
            <a:pPr marL="0" lvl="0" indent="0" algn="l" rtl="0">
              <a:lnSpc>
                <a:spcPct val="90000"/>
              </a:lnSpc>
              <a:spcBef>
                <a:spcPts val="0"/>
              </a:spcBef>
              <a:spcAft>
                <a:spcPts val="0"/>
              </a:spcAft>
              <a:buClr>
                <a:srgbClr val="0070C0"/>
              </a:buClr>
              <a:buSzPts val="4000"/>
              <a:buFont typeface="Times New Roman"/>
              <a:buNone/>
            </a:pPr>
            <a:r>
              <a:rPr lang="en-US" sz="3200" dirty="0"/>
              <a:t>	</a:t>
            </a:r>
            <a:r>
              <a:rPr lang="en-US" sz="2800" dirty="0"/>
              <a:t>2.2.1. GIỚI THIỆU</a:t>
            </a:r>
            <a:endParaRPr sz="2800" dirty="0"/>
          </a:p>
        </p:txBody>
      </p:sp>
      <p:sp>
        <p:nvSpPr>
          <p:cNvPr id="657" name="Google Shape;657;p44"/>
          <p:cNvSpPr txBox="1">
            <a:spLocks noGrp="1"/>
          </p:cNvSpPr>
          <p:nvPr>
            <p:ph type="body" idx="1"/>
          </p:nvPr>
        </p:nvSpPr>
        <p:spPr>
          <a:xfrm>
            <a:off x="838200" y="1477705"/>
            <a:ext cx="10728158" cy="4345716"/>
          </a:xfrm>
          <a:prstGeom prst="rect">
            <a:avLst/>
          </a:prstGeom>
          <a:noFill/>
          <a:ln>
            <a:noFill/>
          </a:ln>
        </p:spPr>
        <p:txBody>
          <a:bodyPr spcFirstLastPara="1" wrap="square" lIns="91425" tIns="45700" rIns="91425" bIns="45700" anchor="t" anchorCtr="0">
            <a:normAutofit/>
          </a:bodyPr>
          <a:lstStyle/>
          <a:p>
            <a:r>
              <a:rPr lang="vi-VN" b="1" i="1" dirty="0"/>
              <a:t>Quản lý khóa kém </a:t>
            </a:r>
            <a:r>
              <a:rPr lang="vi-VN" dirty="0"/>
              <a:t>(không an toàn) là một lỗ hổng phổ biến trong nhóm </a:t>
            </a:r>
            <a:r>
              <a:rPr lang="vi-VN" dirty="0" err="1"/>
              <a:t>Cryptographic</a:t>
            </a:r>
            <a:r>
              <a:rPr lang="vi-VN" dirty="0"/>
              <a:t> </a:t>
            </a:r>
            <a:r>
              <a:rPr lang="vi-VN" dirty="0" err="1"/>
              <a:t>Failures</a:t>
            </a:r>
            <a:r>
              <a:rPr lang="vi-VN" dirty="0"/>
              <a:t> của OWASP, xảy ra khi các khóa, mật khẩu được lưu trữ và sử dụng không đúng cách. </a:t>
            </a:r>
          </a:p>
          <a:p>
            <a:br>
              <a:rPr lang="vi-VN" dirty="0"/>
            </a:br>
            <a:endParaRPr dirty="0"/>
          </a:p>
        </p:txBody>
      </p:sp>
      <p:pic>
        <p:nvPicPr>
          <p:cNvPr id="3078" name="Picture 6">
            <a:extLst>
              <a:ext uri="{FF2B5EF4-FFF2-40B4-BE49-F238E27FC236}">
                <a16:creationId xmlns:a16="http://schemas.microsoft.com/office/drawing/2014/main" id="{9DD45F14-AF28-4FFC-1A63-D912931D9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368" y="3296237"/>
            <a:ext cx="9625263" cy="24112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7">
                                            <p:txEl>
                                              <p:pRg st="0" end="0"/>
                                            </p:txEl>
                                          </p:spTgt>
                                        </p:tgtEl>
                                        <p:attrNameLst>
                                          <p:attrName>style.visibility</p:attrName>
                                        </p:attrNameLst>
                                      </p:cBhvr>
                                      <p:to>
                                        <p:strVal val="visible"/>
                                      </p:to>
                                    </p:set>
                                    <p:animEffect transition="in" filter="fade">
                                      <p:cBhvr>
                                        <p:cTn id="7" dur="500"/>
                                        <p:tgtEl>
                                          <p:spTgt spid="6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fade">
                                      <p:cBhvr>
                                        <p:cTn id="1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5"/>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2.2. QUẢN LÝ KHÓA KÉM</a:t>
            </a:r>
            <a:endParaRPr sz="3200" dirty="0"/>
          </a:p>
          <a:p>
            <a:pPr marL="0" lvl="0" indent="0" algn="l" rtl="0">
              <a:lnSpc>
                <a:spcPct val="90000"/>
              </a:lnSpc>
              <a:spcBef>
                <a:spcPts val="0"/>
              </a:spcBef>
              <a:spcAft>
                <a:spcPts val="0"/>
              </a:spcAft>
              <a:buClr>
                <a:srgbClr val="0070C0"/>
              </a:buClr>
              <a:buSzPts val="4000"/>
              <a:buFont typeface="Times New Roman"/>
              <a:buNone/>
            </a:pPr>
            <a:r>
              <a:rPr lang="en-US" sz="3200" dirty="0"/>
              <a:t>	</a:t>
            </a:r>
            <a:r>
              <a:rPr lang="en-US" sz="2800" dirty="0"/>
              <a:t>2.2.2. VÍ DỤ</a:t>
            </a:r>
            <a:endParaRPr sz="2800" dirty="0"/>
          </a:p>
        </p:txBody>
      </p:sp>
      <p:sp>
        <p:nvSpPr>
          <p:cNvPr id="664" name="Google Shape;664;p45"/>
          <p:cNvSpPr txBox="1">
            <a:spLocks noGrp="1"/>
          </p:cNvSpPr>
          <p:nvPr>
            <p:ph type="body" idx="1"/>
          </p:nvPr>
        </p:nvSpPr>
        <p:spPr>
          <a:xfrm>
            <a:off x="838200" y="1477568"/>
            <a:ext cx="10515600" cy="4699500"/>
          </a:xfrm>
          <a:prstGeom prst="rect">
            <a:avLst/>
          </a:prstGeom>
          <a:noFill/>
          <a:ln>
            <a:noFill/>
          </a:ln>
        </p:spPr>
        <p:txBody>
          <a:bodyPr spcFirstLastPara="1" wrap="square" lIns="91425" tIns="45700" rIns="91425" bIns="45700" anchor="t" anchorCtr="0">
            <a:normAutofit lnSpcReduction="10000"/>
          </a:bodyPr>
          <a:lstStyle/>
          <a:p>
            <a:pPr marL="685800" indent="-457200" fontAlgn="base">
              <a:buAutoNum type="arabicPeriod"/>
            </a:pPr>
            <a:r>
              <a:rPr lang="vi-VN" dirty="0"/>
              <a:t>Khóa, </a:t>
            </a:r>
            <a:r>
              <a:rPr lang="vi-VN" dirty="0" err="1"/>
              <a:t>secret</a:t>
            </a:r>
            <a:r>
              <a:rPr lang="vi-VN" dirty="0"/>
              <a:t> API, </a:t>
            </a:r>
            <a:r>
              <a:rPr lang="vi-VN" dirty="0" err="1"/>
              <a:t>passphrase</a:t>
            </a:r>
            <a:r>
              <a:rPr lang="vi-VN" dirty="0"/>
              <a:t> nằm trực tiếp trong mã nguồn</a:t>
            </a:r>
            <a:r>
              <a:rPr lang="en-US" dirty="0"/>
              <a:t>.</a:t>
            </a:r>
          </a:p>
          <a:p>
            <a:pPr marL="685800" indent="-457200" fontAlgn="base">
              <a:buAutoNum type="arabicPeriod"/>
            </a:pPr>
            <a:endParaRPr lang="en-US" dirty="0"/>
          </a:p>
          <a:p>
            <a:pPr marL="685800" indent="-457200" fontAlgn="base">
              <a:buAutoNum type="arabicPeriod"/>
            </a:pPr>
            <a:r>
              <a:rPr lang="vi-VN" dirty="0"/>
              <a:t>Lưu khóa trong </a:t>
            </a:r>
            <a:r>
              <a:rPr lang="vi-VN" dirty="0" err="1"/>
              <a:t>repo</a:t>
            </a:r>
            <a:r>
              <a:rPr lang="vi-VN" dirty="0"/>
              <a:t> công khai / </a:t>
            </a:r>
            <a:r>
              <a:rPr lang="vi-VN" dirty="0" err="1"/>
              <a:t>private</a:t>
            </a:r>
            <a:r>
              <a:rPr lang="en-US" dirty="0"/>
              <a:t>.</a:t>
            </a:r>
          </a:p>
          <a:p>
            <a:pPr marL="685800" indent="-457200" fontAlgn="base">
              <a:buAutoNum type="arabicPeriod"/>
            </a:pPr>
            <a:endParaRPr lang="en-US" dirty="0"/>
          </a:p>
          <a:p>
            <a:pPr marL="685800" indent="-457200" fontAlgn="base">
              <a:buAutoNum type="arabicPeriod"/>
            </a:pPr>
            <a:r>
              <a:rPr lang="vi-VN" dirty="0"/>
              <a:t>Lưu khóa trong các vị trí không an toàn hoặc không được bảo vệ</a:t>
            </a:r>
            <a:r>
              <a:rPr lang="en-US" dirty="0"/>
              <a:t>.</a:t>
            </a:r>
          </a:p>
          <a:p>
            <a:pPr marL="685800" indent="-457200" fontAlgn="base">
              <a:buAutoNum type="arabicPeriod"/>
            </a:pPr>
            <a:endParaRPr lang="en-US" dirty="0"/>
          </a:p>
          <a:p>
            <a:pPr marL="685800" indent="-457200" fontAlgn="base">
              <a:buAutoNum type="arabicPeriod"/>
            </a:pPr>
            <a:r>
              <a:rPr lang="vi-VN" dirty="0"/>
              <a:t>Không xoay vòng khóa định kỳ</a:t>
            </a:r>
            <a:r>
              <a:rPr lang="en-US" dirty="0"/>
              <a:t>.</a:t>
            </a:r>
          </a:p>
          <a:p>
            <a:pPr marL="685800" indent="-457200" fontAlgn="base">
              <a:buAutoNum type="arabicPeriod"/>
            </a:pPr>
            <a:endParaRPr lang="en-US" dirty="0"/>
          </a:p>
          <a:p>
            <a:pPr marL="685800" indent="-457200" fontAlgn="base">
              <a:buAutoNum type="arabicPeriod"/>
            </a:pPr>
            <a:r>
              <a:rPr lang="vi-VN" dirty="0"/>
              <a:t>Sử dụng cùng một khóa cho nhiều mục đích khác nhau</a:t>
            </a:r>
            <a:r>
              <a:rPr lang="en-US" dirty="0"/>
              <a:t>.</a:t>
            </a:r>
            <a:endParaRPr lang="vi-VN" dirty="0"/>
          </a:p>
          <a:p>
            <a:pPr marL="0" lvl="0" indent="0" algn="just" rtl="0">
              <a:lnSpc>
                <a:spcPct val="100000"/>
              </a:lnSpc>
              <a:spcBef>
                <a:spcPts val="0"/>
              </a:spcBef>
              <a:spcAft>
                <a:spcPts val="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4">
                                            <p:txEl>
                                              <p:pRg st="0" end="0"/>
                                            </p:txEl>
                                          </p:spTgt>
                                        </p:tgtEl>
                                        <p:attrNameLst>
                                          <p:attrName>style.visibility</p:attrName>
                                        </p:attrNameLst>
                                      </p:cBhvr>
                                      <p:to>
                                        <p:strVal val="visible"/>
                                      </p:to>
                                    </p:set>
                                    <p:animEffect transition="in" filter="fade">
                                      <p:cBhvr>
                                        <p:cTn id="7" dur="500"/>
                                        <p:tgtEl>
                                          <p:spTgt spid="6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4">
                                            <p:txEl>
                                              <p:pRg st="2" end="2"/>
                                            </p:txEl>
                                          </p:spTgt>
                                        </p:tgtEl>
                                        <p:attrNameLst>
                                          <p:attrName>style.visibility</p:attrName>
                                        </p:attrNameLst>
                                      </p:cBhvr>
                                      <p:to>
                                        <p:strVal val="visible"/>
                                      </p:to>
                                    </p:set>
                                    <p:animEffect transition="in" filter="fade">
                                      <p:cBhvr>
                                        <p:cTn id="12" dur="500"/>
                                        <p:tgtEl>
                                          <p:spTgt spid="66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4">
                                            <p:txEl>
                                              <p:pRg st="4" end="4"/>
                                            </p:txEl>
                                          </p:spTgt>
                                        </p:tgtEl>
                                        <p:attrNameLst>
                                          <p:attrName>style.visibility</p:attrName>
                                        </p:attrNameLst>
                                      </p:cBhvr>
                                      <p:to>
                                        <p:strVal val="visible"/>
                                      </p:to>
                                    </p:set>
                                    <p:animEffect transition="in" filter="fade">
                                      <p:cBhvr>
                                        <p:cTn id="17" dur="500"/>
                                        <p:tgtEl>
                                          <p:spTgt spid="66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64">
                                            <p:txEl>
                                              <p:pRg st="6" end="6"/>
                                            </p:txEl>
                                          </p:spTgt>
                                        </p:tgtEl>
                                        <p:attrNameLst>
                                          <p:attrName>style.visibility</p:attrName>
                                        </p:attrNameLst>
                                      </p:cBhvr>
                                      <p:to>
                                        <p:strVal val="visible"/>
                                      </p:to>
                                    </p:set>
                                    <p:animEffect transition="in" filter="fade">
                                      <p:cBhvr>
                                        <p:cTn id="22" dur="500"/>
                                        <p:tgtEl>
                                          <p:spTgt spid="66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64">
                                            <p:txEl>
                                              <p:pRg st="8" end="8"/>
                                            </p:txEl>
                                          </p:spTgt>
                                        </p:tgtEl>
                                        <p:attrNameLst>
                                          <p:attrName>style.visibility</p:attrName>
                                        </p:attrNameLst>
                                      </p:cBhvr>
                                      <p:to>
                                        <p:strVal val="visible"/>
                                      </p:to>
                                    </p:set>
                                    <p:animEffect transition="in" filter="fade">
                                      <p:cBhvr>
                                        <p:cTn id="27" dur="500"/>
                                        <p:tgtEl>
                                          <p:spTgt spid="66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46"/>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2.2. QUẢN LÝ KHÓA KÉM</a:t>
            </a:r>
            <a:endParaRPr sz="3200" dirty="0"/>
          </a:p>
          <a:p>
            <a:pPr marL="0" lvl="0" indent="0" algn="l" rtl="0">
              <a:lnSpc>
                <a:spcPct val="90000"/>
              </a:lnSpc>
              <a:spcBef>
                <a:spcPts val="0"/>
              </a:spcBef>
              <a:spcAft>
                <a:spcPts val="0"/>
              </a:spcAft>
              <a:buClr>
                <a:srgbClr val="0070C0"/>
              </a:buClr>
              <a:buSzPts val="4000"/>
              <a:buFont typeface="Times New Roman"/>
              <a:buNone/>
            </a:pPr>
            <a:r>
              <a:rPr lang="en-US" sz="3200" dirty="0"/>
              <a:t>	</a:t>
            </a:r>
            <a:r>
              <a:rPr lang="en-US" sz="2800" dirty="0"/>
              <a:t>2.2.3. HẬU QUẢ</a:t>
            </a:r>
            <a:endParaRPr sz="2800" dirty="0"/>
          </a:p>
        </p:txBody>
      </p:sp>
      <p:sp>
        <p:nvSpPr>
          <p:cNvPr id="3" name="TextBox 2">
            <a:extLst>
              <a:ext uri="{FF2B5EF4-FFF2-40B4-BE49-F238E27FC236}">
                <a16:creationId xmlns:a16="http://schemas.microsoft.com/office/drawing/2014/main" id="{C4ED50C8-48E3-AECE-C8F0-A4D909262A43}"/>
              </a:ext>
            </a:extLst>
          </p:cNvPr>
          <p:cNvSpPr txBox="1"/>
          <p:nvPr/>
        </p:nvSpPr>
        <p:spPr>
          <a:xfrm>
            <a:off x="1243263" y="1959023"/>
            <a:ext cx="9705473" cy="3354765"/>
          </a:xfrm>
          <a:prstGeom prst="rect">
            <a:avLst/>
          </a:prstGeom>
          <a:noFill/>
        </p:spPr>
        <p:txBody>
          <a:bodyPr wrap="square">
            <a:spAutoFit/>
          </a:bodyPr>
          <a:lstStyle/>
          <a:p>
            <a:pPr algn="just" rtl="0">
              <a:spcBef>
                <a:spcPts val="1200"/>
              </a:spcBef>
              <a:buNone/>
            </a:pPr>
            <a:r>
              <a:rPr lang="vi-VN" sz="2400" b="0" i="0" u="none" strike="noStrike" dirty="0">
                <a:solidFill>
                  <a:srgbClr val="000000"/>
                </a:solidFill>
                <a:effectLst/>
                <a:latin typeface="Readex Pro" panose="020B0604020202020204" charset="-78"/>
                <a:cs typeface="Readex Pro" panose="020B0604020202020204" charset="-78"/>
              </a:rPr>
              <a:t>Xác thực vi phạm RSA 2011 bị lộ đã xâm phạm hàng triệu mã thông báo </a:t>
            </a:r>
            <a:r>
              <a:rPr lang="vi-VN" sz="2400" b="0" i="0" u="none" strike="noStrike" dirty="0" err="1">
                <a:solidFill>
                  <a:srgbClr val="000000"/>
                </a:solidFill>
                <a:effectLst/>
                <a:latin typeface="Readex Pro" panose="020B0604020202020204" charset="-78"/>
                <a:cs typeface="Readex Pro" panose="020B0604020202020204" charset="-78"/>
              </a:rPr>
              <a:t>SecurID</a:t>
            </a:r>
            <a:r>
              <a:rPr lang="vi-VN" sz="2400" b="0" i="0" u="none" strike="noStrike" dirty="0">
                <a:solidFill>
                  <a:srgbClr val="000000"/>
                </a:solidFill>
                <a:effectLst/>
                <a:latin typeface="Readex Pro" panose="020B0604020202020204" charset="-78"/>
                <a:cs typeface="Readex Pro" panose="020B0604020202020204" charset="-78"/>
              </a:rPr>
              <a:t>. Tin tặc đã lấy được các giá trị “hạt giống” mật mã RSA không thể bảo mật đúng cách trên hệ thống nội bộ.</a:t>
            </a:r>
            <a:endParaRPr lang="en-US" sz="2400" b="0" i="0" u="none" strike="noStrike" dirty="0">
              <a:solidFill>
                <a:srgbClr val="000000"/>
              </a:solidFill>
              <a:effectLst/>
              <a:latin typeface="Readex Pro" panose="020B0604020202020204" charset="-78"/>
              <a:cs typeface="Readex Pro" panose="020B0604020202020204" charset="-78"/>
            </a:endParaRPr>
          </a:p>
          <a:p>
            <a:pPr algn="just" rtl="0">
              <a:spcBef>
                <a:spcPts val="1200"/>
              </a:spcBef>
              <a:buNone/>
            </a:pPr>
            <a:endParaRPr lang="en-US" sz="2400" b="0" i="0" u="none" strike="noStrike" dirty="0">
              <a:solidFill>
                <a:srgbClr val="000000"/>
              </a:solidFill>
              <a:effectLst/>
              <a:latin typeface="Readex Pro" panose="020B0604020202020204" charset="-78"/>
              <a:cs typeface="Readex Pro" panose="020B0604020202020204" charset="-78"/>
            </a:endParaRPr>
          </a:p>
          <a:p>
            <a:pPr algn="just" rtl="0">
              <a:spcBef>
                <a:spcPts val="1200"/>
              </a:spcBef>
              <a:buNone/>
            </a:pPr>
            <a:r>
              <a:rPr lang="vi-VN" sz="2400" b="0" i="0" u="none" strike="noStrike" dirty="0">
                <a:solidFill>
                  <a:srgbClr val="000000"/>
                </a:solidFill>
                <a:effectLst/>
                <a:latin typeface="Readex Pro" panose="020B0604020202020204" charset="-78"/>
                <a:cs typeface="Readex Pro" panose="020B0604020202020204" charset="-78"/>
              </a:rPr>
              <a:t>Điều này cho phép kẻ tấn công sao chép thuật toán </a:t>
            </a:r>
            <a:r>
              <a:rPr lang="vi-VN" sz="2400" b="1" i="0" u="none" strike="noStrike" dirty="0" err="1">
                <a:solidFill>
                  <a:srgbClr val="000000"/>
                </a:solidFill>
                <a:effectLst/>
                <a:latin typeface="Readex Pro" panose="020B0604020202020204" charset="-78"/>
                <a:cs typeface="Readex Pro" panose="020B0604020202020204" charset="-78"/>
              </a:rPr>
              <a:t>SecurID</a:t>
            </a:r>
            <a:r>
              <a:rPr lang="vi-VN" sz="2400" b="0" i="0" u="none" strike="noStrike" dirty="0">
                <a:solidFill>
                  <a:srgbClr val="000000"/>
                </a:solidFill>
                <a:effectLst/>
                <a:latin typeface="Readex Pro" panose="020B0604020202020204" charset="-78"/>
                <a:cs typeface="Readex Pro" panose="020B0604020202020204" charset="-78"/>
              </a:rPr>
              <a:t> để xác thực hai yếu tố trên mạng ngân hàng, chính phủ và quân sự</a:t>
            </a:r>
            <a:r>
              <a:rPr lang="en-US" sz="2400" b="0" i="0" u="none" strike="noStrike" dirty="0">
                <a:solidFill>
                  <a:srgbClr val="000000"/>
                </a:solidFill>
                <a:effectLst/>
                <a:latin typeface="Readex Pro" panose="020B0604020202020204" charset="-78"/>
                <a:cs typeface="Readex Pro" panose="020B0604020202020204" charset="-78"/>
              </a:rPr>
              <a:t>.</a:t>
            </a:r>
            <a:endParaRPr lang="vi-VN" sz="2400" b="0" dirty="0">
              <a:effectLst/>
              <a:latin typeface="Readex Pro" panose="020B0604020202020204" charset="-78"/>
              <a:cs typeface="Readex Pro" panose="020B0604020202020204" charset="-78"/>
            </a:endParaRPr>
          </a:p>
          <a:p>
            <a:pPr>
              <a:buNone/>
            </a:pPr>
            <a:br>
              <a:rPr lang="vi-VN" sz="2400" dirty="0">
                <a:latin typeface="Readex Pro" panose="020B0604020202020204" charset="-78"/>
                <a:cs typeface="Readex Pro" panose="020B0604020202020204" charset="-78"/>
              </a:rPr>
            </a:br>
            <a:endParaRPr lang="vi-VN" sz="2400" dirty="0">
              <a:latin typeface="Readex Pro" panose="020B0604020202020204" charset="-78"/>
              <a:cs typeface="Readex Pro" panose="020B0604020202020204"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47"/>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2.2. QUẢN LÝ KHÓA KÉM</a:t>
            </a:r>
            <a:endParaRPr sz="3200" dirty="0"/>
          </a:p>
          <a:p>
            <a:pPr marL="0" lvl="0" indent="0" algn="l" rtl="0">
              <a:lnSpc>
                <a:spcPct val="90000"/>
              </a:lnSpc>
              <a:spcBef>
                <a:spcPts val="0"/>
              </a:spcBef>
              <a:spcAft>
                <a:spcPts val="0"/>
              </a:spcAft>
              <a:buClr>
                <a:srgbClr val="0070C0"/>
              </a:buClr>
              <a:buSzPts val="4000"/>
              <a:buFont typeface="Times New Roman"/>
              <a:buNone/>
            </a:pPr>
            <a:r>
              <a:rPr lang="en-US" sz="3200" dirty="0"/>
              <a:t>	</a:t>
            </a:r>
            <a:r>
              <a:rPr lang="en-US" sz="2800" dirty="0"/>
              <a:t>2.2.4. PHÒNG NGỪA, NGĂN CHẶN </a:t>
            </a:r>
            <a:endParaRPr sz="2800" dirty="0"/>
          </a:p>
        </p:txBody>
      </p:sp>
      <p:sp>
        <p:nvSpPr>
          <p:cNvPr id="678" name="Google Shape;678;p47"/>
          <p:cNvSpPr txBox="1">
            <a:spLocks noGrp="1"/>
          </p:cNvSpPr>
          <p:nvPr>
            <p:ph type="body" idx="1"/>
          </p:nvPr>
        </p:nvSpPr>
        <p:spPr>
          <a:xfrm>
            <a:off x="838200" y="1477568"/>
            <a:ext cx="10515600" cy="4699500"/>
          </a:xfrm>
          <a:prstGeom prst="rect">
            <a:avLst/>
          </a:prstGeom>
          <a:noFill/>
          <a:ln>
            <a:noFill/>
          </a:ln>
        </p:spPr>
        <p:txBody>
          <a:bodyPr spcFirstLastPara="1" wrap="square" lIns="91425" tIns="45700" rIns="91425" bIns="45700" anchor="t" anchorCtr="0">
            <a:normAutofit fontScale="92500"/>
          </a:bodyPr>
          <a:lstStyle/>
          <a:p>
            <a:pPr marL="685800" indent="-457200" fontAlgn="base">
              <a:buAutoNum type="arabicPeriod"/>
            </a:pPr>
            <a:r>
              <a:rPr lang="en-US" dirty="0" err="1"/>
              <a:t>Thiết</a:t>
            </a:r>
            <a:r>
              <a:rPr lang="en-US" dirty="0"/>
              <a:t> </a:t>
            </a:r>
            <a:r>
              <a:rPr lang="en-US" dirty="0" err="1"/>
              <a:t>lập</a:t>
            </a:r>
            <a:r>
              <a:rPr lang="en-US" dirty="0"/>
              <a:t> </a:t>
            </a:r>
            <a:r>
              <a:rPr lang="en-US" dirty="0" err="1"/>
              <a:t>các</a:t>
            </a:r>
            <a:r>
              <a:rPr lang="en-US" dirty="0"/>
              <a:t> </a:t>
            </a:r>
            <a:r>
              <a:rPr lang="en-US" dirty="0" err="1"/>
              <a:t>chính</a:t>
            </a:r>
            <a:r>
              <a:rPr lang="en-US" dirty="0"/>
              <a:t> </a:t>
            </a:r>
            <a:r>
              <a:rPr lang="en-US" dirty="0" err="1"/>
              <a:t>sách</a:t>
            </a:r>
            <a:r>
              <a:rPr lang="en-US" dirty="0"/>
              <a:t>, </a:t>
            </a:r>
            <a:r>
              <a:rPr lang="en-US" dirty="0" err="1"/>
              <a:t>vai</a:t>
            </a:r>
            <a:r>
              <a:rPr lang="en-US" dirty="0"/>
              <a:t> </a:t>
            </a:r>
            <a:r>
              <a:rPr lang="en-US" dirty="0" err="1"/>
              <a:t>trò</a:t>
            </a:r>
            <a:r>
              <a:rPr lang="en-US" dirty="0"/>
              <a:t> </a:t>
            </a:r>
            <a:r>
              <a:rPr lang="en-US" dirty="0" err="1"/>
              <a:t>và</a:t>
            </a:r>
            <a:r>
              <a:rPr lang="en-US" dirty="0"/>
              <a:t> </a:t>
            </a:r>
            <a:r>
              <a:rPr lang="en-US" dirty="0" err="1"/>
              <a:t>trách</a:t>
            </a:r>
            <a:r>
              <a:rPr lang="en-US" dirty="0"/>
              <a:t> </a:t>
            </a:r>
            <a:r>
              <a:rPr lang="en-US" dirty="0" err="1"/>
              <a:t>nhiệm</a:t>
            </a:r>
            <a:r>
              <a:rPr lang="en-US" dirty="0"/>
              <a:t> </a:t>
            </a:r>
            <a:r>
              <a:rPr lang="en-US" dirty="0" err="1"/>
              <a:t>quản</a:t>
            </a:r>
            <a:r>
              <a:rPr lang="en-US" dirty="0"/>
              <a:t> </a:t>
            </a:r>
            <a:r>
              <a:rPr lang="en-US" dirty="0" err="1"/>
              <a:t>lý</a:t>
            </a:r>
            <a:r>
              <a:rPr lang="en-US" dirty="0"/>
              <a:t> </a:t>
            </a:r>
            <a:r>
              <a:rPr lang="en-US" dirty="0" err="1"/>
              <a:t>khóa</a:t>
            </a:r>
            <a:r>
              <a:rPr lang="en-US" dirty="0"/>
              <a:t> </a:t>
            </a:r>
            <a:r>
              <a:rPr lang="en-US" dirty="0" err="1"/>
              <a:t>chính</a:t>
            </a:r>
            <a:r>
              <a:rPr lang="en-US" dirty="0"/>
              <a:t> </a:t>
            </a:r>
            <a:r>
              <a:rPr lang="en-US" dirty="0" err="1"/>
              <a:t>thức</a:t>
            </a:r>
            <a:endParaRPr lang="en-US" dirty="0"/>
          </a:p>
          <a:p>
            <a:pPr marL="685800" indent="-457200" fontAlgn="base">
              <a:buAutoNum type="arabicPeriod"/>
            </a:pPr>
            <a:endParaRPr lang="en-US" dirty="0"/>
          </a:p>
          <a:p>
            <a:pPr marL="685800" indent="-457200" fontAlgn="base">
              <a:buAutoNum type="arabicPeriod"/>
            </a:pPr>
            <a:r>
              <a:rPr lang="en-US" dirty="0" err="1"/>
              <a:t>Lựa</a:t>
            </a:r>
            <a:r>
              <a:rPr lang="en-US" dirty="0"/>
              <a:t> </a:t>
            </a:r>
            <a:r>
              <a:rPr lang="en-US" dirty="0" err="1"/>
              <a:t>chọn</a:t>
            </a:r>
            <a:r>
              <a:rPr lang="en-US" dirty="0"/>
              <a:t> </a:t>
            </a:r>
            <a:r>
              <a:rPr lang="en-US" dirty="0" err="1"/>
              <a:t>cẩn</a:t>
            </a:r>
            <a:r>
              <a:rPr lang="en-US" dirty="0"/>
              <a:t> </a:t>
            </a:r>
            <a:r>
              <a:rPr lang="en-US" dirty="0" err="1"/>
              <a:t>thận</a:t>
            </a:r>
            <a:r>
              <a:rPr lang="en-US" dirty="0"/>
              <a:t> </a:t>
            </a:r>
            <a:r>
              <a:rPr lang="en-US" dirty="0" err="1"/>
              <a:t>các</a:t>
            </a:r>
            <a:r>
              <a:rPr lang="en-US" dirty="0"/>
              <a:t> </a:t>
            </a:r>
            <a:r>
              <a:rPr lang="en-US" dirty="0" err="1"/>
              <a:t>thuật</a:t>
            </a:r>
            <a:r>
              <a:rPr lang="en-US" dirty="0"/>
              <a:t> </a:t>
            </a:r>
            <a:r>
              <a:rPr lang="en-US" dirty="0" err="1"/>
              <a:t>toán</a:t>
            </a:r>
            <a:r>
              <a:rPr lang="en-US" dirty="0"/>
              <a:t> </a:t>
            </a:r>
            <a:r>
              <a:rPr lang="en-US" dirty="0" err="1"/>
              <a:t>mã</a:t>
            </a:r>
            <a:r>
              <a:rPr lang="en-US" dirty="0"/>
              <a:t> </a:t>
            </a:r>
            <a:r>
              <a:rPr lang="en-US" dirty="0" err="1"/>
              <a:t>hóa</a:t>
            </a:r>
            <a:r>
              <a:rPr lang="en-US" dirty="0"/>
              <a:t> </a:t>
            </a:r>
            <a:r>
              <a:rPr lang="en-US" dirty="0" err="1"/>
              <a:t>và</a:t>
            </a:r>
            <a:r>
              <a:rPr lang="en-US" dirty="0"/>
              <a:t> </a:t>
            </a:r>
            <a:r>
              <a:rPr lang="en-US" dirty="0" err="1"/>
              <a:t>độ</a:t>
            </a:r>
            <a:r>
              <a:rPr lang="en-US" dirty="0"/>
              <a:t> </a:t>
            </a:r>
            <a:r>
              <a:rPr lang="en-US" dirty="0" err="1"/>
              <a:t>dài</a:t>
            </a:r>
            <a:r>
              <a:rPr lang="en-US" dirty="0"/>
              <a:t> </a:t>
            </a:r>
            <a:r>
              <a:rPr lang="en-US" dirty="0" err="1"/>
              <a:t>khóa</a:t>
            </a:r>
            <a:endParaRPr lang="en-US" dirty="0"/>
          </a:p>
          <a:p>
            <a:pPr marL="685800" indent="-457200" fontAlgn="base">
              <a:buAutoNum type="arabicPeriod"/>
            </a:pPr>
            <a:endParaRPr lang="en-US" dirty="0"/>
          </a:p>
          <a:p>
            <a:pPr marL="685800" indent="-457200" fontAlgn="base">
              <a:buAutoNum type="arabicPeriod"/>
            </a:pPr>
            <a:r>
              <a:rPr lang="en-US" dirty="0" err="1"/>
              <a:t>Thực</a:t>
            </a:r>
            <a:r>
              <a:rPr lang="en-US" dirty="0"/>
              <a:t> </a:t>
            </a:r>
            <a:r>
              <a:rPr lang="en-US" dirty="0" err="1"/>
              <a:t>thi</a:t>
            </a:r>
            <a:r>
              <a:rPr lang="en-US" dirty="0"/>
              <a:t> </a:t>
            </a:r>
            <a:r>
              <a:rPr lang="en-US" dirty="0" err="1"/>
              <a:t>việc</a:t>
            </a:r>
            <a:r>
              <a:rPr lang="en-US" dirty="0"/>
              <a:t> </a:t>
            </a:r>
            <a:r>
              <a:rPr lang="en-US" dirty="0" err="1"/>
              <a:t>tạo</a:t>
            </a:r>
            <a:r>
              <a:rPr lang="en-US" dirty="0"/>
              <a:t> </a:t>
            </a:r>
            <a:r>
              <a:rPr lang="en-US" dirty="0" err="1"/>
              <a:t>khóa</a:t>
            </a:r>
            <a:r>
              <a:rPr lang="en-US" dirty="0"/>
              <a:t> an </a:t>
            </a:r>
            <a:r>
              <a:rPr lang="en-US" dirty="0" err="1"/>
              <a:t>toàn</a:t>
            </a:r>
            <a:endParaRPr lang="en-US" dirty="0"/>
          </a:p>
          <a:p>
            <a:pPr marL="685800" indent="-457200" fontAlgn="base">
              <a:buAutoNum type="arabicPeriod"/>
            </a:pPr>
            <a:endParaRPr lang="en-US" dirty="0"/>
          </a:p>
          <a:p>
            <a:pPr marL="685800" indent="-457200" fontAlgn="base">
              <a:buAutoNum type="arabicPeriod"/>
            </a:pPr>
            <a:r>
              <a:rPr lang="en-US" dirty="0" err="1"/>
              <a:t>Phân</a:t>
            </a:r>
            <a:r>
              <a:rPr lang="en-US" dirty="0"/>
              <a:t> </a:t>
            </a:r>
            <a:r>
              <a:rPr lang="en-US" dirty="0" err="1"/>
              <a:t>phối</a:t>
            </a:r>
            <a:r>
              <a:rPr lang="en-US" dirty="0"/>
              <a:t> </a:t>
            </a:r>
            <a:r>
              <a:rPr lang="en-US" dirty="0" err="1"/>
              <a:t>và</a:t>
            </a:r>
            <a:r>
              <a:rPr lang="en-US" dirty="0"/>
              <a:t> </a:t>
            </a:r>
            <a:r>
              <a:rPr lang="en-US" dirty="0" err="1"/>
              <a:t>tiêm</a:t>
            </a:r>
            <a:r>
              <a:rPr lang="en-US" dirty="0"/>
              <a:t> </a:t>
            </a:r>
            <a:r>
              <a:rPr lang="en-US" dirty="0" err="1"/>
              <a:t>khóa</a:t>
            </a:r>
            <a:r>
              <a:rPr lang="en-US" dirty="0"/>
              <a:t> </a:t>
            </a:r>
            <a:r>
              <a:rPr lang="en-US" dirty="0" err="1"/>
              <a:t>một</a:t>
            </a:r>
            <a:r>
              <a:rPr lang="en-US" dirty="0"/>
              <a:t> </a:t>
            </a:r>
            <a:r>
              <a:rPr lang="en-US" dirty="0" err="1"/>
              <a:t>cách</a:t>
            </a:r>
            <a:r>
              <a:rPr lang="en-US" dirty="0"/>
              <a:t> an </a:t>
            </a:r>
            <a:r>
              <a:rPr lang="en-US" dirty="0" err="1"/>
              <a:t>toàn</a:t>
            </a:r>
            <a:endParaRPr lang="en-US" dirty="0"/>
          </a:p>
          <a:p>
            <a:pPr marL="685800" indent="-457200" fontAlgn="base">
              <a:buAutoNum type="arabicPeriod"/>
            </a:pPr>
            <a:endParaRPr lang="en-US" dirty="0"/>
          </a:p>
          <a:p>
            <a:pPr marL="685800" indent="-457200" fontAlgn="base">
              <a:buAutoNum type="arabicPeriod"/>
            </a:pPr>
            <a:r>
              <a:rPr lang="en-US" dirty="0" err="1"/>
              <a:t>Tránh</a:t>
            </a:r>
            <a:r>
              <a:rPr lang="en-US" dirty="0"/>
              <a:t> </a:t>
            </a:r>
            <a:r>
              <a:rPr lang="en-US" dirty="0" err="1"/>
              <a:t>việc</a:t>
            </a:r>
            <a:r>
              <a:rPr lang="en-US" dirty="0"/>
              <a:t> </a:t>
            </a:r>
            <a:r>
              <a:rPr lang="en-US" dirty="0" err="1"/>
              <a:t>sử</a:t>
            </a:r>
            <a:r>
              <a:rPr lang="en-US" dirty="0"/>
              <a:t> </a:t>
            </a:r>
            <a:r>
              <a:rPr lang="en-US" dirty="0" err="1"/>
              <a:t>dụng</a:t>
            </a:r>
            <a:r>
              <a:rPr lang="en-US" dirty="0"/>
              <a:t> </a:t>
            </a:r>
            <a:r>
              <a:rPr lang="en-US" dirty="0" err="1"/>
              <a:t>cùng</a:t>
            </a:r>
            <a:r>
              <a:rPr lang="en-US" dirty="0"/>
              <a:t> </a:t>
            </a:r>
            <a:r>
              <a:rPr lang="en-US" dirty="0" err="1"/>
              <a:t>một</a:t>
            </a:r>
            <a:r>
              <a:rPr lang="en-US" dirty="0"/>
              <a:t> </a:t>
            </a:r>
            <a:r>
              <a:rPr lang="en-US" dirty="0" err="1"/>
              <a:t>khóa</a:t>
            </a:r>
            <a:r>
              <a:rPr lang="en-US" dirty="0"/>
              <a:t> </a:t>
            </a:r>
            <a:r>
              <a:rPr lang="en-US" dirty="0" err="1"/>
              <a:t>cho</a:t>
            </a:r>
            <a:r>
              <a:rPr lang="en-US" dirty="0"/>
              <a:t> </a:t>
            </a:r>
            <a:r>
              <a:rPr lang="en-US" dirty="0" err="1"/>
              <a:t>nhiều</a:t>
            </a:r>
            <a:r>
              <a:rPr lang="en-US" dirty="0"/>
              <a:t> </a:t>
            </a:r>
            <a:r>
              <a:rPr lang="en-US" dirty="0" err="1"/>
              <a:t>mục</a:t>
            </a:r>
            <a:r>
              <a:rPr lang="en-US" dirty="0"/>
              <a:t> </a:t>
            </a:r>
            <a:r>
              <a:rPr lang="en-US" dirty="0" err="1"/>
              <a:t>đích</a:t>
            </a:r>
            <a:r>
              <a:rPr lang="en-US" dirty="0"/>
              <a:t> </a:t>
            </a:r>
            <a:r>
              <a:rPr lang="en-US" dirty="0" err="1"/>
              <a:t>khác</a:t>
            </a:r>
            <a:r>
              <a:rPr lang="en-US" dirty="0"/>
              <a:t> </a:t>
            </a:r>
            <a:r>
              <a:rPr lang="en-US" dirty="0" err="1"/>
              <a:t>nhau</a:t>
            </a:r>
            <a:endParaRPr lang="en-US" dirty="0"/>
          </a:p>
          <a:p>
            <a:pPr marL="76200" lvl="0" indent="0" algn="just" rtl="0">
              <a:lnSpc>
                <a:spcPct val="100000"/>
              </a:lnSpc>
              <a:spcBef>
                <a:spcPts val="0"/>
              </a:spcBef>
              <a:spcAft>
                <a:spcPts val="0"/>
              </a:spcAft>
              <a:buSzPts val="2400"/>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8">
                                            <p:txEl>
                                              <p:pRg st="0" end="0"/>
                                            </p:txEl>
                                          </p:spTgt>
                                        </p:tgtEl>
                                        <p:attrNameLst>
                                          <p:attrName>style.visibility</p:attrName>
                                        </p:attrNameLst>
                                      </p:cBhvr>
                                      <p:to>
                                        <p:strVal val="visible"/>
                                      </p:to>
                                    </p:set>
                                    <p:animEffect transition="in" filter="fade">
                                      <p:cBhvr>
                                        <p:cTn id="7" dur="500"/>
                                        <p:tgtEl>
                                          <p:spTgt spid="6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8">
                                            <p:txEl>
                                              <p:pRg st="2" end="2"/>
                                            </p:txEl>
                                          </p:spTgt>
                                        </p:tgtEl>
                                        <p:attrNameLst>
                                          <p:attrName>style.visibility</p:attrName>
                                        </p:attrNameLst>
                                      </p:cBhvr>
                                      <p:to>
                                        <p:strVal val="visible"/>
                                      </p:to>
                                    </p:set>
                                    <p:animEffect transition="in" filter="fade">
                                      <p:cBhvr>
                                        <p:cTn id="12" dur="500"/>
                                        <p:tgtEl>
                                          <p:spTgt spid="67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78">
                                            <p:txEl>
                                              <p:pRg st="4" end="4"/>
                                            </p:txEl>
                                          </p:spTgt>
                                        </p:tgtEl>
                                        <p:attrNameLst>
                                          <p:attrName>style.visibility</p:attrName>
                                        </p:attrNameLst>
                                      </p:cBhvr>
                                      <p:to>
                                        <p:strVal val="visible"/>
                                      </p:to>
                                    </p:set>
                                    <p:animEffect transition="in" filter="fade">
                                      <p:cBhvr>
                                        <p:cTn id="17" dur="500"/>
                                        <p:tgtEl>
                                          <p:spTgt spid="67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78">
                                            <p:txEl>
                                              <p:pRg st="6" end="6"/>
                                            </p:txEl>
                                          </p:spTgt>
                                        </p:tgtEl>
                                        <p:attrNameLst>
                                          <p:attrName>style.visibility</p:attrName>
                                        </p:attrNameLst>
                                      </p:cBhvr>
                                      <p:to>
                                        <p:strVal val="visible"/>
                                      </p:to>
                                    </p:set>
                                    <p:animEffect transition="in" filter="fade">
                                      <p:cBhvr>
                                        <p:cTn id="22" dur="500"/>
                                        <p:tgtEl>
                                          <p:spTgt spid="67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78">
                                            <p:txEl>
                                              <p:pRg st="8" end="8"/>
                                            </p:txEl>
                                          </p:spTgt>
                                        </p:tgtEl>
                                        <p:attrNameLst>
                                          <p:attrName>style.visibility</p:attrName>
                                        </p:attrNameLst>
                                      </p:cBhvr>
                                      <p:to>
                                        <p:strVal val="visible"/>
                                      </p:to>
                                    </p:set>
                                    <p:animEffect transition="in" filter="fade">
                                      <p:cBhvr>
                                        <p:cTn id="27" dur="500"/>
                                        <p:tgtEl>
                                          <p:spTgt spid="67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55"/>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.1. GIỚI THIỆU</a:t>
            </a:r>
            <a:endParaRPr sz="3200" dirty="0"/>
          </a:p>
        </p:txBody>
      </p:sp>
      <p:sp>
        <p:nvSpPr>
          <p:cNvPr id="734" name="Google Shape;734;p55"/>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200"/>
              </a:spcBef>
              <a:spcAft>
                <a:spcPts val="0"/>
              </a:spcAft>
              <a:buClr>
                <a:schemeClr val="dk1"/>
              </a:buClr>
              <a:buSzPts val="2400"/>
              <a:buNone/>
            </a:pPr>
            <a:endParaRPr b="1"/>
          </a:p>
          <a:p>
            <a:pPr marL="0" lvl="0" indent="457200" algn="just" rtl="0">
              <a:lnSpc>
                <a:spcPct val="100000"/>
              </a:lnSpc>
              <a:spcBef>
                <a:spcPts val="1200"/>
              </a:spcBef>
              <a:spcAft>
                <a:spcPts val="0"/>
              </a:spcAft>
              <a:buClr>
                <a:schemeClr val="dk1"/>
              </a:buClr>
              <a:buSzPts val="2400"/>
              <a:buNone/>
            </a:pPr>
            <a:endParaRPr b="1"/>
          </a:p>
        </p:txBody>
      </p:sp>
      <p:sp>
        <p:nvSpPr>
          <p:cNvPr id="3" name="TextBox 2">
            <a:extLst>
              <a:ext uri="{FF2B5EF4-FFF2-40B4-BE49-F238E27FC236}">
                <a16:creationId xmlns:a16="http://schemas.microsoft.com/office/drawing/2014/main" id="{1B2B0D4F-74AB-3644-5D11-097F17826CD6}"/>
              </a:ext>
            </a:extLst>
          </p:cNvPr>
          <p:cNvSpPr txBox="1"/>
          <p:nvPr/>
        </p:nvSpPr>
        <p:spPr>
          <a:xfrm>
            <a:off x="838200" y="1504571"/>
            <a:ext cx="10680032" cy="4985980"/>
          </a:xfrm>
          <a:prstGeom prst="rect">
            <a:avLst/>
          </a:prstGeom>
          <a:noFill/>
        </p:spPr>
        <p:txBody>
          <a:bodyPr wrap="square">
            <a:spAutoFit/>
          </a:bodyPr>
          <a:lstStyle/>
          <a:p>
            <a:pPr algn="just" rtl="0">
              <a:spcBef>
                <a:spcPts val="1200"/>
              </a:spcBef>
              <a:buNone/>
            </a:pPr>
            <a:r>
              <a:rPr lang="vi-VN" sz="2400" b="0" i="0" u="none" strike="noStrike" dirty="0">
                <a:solidFill>
                  <a:srgbClr val="000000"/>
                </a:solidFill>
                <a:effectLst/>
                <a:latin typeface="Readex Pro" panose="020B0604020202020204" charset="-78"/>
                <a:cs typeface="Readex Pro" panose="020B0604020202020204" charset="-78"/>
              </a:rPr>
              <a:t>Lỗi này xảy ra khi những dữ liệu nhạy cảm được lưu trữ hoặc truyền tải dưới dạng văn bản thuần (</a:t>
            </a:r>
            <a:r>
              <a:rPr lang="vi-VN" sz="2400" b="1" i="1" u="none" strike="noStrike" dirty="0" err="1">
                <a:solidFill>
                  <a:srgbClr val="000000"/>
                </a:solidFill>
                <a:effectLst/>
                <a:latin typeface="Readex Pro" panose="020B0604020202020204" charset="-78"/>
                <a:cs typeface="Readex Pro" panose="020B0604020202020204" charset="-78"/>
              </a:rPr>
              <a:t>plaintext</a:t>
            </a:r>
            <a:r>
              <a:rPr lang="vi-VN" sz="2400" b="0" i="0" u="none" strike="noStrike" dirty="0">
                <a:solidFill>
                  <a:srgbClr val="000000"/>
                </a:solidFill>
                <a:effectLst/>
                <a:latin typeface="Readex Pro" panose="020B0604020202020204" charset="-78"/>
                <a:cs typeface="Readex Pro" panose="020B0604020202020204" charset="-78"/>
              </a:rPr>
              <a:t>) hoặc dùng những cơ chế bảo mật kém, điều này khiến cho những kẻ tấn công dễ dàng đọc được và khai thác khi dữ liệu bị đánh cắp hoặc rò rỉ</a:t>
            </a:r>
            <a:r>
              <a:rPr lang="en-US" sz="2400" b="0" i="0" u="none" strike="noStrike" dirty="0">
                <a:solidFill>
                  <a:srgbClr val="000000"/>
                </a:solidFill>
                <a:effectLst/>
                <a:latin typeface="Readex Pro" panose="020B0604020202020204" charset="-78"/>
                <a:cs typeface="Readex Pro" panose="020B0604020202020204" charset="-78"/>
              </a:rPr>
              <a:t>.</a:t>
            </a:r>
            <a:endParaRPr lang="vi-VN" sz="2400" b="0" dirty="0">
              <a:effectLst/>
              <a:latin typeface="Readex Pro" panose="020B0604020202020204" charset="-78"/>
              <a:cs typeface="Readex Pro" panose="020B0604020202020204" charset="-78"/>
            </a:endParaRPr>
          </a:p>
          <a:p>
            <a:pPr>
              <a:buNone/>
            </a:pPr>
            <a:endParaRPr lang="vi-VN" sz="2400" b="0" dirty="0">
              <a:effectLst/>
              <a:latin typeface="Readex Pro" panose="020B0604020202020204" charset="-78"/>
              <a:cs typeface="Readex Pro" panose="020B0604020202020204" charset="-78"/>
            </a:endParaRPr>
          </a:p>
          <a:p>
            <a:pPr algn="just" rtl="0">
              <a:spcBef>
                <a:spcPts val="1200"/>
              </a:spcBef>
              <a:buNone/>
            </a:pPr>
            <a:r>
              <a:rPr lang="vi-VN" sz="2400" b="1" i="0" u="sng" strike="noStrike" dirty="0">
                <a:solidFill>
                  <a:srgbClr val="000000"/>
                </a:solidFill>
                <a:effectLst/>
                <a:latin typeface="Readex Pro" panose="020B0604020202020204" charset="-78"/>
                <a:cs typeface="Readex Pro" panose="020B0604020202020204" charset="-78"/>
              </a:rPr>
              <a:t>Ví dụ:</a:t>
            </a:r>
            <a:endParaRPr lang="vi-VN" sz="2400" b="1" u="sng" dirty="0">
              <a:effectLst/>
              <a:latin typeface="Readex Pro" panose="020B0604020202020204" charset="-78"/>
              <a:cs typeface="Readex Pro" panose="020B0604020202020204" charset="-78"/>
            </a:endParaRPr>
          </a:p>
          <a:p>
            <a:pPr marL="457200" indent="-457200" algn="just" rtl="0" fontAlgn="base">
              <a:spcBef>
                <a:spcPts val="1200"/>
              </a:spcBef>
              <a:buAutoNum type="arabicPeriod"/>
            </a:pPr>
            <a:r>
              <a:rPr lang="vi-VN" sz="2400" b="0" i="0" u="none" strike="noStrike" dirty="0">
                <a:solidFill>
                  <a:srgbClr val="000000"/>
                </a:solidFill>
                <a:effectLst/>
                <a:latin typeface="Readex Pro" panose="020B0604020202020204" charset="-78"/>
                <a:cs typeface="Readex Pro" panose="020B0604020202020204" charset="-78"/>
              </a:rPr>
              <a:t>Sử dụng giao thức không mã hóa trên đường truyền như HTTP thay vì HTTPS</a:t>
            </a:r>
            <a:r>
              <a:rPr lang="en-US" sz="2400" b="0" i="0" u="none" strike="noStrike" dirty="0">
                <a:solidFill>
                  <a:srgbClr val="000000"/>
                </a:solidFill>
                <a:effectLst/>
                <a:latin typeface="Readex Pro" panose="020B0604020202020204" charset="-78"/>
                <a:cs typeface="Readex Pro" panose="020B0604020202020204" charset="-78"/>
              </a:rPr>
              <a:t>.</a:t>
            </a:r>
          </a:p>
          <a:p>
            <a:pPr marL="457200" indent="-457200" algn="just" rtl="0" fontAlgn="base">
              <a:spcBef>
                <a:spcPts val="1200"/>
              </a:spcBef>
              <a:buAutoNum type="arabicPeriod"/>
            </a:pPr>
            <a:r>
              <a:rPr lang="vi-VN" sz="2400" b="0" i="0" u="none" strike="noStrike" dirty="0">
                <a:solidFill>
                  <a:srgbClr val="000000"/>
                </a:solidFill>
                <a:effectLst/>
                <a:latin typeface="Readex Pro" panose="020B0604020202020204" charset="-78"/>
                <a:cs typeface="Readex Pro" panose="020B0604020202020204" charset="-78"/>
              </a:rPr>
              <a:t>Lưu những dữ liệu nhạy cảm dạng văn bản thuần trong cơ sở dữ liệu hoặc sử dụng hàm băm đã quá cũ như </a:t>
            </a:r>
            <a:r>
              <a:rPr lang="en-US" sz="2400" b="0" i="0" u="none" strike="noStrike" dirty="0">
                <a:solidFill>
                  <a:srgbClr val="000000"/>
                </a:solidFill>
                <a:effectLst/>
                <a:latin typeface="Readex Pro" panose="020B0604020202020204" charset="-78"/>
                <a:cs typeface="Readex Pro" panose="020B0604020202020204" charset="-78"/>
              </a:rPr>
              <a:t>MD</a:t>
            </a:r>
            <a:r>
              <a:rPr lang="vi-VN" sz="2400" b="0" i="0" u="none" strike="noStrike" dirty="0">
                <a:solidFill>
                  <a:srgbClr val="000000"/>
                </a:solidFill>
                <a:effectLst/>
                <a:latin typeface="Readex Pro" panose="020B0604020202020204" charset="-78"/>
                <a:cs typeface="Readex Pro" panose="020B0604020202020204" charset="-78"/>
              </a:rPr>
              <a:t>5, SHA1</a:t>
            </a:r>
            <a:r>
              <a:rPr lang="en-US" sz="2400" b="0" i="0" u="none" strike="noStrike" dirty="0">
                <a:solidFill>
                  <a:srgbClr val="000000"/>
                </a:solidFill>
                <a:effectLst/>
                <a:latin typeface="Readex Pro" panose="020B0604020202020204" charset="-78"/>
                <a:cs typeface="Readex Pro" panose="020B0604020202020204" charset="-78"/>
              </a:rPr>
              <a:t>.</a:t>
            </a:r>
            <a:endParaRPr lang="vi-VN" sz="2400" b="0" i="0" u="none" strike="noStrike" dirty="0">
              <a:solidFill>
                <a:srgbClr val="000000"/>
              </a:solidFill>
              <a:effectLst/>
              <a:latin typeface="Readex Pro" panose="020B0604020202020204" charset="-78"/>
              <a:cs typeface="Readex Pro" panose="020B0604020202020204" charset="-78"/>
            </a:endParaRPr>
          </a:p>
          <a:p>
            <a:pPr>
              <a:buNone/>
            </a:pPr>
            <a:br>
              <a:rPr lang="vi-VN" sz="2400" b="0" dirty="0">
                <a:effectLst/>
                <a:latin typeface="Readex Pro" panose="020B0604020202020204" charset="-78"/>
                <a:cs typeface="Readex Pro" panose="020B0604020202020204" charset="-78"/>
              </a:rPr>
            </a:br>
            <a:endParaRPr lang="vi-VN" sz="2400" dirty="0">
              <a:latin typeface="Readex Pro" panose="020B0604020202020204" charset="-78"/>
              <a:cs typeface="Readex Pro" panose="020B0604020202020204"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102E0AEC-FA66-B042-D721-67A9EC49A4F0}"/>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785DEB2C-691B-2D88-3F57-734BB65D59E3}"/>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.2. CẤU TRÚC</a:t>
            </a:r>
            <a:endParaRPr sz="3200" dirty="0"/>
          </a:p>
        </p:txBody>
      </p:sp>
      <p:sp>
        <p:nvSpPr>
          <p:cNvPr id="734" name="Google Shape;734;p55">
            <a:extLst>
              <a:ext uri="{FF2B5EF4-FFF2-40B4-BE49-F238E27FC236}">
                <a16:creationId xmlns:a16="http://schemas.microsoft.com/office/drawing/2014/main" id="{905E2104-2BA4-68A5-CC5F-51C0A52EA9BD}"/>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a:bodyPr>
          <a:lstStyle/>
          <a:p>
            <a:r>
              <a:rPr lang="vi-VN" dirty="0"/>
              <a:t>Dữ liệu nhạy cảm thường sẽ được phân vào các nhóm như</a:t>
            </a:r>
            <a:r>
              <a:rPr lang="en-US" dirty="0"/>
              <a:t>:</a:t>
            </a:r>
            <a:endParaRPr lang="vi-VN" dirty="0"/>
          </a:p>
          <a:p>
            <a:pPr marL="685800" indent="-457200" fontAlgn="base">
              <a:buAutoNum type="arabicPeriod"/>
            </a:pPr>
            <a:r>
              <a:rPr lang="vi-VN" dirty="0"/>
              <a:t>Thông tin định danh cá nhân (PII)</a:t>
            </a:r>
            <a:endParaRPr lang="en-US" dirty="0"/>
          </a:p>
          <a:p>
            <a:pPr marL="685800" indent="-457200" fontAlgn="base">
              <a:buAutoNum type="arabicPeriod"/>
            </a:pPr>
            <a:r>
              <a:rPr lang="vi-VN" dirty="0"/>
              <a:t>Thông tin xác thực</a:t>
            </a:r>
            <a:endParaRPr lang="en-US" dirty="0"/>
          </a:p>
          <a:p>
            <a:pPr marL="685800" indent="-457200" fontAlgn="base">
              <a:buAutoNum type="arabicPeriod"/>
            </a:pPr>
            <a:r>
              <a:rPr lang="vi-VN" dirty="0"/>
              <a:t>Thông tin tài chính</a:t>
            </a:r>
            <a:endParaRPr lang="en-US" dirty="0"/>
          </a:p>
          <a:p>
            <a:pPr marL="685800" indent="-457200" fontAlgn="base">
              <a:buAutoNum type="arabicPeriod"/>
            </a:pPr>
            <a:r>
              <a:rPr lang="vi-VN" dirty="0"/>
              <a:t>Dữ liệu y tế</a:t>
            </a:r>
            <a:endParaRPr lang="en-US" dirty="0"/>
          </a:p>
          <a:p>
            <a:pPr marL="685800" indent="-457200" fontAlgn="base">
              <a:buAutoNum type="arabicPeriod"/>
            </a:pPr>
            <a:r>
              <a:rPr lang="vi-VN" dirty="0"/>
              <a:t>Dữ liệu bảo mật nội bộ </a:t>
            </a:r>
          </a:p>
          <a:p>
            <a:pPr marL="0" lvl="0" indent="457200" algn="just" rtl="0">
              <a:lnSpc>
                <a:spcPct val="100000"/>
              </a:lnSpc>
              <a:spcBef>
                <a:spcPts val="1200"/>
              </a:spcBef>
              <a:spcAft>
                <a:spcPts val="0"/>
              </a:spcAft>
              <a:buClr>
                <a:schemeClr val="dk1"/>
              </a:buClr>
              <a:buSzPts val="2400"/>
              <a:buNone/>
            </a:pPr>
            <a:endParaRPr b="1" dirty="0"/>
          </a:p>
        </p:txBody>
      </p:sp>
    </p:spTree>
    <p:extLst>
      <p:ext uri="{BB962C8B-B14F-4D97-AF65-F5344CB8AC3E}">
        <p14:creationId xmlns:p14="http://schemas.microsoft.com/office/powerpoint/2010/main" val="41578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animEffect transition="in" filter="fade">
                                      <p:cBhvr>
                                        <p:cTn id="7" dur="500"/>
                                        <p:tgtEl>
                                          <p:spTgt spid="7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4">
                                            <p:txEl>
                                              <p:pRg st="1" end="1"/>
                                            </p:txEl>
                                          </p:spTgt>
                                        </p:tgtEl>
                                        <p:attrNameLst>
                                          <p:attrName>style.visibility</p:attrName>
                                        </p:attrNameLst>
                                      </p:cBhvr>
                                      <p:to>
                                        <p:strVal val="visible"/>
                                      </p:to>
                                    </p:set>
                                    <p:animEffect transition="in" filter="fade">
                                      <p:cBhvr>
                                        <p:cTn id="12" dur="500"/>
                                        <p:tgtEl>
                                          <p:spTgt spid="7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4">
                                            <p:txEl>
                                              <p:pRg st="2" end="2"/>
                                            </p:txEl>
                                          </p:spTgt>
                                        </p:tgtEl>
                                        <p:attrNameLst>
                                          <p:attrName>style.visibility</p:attrName>
                                        </p:attrNameLst>
                                      </p:cBhvr>
                                      <p:to>
                                        <p:strVal val="visible"/>
                                      </p:to>
                                    </p:set>
                                    <p:animEffect transition="in" filter="fade">
                                      <p:cBhvr>
                                        <p:cTn id="17" dur="500"/>
                                        <p:tgtEl>
                                          <p:spTgt spid="7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4">
                                            <p:txEl>
                                              <p:pRg st="3" end="3"/>
                                            </p:txEl>
                                          </p:spTgt>
                                        </p:tgtEl>
                                        <p:attrNameLst>
                                          <p:attrName>style.visibility</p:attrName>
                                        </p:attrNameLst>
                                      </p:cBhvr>
                                      <p:to>
                                        <p:strVal val="visible"/>
                                      </p:to>
                                    </p:set>
                                    <p:animEffect transition="in" filter="fade">
                                      <p:cBhvr>
                                        <p:cTn id="22" dur="500"/>
                                        <p:tgtEl>
                                          <p:spTgt spid="7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4">
                                            <p:txEl>
                                              <p:pRg st="4" end="4"/>
                                            </p:txEl>
                                          </p:spTgt>
                                        </p:tgtEl>
                                        <p:attrNameLst>
                                          <p:attrName>style.visibility</p:attrName>
                                        </p:attrNameLst>
                                      </p:cBhvr>
                                      <p:to>
                                        <p:strVal val="visible"/>
                                      </p:to>
                                    </p:set>
                                    <p:animEffect transition="in" filter="fade">
                                      <p:cBhvr>
                                        <p:cTn id="27" dur="500"/>
                                        <p:tgtEl>
                                          <p:spTgt spid="7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34">
                                            <p:txEl>
                                              <p:pRg st="5" end="5"/>
                                            </p:txEl>
                                          </p:spTgt>
                                        </p:tgtEl>
                                        <p:attrNameLst>
                                          <p:attrName>style.visibility</p:attrName>
                                        </p:attrNameLst>
                                      </p:cBhvr>
                                      <p:to>
                                        <p:strVal val="visible"/>
                                      </p:to>
                                    </p:set>
                                    <p:animEffect transition="in" filter="fade">
                                      <p:cBhvr>
                                        <p:cTn id="32" dur="500"/>
                                        <p:tgtEl>
                                          <p:spTgt spid="7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B24B8EC6-3F6E-32E0-98C5-6AC9BF9C7121}"/>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27B15109-C8E9-E5D3-0B51-3849B1D341C7}"/>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.3. HẬU QUẢ</a:t>
            </a:r>
            <a:endParaRPr sz="3200" dirty="0"/>
          </a:p>
        </p:txBody>
      </p:sp>
      <p:sp>
        <p:nvSpPr>
          <p:cNvPr id="734" name="Google Shape;734;p55">
            <a:extLst>
              <a:ext uri="{FF2B5EF4-FFF2-40B4-BE49-F238E27FC236}">
                <a16:creationId xmlns:a16="http://schemas.microsoft.com/office/drawing/2014/main" id="{CF76C06C-7342-50CD-4F70-368740132BE7}"/>
              </a:ext>
            </a:extLst>
          </p:cNvPr>
          <p:cNvSpPr txBox="1">
            <a:spLocks noGrp="1"/>
          </p:cNvSpPr>
          <p:nvPr>
            <p:ph type="body" idx="1"/>
          </p:nvPr>
        </p:nvSpPr>
        <p:spPr>
          <a:xfrm flipH="1">
            <a:off x="2290194" y="1477705"/>
            <a:ext cx="7315200" cy="4981818"/>
          </a:xfrm>
          <a:prstGeom prst="rect">
            <a:avLst/>
          </a:prstGeom>
          <a:noFill/>
          <a:ln>
            <a:noFill/>
          </a:ln>
        </p:spPr>
        <p:txBody>
          <a:bodyPr spcFirstLastPara="1" wrap="square" lIns="91425" tIns="45700" rIns="91425" bIns="45700" anchor="t" anchorCtr="0">
            <a:normAutofit/>
          </a:bodyPr>
          <a:lstStyle/>
          <a:p>
            <a:endParaRPr b="1" dirty="0"/>
          </a:p>
        </p:txBody>
      </p:sp>
      <p:pic>
        <p:nvPicPr>
          <p:cNvPr id="7170" name="Picture 2">
            <a:extLst>
              <a:ext uri="{FF2B5EF4-FFF2-40B4-BE49-F238E27FC236}">
                <a16:creationId xmlns:a16="http://schemas.microsoft.com/office/drawing/2014/main" id="{8AF2137D-E768-9FCA-719C-52E924402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194" y="1477705"/>
            <a:ext cx="7122254" cy="4784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92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54A55148-4BA4-6996-DB22-0A9FD15F4778}"/>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294980BE-D8B1-7BEF-2D13-CFF6EF300E17}"/>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.3. HẬU QUẢ</a:t>
            </a:r>
            <a:endParaRPr sz="3200" dirty="0"/>
          </a:p>
        </p:txBody>
      </p:sp>
      <p:sp>
        <p:nvSpPr>
          <p:cNvPr id="734" name="Google Shape;734;p55">
            <a:extLst>
              <a:ext uri="{FF2B5EF4-FFF2-40B4-BE49-F238E27FC236}">
                <a16:creationId xmlns:a16="http://schemas.microsoft.com/office/drawing/2014/main" id="{C4BB0388-CE26-7CB5-2C1B-EA839E55FC39}"/>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fontScale="92500" lnSpcReduction="10000"/>
          </a:bodyPr>
          <a:lstStyle/>
          <a:p>
            <a:pPr marL="685800" indent="-457200">
              <a:buAutoNum type="arabicPeriod"/>
            </a:pPr>
            <a:r>
              <a:rPr lang="vi-VN" dirty="0"/>
              <a:t>Vào năm </a:t>
            </a:r>
            <a:r>
              <a:rPr lang="vi-VN" b="1" dirty="0"/>
              <a:t>2019</a:t>
            </a:r>
            <a:r>
              <a:rPr lang="vi-VN" dirty="0"/>
              <a:t>, </a:t>
            </a:r>
            <a:r>
              <a:rPr lang="vi-VN" b="1" dirty="0" err="1"/>
              <a:t>Meta</a:t>
            </a:r>
            <a:r>
              <a:rPr lang="vi-VN" dirty="0"/>
              <a:t>  thừa nhận rằng đã để hàng trăm triệu mật khẩu người dùng không được mã hóa, nếu dữ liệu bị lộ ra ngoài kẻ xấu có thể lợi dụng được. Hơn thế nữa nhân viên bên trong có thể truy cập mật khẩu mà không cần phải </a:t>
            </a:r>
            <a:r>
              <a:rPr lang="vi-VN" dirty="0" err="1"/>
              <a:t>crack</a:t>
            </a:r>
            <a:r>
              <a:rPr lang="vi-VN" dirty="0"/>
              <a:t> hay giải mã.</a:t>
            </a:r>
            <a:endParaRPr lang="en-US" dirty="0"/>
          </a:p>
          <a:p>
            <a:pPr marL="685800" indent="-457200">
              <a:buAutoNum type="arabicPeriod"/>
            </a:pPr>
            <a:endParaRPr lang="en-US" dirty="0"/>
          </a:p>
          <a:p>
            <a:pPr marL="685800" indent="-457200">
              <a:buAutoNum type="arabicPeriod"/>
            </a:pPr>
            <a:r>
              <a:rPr lang="vi-VN" b="1" dirty="0" err="1"/>
              <a:t>Jeremiah</a:t>
            </a:r>
            <a:r>
              <a:rPr lang="vi-VN" b="1" dirty="0"/>
              <a:t> </a:t>
            </a:r>
            <a:r>
              <a:rPr lang="vi-VN" b="1" dirty="0" err="1"/>
              <a:t>Fowler</a:t>
            </a:r>
            <a:r>
              <a:rPr lang="vi-VN" b="1" dirty="0"/>
              <a:t> </a:t>
            </a:r>
            <a:r>
              <a:rPr lang="vi-VN" dirty="0"/>
              <a:t>đã tìm thấy một cơ sở dữ liệu không an toàn, không được mã hóa, có thể truy cập trực tuyến, chứa địa chỉ </a:t>
            </a:r>
            <a:r>
              <a:rPr lang="vi-VN" dirty="0" err="1"/>
              <a:t>email</a:t>
            </a:r>
            <a:r>
              <a:rPr lang="vi-VN" dirty="0"/>
              <a:t>, mật khẩu, URL ủy quyền và thông tin đăng nhập, tất cả đều được lưu dưới dạng văn bản thuần túy. Kẻ tấn công có thể lợi dụng để thử mật khẩu cho những dịch vụ khác hoặc chiếm quyền người dùng</a:t>
            </a:r>
            <a:r>
              <a:rPr lang="en-US" dirty="0"/>
              <a:t>.</a:t>
            </a:r>
            <a:endParaRPr lang="vi-VN" dirty="0"/>
          </a:p>
          <a:p>
            <a:br>
              <a:rPr lang="vi-VN" dirty="0"/>
            </a:br>
            <a:endParaRPr b="1" dirty="0"/>
          </a:p>
        </p:txBody>
      </p:sp>
    </p:spTree>
    <p:extLst>
      <p:ext uri="{BB962C8B-B14F-4D97-AF65-F5344CB8AC3E}">
        <p14:creationId xmlns:p14="http://schemas.microsoft.com/office/powerpoint/2010/main" val="2015675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animEffect transition="in" filter="fade">
                                      <p:cBhvr>
                                        <p:cTn id="7" dur="500"/>
                                        <p:tgtEl>
                                          <p:spTgt spid="7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4">
                                            <p:txEl>
                                              <p:pRg st="2" end="2"/>
                                            </p:txEl>
                                          </p:spTgt>
                                        </p:tgtEl>
                                        <p:attrNameLst>
                                          <p:attrName>style.visibility</p:attrName>
                                        </p:attrNameLst>
                                      </p:cBhvr>
                                      <p:to>
                                        <p:strVal val="visible"/>
                                      </p:to>
                                    </p:set>
                                    <p:animEffect transition="in" filter="fade">
                                      <p:cBhvr>
                                        <p:cTn id="12" dur="500"/>
                                        <p:tgtEl>
                                          <p:spTgt spid="7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CB4C8FA1-D3A1-AA94-D8BE-8872CF7DB02B}"/>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A7E7A7E6-1400-6AC6-281D-0CFE7B887C59}"/>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.3. HẬU QUẢ</a:t>
            </a:r>
            <a:endParaRPr sz="3200" dirty="0"/>
          </a:p>
        </p:txBody>
      </p:sp>
      <p:sp>
        <p:nvSpPr>
          <p:cNvPr id="734" name="Google Shape;734;p55">
            <a:extLst>
              <a:ext uri="{FF2B5EF4-FFF2-40B4-BE49-F238E27FC236}">
                <a16:creationId xmlns:a16="http://schemas.microsoft.com/office/drawing/2014/main" id="{A8411163-C087-FC7B-93F6-E0995153BFDE}"/>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lnSpcReduction="10000"/>
          </a:bodyPr>
          <a:lstStyle/>
          <a:p>
            <a:pPr fontAlgn="base"/>
            <a:r>
              <a:rPr lang="en-US" b="1" dirty="0"/>
              <a:t>3.</a:t>
            </a:r>
            <a:r>
              <a:rPr lang="en-US" dirty="0"/>
              <a:t> </a:t>
            </a:r>
            <a:r>
              <a:rPr lang="vi-VN" dirty="0"/>
              <a:t>Mật khẩu người dùng bị lộ khả năng bị chiếm quyền điều khiển tài khoản rất cao</a:t>
            </a:r>
            <a:r>
              <a:rPr lang="en-US" dirty="0"/>
              <a:t>.</a:t>
            </a:r>
          </a:p>
          <a:p>
            <a:pPr fontAlgn="base"/>
            <a:endParaRPr lang="en-US" dirty="0"/>
          </a:p>
          <a:p>
            <a:pPr fontAlgn="base"/>
            <a:r>
              <a:rPr lang="en-US" b="1" dirty="0"/>
              <a:t>4.</a:t>
            </a:r>
            <a:r>
              <a:rPr lang="en-US" dirty="0"/>
              <a:t> </a:t>
            </a:r>
            <a:r>
              <a:rPr lang="vi-VN" dirty="0"/>
              <a:t>Nhân viên nội bộ có thể truy cập thông tin nếu dữ liệu được lưu mà không mã hóa</a:t>
            </a:r>
            <a:r>
              <a:rPr lang="en-US" dirty="0"/>
              <a:t>.</a:t>
            </a:r>
          </a:p>
          <a:p>
            <a:pPr fontAlgn="base"/>
            <a:endParaRPr lang="vi-VN" dirty="0"/>
          </a:p>
          <a:p>
            <a:pPr fontAlgn="base"/>
            <a:r>
              <a:rPr lang="en-US" b="1" dirty="0"/>
              <a:t>5.</a:t>
            </a:r>
            <a:r>
              <a:rPr lang="en-US" dirty="0"/>
              <a:t> </a:t>
            </a:r>
            <a:r>
              <a:rPr lang="vi-VN" dirty="0"/>
              <a:t>Gây lọt thông tin quan trọng</a:t>
            </a:r>
            <a:r>
              <a:rPr lang="en-US" dirty="0"/>
              <a:t>.</a:t>
            </a:r>
          </a:p>
          <a:p>
            <a:pPr fontAlgn="base"/>
            <a:endParaRPr lang="vi-VN" dirty="0"/>
          </a:p>
          <a:p>
            <a:pPr fontAlgn="base"/>
            <a:r>
              <a:rPr lang="en-US" b="1" dirty="0"/>
              <a:t>6.</a:t>
            </a:r>
            <a:r>
              <a:rPr lang="en-US" dirty="0"/>
              <a:t> </a:t>
            </a:r>
            <a:r>
              <a:rPr lang="vi-VN" dirty="0"/>
              <a:t>Vi phạm luật bảo mật dữ liệu</a:t>
            </a:r>
            <a:r>
              <a:rPr lang="en-US" dirty="0"/>
              <a:t>.</a:t>
            </a:r>
            <a:endParaRPr lang="vi-VN" dirty="0"/>
          </a:p>
          <a:p>
            <a:endParaRPr b="1" dirty="0"/>
          </a:p>
        </p:txBody>
      </p:sp>
    </p:spTree>
    <p:extLst>
      <p:ext uri="{BB962C8B-B14F-4D97-AF65-F5344CB8AC3E}">
        <p14:creationId xmlns:p14="http://schemas.microsoft.com/office/powerpoint/2010/main" val="3474190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animEffect transition="in" filter="fade">
                                      <p:cBhvr>
                                        <p:cTn id="7" dur="500"/>
                                        <p:tgtEl>
                                          <p:spTgt spid="7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4">
                                            <p:txEl>
                                              <p:pRg st="2" end="2"/>
                                            </p:txEl>
                                          </p:spTgt>
                                        </p:tgtEl>
                                        <p:attrNameLst>
                                          <p:attrName>style.visibility</p:attrName>
                                        </p:attrNameLst>
                                      </p:cBhvr>
                                      <p:to>
                                        <p:strVal val="visible"/>
                                      </p:to>
                                    </p:set>
                                    <p:animEffect transition="in" filter="fade">
                                      <p:cBhvr>
                                        <p:cTn id="12" dur="500"/>
                                        <p:tgtEl>
                                          <p:spTgt spid="7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4">
                                            <p:txEl>
                                              <p:pRg st="4" end="4"/>
                                            </p:txEl>
                                          </p:spTgt>
                                        </p:tgtEl>
                                        <p:attrNameLst>
                                          <p:attrName>style.visibility</p:attrName>
                                        </p:attrNameLst>
                                      </p:cBhvr>
                                      <p:to>
                                        <p:strVal val="visible"/>
                                      </p:to>
                                    </p:set>
                                    <p:animEffect transition="in" filter="fade">
                                      <p:cBhvr>
                                        <p:cTn id="17" dur="500"/>
                                        <p:tgtEl>
                                          <p:spTgt spid="73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4">
                                            <p:txEl>
                                              <p:pRg st="6" end="6"/>
                                            </p:txEl>
                                          </p:spTgt>
                                        </p:tgtEl>
                                        <p:attrNameLst>
                                          <p:attrName>style.visibility</p:attrName>
                                        </p:attrNameLst>
                                      </p:cBhvr>
                                      <p:to>
                                        <p:strVal val="visible"/>
                                      </p:to>
                                    </p:set>
                                    <p:animEffect transition="in" filter="fade">
                                      <p:cBhvr>
                                        <p:cTn id="22" dur="500"/>
                                        <p:tgtEl>
                                          <p:spTgt spid="7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5C713140-0179-FE34-7A63-E6584C43C255}"/>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E6D5C7F2-F8B9-50BE-ADC7-868F965D8ED5}"/>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3</a:t>
            </a:r>
            <a:r>
              <a:rPr lang="en-US" sz="3200" dirty="0"/>
              <a:t>. </a:t>
            </a:r>
            <a:r>
              <a:rPr lang="en-US" dirty="0"/>
              <a:t>KHÔNG MÃ HÓA DỮ LIỆU NHẠY CẢM</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3</a:t>
            </a:r>
            <a:r>
              <a:rPr lang="en-US" sz="3200" dirty="0"/>
              <a:t>.4. PHÒNG NGỪA VÀ NGĂN CHẶN</a:t>
            </a:r>
            <a:endParaRPr sz="3200" dirty="0"/>
          </a:p>
        </p:txBody>
      </p:sp>
      <p:sp>
        <p:nvSpPr>
          <p:cNvPr id="734" name="Google Shape;734;p55">
            <a:extLst>
              <a:ext uri="{FF2B5EF4-FFF2-40B4-BE49-F238E27FC236}">
                <a16:creationId xmlns:a16="http://schemas.microsoft.com/office/drawing/2014/main" id="{F8B712F8-3FDE-6154-993B-8BD341B6243B}"/>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a:bodyPr>
          <a:lstStyle/>
          <a:p>
            <a:pPr marL="685800" indent="-457200" fontAlgn="base">
              <a:buAutoNum type="arabicPeriod"/>
            </a:pPr>
            <a:r>
              <a:rPr lang="vi-VN" dirty="0"/>
              <a:t>Luôn mã hóa dữ liệu nhạy cảm khi lưu trữ</a:t>
            </a:r>
            <a:r>
              <a:rPr lang="en-US" dirty="0"/>
              <a:t>.</a:t>
            </a:r>
          </a:p>
          <a:p>
            <a:pPr marL="685800" indent="-457200" fontAlgn="base">
              <a:buAutoNum type="arabicPeriod"/>
            </a:pPr>
            <a:endParaRPr lang="en-US" dirty="0"/>
          </a:p>
          <a:p>
            <a:pPr marL="685800" indent="-457200" fontAlgn="base">
              <a:buAutoNum type="arabicPeriod"/>
            </a:pPr>
            <a:r>
              <a:rPr lang="vi-VN" dirty="0"/>
              <a:t>Sử dụng giao thức </a:t>
            </a:r>
            <a:r>
              <a:rPr lang="vi-VN" b="1" dirty="0"/>
              <a:t>HTTPS</a:t>
            </a:r>
            <a:r>
              <a:rPr lang="vi-VN" dirty="0"/>
              <a:t> thay thế cho giao thức HTTP</a:t>
            </a:r>
            <a:r>
              <a:rPr lang="en-US" dirty="0"/>
              <a:t>.</a:t>
            </a:r>
          </a:p>
          <a:p>
            <a:pPr marL="685800" indent="-457200" fontAlgn="base">
              <a:buAutoNum type="arabicPeriod"/>
            </a:pPr>
            <a:endParaRPr lang="en-US" dirty="0"/>
          </a:p>
          <a:p>
            <a:pPr marL="685800" indent="-457200" fontAlgn="base">
              <a:buAutoNum type="arabicPeriod"/>
            </a:pPr>
            <a:r>
              <a:rPr lang="vi-VN" dirty="0"/>
              <a:t>Kiểm tra bảo mật định kỳ</a:t>
            </a:r>
            <a:r>
              <a:rPr lang="en-US" dirty="0"/>
              <a:t>.</a:t>
            </a:r>
          </a:p>
          <a:p>
            <a:pPr marL="685800" indent="-457200" fontAlgn="base">
              <a:buAutoNum type="arabicPeriod"/>
            </a:pPr>
            <a:endParaRPr lang="en-US" dirty="0"/>
          </a:p>
          <a:p>
            <a:pPr marL="685800" indent="-457200" fontAlgn="base">
              <a:buAutoNum type="arabicPeriod"/>
            </a:pPr>
            <a:r>
              <a:rPr lang="vi-VN" dirty="0"/>
              <a:t>Tránh dùng mật khẩu cho nhiều tài khoản, đặc biệt những tài khoản quan trọng như tài khoản ngân hang</a:t>
            </a:r>
            <a:r>
              <a:rPr lang="en-US" dirty="0"/>
              <a:t>.</a:t>
            </a:r>
            <a:endParaRPr lang="vi-VN" dirty="0"/>
          </a:p>
          <a:p>
            <a:endParaRPr b="1" dirty="0"/>
          </a:p>
        </p:txBody>
      </p:sp>
    </p:spTree>
    <p:extLst>
      <p:ext uri="{BB962C8B-B14F-4D97-AF65-F5344CB8AC3E}">
        <p14:creationId xmlns:p14="http://schemas.microsoft.com/office/powerpoint/2010/main" val="399588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animEffect transition="in" filter="fade">
                                      <p:cBhvr>
                                        <p:cTn id="7" dur="500"/>
                                        <p:tgtEl>
                                          <p:spTgt spid="7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4">
                                            <p:txEl>
                                              <p:pRg st="2" end="2"/>
                                            </p:txEl>
                                          </p:spTgt>
                                        </p:tgtEl>
                                        <p:attrNameLst>
                                          <p:attrName>style.visibility</p:attrName>
                                        </p:attrNameLst>
                                      </p:cBhvr>
                                      <p:to>
                                        <p:strVal val="visible"/>
                                      </p:to>
                                    </p:set>
                                    <p:animEffect transition="in" filter="fade">
                                      <p:cBhvr>
                                        <p:cTn id="12" dur="500"/>
                                        <p:tgtEl>
                                          <p:spTgt spid="7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4">
                                            <p:txEl>
                                              <p:pRg st="4" end="4"/>
                                            </p:txEl>
                                          </p:spTgt>
                                        </p:tgtEl>
                                        <p:attrNameLst>
                                          <p:attrName>style.visibility</p:attrName>
                                        </p:attrNameLst>
                                      </p:cBhvr>
                                      <p:to>
                                        <p:strVal val="visible"/>
                                      </p:to>
                                    </p:set>
                                    <p:animEffect transition="in" filter="fade">
                                      <p:cBhvr>
                                        <p:cTn id="17" dur="500"/>
                                        <p:tgtEl>
                                          <p:spTgt spid="73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4">
                                            <p:txEl>
                                              <p:pRg st="6" end="6"/>
                                            </p:txEl>
                                          </p:spTgt>
                                        </p:tgtEl>
                                        <p:attrNameLst>
                                          <p:attrName>style.visibility</p:attrName>
                                        </p:attrNameLst>
                                      </p:cBhvr>
                                      <p:to>
                                        <p:strVal val="visible"/>
                                      </p:to>
                                    </p:set>
                                    <p:animEffect transition="in" filter="fade">
                                      <p:cBhvr>
                                        <p:cTn id="22" dur="500"/>
                                        <p:tgtEl>
                                          <p:spTgt spid="7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51"/>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000"/>
              <a:buFont typeface="Times New Roman"/>
              <a:buNone/>
            </a:pPr>
            <a:r>
              <a:rPr lang="en-US" sz="3200" dirty="0"/>
              <a:t>2.</a:t>
            </a:r>
            <a:r>
              <a:rPr lang="vi-VN" sz="3200" dirty="0"/>
              <a:t>4</a:t>
            </a:r>
            <a:r>
              <a:rPr lang="en-US" sz="3200" dirty="0"/>
              <a:t>. HASH MẬT KHẨU YẾU</a:t>
            </a:r>
            <a:endParaRPr sz="3200" dirty="0"/>
          </a:p>
          <a:p>
            <a:pPr marL="0" lvl="0" indent="0" algn="l" rtl="0">
              <a:lnSpc>
                <a:spcPct val="90000"/>
              </a:lnSpc>
              <a:spcBef>
                <a:spcPts val="0"/>
              </a:spcBef>
              <a:spcAft>
                <a:spcPts val="0"/>
              </a:spcAft>
              <a:buClr>
                <a:srgbClr val="0070C0"/>
              </a:buClr>
              <a:buSzPts val="4000"/>
              <a:buFont typeface="Times New Roman"/>
              <a:buNone/>
            </a:pPr>
            <a:r>
              <a:rPr lang="en-US" sz="2800" dirty="0"/>
              <a:t>	2.</a:t>
            </a:r>
            <a:r>
              <a:rPr lang="vi-VN" sz="2800" dirty="0"/>
              <a:t>4</a:t>
            </a:r>
            <a:r>
              <a:rPr lang="en-US" sz="2800" dirty="0"/>
              <a:t>.1. GIỚI THIỆU</a:t>
            </a:r>
            <a:endParaRPr sz="2800" dirty="0"/>
          </a:p>
        </p:txBody>
      </p:sp>
      <p:sp>
        <p:nvSpPr>
          <p:cNvPr id="3" name="TextBox 2">
            <a:extLst>
              <a:ext uri="{FF2B5EF4-FFF2-40B4-BE49-F238E27FC236}">
                <a16:creationId xmlns:a16="http://schemas.microsoft.com/office/drawing/2014/main" id="{19C820D6-1D18-DA8E-80D6-A5835BCFD556}"/>
              </a:ext>
            </a:extLst>
          </p:cNvPr>
          <p:cNvSpPr txBox="1"/>
          <p:nvPr/>
        </p:nvSpPr>
        <p:spPr>
          <a:xfrm>
            <a:off x="497305" y="1351413"/>
            <a:ext cx="11197390" cy="4739759"/>
          </a:xfrm>
          <a:prstGeom prst="rect">
            <a:avLst/>
          </a:prstGeom>
          <a:noFill/>
        </p:spPr>
        <p:txBody>
          <a:bodyPr wrap="square">
            <a:spAutoFit/>
          </a:bodyPr>
          <a:lstStyle/>
          <a:p>
            <a:pPr rtl="0">
              <a:spcBef>
                <a:spcPts val="1200"/>
              </a:spcBef>
              <a:buNone/>
            </a:pPr>
            <a:r>
              <a:rPr lang="vi-VN" sz="2200" b="1" i="0" u="none" strike="noStrike" dirty="0" err="1">
                <a:solidFill>
                  <a:srgbClr val="000000"/>
                </a:solidFill>
                <a:effectLst/>
                <a:latin typeface="Readex Pro" panose="020B0604020202020204" charset="-78"/>
                <a:cs typeface="Readex Pro" panose="020B0604020202020204" charset="-78"/>
              </a:rPr>
              <a:t>Hash</a:t>
            </a:r>
            <a:r>
              <a:rPr lang="vi-VN" sz="2200" b="1" i="0" u="none" strike="noStrike" dirty="0">
                <a:solidFill>
                  <a:srgbClr val="000000"/>
                </a:solidFill>
                <a:effectLst/>
                <a:latin typeface="Readex Pro" panose="020B0604020202020204" charset="-78"/>
                <a:cs typeface="Readex Pro" panose="020B0604020202020204" charset="-78"/>
              </a:rPr>
              <a:t> </a:t>
            </a:r>
            <a:r>
              <a:rPr lang="vi-VN" sz="2200" b="1" i="0" u="none" strike="noStrike" dirty="0" err="1">
                <a:solidFill>
                  <a:srgbClr val="000000"/>
                </a:solidFill>
                <a:effectLst/>
                <a:latin typeface="Readex Pro" panose="020B0604020202020204" charset="-78"/>
                <a:cs typeface="Readex Pro" panose="020B0604020202020204" charset="-78"/>
              </a:rPr>
              <a:t>password</a:t>
            </a:r>
            <a:r>
              <a:rPr lang="vi-VN" sz="2200" b="1" i="0" u="none" strike="noStrike" dirty="0">
                <a:solidFill>
                  <a:srgbClr val="000000"/>
                </a:solidFill>
                <a:effectLst/>
                <a:latin typeface="Readex Pro" panose="020B0604020202020204" charset="-78"/>
                <a:cs typeface="Readex Pro" panose="020B0604020202020204" charset="-78"/>
              </a:rPr>
              <a:t> yếu </a:t>
            </a:r>
            <a:r>
              <a:rPr lang="vi-VN" sz="2200" b="0" i="0" u="none" strike="noStrike" dirty="0">
                <a:solidFill>
                  <a:srgbClr val="000000"/>
                </a:solidFill>
                <a:effectLst/>
                <a:latin typeface="Readex Pro" panose="020B0604020202020204" charset="-78"/>
                <a:cs typeface="Readex Pro" panose="020B0604020202020204" charset="-78"/>
              </a:rPr>
              <a:t>là khi hệ thống lưu trữ mật khẩu bằng các hàm băm nhanh hoặc không có biện pháp bổ sung (ví dụ MD5, SHA-1) khiến kẻ tấn công dễ dàng khôi phục mật khẩu bằng </a:t>
            </a:r>
            <a:r>
              <a:rPr lang="vi-VN" sz="2200" b="1" i="1" u="none" strike="noStrike" dirty="0" err="1">
                <a:solidFill>
                  <a:srgbClr val="000000"/>
                </a:solidFill>
                <a:effectLst/>
                <a:latin typeface="Readex Pro" panose="020B0604020202020204" charset="-78"/>
                <a:cs typeface="Readex Pro" panose="020B0604020202020204" charset="-78"/>
              </a:rPr>
              <a:t>brute-force</a:t>
            </a:r>
            <a:r>
              <a:rPr lang="vi-VN" sz="2200" b="0" i="0" u="none" strike="noStrike" dirty="0">
                <a:solidFill>
                  <a:srgbClr val="000000"/>
                </a:solidFill>
                <a:effectLst/>
                <a:latin typeface="Readex Pro" panose="020B0604020202020204" charset="-78"/>
                <a:cs typeface="Readex Pro" panose="020B0604020202020204" charset="-78"/>
              </a:rPr>
              <a:t>, </a:t>
            </a:r>
            <a:r>
              <a:rPr lang="vi-VN" sz="2200" b="1" i="1" u="none" strike="noStrike" dirty="0" err="1">
                <a:solidFill>
                  <a:srgbClr val="000000"/>
                </a:solidFill>
                <a:effectLst/>
                <a:latin typeface="Readex Pro" panose="020B0604020202020204" charset="-78"/>
                <a:cs typeface="Readex Pro" panose="020B0604020202020204" charset="-78"/>
              </a:rPr>
              <a:t>dictionary</a:t>
            </a:r>
            <a:r>
              <a:rPr lang="vi-VN" sz="2200" b="0" i="0" u="none" strike="noStrike" dirty="0">
                <a:solidFill>
                  <a:srgbClr val="000000"/>
                </a:solidFill>
                <a:effectLst/>
                <a:latin typeface="Readex Pro" panose="020B0604020202020204" charset="-78"/>
                <a:cs typeface="Readex Pro" panose="020B0604020202020204" charset="-78"/>
              </a:rPr>
              <a:t> hoặc </a:t>
            </a:r>
            <a:r>
              <a:rPr lang="vi-VN" sz="2200" b="1" i="1" u="none" strike="noStrike" dirty="0" err="1">
                <a:solidFill>
                  <a:srgbClr val="000000"/>
                </a:solidFill>
                <a:effectLst/>
                <a:latin typeface="Readex Pro" panose="020B0604020202020204" charset="-78"/>
                <a:cs typeface="Readex Pro" panose="020B0604020202020204" charset="-78"/>
              </a:rPr>
              <a:t>rainbow-table</a:t>
            </a:r>
            <a:r>
              <a:rPr lang="vi-VN" sz="2200" b="0" i="0" u="none" strike="noStrike" dirty="0">
                <a:solidFill>
                  <a:srgbClr val="000000"/>
                </a:solidFill>
                <a:effectLst/>
                <a:latin typeface="Readex Pro" panose="020B0604020202020204" charset="-78"/>
                <a:cs typeface="Readex Pro" panose="020B0604020202020204" charset="-78"/>
              </a:rPr>
              <a:t>.</a:t>
            </a:r>
            <a:endParaRPr lang="en-US" sz="2200" b="0" i="0" u="none" strike="noStrike" dirty="0">
              <a:solidFill>
                <a:srgbClr val="000000"/>
              </a:solidFill>
              <a:effectLst/>
              <a:latin typeface="Readex Pro" panose="020B0604020202020204" charset="-78"/>
              <a:cs typeface="Readex Pro" panose="020B0604020202020204" charset="-78"/>
            </a:endParaRPr>
          </a:p>
          <a:p>
            <a:pPr rtl="0">
              <a:spcBef>
                <a:spcPts val="1200"/>
              </a:spcBef>
              <a:buNone/>
            </a:pPr>
            <a:r>
              <a:rPr lang="vi-VN" sz="2200" b="0" i="0" u="none" strike="noStrike" dirty="0">
                <a:solidFill>
                  <a:srgbClr val="000000"/>
                </a:solidFill>
                <a:effectLst/>
                <a:latin typeface="Readex Pro" panose="020B0604020202020204" charset="-78"/>
                <a:cs typeface="Readex Pro" panose="020B0604020202020204" charset="-78"/>
              </a:rPr>
              <a:t>Dẫn đến nguy cơ: bị lộ tài khoản, chiếm quyền truy cập, leo thang đặc quyền và lan rộng trong hệ thống khi kẻ tấn công sử dụng lại mật khẩu ở nơi khác.</a:t>
            </a:r>
            <a:endParaRPr lang="vi-VN" sz="2200" b="0" dirty="0">
              <a:effectLst/>
              <a:latin typeface="Readex Pro" panose="020B0604020202020204" charset="-78"/>
              <a:cs typeface="Readex Pro" panose="020B0604020202020204" charset="-78"/>
            </a:endParaRPr>
          </a:p>
          <a:p>
            <a:pPr rtl="0">
              <a:spcBef>
                <a:spcPts val="1200"/>
              </a:spcBef>
              <a:buNone/>
            </a:pPr>
            <a:r>
              <a:rPr lang="vi-VN" sz="2200" b="1" i="0" u="sng" strike="noStrike" dirty="0">
                <a:solidFill>
                  <a:srgbClr val="000000"/>
                </a:solidFill>
                <a:effectLst/>
                <a:latin typeface="Readex Pro" panose="020B0604020202020204" charset="-78"/>
                <a:cs typeface="Readex Pro" panose="020B0604020202020204" charset="-78"/>
              </a:rPr>
              <a:t>Ví dụ lỗi:</a:t>
            </a:r>
            <a:endParaRPr lang="vi-VN" sz="2200" b="1" u="sng" dirty="0">
              <a:effectLst/>
              <a:latin typeface="Readex Pro" panose="020B0604020202020204" charset="-78"/>
              <a:cs typeface="Readex Pro" panose="020B0604020202020204" charset="-78"/>
            </a:endParaRPr>
          </a:p>
          <a:p>
            <a:pPr marL="457200" indent="-457200" rtl="0" fontAlgn="base">
              <a:spcBef>
                <a:spcPts val="1200"/>
              </a:spcBef>
              <a:buAutoNum type="arabicPeriod"/>
            </a:pPr>
            <a:r>
              <a:rPr lang="vi-VN" sz="2200" b="0" i="0" u="none" strike="noStrike" dirty="0">
                <a:solidFill>
                  <a:srgbClr val="000000"/>
                </a:solidFill>
                <a:effectLst/>
                <a:latin typeface="Readex Pro" panose="020B0604020202020204" charset="-78"/>
                <a:cs typeface="Readex Pro" panose="020B0604020202020204" charset="-78"/>
              </a:rPr>
              <a:t>Lưu trực tiếp </a:t>
            </a:r>
            <a:r>
              <a:rPr lang="vi-VN" sz="2200" b="0" i="0" u="none" strike="noStrike" dirty="0" err="1">
                <a:solidFill>
                  <a:srgbClr val="000000"/>
                </a:solidFill>
                <a:effectLst/>
                <a:latin typeface="Readex Pro" panose="020B0604020202020204" charset="-78"/>
                <a:cs typeface="Readex Pro" panose="020B0604020202020204" charset="-78"/>
              </a:rPr>
              <a:t>hash</a:t>
            </a:r>
            <a:r>
              <a:rPr lang="vi-VN" sz="2200" b="0" i="0" u="none" strike="noStrike" dirty="0">
                <a:solidFill>
                  <a:srgbClr val="000000"/>
                </a:solidFill>
                <a:effectLst/>
                <a:latin typeface="Readex Pro" panose="020B0604020202020204" charset="-78"/>
                <a:cs typeface="Readex Pro" panose="020B0604020202020204" charset="-78"/>
              </a:rPr>
              <a:t> </a:t>
            </a:r>
            <a:r>
              <a:rPr lang="vi-VN" sz="2200" b="1" i="0" u="none" strike="noStrike" dirty="0">
                <a:solidFill>
                  <a:srgbClr val="000000"/>
                </a:solidFill>
                <a:effectLst/>
                <a:latin typeface="Readex Pro" panose="020B0604020202020204" charset="-78"/>
                <a:cs typeface="Readex Pro" panose="020B0604020202020204" charset="-78"/>
              </a:rPr>
              <a:t>MD5/SHA1 </a:t>
            </a:r>
            <a:r>
              <a:rPr lang="vi-VN" sz="2200" b="0" i="0" u="none" strike="noStrike" dirty="0">
                <a:solidFill>
                  <a:srgbClr val="000000"/>
                </a:solidFill>
                <a:effectLst/>
                <a:latin typeface="Readex Pro" panose="020B0604020202020204" charset="-78"/>
                <a:cs typeface="Readex Pro" panose="020B0604020202020204" charset="-78"/>
              </a:rPr>
              <a:t>của mật khẩu trong cơ sở dữ liệu (không </a:t>
            </a:r>
            <a:r>
              <a:rPr lang="vi-VN" sz="2200" b="0" i="0" u="none" strike="noStrike" dirty="0" err="1">
                <a:solidFill>
                  <a:srgbClr val="000000"/>
                </a:solidFill>
                <a:effectLst/>
                <a:latin typeface="Readex Pro" panose="020B0604020202020204" charset="-78"/>
                <a:cs typeface="Readex Pro" panose="020B0604020202020204" charset="-78"/>
              </a:rPr>
              <a:t>salt</a:t>
            </a:r>
            <a:r>
              <a:rPr lang="vi-VN" sz="2200" b="0" i="0" u="none" strike="noStrike" dirty="0">
                <a:solidFill>
                  <a:srgbClr val="000000"/>
                </a:solidFill>
                <a:effectLst/>
                <a:latin typeface="Readex Pro" panose="020B0604020202020204" charset="-78"/>
                <a:cs typeface="Readex Pro" panose="020B0604020202020204" charset="-78"/>
              </a:rPr>
              <a:t>).</a:t>
            </a:r>
            <a:endParaRPr lang="en-US" sz="2200" b="0" i="0" u="none" strike="noStrike" dirty="0">
              <a:solidFill>
                <a:srgbClr val="000000"/>
              </a:solidFill>
              <a:effectLst/>
              <a:latin typeface="Readex Pro" panose="020B0604020202020204" charset="-78"/>
              <a:cs typeface="Readex Pro" panose="020B0604020202020204" charset="-78"/>
            </a:endParaRPr>
          </a:p>
          <a:p>
            <a:pPr marL="457200" indent="-457200" rtl="0" fontAlgn="base">
              <a:spcBef>
                <a:spcPts val="1200"/>
              </a:spcBef>
              <a:buAutoNum type="arabicPeriod"/>
            </a:pPr>
            <a:r>
              <a:rPr lang="vi-VN" sz="2200" b="0" i="0" u="none" strike="noStrike" dirty="0">
                <a:solidFill>
                  <a:srgbClr val="000000"/>
                </a:solidFill>
                <a:effectLst/>
                <a:latin typeface="Readex Pro" panose="020B0604020202020204" charset="-78"/>
                <a:cs typeface="Readex Pro" panose="020B0604020202020204" charset="-78"/>
              </a:rPr>
              <a:t>Dùng hàm băm chung cho nhiều </a:t>
            </a:r>
            <a:r>
              <a:rPr lang="vi-VN" sz="2200" b="0" i="0" u="none" strike="noStrike" dirty="0" err="1">
                <a:solidFill>
                  <a:srgbClr val="000000"/>
                </a:solidFill>
                <a:effectLst/>
                <a:latin typeface="Readex Pro" panose="020B0604020202020204" charset="-78"/>
                <a:cs typeface="Readex Pro" panose="020B0604020202020204" charset="-78"/>
              </a:rPr>
              <a:t>user</a:t>
            </a:r>
            <a:r>
              <a:rPr lang="vi-VN" sz="2200" b="0" i="0" u="none" strike="noStrike" dirty="0">
                <a:solidFill>
                  <a:srgbClr val="000000"/>
                </a:solidFill>
                <a:effectLst/>
                <a:latin typeface="Readex Pro" panose="020B0604020202020204" charset="-78"/>
                <a:cs typeface="Readex Pro" panose="020B0604020202020204" charset="-78"/>
              </a:rPr>
              <a:t> với </a:t>
            </a:r>
            <a:r>
              <a:rPr lang="vi-VN" sz="2200" b="0" i="0" u="none" strike="noStrike" dirty="0" err="1">
                <a:solidFill>
                  <a:srgbClr val="000000"/>
                </a:solidFill>
                <a:effectLst/>
                <a:latin typeface="Readex Pro" panose="020B0604020202020204" charset="-78"/>
                <a:cs typeface="Readex Pro" panose="020B0604020202020204" charset="-78"/>
              </a:rPr>
              <a:t>salt</a:t>
            </a:r>
            <a:r>
              <a:rPr lang="vi-VN" sz="2200" b="0" i="0" u="none" strike="noStrike" dirty="0">
                <a:solidFill>
                  <a:srgbClr val="000000"/>
                </a:solidFill>
                <a:effectLst/>
                <a:latin typeface="Readex Pro" panose="020B0604020202020204" charset="-78"/>
                <a:cs typeface="Readex Pro" panose="020B0604020202020204" charset="-78"/>
              </a:rPr>
              <a:t> chung hoặc không </a:t>
            </a:r>
            <a:r>
              <a:rPr lang="vi-VN" sz="2200" b="0" i="0" u="none" strike="noStrike" dirty="0" err="1">
                <a:solidFill>
                  <a:srgbClr val="000000"/>
                </a:solidFill>
                <a:effectLst/>
                <a:latin typeface="Readex Pro" panose="020B0604020202020204" charset="-78"/>
                <a:cs typeface="Readex Pro" panose="020B0604020202020204" charset="-78"/>
              </a:rPr>
              <a:t>salt</a:t>
            </a:r>
            <a:r>
              <a:rPr lang="vi-VN" sz="2200" b="0" i="0" u="none" strike="noStrike" dirty="0">
                <a:solidFill>
                  <a:srgbClr val="000000"/>
                </a:solidFill>
                <a:effectLst/>
                <a:latin typeface="Readex Pro" panose="020B0604020202020204" charset="-78"/>
                <a:cs typeface="Readex Pro" panose="020B0604020202020204" charset="-78"/>
              </a:rPr>
              <a:t>.</a:t>
            </a:r>
            <a:endParaRPr lang="en-US" sz="2200" b="0" i="0" u="none" strike="noStrike" dirty="0">
              <a:solidFill>
                <a:srgbClr val="000000"/>
              </a:solidFill>
              <a:effectLst/>
              <a:latin typeface="Readex Pro" panose="020B0604020202020204" charset="-78"/>
              <a:cs typeface="Readex Pro" panose="020B0604020202020204" charset="-78"/>
            </a:endParaRPr>
          </a:p>
          <a:p>
            <a:pPr marL="457200" indent="-457200" rtl="0" fontAlgn="base">
              <a:spcBef>
                <a:spcPts val="1200"/>
              </a:spcBef>
              <a:buAutoNum type="arabicPeriod"/>
            </a:pPr>
            <a:r>
              <a:rPr lang="vi-VN" sz="2200" b="0" i="0" u="none" strike="noStrike" dirty="0">
                <a:solidFill>
                  <a:srgbClr val="000000"/>
                </a:solidFill>
                <a:effectLst/>
                <a:latin typeface="Readex Pro" panose="020B0604020202020204" charset="-78"/>
                <a:cs typeface="Readex Pro" panose="020B0604020202020204" charset="-78"/>
              </a:rPr>
              <a:t>Dùng thông tin </a:t>
            </a:r>
            <a:r>
              <a:rPr lang="vi-VN" sz="2200" b="0" i="0" u="none" strike="noStrike" dirty="0" err="1">
                <a:solidFill>
                  <a:srgbClr val="000000"/>
                </a:solidFill>
                <a:effectLst/>
                <a:latin typeface="Readex Pro" panose="020B0604020202020204" charset="-78"/>
                <a:cs typeface="Readex Pro" panose="020B0604020202020204" charset="-78"/>
              </a:rPr>
              <a:t>user</a:t>
            </a:r>
            <a:r>
              <a:rPr lang="vi-VN" sz="2200" b="0" i="0" u="none" strike="noStrike" dirty="0">
                <a:solidFill>
                  <a:srgbClr val="000000"/>
                </a:solidFill>
                <a:effectLst/>
                <a:latin typeface="Readex Pro" panose="020B0604020202020204" charset="-78"/>
                <a:cs typeface="Readex Pro" panose="020B0604020202020204" charset="-78"/>
              </a:rPr>
              <a:t> làm </a:t>
            </a:r>
            <a:r>
              <a:rPr lang="vi-VN" sz="2200" b="0" i="0" u="none" strike="noStrike" dirty="0" err="1">
                <a:solidFill>
                  <a:srgbClr val="000000"/>
                </a:solidFill>
                <a:effectLst/>
                <a:latin typeface="Readex Pro" panose="020B0604020202020204" charset="-78"/>
                <a:cs typeface="Readex Pro" panose="020B0604020202020204" charset="-78"/>
              </a:rPr>
              <a:t>salt</a:t>
            </a:r>
            <a:r>
              <a:rPr lang="vi-VN" sz="2200" b="0" i="0" u="none" strike="noStrike" dirty="0">
                <a:solidFill>
                  <a:srgbClr val="000000"/>
                </a:solidFill>
                <a:effectLst/>
                <a:latin typeface="Readex Pro" panose="020B0604020202020204" charset="-78"/>
                <a:cs typeface="Readex Pro" panose="020B0604020202020204" charset="-78"/>
              </a:rPr>
              <a:t> (</a:t>
            </a:r>
            <a:r>
              <a:rPr lang="vi-VN" sz="2200" b="0" i="0" u="none" strike="noStrike" dirty="0" err="1">
                <a:solidFill>
                  <a:srgbClr val="000000"/>
                </a:solidFill>
                <a:effectLst/>
                <a:latin typeface="Readex Pro" panose="020B0604020202020204" charset="-78"/>
                <a:cs typeface="Readex Pro" panose="020B0604020202020204" charset="-78"/>
              </a:rPr>
              <a:t>username</a:t>
            </a:r>
            <a:r>
              <a:rPr lang="vi-VN" sz="2200" b="0" i="0" u="none" strike="noStrike" dirty="0">
                <a:solidFill>
                  <a:srgbClr val="000000"/>
                </a:solidFill>
                <a:effectLst/>
                <a:latin typeface="Readex Pro" panose="020B0604020202020204" charset="-78"/>
                <a:cs typeface="Readex Pro" panose="020B0604020202020204" charset="-78"/>
              </a:rPr>
              <a:t>, </a:t>
            </a:r>
            <a:r>
              <a:rPr lang="vi-VN" sz="2200" b="0" i="0" u="none" strike="noStrike" dirty="0" err="1">
                <a:solidFill>
                  <a:srgbClr val="000000"/>
                </a:solidFill>
                <a:effectLst/>
                <a:latin typeface="Readex Pro" panose="020B0604020202020204" charset="-78"/>
                <a:cs typeface="Readex Pro" panose="020B0604020202020204" charset="-78"/>
              </a:rPr>
              <a:t>email</a:t>
            </a:r>
            <a:r>
              <a:rPr lang="vi-VN" sz="2200" b="0" i="0" u="none" strike="noStrike" dirty="0">
                <a:solidFill>
                  <a:srgbClr val="000000"/>
                </a:solidFill>
                <a:effectLst/>
                <a:latin typeface="Readex Pro" panose="020B0604020202020204" charset="-78"/>
                <a:cs typeface="Readex Pro" panose="020B0604020202020204" charset="-78"/>
              </a:rPr>
              <a:t>, ID).</a:t>
            </a:r>
            <a:endParaRPr lang="en-US" sz="2200" b="0" i="0" u="none" strike="noStrike" dirty="0">
              <a:solidFill>
                <a:srgbClr val="000000"/>
              </a:solidFill>
              <a:effectLst/>
              <a:latin typeface="Readex Pro" panose="020B0604020202020204" charset="-78"/>
              <a:cs typeface="Readex Pro" panose="020B0604020202020204" charset="-78"/>
            </a:endParaRPr>
          </a:p>
          <a:p>
            <a:pPr marL="457200" indent="-457200" rtl="0" fontAlgn="base">
              <a:spcBef>
                <a:spcPts val="1200"/>
              </a:spcBef>
              <a:buAutoNum type="arabicPeriod"/>
            </a:pPr>
            <a:r>
              <a:rPr lang="vi-VN" sz="2200" b="0" i="0" u="none" strike="noStrike" dirty="0">
                <a:solidFill>
                  <a:srgbClr val="000000"/>
                </a:solidFill>
                <a:effectLst/>
                <a:latin typeface="Readex Pro" panose="020B0604020202020204" charset="-78"/>
                <a:cs typeface="Readex Pro" panose="020B0604020202020204" charset="-78"/>
              </a:rPr>
              <a:t>Không </a:t>
            </a:r>
            <a:r>
              <a:rPr lang="vi-VN" sz="2200" b="0" i="0" u="none" strike="noStrike" dirty="0" err="1">
                <a:solidFill>
                  <a:srgbClr val="000000"/>
                </a:solidFill>
                <a:effectLst/>
                <a:latin typeface="Readex Pro" panose="020B0604020202020204" charset="-78"/>
                <a:cs typeface="Readex Pro" panose="020B0604020202020204" charset="-78"/>
              </a:rPr>
              <a:t>hash</a:t>
            </a:r>
            <a:r>
              <a:rPr lang="vi-VN" sz="2200" b="0" i="0" u="none" strike="noStrike" dirty="0">
                <a:solidFill>
                  <a:srgbClr val="000000"/>
                </a:solidFill>
                <a:effectLst/>
                <a:latin typeface="Readex Pro" panose="020B0604020202020204" charset="-78"/>
                <a:cs typeface="Readex Pro" panose="020B0604020202020204" charset="-78"/>
              </a:rPr>
              <a:t> mật khẩu vì "dùng HTTPS rồi", nghĩ là có SSL/TLS rồi, không cần </a:t>
            </a:r>
            <a:r>
              <a:rPr lang="vi-VN" sz="2200" b="0" i="0" u="none" strike="noStrike" dirty="0" err="1">
                <a:solidFill>
                  <a:srgbClr val="000000"/>
                </a:solidFill>
                <a:effectLst/>
                <a:latin typeface="Readex Pro" panose="020B0604020202020204" charset="-78"/>
                <a:cs typeface="Readex Pro" panose="020B0604020202020204" charset="-78"/>
              </a:rPr>
              <a:t>hash</a:t>
            </a:r>
            <a:r>
              <a:rPr lang="vi-VN" sz="2200" b="0" i="0" u="none" strike="noStrike" dirty="0">
                <a:solidFill>
                  <a:srgbClr val="000000"/>
                </a:solidFill>
                <a:effectLst/>
                <a:latin typeface="Readex Pro" panose="020B0604020202020204" charset="-78"/>
                <a:cs typeface="Readex Pro" panose="020B0604020202020204" charset="-78"/>
              </a:rPr>
              <a:t> mật khẩu trong DB.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52"/>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4</a:t>
            </a:r>
            <a:r>
              <a:rPr lang="en-US" sz="3200" dirty="0"/>
              <a:t>. HASH MẬT KHẨU YẾU</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4</a:t>
            </a:r>
            <a:r>
              <a:rPr lang="en-US" sz="3200" dirty="0"/>
              <a:t>.2. VÍ DỤ</a:t>
            </a:r>
            <a:endParaRPr sz="2900" dirty="0">
              <a:latin typeface="Times New Roman"/>
              <a:ea typeface="Times New Roman"/>
              <a:cs typeface="Times New Roman"/>
              <a:sym typeface="Times New Roman"/>
            </a:endParaRPr>
          </a:p>
        </p:txBody>
      </p:sp>
      <p:sp>
        <p:nvSpPr>
          <p:cNvPr id="713" name="Google Shape;713;p52"/>
          <p:cNvSpPr txBox="1">
            <a:spLocks noGrp="1"/>
          </p:cNvSpPr>
          <p:nvPr>
            <p:ph type="body" idx="1"/>
          </p:nvPr>
        </p:nvSpPr>
        <p:spPr>
          <a:xfrm>
            <a:off x="838200" y="1477568"/>
            <a:ext cx="9476874" cy="3754146"/>
          </a:xfrm>
          <a:prstGeom prst="rect">
            <a:avLst/>
          </a:prstGeom>
          <a:noFill/>
          <a:ln>
            <a:noFill/>
          </a:ln>
        </p:spPr>
        <p:txBody>
          <a:bodyPr spcFirstLastPara="1" wrap="square" lIns="91425" tIns="45700" rIns="91425" bIns="45700" anchor="t" anchorCtr="0">
            <a:normAutofit/>
          </a:bodyPr>
          <a:lstStyle/>
          <a:p>
            <a:pPr marL="76200" lvl="0" indent="0" algn="just" rtl="0">
              <a:lnSpc>
                <a:spcPct val="115000"/>
              </a:lnSpc>
              <a:spcBef>
                <a:spcPts val="0"/>
              </a:spcBef>
              <a:spcAft>
                <a:spcPts val="0"/>
              </a:spcAft>
              <a:buSzPts val="2400"/>
            </a:pPr>
            <a:endParaRPr dirty="0"/>
          </a:p>
        </p:txBody>
      </p:sp>
      <p:pic>
        <p:nvPicPr>
          <p:cNvPr id="4100" name="Picture 4">
            <a:extLst>
              <a:ext uri="{FF2B5EF4-FFF2-40B4-BE49-F238E27FC236}">
                <a16:creationId xmlns:a16="http://schemas.microsoft.com/office/drawing/2014/main" id="{121A6DCC-501E-007B-EE2E-61358BC17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325" y="1477568"/>
            <a:ext cx="9592396" cy="37541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fade">
                                      <p:cBhvr>
                                        <p:cTn id="7"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1">
          <a:extLst>
            <a:ext uri="{FF2B5EF4-FFF2-40B4-BE49-F238E27FC236}">
              <a16:creationId xmlns:a16="http://schemas.microsoft.com/office/drawing/2014/main" id="{F7C05F08-74EB-05FB-CE88-1ED02424F5DC}"/>
            </a:ext>
          </a:extLst>
        </p:cNvPr>
        <p:cNvGrpSpPr/>
        <p:nvPr/>
      </p:nvGrpSpPr>
      <p:grpSpPr>
        <a:xfrm>
          <a:off x="0" y="0"/>
          <a:ext cx="0" cy="0"/>
          <a:chOff x="0" y="0"/>
          <a:chExt cx="0" cy="0"/>
        </a:xfrm>
      </p:grpSpPr>
      <p:sp>
        <p:nvSpPr>
          <p:cNvPr id="712" name="Google Shape;712;p52">
            <a:extLst>
              <a:ext uri="{FF2B5EF4-FFF2-40B4-BE49-F238E27FC236}">
                <a16:creationId xmlns:a16="http://schemas.microsoft.com/office/drawing/2014/main" id="{6D6356D8-F494-8701-9BAA-2B61568E0C32}"/>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4</a:t>
            </a:r>
            <a:r>
              <a:rPr lang="en-US" sz="3200" dirty="0"/>
              <a:t>. HASH MẬT KHẨU YẾU</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4</a:t>
            </a:r>
            <a:r>
              <a:rPr lang="en-US" sz="3200" dirty="0"/>
              <a:t>.3. HẬU QUẢ</a:t>
            </a:r>
            <a:endParaRPr sz="2900" dirty="0">
              <a:latin typeface="Times New Roman"/>
              <a:ea typeface="Times New Roman"/>
              <a:cs typeface="Times New Roman"/>
              <a:sym typeface="Times New Roman"/>
            </a:endParaRPr>
          </a:p>
        </p:txBody>
      </p:sp>
      <p:sp>
        <p:nvSpPr>
          <p:cNvPr id="713" name="Google Shape;713;p52">
            <a:extLst>
              <a:ext uri="{FF2B5EF4-FFF2-40B4-BE49-F238E27FC236}">
                <a16:creationId xmlns:a16="http://schemas.microsoft.com/office/drawing/2014/main" id="{7ADE562C-832A-EF9A-E57B-AB9B60680F43}"/>
              </a:ext>
            </a:extLst>
          </p:cNvPr>
          <p:cNvSpPr txBox="1">
            <a:spLocks noGrp="1"/>
          </p:cNvSpPr>
          <p:nvPr>
            <p:ph type="body" idx="1"/>
          </p:nvPr>
        </p:nvSpPr>
        <p:spPr>
          <a:xfrm>
            <a:off x="838200" y="1477568"/>
            <a:ext cx="10515600" cy="4265506"/>
          </a:xfrm>
          <a:prstGeom prst="rect">
            <a:avLst/>
          </a:prstGeom>
          <a:noFill/>
          <a:ln>
            <a:noFill/>
          </a:ln>
        </p:spPr>
        <p:txBody>
          <a:bodyPr spcFirstLastPara="1" wrap="square" lIns="91425" tIns="45700" rIns="91425" bIns="45700" anchor="t" anchorCtr="0">
            <a:noAutofit/>
          </a:bodyPr>
          <a:lstStyle/>
          <a:p>
            <a:r>
              <a:rPr lang="vi-VN" sz="2300" b="1" dirty="0"/>
              <a:t>Hậu quả:</a:t>
            </a:r>
            <a:endParaRPr lang="en-US" sz="2300" b="1" dirty="0"/>
          </a:p>
          <a:p>
            <a:pPr marL="685800" indent="-457200">
              <a:buAutoNum type="arabicPeriod"/>
            </a:pPr>
            <a:r>
              <a:rPr lang="vi-VN" sz="2300" dirty="0"/>
              <a:t>Kẻ tấn công dễ dàng bẻ khóa </a:t>
            </a:r>
            <a:r>
              <a:rPr lang="vi-VN" sz="2300" b="1" i="1" dirty="0" err="1"/>
              <a:t>hash</a:t>
            </a:r>
            <a:r>
              <a:rPr lang="vi-VN" sz="2300" b="1" i="1" dirty="0"/>
              <a:t> yếu </a:t>
            </a:r>
            <a:r>
              <a:rPr lang="vi-VN" sz="2300" dirty="0"/>
              <a:t>(MD5/SHA1/</a:t>
            </a:r>
            <a:r>
              <a:rPr lang="vi-VN" sz="2300" dirty="0" err="1"/>
              <a:t>unsalted</a:t>
            </a:r>
            <a:r>
              <a:rPr lang="vi-VN" sz="2300" dirty="0"/>
              <a:t>…) để lấy mật khẩu và đăng nhập trực tiếp vào tài khoản nạn nhân — dẫn tới mất quyền kiểm soát tài khoản </a:t>
            </a:r>
            <a:r>
              <a:rPr lang="vi-VN" sz="2300" dirty="0" err="1"/>
              <a:t>email</a:t>
            </a:r>
            <a:r>
              <a:rPr lang="vi-VN" sz="2300" dirty="0"/>
              <a:t>, ngân hàng, dịch vụ nội bộ…</a:t>
            </a:r>
            <a:endParaRPr lang="en-US" sz="2300" dirty="0"/>
          </a:p>
          <a:p>
            <a:pPr marL="685800" indent="-457200">
              <a:buAutoNum type="arabicPeriod"/>
            </a:pPr>
            <a:r>
              <a:rPr lang="vi-VN" sz="2300" dirty="0"/>
              <a:t>Người dùng thường </a:t>
            </a:r>
            <a:r>
              <a:rPr lang="vi-VN" sz="2300" b="1" i="1" dirty="0"/>
              <a:t>dùng lại mật khẩu</a:t>
            </a:r>
            <a:r>
              <a:rPr lang="vi-VN" sz="2300" dirty="0"/>
              <a:t>. Khi một mật khẩu bị bẻ, kẻ tấn công dùng nó thử trên nhiều dịch vụ khác → nhiều tài khoản khác bị xâm phạm.</a:t>
            </a:r>
            <a:endParaRPr lang="en-US" sz="2300" dirty="0"/>
          </a:p>
          <a:p>
            <a:pPr marL="685800" indent="-457200">
              <a:buAutoNum type="arabicPeriod"/>
            </a:pPr>
            <a:r>
              <a:rPr lang="vi-VN" sz="2300" dirty="0"/>
              <a:t>Công ty A dùng </a:t>
            </a:r>
            <a:r>
              <a:rPr lang="vi-VN" sz="2300" dirty="0" err="1"/>
              <a:t>pass</a:t>
            </a:r>
            <a:r>
              <a:rPr lang="vi-VN" sz="2300" dirty="0"/>
              <a:t> yếu → bị </a:t>
            </a:r>
            <a:r>
              <a:rPr lang="vi-VN" sz="2300" dirty="0" err="1"/>
              <a:t>hack</a:t>
            </a:r>
            <a:r>
              <a:rPr lang="vi-VN" sz="2300" dirty="0"/>
              <a:t> → </a:t>
            </a:r>
            <a:r>
              <a:rPr lang="vi-VN" sz="2300" dirty="0" err="1"/>
              <a:t>attacker</a:t>
            </a:r>
            <a:r>
              <a:rPr lang="vi-VN" sz="2300" dirty="0"/>
              <a:t> dùng tài khoản đó để:  Gửi </a:t>
            </a:r>
            <a:r>
              <a:rPr lang="vi-VN" sz="2300" dirty="0" err="1"/>
              <a:t>email</a:t>
            </a:r>
            <a:r>
              <a:rPr lang="vi-VN" sz="2300" dirty="0"/>
              <a:t> giả mạo đến đối tác, đẩy mã độc qua </a:t>
            </a:r>
            <a:r>
              <a:rPr lang="vi-VN" sz="2300" dirty="0" err="1"/>
              <a:t>update</a:t>
            </a:r>
            <a:r>
              <a:rPr lang="vi-VN" sz="2300" dirty="0"/>
              <a:t> phần mềm.</a:t>
            </a:r>
          </a:p>
          <a:p>
            <a:pPr marL="76200" lvl="0" indent="0" algn="just" rtl="0">
              <a:lnSpc>
                <a:spcPct val="115000"/>
              </a:lnSpc>
              <a:spcBef>
                <a:spcPts val="0"/>
              </a:spcBef>
              <a:spcAft>
                <a:spcPts val="0"/>
              </a:spcAft>
              <a:buSzPts val="2400"/>
            </a:pPr>
            <a:endParaRPr sz="2300" dirty="0"/>
          </a:p>
        </p:txBody>
      </p:sp>
    </p:spTree>
    <p:extLst>
      <p:ext uri="{BB962C8B-B14F-4D97-AF65-F5344CB8AC3E}">
        <p14:creationId xmlns:p14="http://schemas.microsoft.com/office/powerpoint/2010/main" val="66306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3">
                                            <p:txEl>
                                              <p:pRg st="0" end="0"/>
                                            </p:txEl>
                                          </p:spTgt>
                                        </p:tgtEl>
                                        <p:attrNameLst>
                                          <p:attrName>style.visibility</p:attrName>
                                        </p:attrNameLst>
                                      </p:cBhvr>
                                      <p:to>
                                        <p:strVal val="visible"/>
                                      </p:to>
                                    </p:set>
                                    <p:animEffect transition="in" filter="fade">
                                      <p:cBhvr>
                                        <p:cTn id="7" dur="500"/>
                                        <p:tgtEl>
                                          <p:spTgt spid="7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3">
                                            <p:txEl>
                                              <p:pRg st="1" end="1"/>
                                            </p:txEl>
                                          </p:spTgt>
                                        </p:tgtEl>
                                        <p:attrNameLst>
                                          <p:attrName>style.visibility</p:attrName>
                                        </p:attrNameLst>
                                      </p:cBhvr>
                                      <p:to>
                                        <p:strVal val="visible"/>
                                      </p:to>
                                    </p:set>
                                    <p:animEffect transition="in" filter="fade">
                                      <p:cBhvr>
                                        <p:cTn id="12" dur="500"/>
                                        <p:tgtEl>
                                          <p:spTgt spid="7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3">
                                            <p:txEl>
                                              <p:pRg st="2" end="2"/>
                                            </p:txEl>
                                          </p:spTgt>
                                        </p:tgtEl>
                                        <p:attrNameLst>
                                          <p:attrName>style.visibility</p:attrName>
                                        </p:attrNameLst>
                                      </p:cBhvr>
                                      <p:to>
                                        <p:strVal val="visible"/>
                                      </p:to>
                                    </p:set>
                                    <p:animEffect transition="in" filter="fade">
                                      <p:cBhvr>
                                        <p:cTn id="17" dur="500"/>
                                        <p:tgtEl>
                                          <p:spTgt spid="7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3">
                                            <p:txEl>
                                              <p:pRg st="3" end="3"/>
                                            </p:txEl>
                                          </p:spTgt>
                                        </p:tgtEl>
                                        <p:attrNameLst>
                                          <p:attrName>style.visibility</p:attrName>
                                        </p:attrNameLst>
                                      </p:cBhvr>
                                      <p:to>
                                        <p:strVal val="visible"/>
                                      </p:to>
                                    </p:set>
                                    <p:animEffect transition="in" filter="fade">
                                      <p:cBhvr>
                                        <p:cTn id="22" dur="500"/>
                                        <p:tgtEl>
                                          <p:spTgt spid="7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11">
          <a:extLst>
            <a:ext uri="{FF2B5EF4-FFF2-40B4-BE49-F238E27FC236}">
              <a16:creationId xmlns:a16="http://schemas.microsoft.com/office/drawing/2014/main" id="{9941BB82-E892-E22A-5E75-A2C15D2C4DA4}"/>
            </a:ext>
          </a:extLst>
        </p:cNvPr>
        <p:cNvGrpSpPr/>
        <p:nvPr/>
      </p:nvGrpSpPr>
      <p:grpSpPr>
        <a:xfrm>
          <a:off x="0" y="0"/>
          <a:ext cx="0" cy="0"/>
          <a:chOff x="0" y="0"/>
          <a:chExt cx="0" cy="0"/>
        </a:xfrm>
      </p:grpSpPr>
      <p:sp>
        <p:nvSpPr>
          <p:cNvPr id="712" name="Google Shape;712;p52">
            <a:extLst>
              <a:ext uri="{FF2B5EF4-FFF2-40B4-BE49-F238E27FC236}">
                <a16:creationId xmlns:a16="http://schemas.microsoft.com/office/drawing/2014/main" id="{D8303523-C271-6E04-628B-9C43E6F6E9C8}"/>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4</a:t>
            </a:r>
            <a:r>
              <a:rPr lang="en-US" sz="3200" dirty="0"/>
              <a:t>. HASH MẬT KHẨU YẾU</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4</a:t>
            </a:r>
            <a:r>
              <a:rPr lang="en-US" sz="3200" dirty="0"/>
              <a:t>.4. PHÒNG NGỪA VÀ NGĂN CHẶN</a:t>
            </a:r>
            <a:endParaRPr sz="2900" dirty="0">
              <a:latin typeface="Times New Roman"/>
              <a:ea typeface="Times New Roman"/>
              <a:cs typeface="Times New Roman"/>
              <a:sym typeface="Times New Roman"/>
            </a:endParaRPr>
          </a:p>
        </p:txBody>
      </p:sp>
      <p:sp>
        <p:nvSpPr>
          <p:cNvPr id="713" name="Google Shape;713;p52">
            <a:extLst>
              <a:ext uri="{FF2B5EF4-FFF2-40B4-BE49-F238E27FC236}">
                <a16:creationId xmlns:a16="http://schemas.microsoft.com/office/drawing/2014/main" id="{06F956A1-F1FB-C8CB-BB1D-77952BAD1745}"/>
              </a:ext>
            </a:extLst>
          </p:cNvPr>
          <p:cNvSpPr txBox="1">
            <a:spLocks noGrp="1"/>
          </p:cNvSpPr>
          <p:nvPr>
            <p:ph type="body" idx="1"/>
          </p:nvPr>
        </p:nvSpPr>
        <p:spPr>
          <a:xfrm>
            <a:off x="838200" y="1477568"/>
            <a:ext cx="10515600" cy="4265506"/>
          </a:xfrm>
          <a:prstGeom prst="rect">
            <a:avLst/>
          </a:prstGeom>
          <a:noFill/>
          <a:ln>
            <a:noFill/>
          </a:ln>
        </p:spPr>
        <p:txBody>
          <a:bodyPr spcFirstLastPara="1" wrap="square" lIns="91425" tIns="45700" rIns="91425" bIns="45700" anchor="t" anchorCtr="0">
            <a:noAutofit/>
          </a:bodyPr>
          <a:lstStyle/>
          <a:p>
            <a:pPr marL="685800" indent="-457200" fontAlgn="base">
              <a:buAutoNum type="arabicPeriod"/>
            </a:pPr>
            <a:r>
              <a:rPr lang="vi-VN" dirty="0"/>
              <a:t>Dùng các hàm băm chuẩn như </a:t>
            </a:r>
            <a:r>
              <a:rPr lang="vi-VN" b="1" dirty="0"/>
              <a:t>Argon2</a:t>
            </a:r>
            <a:r>
              <a:rPr lang="vi-VN" dirty="0"/>
              <a:t>, </a:t>
            </a:r>
            <a:r>
              <a:rPr lang="vi-VN" b="1" dirty="0" err="1"/>
              <a:t>bcrypt</a:t>
            </a:r>
            <a:r>
              <a:rPr lang="vi-VN" dirty="0"/>
              <a:t>, </a:t>
            </a:r>
            <a:r>
              <a:rPr lang="vi-VN" b="1" dirty="0" err="1"/>
              <a:t>scrypt</a:t>
            </a:r>
            <a:endParaRPr lang="en-US" b="1" dirty="0"/>
          </a:p>
          <a:p>
            <a:pPr marL="685800" indent="-457200" fontAlgn="base">
              <a:buAutoNum type="arabicPeriod"/>
            </a:pPr>
            <a:endParaRPr lang="en-US" b="1" dirty="0"/>
          </a:p>
          <a:p>
            <a:pPr marL="685800" indent="-457200" fontAlgn="base">
              <a:buAutoNum type="arabicPeriod"/>
            </a:pPr>
            <a:r>
              <a:rPr lang="vi-VN" dirty="0"/>
              <a:t>Không bao giờ lưu </a:t>
            </a:r>
            <a:r>
              <a:rPr lang="vi-VN" dirty="0" err="1"/>
              <a:t>salt</a:t>
            </a:r>
            <a:r>
              <a:rPr lang="vi-VN" dirty="0"/>
              <a:t> riêng, để các thuật toán tạo </a:t>
            </a:r>
            <a:r>
              <a:rPr lang="vi-VN" dirty="0" err="1"/>
              <a:t>salt</a:t>
            </a:r>
            <a:r>
              <a:rPr lang="en-US" dirty="0"/>
              <a:t>.</a:t>
            </a:r>
          </a:p>
          <a:p>
            <a:pPr marL="685800" indent="-457200" fontAlgn="base">
              <a:buAutoNum type="arabicPeriod"/>
            </a:pPr>
            <a:endParaRPr lang="en-US" dirty="0"/>
          </a:p>
          <a:p>
            <a:pPr marL="685800" indent="-457200" fontAlgn="base">
              <a:buAutoNum type="arabicPeriod"/>
            </a:pPr>
            <a:r>
              <a:rPr lang="vi-VN" dirty="0"/>
              <a:t>Dùng </a:t>
            </a:r>
            <a:r>
              <a:rPr lang="en-US" dirty="0"/>
              <a:t>P</a:t>
            </a:r>
            <a:r>
              <a:rPr lang="vi-VN" dirty="0" err="1"/>
              <a:t>epper</a:t>
            </a:r>
            <a:r>
              <a:rPr lang="vi-VN" dirty="0"/>
              <a:t> — một giá trị bí mật toàn hệ thống (không lưu trong DB</a:t>
            </a:r>
            <a:r>
              <a:rPr lang="en-US" dirty="0"/>
              <a:t>)</a:t>
            </a:r>
            <a:r>
              <a:rPr lang="vi-VN" dirty="0"/>
              <a:t>, lưu ở biến môi trường</a:t>
            </a:r>
            <a:r>
              <a:rPr lang="en-US" dirty="0"/>
              <a:t>.</a:t>
            </a:r>
          </a:p>
          <a:p>
            <a:pPr marL="685800" indent="-457200" fontAlgn="base">
              <a:buAutoNum type="arabicPeriod"/>
            </a:pPr>
            <a:endParaRPr lang="en-US" dirty="0"/>
          </a:p>
          <a:p>
            <a:pPr marL="685800" indent="-457200" fontAlgn="base">
              <a:buAutoNum type="arabicPeriod"/>
            </a:pPr>
            <a:r>
              <a:rPr lang="vi-VN" dirty="0"/>
              <a:t>Bật </a:t>
            </a:r>
            <a:r>
              <a:rPr lang="vi-VN" b="1" dirty="0"/>
              <a:t>2FA</a:t>
            </a:r>
            <a:r>
              <a:rPr lang="vi-VN" dirty="0"/>
              <a:t> bắt buộc như </a:t>
            </a:r>
            <a:r>
              <a:rPr lang="vi-VN" b="1" dirty="0"/>
              <a:t>TOTP</a:t>
            </a:r>
            <a:r>
              <a:rPr lang="vi-VN" dirty="0"/>
              <a:t> (</a:t>
            </a:r>
            <a:r>
              <a:rPr lang="vi-VN" dirty="0" err="1"/>
              <a:t>Google</a:t>
            </a:r>
            <a:r>
              <a:rPr lang="vi-VN" dirty="0"/>
              <a:t> </a:t>
            </a:r>
            <a:r>
              <a:rPr lang="vi-VN" dirty="0" err="1"/>
              <a:t>Authenticator</a:t>
            </a:r>
            <a:r>
              <a:rPr lang="vi-VN" dirty="0"/>
              <a:t>), </a:t>
            </a:r>
            <a:r>
              <a:rPr lang="vi-VN" b="1" dirty="0"/>
              <a:t>SMS</a:t>
            </a:r>
            <a:r>
              <a:rPr lang="vi-VN" dirty="0"/>
              <a:t> (cuối cùng) để không phụ thuộc hoàn toàn vào mật khẩu.</a:t>
            </a:r>
          </a:p>
          <a:p>
            <a:pPr marL="76200" lvl="0" indent="0" algn="just" rtl="0">
              <a:lnSpc>
                <a:spcPct val="115000"/>
              </a:lnSpc>
              <a:spcBef>
                <a:spcPts val="0"/>
              </a:spcBef>
              <a:spcAft>
                <a:spcPts val="0"/>
              </a:spcAft>
              <a:buSzPts val="2400"/>
            </a:pPr>
            <a:endParaRPr sz="2300" dirty="0"/>
          </a:p>
        </p:txBody>
      </p:sp>
    </p:spTree>
    <p:extLst>
      <p:ext uri="{BB962C8B-B14F-4D97-AF65-F5344CB8AC3E}">
        <p14:creationId xmlns:p14="http://schemas.microsoft.com/office/powerpoint/2010/main" val="320008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3">
                                            <p:txEl>
                                              <p:pRg st="0" end="0"/>
                                            </p:txEl>
                                          </p:spTgt>
                                        </p:tgtEl>
                                        <p:attrNameLst>
                                          <p:attrName>style.visibility</p:attrName>
                                        </p:attrNameLst>
                                      </p:cBhvr>
                                      <p:to>
                                        <p:strVal val="visible"/>
                                      </p:to>
                                    </p:set>
                                    <p:animEffect transition="in" filter="fade">
                                      <p:cBhvr>
                                        <p:cTn id="7" dur="500"/>
                                        <p:tgtEl>
                                          <p:spTgt spid="7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3">
                                            <p:txEl>
                                              <p:pRg st="2" end="2"/>
                                            </p:txEl>
                                          </p:spTgt>
                                        </p:tgtEl>
                                        <p:attrNameLst>
                                          <p:attrName>style.visibility</p:attrName>
                                        </p:attrNameLst>
                                      </p:cBhvr>
                                      <p:to>
                                        <p:strVal val="visible"/>
                                      </p:to>
                                    </p:set>
                                    <p:animEffect transition="in" filter="fade">
                                      <p:cBhvr>
                                        <p:cTn id="12" dur="500"/>
                                        <p:tgtEl>
                                          <p:spTgt spid="71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3">
                                            <p:txEl>
                                              <p:pRg st="6" end="6"/>
                                            </p:txEl>
                                          </p:spTgt>
                                        </p:tgtEl>
                                        <p:attrNameLst>
                                          <p:attrName>style.visibility</p:attrName>
                                        </p:attrNameLst>
                                      </p:cBhvr>
                                      <p:to>
                                        <p:strVal val="visible"/>
                                      </p:to>
                                    </p:set>
                                    <p:animEffect transition="in" filter="fade">
                                      <p:cBhvr>
                                        <p:cTn id="17" dur="500"/>
                                        <p:tgtEl>
                                          <p:spTgt spid="71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3">
                                            <p:txEl>
                                              <p:pRg st="4" end="4"/>
                                            </p:txEl>
                                          </p:spTgt>
                                        </p:tgtEl>
                                        <p:attrNameLst>
                                          <p:attrName>style.visibility</p:attrName>
                                        </p:attrNameLst>
                                      </p:cBhvr>
                                      <p:to>
                                        <p:strVal val="visible"/>
                                      </p:to>
                                    </p:set>
                                    <p:animEffect transition="in" filter="fade">
                                      <p:cBhvr>
                                        <p:cTn id="22" dur="500"/>
                                        <p:tgtEl>
                                          <p:spTgt spid="7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11">
          <a:extLst>
            <a:ext uri="{FF2B5EF4-FFF2-40B4-BE49-F238E27FC236}">
              <a16:creationId xmlns:a16="http://schemas.microsoft.com/office/drawing/2014/main" id="{F531BECE-AD32-7C3A-5F18-3571FFB5818D}"/>
            </a:ext>
          </a:extLst>
        </p:cNvPr>
        <p:cNvGrpSpPr/>
        <p:nvPr/>
      </p:nvGrpSpPr>
      <p:grpSpPr>
        <a:xfrm>
          <a:off x="0" y="0"/>
          <a:ext cx="0" cy="0"/>
          <a:chOff x="0" y="0"/>
          <a:chExt cx="0" cy="0"/>
        </a:xfrm>
      </p:grpSpPr>
      <p:sp>
        <p:nvSpPr>
          <p:cNvPr id="712" name="Google Shape;712;p52">
            <a:extLst>
              <a:ext uri="{FF2B5EF4-FFF2-40B4-BE49-F238E27FC236}">
                <a16:creationId xmlns:a16="http://schemas.microsoft.com/office/drawing/2014/main" id="{CC95ED9E-3081-BE9F-D3A9-61699E93B3F4}"/>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4</a:t>
            </a:r>
            <a:r>
              <a:rPr lang="en-US" sz="3200" dirty="0"/>
              <a:t>. HASH MẬT KHẨU YẾU</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4</a:t>
            </a:r>
            <a:r>
              <a:rPr lang="en-US" sz="3200" dirty="0"/>
              <a:t>.4. PHÒNG NGỪA VÀ NGĂN CHẶN</a:t>
            </a:r>
            <a:endParaRPr sz="2900" dirty="0">
              <a:latin typeface="Times New Roman"/>
              <a:ea typeface="Times New Roman"/>
              <a:cs typeface="Times New Roman"/>
              <a:sym typeface="Times New Roman"/>
            </a:endParaRPr>
          </a:p>
        </p:txBody>
      </p:sp>
      <p:sp>
        <p:nvSpPr>
          <p:cNvPr id="713" name="Google Shape;713;p52">
            <a:extLst>
              <a:ext uri="{FF2B5EF4-FFF2-40B4-BE49-F238E27FC236}">
                <a16:creationId xmlns:a16="http://schemas.microsoft.com/office/drawing/2014/main" id="{67A5C0FF-C8BB-B95E-66DC-701416C23D8D}"/>
              </a:ext>
            </a:extLst>
          </p:cNvPr>
          <p:cNvSpPr txBox="1">
            <a:spLocks noGrp="1"/>
          </p:cNvSpPr>
          <p:nvPr>
            <p:ph type="body" idx="1"/>
          </p:nvPr>
        </p:nvSpPr>
        <p:spPr>
          <a:xfrm>
            <a:off x="1014663" y="1477705"/>
            <a:ext cx="10162675" cy="4108356"/>
          </a:xfrm>
          <a:prstGeom prst="rect">
            <a:avLst/>
          </a:prstGeom>
          <a:noFill/>
          <a:ln>
            <a:noFill/>
          </a:ln>
        </p:spPr>
        <p:txBody>
          <a:bodyPr spcFirstLastPara="1" wrap="square" lIns="91425" tIns="45700" rIns="91425" bIns="45700" anchor="t" anchorCtr="0">
            <a:noAutofit/>
          </a:bodyPr>
          <a:lstStyle/>
          <a:p>
            <a:pPr marL="76200" lvl="0" indent="0" algn="just" rtl="0">
              <a:lnSpc>
                <a:spcPct val="115000"/>
              </a:lnSpc>
              <a:spcBef>
                <a:spcPts val="0"/>
              </a:spcBef>
              <a:spcAft>
                <a:spcPts val="0"/>
              </a:spcAft>
              <a:buSzPts val="2400"/>
            </a:pPr>
            <a:endParaRPr sz="2300" dirty="0"/>
          </a:p>
        </p:txBody>
      </p:sp>
      <p:pic>
        <p:nvPicPr>
          <p:cNvPr id="1026" name="Picture 2">
            <a:extLst>
              <a:ext uri="{FF2B5EF4-FFF2-40B4-BE49-F238E27FC236}">
                <a16:creationId xmlns:a16="http://schemas.microsoft.com/office/drawing/2014/main" id="{969C653A-0336-E272-FB6C-F3F226E43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219" y="1477704"/>
            <a:ext cx="10162674"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79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1">
          <a:extLst>
            <a:ext uri="{FF2B5EF4-FFF2-40B4-BE49-F238E27FC236}">
              <a16:creationId xmlns:a16="http://schemas.microsoft.com/office/drawing/2014/main" id="{E6E6C177-890F-7EA8-5CE4-86E4FFE96B6B}"/>
            </a:ext>
          </a:extLst>
        </p:cNvPr>
        <p:cNvGrpSpPr/>
        <p:nvPr/>
      </p:nvGrpSpPr>
      <p:grpSpPr>
        <a:xfrm>
          <a:off x="0" y="0"/>
          <a:ext cx="0" cy="0"/>
          <a:chOff x="0" y="0"/>
          <a:chExt cx="0" cy="0"/>
        </a:xfrm>
      </p:grpSpPr>
      <p:sp>
        <p:nvSpPr>
          <p:cNvPr id="712" name="Google Shape;712;p52">
            <a:extLst>
              <a:ext uri="{FF2B5EF4-FFF2-40B4-BE49-F238E27FC236}">
                <a16:creationId xmlns:a16="http://schemas.microsoft.com/office/drawing/2014/main" id="{81F40ABC-DEBB-4216-E1B8-0A0213BF7457}"/>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lvl="0">
              <a:buSzPts val="4000"/>
            </a:pPr>
            <a:r>
              <a:rPr lang="en-US" sz="3200" dirty="0"/>
              <a:t>2.</a:t>
            </a:r>
            <a:r>
              <a:rPr lang="vi-VN" sz="3200" dirty="0"/>
              <a:t>4</a:t>
            </a:r>
            <a:r>
              <a:rPr lang="en-US" sz="3200" dirty="0"/>
              <a:t>. HASH MẬT KHẨU YẾU</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a:t>
            </a:r>
            <a:r>
              <a:rPr lang="vi-VN" sz="3200" dirty="0"/>
              <a:t>4</a:t>
            </a:r>
            <a:r>
              <a:rPr lang="en-US" sz="3200" dirty="0"/>
              <a:t>.4. PHÒNG NGỪA VÀ NGĂN CHẶN</a:t>
            </a:r>
            <a:endParaRPr sz="2900" dirty="0">
              <a:latin typeface="Times New Roman"/>
              <a:ea typeface="Times New Roman"/>
              <a:cs typeface="Times New Roman"/>
              <a:sym typeface="Times New Roman"/>
            </a:endParaRPr>
          </a:p>
        </p:txBody>
      </p:sp>
      <p:sp>
        <p:nvSpPr>
          <p:cNvPr id="713" name="Google Shape;713;p52">
            <a:extLst>
              <a:ext uri="{FF2B5EF4-FFF2-40B4-BE49-F238E27FC236}">
                <a16:creationId xmlns:a16="http://schemas.microsoft.com/office/drawing/2014/main" id="{9D0B6EA2-53E2-6643-F438-9AD989FE7960}"/>
              </a:ext>
            </a:extLst>
          </p:cNvPr>
          <p:cNvSpPr txBox="1">
            <a:spLocks noGrp="1"/>
          </p:cNvSpPr>
          <p:nvPr>
            <p:ph type="body" idx="1"/>
          </p:nvPr>
        </p:nvSpPr>
        <p:spPr>
          <a:xfrm>
            <a:off x="1174348" y="1538568"/>
            <a:ext cx="10100614" cy="2625278"/>
          </a:xfrm>
          <a:prstGeom prst="rect">
            <a:avLst/>
          </a:prstGeom>
          <a:noFill/>
          <a:ln>
            <a:noFill/>
          </a:ln>
        </p:spPr>
        <p:txBody>
          <a:bodyPr spcFirstLastPara="1" wrap="square" lIns="91425" tIns="45700" rIns="91425" bIns="45700" anchor="t" anchorCtr="0">
            <a:noAutofit/>
          </a:bodyPr>
          <a:lstStyle/>
          <a:p>
            <a:r>
              <a:rPr lang="en-US" b="1" dirty="0" err="1"/>
              <a:t>Cấu</a:t>
            </a:r>
            <a:r>
              <a:rPr lang="en-US" b="1" dirty="0"/>
              <a:t> </a:t>
            </a:r>
            <a:r>
              <a:rPr lang="en-US" b="1" dirty="0" err="1"/>
              <a:t>trúc</a:t>
            </a:r>
            <a:r>
              <a:rPr lang="en-US" b="1" dirty="0"/>
              <a:t> </a:t>
            </a:r>
            <a:r>
              <a:rPr lang="en-US" b="1" dirty="0" err="1"/>
              <a:t>tiêu</a:t>
            </a:r>
            <a:r>
              <a:rPr lang="en-US" b="1" dirty="0"/>
              <a:t> </a:t>
            </a:r>
            <a:r>
              <a:rPr lang="en-US" b="1" dirty="0" err="1"/>
              <a:t>chuẩn</a:t>
            </a:r>
            <a:r>
              <a:rPr lang="en-US" b="1" dirty="0"/>
              <a:t> </a:t>
            </a:r>
            <a:r>
              <a:rPr lang="en-US" b="1" dirty="0" err="1"/>
              <a:t>của</a:t>
            </a:r>
            <a:r>
              <a:rPr lang="en-US" b="1" dirty="0"/>
              <a:t> </a:t>
            </a:r>
            <a:r>
              <a:rPr lang="en-US" b="1" dirty="0" err="1"/>
              <a:t>một</a:t>
            </a:r>
            <a:r>
              <a:rPr lang="en-US" b="1" dirty="0"/>
              <a:t> hash </a:t>
            </a:r>
            <a:r>
              <a:rPr lang="en-US" b="1" dirty="0" err="1"/>
              <a:t>bcrypt</a:t>
            </a:r>
            <a:endParaRPr lang="en-US" b="1" dirty="0"/>
          </a:p>
          <a:p>
            <a:endParaRPr lang="en-US" sz="2000" dirty="0"/>
          </a:p>
          <a:p>
            <a:br>
              <a:rPr lang="en-US" sz="2000" dirty="0"/>
            </a:br>
            <a:endParaRPr sz="2300" dirty="0"/>
          </a:p>
        </p:txBody>
      </p:sp>
      <p:pic>
        <p:nvPicPr>
          <p:cNvPr id="2054" name="Picture 6">
            <a:extLst>
              <a:ext uri="{FF2B5EF4-FFF2-40B4-BE49-F238E27FC236}">
                <a16:creationId xmlns:a16="http://schemas.microsoft.com/office/drawing/2014/main" id="{E6670B3E-66BF-7548-8DBB-3CB554E7E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185" y="2334198"/>
            <a:ext cx="8736554" cy="3341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84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3">
                                            <p:txEl>
                                              <p:pRg st="0" end="0"/>
                                            </p:txEl>
                                          </p:spTgt>
                                        </p:tgtEl>
                                        <p:attrNameLst>
                                          <p:attrName>style.visibility</p:attrName>
                                        </p:attrNameLst>
                                      </p:cBhvr>
                                      <p:to>
                                        <p:strVal val="visible"/>
                                      </p:to>
                                    </p:set>
                                    <p:animEffect transition="in" filter="fade">
                                      <p:cBhvr>
                                        <p:cTn id="7" dur="500"/>
                                        <p:tgtEl>
                                          <p:spTgt spid="7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4"/>
                                        </p:tgtEl>
                                        <p:attrNameLst>
                                          <p:attrName>style.visibility</p:attrName>
                                        </p:attrNameLst>
                                      </p:cBhvr>
                                      <p:to>
                                        <p:strVal val="visible"/>
                                      </p:to>
                                    </p:set>
                                    <p:animEffect transition="in" filter="fade">
                                      <p:cBhvr>
                                        <p:cTn id="12"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1FB79889-C3CD-8105-4917-F254F0695DFE}"/>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11E9AC3D-ABEA-F531-2703-08F104E28779}"/>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2.5. THIẾU XÁC THỰC TÍNH TOÀN VẸN</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2.5.1. GIỚI THIỆU</a:t>
            </a:r>
            <a:endParaRPr sz="3200" dirty="0"/>
          </a:p>
        </p:txBody>
      </p:sp>
      <p:sp>
        <p:nvSpPr>
          <p:cNvPr id="734" name="Google Shape;734;p55">
            <a:extLst>
              <a:ext uri="{FF2B5EF4-FFF2-40B4-BE49-F238E27FC236}">
                <a16:creationId xmlns:a16="http://schemas.microsoft.com/office/drawing/2014/main" id="{FEECDDEC-B0B8-123F-A8F6-85EC6E50789B}"/>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200"/>
              </a:spcBef>
              <a:spcAft>
                <a:spcPts val="0"/>
              </a:spcAft>
              <a:buClr>
                <a:schemeClr val="dk1"/>
              </a:buClr>
              <a:buSzPts val="2400"/>
              <a:buNone/>
            </a:pPr>
            <a:r>
              <a:rPr lang="en-US" b="1" dirty="0" err="1"/>
              <a:t>Thiếu</a:t>
            </a:r>
            <a:r>
              <a:rPr lang="en-US" b="1" dirty="0"/>
              <a:t> </a:t>
            </a:r>
            <a:r>
              <a:rPr lang="en-US" b="1" dirty="0" err="1"/>
              <a:t>tính</a:t>
            </a:r>
            <a:r>
              <a:rPr lang="en-US" b="1" dirty="0"/>
              <a:t> </a:t>
            </a:r>
            <a:r>
              <a:rPr lang="en-US" b="1" dirty="0" err="1"/>
              <a:t>toàn</a:t>
            </a:r>
            <a:r>
              <a:rPr lang="en-US" b="1" dirty="0"/>
              <a:t> </a:t>
            </a:r>
            <a:r>
              <a:rPr lang="en-US" b="1" dirty="0" err="1"/>
              <a:t>vẹn</a:t>
            </a:r>
            <a:r>
              <a:rPr lang="en-US" b="1" dirty="0"/>
              <a:t> </a:t>
            </a:r>
            <a:r>
              <a:rPr lang="en-US" i="1" dirty="0"/>
              <a:t>(</a:t>
            </a:r>
            <a:r>
              <a:rPr lang="en-US" i="1" dirty="0" err="1"/>
              <a:t>Intergrity</a:t>
            </a:r>
            <a:r>
              <a:rPr lang="en-US" i="1" dirty="0"/>
              <a:t> Vulnerability) </a:t>
            </a:r>
            <a:r>
              <a:rPr lang="en-US" dirty="0" err="1"/>
              <a:t>là</a:t>
            </a:r>
            <a:r>
              <a:rPr lang="en-US" dirty="0"/>
              <a:t> </a:t>
            </a:r>
            <a:r>
              <a:rPr lang="en-US" dirty="0" err="1"/>
              <a:t>điểm</a:t>
            </a:r>
            <a:r>
              <a:rPr lang="en-US" dirty="0"/>
              <a:t> </a:t>
            </a:r>
            <a:r>
              <a:rPr lang="en-US" dirty="0" err="1"/>
              <a:t>yếu</a:t>
            </a:r>
            <a:r>
              <a:rPr lang="en-US" dirty="0"/>
              <a:t> </a:t>
            </a:r>
            <a:r>
              <a:rPr lang="en-US" dirty="0" err="1"/>
              <a:t>dẫn</a:t>
            </a:r>
            <a:r>
              <a:rPr lang="en-US" dirty="0"/>
              <a:t> </a:t>
            </a:r>
            <a:r>
              <a:rPr lang="en-US" dirty="0" err="1"/>
              <a:t>đến</a:t>
            </a:r>
            <a:r>
              <a:rPr lang="en-US" dirty="0"/>
              <a:t> </a:t>
            </a:r>
            <a:r>
              <a:rPr lang="en-US" dirty="0" err="1"/>
              <a:t>dữ</a:t>
            </a:r>
            <a:r>
              <a:rPr lang="en-US" dirty="0"/>
              <a:t> </a:t>
            </a:r>
            <a:r>
              <a:rPr lang="en-US" dirty="0" err="1"/>
              <a:t>liệu</a:t>
            </a:r>
            <a:r>
              <a:rPr lang="en-US" dirty="0"/>
              <a:t>/</a:t>
            </a:r>
            <a:r>
              <a:rPr lang="en-US" dirty="0" err="1"/>
              <a:t>thông</a:t>
            </a:r>
            <a:r>
              <a:rPr lang="en-US" dirty="0"/>
              <a:t> tin </a:t>
            </a:r>
            <a:r>
              <a:rPr lang="en-US" dirty="0" err="1"/>
              <a:t>bị</a:t>
            </a:r>
            <a:r>
              <a:rPr lang="en-US" dirty="0"/>
              <a:t> </a:t>
            </a:r>
            <a:r>
              <a:rPr lang="en-US" dirty="0" err="1"/>
              <a:t>thay</a:t>
            </a:r>
            <a:r>
              <a:rPr lang="en-US" dirty="0"/>
              <a:t> </a:t>
            </a:r>
            <a:r>
              <a:rPr lang="en-US" dirty="0" err="1"/>
              <a:t>đổi</a:t>
            </a:r>
            <a:r>
              <a:rPr lang="en-US" dirty="0"/>
              <a:t>, </a:t>
            </a:r>
            <a:r>
              <a:rPr lang="en-US" dirty="0" err="1"/>
              <a:t>bị</a:t>
            </a:r>
            <a:r>
              <a:rPr lang="en-US" dirty="0"/>
              <a:t> </a:t>
            </a:r>
            <a:r>
              <a:rPr lang="en-US" dirty="0" err="1"/>
              <a:t>giả</a:t>
            </a:r>
            <a:r>
              <a:rPr lang="en-US" dirty="0"/>
              <a:t> </a:t>
            </a:r>
            <a:r>
              <a:rPr lang="en-US" dirty="0" err="1"/>
              <a:t>mạo</a:t>
            </a:r>
            <a:r>
              <a:rPr lang="en-US" dirty="0"/>
              <a:t> </a:t>
            </a:r>
            <a:r>
              <a:rPr lang="en-US" dirty="0" err="1"/>
              <a:t>hoặc</a:t>
            </a:r>
            <a:r>
              <a:rPr lang="en-US" dirty="0"/>
              <a:t> </a:t>
            </a:r>
            <a:r>
              <a:rPr lang="en-US" dirty="0" err="1"/>
              <a:t>mất</a:t>
            </a:r>
            <a:r>
              <a:rPr lang="en-US" dirty="0"/>
              <a:t> </a:t>
            </a:r>
            <a:r>
              <a:rPr lang="en-US" dirty="0" err="1"/>
              <a:t>tính</a:t>
            </a:r>
            <a:r>
              <a:rPr lang="en-US" dirty="0"/>
              <a:t> </a:t>
            </a:r>
            <a:r>
              <a:rPr lang="en-US" dirty="0" err="1"/>
              <a:t>chính</a:t>
            </a:r>
            <a:r>
              <a:rPr lang="en-US" dirty="0"/>
              <a:t> </a:t>
            </a:r>
            <a:r>
              <a:rPr lang="en-US" dirty="0" err="1"/>
              <a:t>xác</a:t>
            </a:r>
            <a:r>
              <a:rPr lang="en-US" dirty="0"/>
              <a:t> </a:t>
            </a:r>
            <a:r>
              <a:rPr lang="en-US" dirty="0" err="1"/>
              <a:t>mà</a:t>
            </a:r>
            <a:r>
              <a:rPr lang="en-US" dirty="0"/>
              <a:t> </a:t>
            </a:r>
            <a:r>
              <a:rPr lang="en-US" dirty="0" err="1"/>
              <a:t>không</a:t>
            </a:r>
            <a:r>
              <a:rPr lang="en-US" dirty="0"/>
              <a:t> </a:t>
            </a:r>
            <a:r>
              <a:rPr lang="en-US" dirty="0" err="1"/>
              <a:t>được</a:t>
            </a:r>
            <a:r>
              <a:rPr lang="en-US" dirty="0"/>
              <a:t> </a:t>
            </a:r>
            <a:r>
              <a:rPr lang="en-US" dirty="0" err="1"/>
              <a:t>phát</a:t>
            </a:r>
            <a:r>
              <a:rPr lang="en-US" dirty="0"/>
              <a:t> </a:t>
            </a:r>
            <a:r>
              <a:rPr lang="en-US" dirty="0" err="1"/>
              <a:t>hiện</a:t>
            </a:r>
            <a:r>
              <a:rPr lang="en-US" dirty="0"/>
              <a:t>. </a:t>
            </a:r>
            <a:r>
              <a:rPr lang="en-US" dirty="0" err="1"/>
              <a:t>Kẻ</a:t>
            </a:r>
            <a:r>
              <a:rPr lang="en-US" dirty="0"/>
              <a:t> </a:t>
            </a:r>
            <a:r>
              <a:rPr lang="en-US" dirty="0" err="1"/>
              <a:t>tấn</a:t>
            </a:r>
            <a:r>
              <a:rPr lang="en-US" dirty="0"/>
              <a:t> </a:t>
            </a:r>
            <a:r>
              <a:rPr lang="en-US" dirty="0" err="1"/>
              <a:t>công</a:t>
            </a:r>
            <a:r>
              <a:rPr lang="en-US" dirty="0"/>
              <a:t> </a:t>
            </a:r>
            <a:r>
              <a:rPr lang="en-US" dirty="0" err="1"/>
              <a:t>có</a:t>
            </a:r>
            <a:r>
              <a:rPr lang="en-US" dirty="0"/>
              <a:t> </a:t>
            </a:r>
            <a:r>
              <a:rPr lang="en-US" dirty="0" err="1"/>
              <a:t>thể</a:t>
            </a:r>
            <a:r>
              <a:rPr lang="en-US" dirty="0"/>
              <a:t> </a:t>
            </a:r>
            <a:r>
              <a:rPr lang="en-US" dirty="0" err="1"/>
              <a:t>lợi</a:t>
            </a:r>
            <a:r>
              <a:rPr lang="en-US" dirty="0"/>
              <a:t> </a:t>
            </a:r>
            <a:r>
              <a:rPr lang="en-US" dirty="0" err="1"/>
              <a:t>dụng</a:t>
            </a:r>
            <a:r>
              <a:rPr lang="en-US" dirty="0"/>
              <a:t> </a:t>
            </a:r>
            <a:r>
              <a:rPr lang="en-US" dirty="0" err="1"/>
              <a:t>để</a:t>
            </a:r>
            <a:r>
              <a:rPr lang="en-US" dirty="0"/>
              <a:t> </a:t>
            </a:r>
            <a:r>
              <a:rPr lang="en-US" dirty="0" err="1"/>
              <a:t>chỉnh</a:t>
            </a:r>
            <a:r>
              <a:rPr lang="en-US" dirty="0"/>
              <a:t> </a:t>
            </a:r>
            <a:r>
              <a:rPr lang="en-US" dirty="0" err="1"/>
              <a:t>sửa</a:t>
            </a:r>
            <a:r>
              <a:rPr lang="en-US" dirty="0"/>
              <a:t> </a:t>
            </a:r>
            <a:r>
              <a:rPr lang="en-US" dirty="0" err="1"/>
              <a:t>dữ</a:t>
            </a:r>
            <a:r>
              <a:rPr lang="en-US" dirty="0"/>
              <a:t> </a:t>
            </a:r>
            <a:r>
              <a:rPr lang="en-US" dirty="0" err="1"/>
              <a:t>liệu</a:t>
            </a:r>
            <a:r>
              <a:rPr lang="en-US" dirty="0"/>
              <a:t>, </a:t>
            </a:r>
            <a:r>
              <a:rPr lang="en-US" dirty="0" err="1"/>
              <a:t>phá</a:t>
            </a:r>
            <a:r>
              <a:rPr lang="en-US" dirty="0"/>
              <a:t> </a:t>
            </a:r>
            <a:r>
              <a:rPr lang="en-US" dirty="0" err="1"/>
              <a:t>hoại</a:t>
            </a:r>
            <a:r>
              <a:rPr lang="en-US" dirty="0"/>
              <a:t> </a:t>
            </a:r>
            <a:r>
              <a:rPr lang="en-US" dirty="0" err="1"/>
              <a:t>hệ</a:t>
            </a:r>
            <a:r>
              <a:rPr lang="en-US" dirty="0"/>
              <a:t> </a:t>
            </a:r>
            <a:r>
              <a:rPr lang="en-US" dirty="0" err="1"/>
              <a:t>thống</a:t>
            </a:r>
            <a:r>
              <a:rPr lang="en-US" dirty="0"/>
              <a:t>, </a:t>
            </a:r>
            <a:r>
              <a:rPr lang="en-US" dirty="0" err="1"/>
              <a:t>gây</a:t>
            </a:r>
            <a:r>
              <a:rPr lang="en-US" dirty="0"/>
              <a:t> </a:t>
            </a:r>
            <a:r>
              <a:rPr lang="en-US" dirty="0" err="1"/>
              <a:t>nhiễu</a:t>
            </a:r>
            <a:r>
              <a:rPr lang="en-US" dirty="0"/>
              <a:t> </a:t>
            </a:r>
            <a:r>
              <a:rPr lang="en-US" dirty="0" err="1"/>
              <a:t>thông</a:t>
            </a:r>
            <a:r>
              <a:rPr lang="en-US" dirty="0"/>
              <a:t> tin.</a:t>
            </a:r>
          </a:p>
          <a:p>
            <a:pPr marL="0" lvl="0" indent="0" algn="just" rtl="0">
              <a:lnSpc>
                <a:spcPct val="100000"/>
              </a:lnSpc>
              <a:spcBef>
                <a:spcPts val="1200"/>
              </a:spcBef>
              <a:spcAft>
                <a:spcPts val="0"/>
              </a:spcAft>
              <a:buClr>
                <a:schemeClr val="dk1"/>
              </a:buClr>
              <a:buSzPts val="2400"/>
              <a:buNone/>
            </a:pPr>
            <a:endParaRPr lang="en-US" b="1" i="1" dirty="0"/>
          </a:p>
          <a:p>
            <a:pPr marL="0" lvl="0" indent="0" algn="just" rtl="0">
              <a:lnSpc>
                <a:spcPct val="100000"/>
              </a:lnSpc>
              <a:spcBef>
                <a:spcPts val="1200"/>
              </a:spcBef>
              <a:spcAft>
                <a:spcPts val="0"/>
              </a:spcAft>
              <a:buClr>
                <a:schemeClr val="dk1"/>
              </a:buClr>
              <a:buSzPts val="2400"/>
              <a:buNone/>
            </a:pPr>
            <a:r>
              <a:rPr lang="en-US" b="1" dirty="0"/>
              <a:t>Nguyên </a:t>
            </a:r>
            <a:r>
              <a:rPr lang="en-US" b="1" dirty="0" err="1"/>
              <a:t>nhân</a:t>
            </a:r>
            <a:r>
              <a:rPr lang="en-US" b="1" dirty="0"/>
              <a:t> </a:t>
            </a:r>
            <a:r>
              <a:rPr lang="en-US" dirty="0" err="1"/>
              <a:t>thường</a:t>
            </a:r>
            <a:r>
              <a:rPr lang="en-US" dirty="0"/>
              <a:t> do:</a:t>
            </a:r>
          </a:p>
          <a:p>
            <a:pPr lvl="0" indent="-457200" algn="just" rtl="0">
              <a:lnSpc>
                <a:spcPct val="100000"/>
              </a:lnSpc>
              <a:spcBef>
                <a:spcPts val="1200"/>
              </a:spcBef>
              <a:spcAft>
                <a:spcPts val="0"/>
              </a:spcAft>
              <a:buClr>
                <a:schemeClr val="dk1"/>
              </a:buClr>
              <a:buSzPts val="2400"/>
              <a:buAutoNum type="arabicPeriod"/>
            </a:pPr>
            <a:r>
              <a:rPr lang="en-US" dirty="0" err="1"/>
              <a:t>Không</a:t>
            </a:r>
            <a:r>
              <a:rPr lang="en-US" dirty="0"/>
              <a:t> </a:t>
            </a:r>
            <a:r>
              <a:rPr lang="en-US" dirty="0" err="1"/>
              <a:t>kiểm</a:t>
            </a:r>
            <a:r>
              <a:rPr lang="en-US" dirty="0"/>
              <a:t> </a:t>
            </a:r>
            <a:r>
              <a:rPr lang="en-US" dirty="0" err="1"/>
              <a:t>tra</a:t>
            </a:r>
            <a:r>
              <a:rPr lang="en-US" dirty="0"/>
              <a:t> </a:t>
            </a:r>
            <a:r>
              <a:rPr lang="en-US" dirty="0" err="1"/>
              <a:t>chữ</a:t>
            </a:r>
            <a:r>
              <a:rPr lang="en-US" dirty="0"/>
              <a:t> </a:t>
            </a:r>
            <a:r>
              <a:rPr lang="en-US" dirty="0" err="1"/>
              <a:t>ký</a:t>
            </a:r>
            <a:r>
              <a:rPr lang="en-US" dirty="0"/>
              <a:t> </a:t>
            </a:r>
            <a:r>
              <a:rPr lang="en-US" dirty="0" err="1"/>
              <a:t>số</a:t>
            </a:r>
            <a:r>
              <a:rPr lang="en-US" dirty="0"/>
              <a:t> </a:t>
            </a:r>
            <a:r>
              <a:rPr lang="en-US" dirty="0" err="1"/>
              <a:t>hoặc</a:t>
            </a:r>
            <a:r>
              <a:rPr lang="en-US" dirty="0"/>
              <a:t> </a:t>
            </a:r>
            <a:r>
              <a:rPr lang="en-US" dirty="0" err="1"/>
              <a:t>hàm</a:t>
            </a:r>
            <a:r>
              <a:rPr lang="en-US" dirty="0"/>
              <a:t> </a:t>
            </a:r>
            <a:r>
              <a:rPr lang="en-US" dirty="0" err="1"/>
              <a:t>băm</a:t>
            </a:r>
            <a:r>
              <a:rPr lang="en-US" dirty="0"/>
              <a:t> (hash) </a:t>
            </a:r>
            <a:r>
              <a:rPr lang="en-US" dirty="0" err="1"/>
              <a:t>của</a:t>
            </a:r>
            <a:r>
              <a:rPr lang="en-US" dirty="0"/>
              <a:t> </a:t>
            </a:r>
            <a:r>
              <a:rPr lang="en-US" dirty="0" err="1"/>
              <a:t>dữ</a:t>
            </a:r>
            <a:r>
              <a:rPr lang="en-US" dirty="0"/>
              <a:t> </a:t>
            </a:r>
            <a:r>
              <a:rPr lang="en-US" dirty="0" err="1"/>
              <a:t>liệu</a:t>
            </a:r>
            <a:r>
              <a:rPr lang="en-US" dirty="0"/>
              <a:t>.</a:t>
            </a:r>
          </a:p>
          <a:p>
            <a:pPr lvl="0" indent="-457200" algn="just" rtl="0">
              <a:lnSpc>
                <a:spcPct val="100000"/>
              </a:lnSpc>
              <a:spcBef>
                <a:spcPts val="1200"/>
              </a:spcBef>
              <a:spcAft>
                <a:spcPts val="0"/>
              </a:spcAft>
              <a:buClr>
                <a:schemeClr val="dk1"/>
              </a:buClr>
              <a:buSzPts val="2400"/>
              <a:buAutoNum type="arabicPeriod"/>
            </a:pPr>
            <a:r>
              <a:rPr lang="en-US" dirty="0" err="1"/>
              <a:t>Sử</a:t>
            </a:r>
            <a:r>
              <a:rPr lang="en-US" dirty="0"/>
              <a:t> </a:t>
            </a:r>
            <a:r>
              <a:rPr lang="en-US" dirty="0" err="1"/>
              <a:t>dụng</a:t>
            </a:r>
            <a:r>
              <a:rPr lang="en-US" dirty="0"/>
              <a:t> </a:t>
            </a:r>
            <a:r>
              <a:rPr lang="en-US" dirty="0" err="1"/>
              <a:t>thuật</a:t>
            </a:r>
            <a:r>
              <a:rPr lang="en-US" dirty="0"/>
              <a:t> </a:t>
            </a:r>
            <a:r>
              <a:rPr lang="en-US" dirty="0" err="1"/>
              <a:t>toán</a:t>
            </a:r>
            <a:r>
              <a:rPr lang="en-US" dirty="0"/>
              <a:t> </a:t>
            </a:r>
            <a:r>
              <a:rPr lang="en-US" dirty="0" err="1"/>
              <a:t>mã</a:t>
            </a:r>
            <a:r>
              <a:rPr lang="en-US" dirty="0"/>
              <a:t> </a:t>
            </a:r>
            <a:r>
              <a:rPr lang="en-US" dirty="0" err="1"/>
              <a:t>hóa</a:t>
            </a:r>
            <a:r>
              <a:rPr lang="en-US" dirty="0"/>
              <a:t> </a:t>
            </a:r>
            <a:r>
              <a:rPr lang="en-US" dirty="0" err="1"/>
              <a:t>lỗi</a:t>
            </a:r>
            <a:r>
              <a:rPr lang="en-US" dirty="0"/>
              <a:t> </a:t>
            </a:r>
            <a:r>
              <a:rPr lang="en-US" dirty="0" err="1"/>
              <a:t>thời</a:t>
            </a:r>
            <a:r>
              <a:rPr lang="en-US" dirty="0"/>
              <a:t>, </a:t>
            </a:r>
            <a:r>
              <a:rPr lang="en-US" dirty="0" err="1"/>
              <a:t>không</a:t>
            </a:r>
            <a:r>
              <a:rPr lang="en-US" dirty="0"/>
              <a:t> </a:t>
            </a:r>
            <a:r>
              <a:rPr lang="en-US" dirty="0" err="1"/>
              <a:t>chuẩn</a:t>
            </a:r>
            <a:r>
              <a:rPr lang="en-US" dirty="0"/>
              <a:t>.</a:t>
            </a:r>
          </a:p>
          <a:p>
            <a:pPr lvl="0" indent="-457200" algn="just" rtl="0">
              <a:lnSpc>
                <a:spcPct val="100000"/>
              </a:lnSpc>
              <a:spcBef>
                <a:spcPts val="1200"/>
              </a:spcBef>
              <a:spcAft>
                <a:spcPts val="0"/>
              </a:spcAft>
              <a:buClr>
                <a:schemeClr val="dk1"/>
              </a:buClr>
              <a:buSzPts val="2400"/>
              <a:buAutoNum type="arabicPeriod"/>
            </a:pPr>
            <a:r>
              <a:rPr lang="en-US" dirty="0" err="1"/>
              <a:t>Thiếu</a:t>
            </a:r>
            <a:r>
              <a:rPr lang="en-US" dirty="0"/>
              <a:t> </a:t>
            </a:r>
            <a:r>
              <a:rPr lang="en-US" dirty="0" err="1"/>
              <a:t>cơ</a:t>
            </a:r>
            <a:r>
              <a:rPr lang="en-US" dirty="0"/>
              <a:t> </a:t>
            </a:r>
            <a:r>
              <a:rPr lang="en-US" dirty="0" err="1"/>
              <a:t>chế</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vào</a:t>
            </a:r>
            <a:r>
              <a:rPr lang="en-US" dirty="0"/>
              <a:t>/</a:t>
            </a:r>
            <a:r>
              <a:rPr lang="en-US" dirty="0" err="1"/>
              <a:t>đầu</a:t>
            </a:r>
            <a:r>
              <a:rPr lang="en-US" dirty="0"/>
              <a:t> </a:t>
            </a:r>
            <a:r>
              <a:rPr lang="en-US" dirty="0" err="1"/>
              <a:t>ra.</a:t>
            </a:r>
            <a:endParaRPr lang="en-US" dirty="0"/>
          </a:p>
        </p:txBody>
      </p:sp>
    </p:spTree>
    <p:extLst>
      <p:ext uri="{BB962C8B-B14F-4D97-AF65-F5344CB8AC3E}">
        <p14:creationId xmlns:p14="http://schemas.microsoft.com/office/powerpoint/2010/main" val="406613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animEffect transition="in" filter="fade">
                                      <p:cBhvr>
                                        <p:cTn id="7" dur="500"/>
                                        <p:tgtEl>
                                          <p:spTgt spid="7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4">
                                            <p:txEl>
                                              <p:pRg st="2" end="2"/>
                                            </p:txEl>
                                          </p:spTgt>
                                        </p:tgtEl>
                                        <p:attrNameLst>
                                          <p:attrName>style.visibility</p:attrName>
                                        </p:attrNameLst>
                                      </p:cBhvr>
                                      <p:to>
                                        <p:strVal val="visible"/>
                                      </p:to>
                                    </p:set>
                                    <p:animEffect transition="in" filter="fade">
                                      <p:cBhvr>
                                        <p:cTn id="12" dur="500"/>
                                        <p:tgtEl>
                                          <p:spTgt spid="7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4">
                                            <p:txEl>
                                              <p:pRg st="3" end="3"/>
                                            </p:txEl>
                                          </p:spTgt>
                                        </p:tgtEl>
                                        <p:attrNameLst>
                                          <p:attrName>style.visibility</p:attrName>
                                        </p:attrNameLst>
                                      </p:cBhvr>
                                      <p:to>
                                        <p:strVal val="visible"/>
                                      </p:to>
                                    </p:set>
                                    <p:animEffect transition="in" filter="fade">
                                      <p:cBhvr>
                                        <p:cTn id="17" dur="500"/>
                                        <p:tgtEl>
                                          <p:spTgt spid="7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4">
                                            <p:txEl>
                                              <p:pRg st="4" end="4"/>
                                            </p:txEl>
                                          </p:spTgt>
                                        </p:tgtEl>
                                        <p:attrNameLst>
                                          <p:attrName>style.visibility</p:attrName>
                                        </p:attrNameLst>
                                      </p:cBhvr>
                                      <p:to>
                                        <p:strVal val="visible"/>
                                      </p:to>
                                    </p:set>
                                    <p:animEffect transition="in" filter="fade">
                                      <p:cBhvr>
                                        <p:cTn id="22" dur="500"/>
                                        <p:tgtEl>
                                          <p:spTgt spid="73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4">
                                            <p:txEl>
                                              <p:pRg st="5" end="5"/>
                                            </p:txEl>
                                          </p:spTgt>
                                        </p:tgtEl>
                                        <p:attrNameLst>
                                          <p:attrName>style.visibility</p:attrName>
                                        </p:attrNameLst>
                                      </p:cBhvr>
                                      <p:to>
                                        <p:strVal val="visible"/>
                                      </p:to>
                                    </p:set>
                                    <p:animEffect transition="in" filter="fade">
                                      <p:cBhvr>
                                        <p:cTn id="27" dur="500"/>
                                        <p:tgtEl>
                                          <p:spTgt spid="7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3B5CD1B4-0ADF-81B6-1A28-10FA03D06655}"/>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329BC02B-A7EA-E269-700B-A4766AD0541A}"/>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2.5. THIẾU XÁC THỰC TÍNH TOÀN VẸN</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2.5.2. CƠ CHẾ HOẠT ĐỘNG</a:t>
            </a:r>
            <a:endParaRPr sz="3200" dirty="0"/>
          </a:p>
        </p:txBody>
      </p:sp>
      <p:sp>
        <p:nvSpPr>
          <p:cNvPr id="734" name="Google Shape;734;p55">
            <a:extLst>
              <a:ext uri="{FF2B5EF4-FFF2-40B4-BE49-F238E27FC236}">
                <a16:creationId xmlns:a16="http://schemas.microsoft.com/office/drawing/2014/main" id="{C324A4E8-70F4-DFC1-6858-9837E7FE3DDA}"/>
              </a:ext>
            </a:extLst>
          </p:cNvPr>
          <p:cNvSpPr txBox="1">
            <a:spLocks noGrp="1"/>
          </p:cNvSpPr>
          <p:nvPr>
            <p:ph type="body" idx="1"/>
          </p:nvPr>
        </p:nvSpPr>
        <p:spPr>
          <a:xfrm>
            <a:off x="838200" y="1477568"/>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200"/>
              </a:spcBef>
              <a:spcAft>
                <a:spcPts val="0"/>
              </a:spcAft>
              <a:buClr>
                <a:schemeClr val="dk1"/>
              </a:buClr>
              <a:buSzPts val="2400"/>
              <a:buNone/>
            </a:pPr>
            <a:endParaRPr b="1" dirty="0"/>
          </a:p>
          <a:p>
            <a:pPr marL="0" lvl="0" indent="457200" algn="just" rtl="0">
              <a:lnSpc>
                <a:spcPct val="100000"/>
              </a:lnSpc>
              <a:spcBef>
                <a:spcPts val="1200"/>
              </a:spcBef>
              <a:spcAft>
                <a:spcPts val="0"/>
              </a:spcAft>
              <a:buClr>
                <a:schemeClr val="dk1"/>
              </a:buClr>
              <a:buSzPts val="2400"/>
              <a:buNone/>
            </a:pPr>
            <a:endParaRPr b="1" dirty="0"/>
          </a:p>
        </p:txBody>
      </p:sp>
      <p:pic>
        <p:nvPicPr>
          <p:cNvPr id="5" name="Picture 4">
            <a:extLst>
              <a:ext uri="{FF2B5EF4-FFF2-40B4-BE49-F238E27FC236}">
                <a16:creationId xmlns:a16="http://schemas.microsoft.com/office/drawing/2014/main" id="{9C43A335-DB5C-9545-D463-0CCEA1BD655D}"/>
              </a:ext>
            </a:extLst>
          </p:cNvPr>
          <p:cNvPicPr>
            <a:picLocks noChangeAspect="1"/>
          </p:cNvPicPr>
          <p:nvPr/>
        </p:nvPicPr>
        <p:blipFill>
          <a:blip r:embed="rId3"/>
          <a:stretch>
            <a:fillRect/>
          </a:stretch>
        </p:blipFill>
        <p:spPr>
          <a:xfrm>
            <a:off x="1979803" y="1338798"/>
            <a:ext cx="8036652" cy="4900728"/>
          </a:xfrm>
          <a:prstGeom prst="rect">
            <a:avLst/>
          </a:prstGeom>
        </p:spPr>
      </p:pic>
    </p:spTree>
    <p:extLst>
      <p:ext uri="{BB962C8B-B14F-4D97-AF65-F5344CB8AC3E}">
        <p14:creationId xmlns:p14="http://schemas.microsoft.com/office/powerpoint/2010/main" val="220025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2">
          <a:extLst>
            <a:ext uri="{FF2B5EF4-FFF2-40B4-BE49-F238E27FC236}">
              <a16:creationId xmlns:a16="http://schemas.microsoft.com/office/drawing/2014/main" id="{BE86C932-ABAA-D381-519D-F7A495637B93}"/>
            </a:ext>
          </a:extLst>
        </p:cNvPr>
        <p:cNvGrpSpPr/>
        <p:nvPr/>
      </p:nvGrpSpPr>
      <p:grpSpPr>
        <a:xfrm>
          <a:off x="0" y="0"/>
          <a:ext cx="0" cy="0"/>
          <a:chOff x="0" y="0"/>
          <a:chExt cx="0" cy="0"/>
        </a:xfrm>
      </p:grpSpPr>
      <p:sp>
        <p:nvSpPr>
          <p:cNvPr id="733" name="Google Shape;733;p55">
            <a:extLst>
              <a:ext uri="{FF2B5EF4-FFF2-40B4-BE49-F238E27FC236}">
                <a16:creationId xmlns:a16="http://schemas.microsoft.com/office/drawing/2014/main" id="{A41F3439-DA86-664E-C8A6-C7968563A6F4}"/>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2.5. THIẾU XÁC THỰC TÍNH TOÀN VẸN</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2.5.2. CƠ CHẾ HOẠT ĐỘNG</a:t>
            </a:r>
            <a:endParaRPr sz="3200" dirty="0"/>
          </a:p>
        </p:txBody>
      </p:sp>
      <p:sp>
        <p:nvSpPr>
          <p:cNvPr id="734" name="Google Shape;734;p55">
            <a:extLst>
              <a:ext uri="{FF2B5EF4-FFF2-40B4-BE49-F238E27FC236}">
                <a16:creationId xmlns:a16="http://schemas.microsoft.com/office/drawing/2014/main" id="{E47D4EAF-61D0-D2AA-041C-93120918DC3C}"/>
              </a:ext>
            </a:extLst>
          </p:cNvPr>
          <p:cNvSpPr txBox="1">
            <a:spLocks noGrp="1"/>
          </p:cNvSpPr>
          <p:nvPr>
            <p:ph type="body" idx="1"/>
          </p:nvPr>
        </p:nvSpPr>
        <p:spPr>
          <a:xfrm>
            <a:off x="838200" y="1621946"/>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200"/>
              </a:spcBef>
              <a:spcAft>
                <a:spcPts val="0"/>
              </a:spcAft>
              <a:buClr>
                <a:schemeClr val="dk1"/>
              </a:buClr>
              <a:buSzPts val="2400"/>
              <a:buNone/>
            </a:pPr>
            <a:endParaRPr b="1" dirty="0"/>
          </a:p>
          <a:p>
            <a:pPr marL="0" lvl="0" indent="457200" algn="just" rtl="0">
              <a:lnSpc>
                <a:spcPct val="100000"/>
              </a:lnSpc>
              <a:spcBef>
                <a:spcPts val="1200"/>
              </a:spcBef>
              <a:spcAft>
                <a:spcPts val="0"/>
              </a:spcAft>
              <a:buClr>
                <a:schemeClr val="dk1"/>
              </a:buClr>
              <a:buSzPts val="2400"/>
              <a:buNone/>
            </a:pPr>
            <a:endParaRPr b="1" dirty="0"/>
          </a:p>
        </p:txBody>
      </p:sp>
      <p:sp>
        <p:nvSpPr>
          <p:cNvPr id="3" name="TextBox 2">
            <a:extLst>
              <a:ext uri="{FF2B5EF4-FFF2-40B4-BE49-F238E27FC236}">
                <a16:creationId xmlns:a16="http://schemas.microsoft.com/office/drawing/2014/main" id="{53DD0153-3941-6D45-E6A0-DC241B4F6000}"/>
              </a:ext>
            </a:extLst>
          </p:cNvPr>
          <p:cNvSpPr txBox="1"/>
          <p:nvPr/>
        </p:nvSpPr>
        <p:spPr>
          <a:xfrm>
            <a:off x="738231" y="1443055"/>
            <a:ext cx="10899507" cy="4708981"/>
          </a:xfrm>
          <a:prstGeom prst="rect">
            <a:avLst/>
          </a:prstGeom>
          <a:noFill/>
        </p:spPr>
        <p:txBody>
          <a:bodyPr wrap="square" rtlCol="0">
            <a:spAutoFit/>
          </a:bodyPr>
          <a:lstStyle/>
          <a:p>
            <a:r>
              <a:rPr lang="en-US" sz="2000" b="1" u="sng" dirty="0" err="1">
                <a:latin typeface="Readex Pro" panose="020B0604020202020204" charset="-78"/>
                <a:cs typeface="Readex Pro" panose="020B0604020202020204" charset="-78"/>
              </a:rPr>
              <a:t>Ví</a:t>
            </a:r>
            <a:r>
              <a:rPr lang="en-US" sz="2000" b="1" u="sng" dirty="0">
                <a:latin typeface="Readex Pro" panose="020B0604020202020204" charset="-78"/>
                <a:cs typeface="Readex Pro" panose="020B0604020202020204" charset="-78"/>
              </a:rPr>
              <a:t> </a:t>
            </a:r>
            <a:r>
              <a:rPr lang="en-US" sz="2000" b="1" u="sng" dirty="0" err="1">
                <a:latin typeface="Readex Pro" panose="020B0604020202020204" charset="-78"/>
                <a:cs typeface="Readex Pro" panose="020B0604020202020204" charset="-78"/>
              </a:rPr>
              <a:t>dụ</a:t>
            </a:r>
            <a:r>
              <a:rPr lang="en-US" sz="2000" b="1" u="sng" dirty="0">
                <a:latin typeface="Readex Pro" panose="020B0604020202020204" charset="-78"/>
                <a:cs typeface="Readex Pro" panose="020B0604020202020204" charset="-78"/>
              </a:rPr>
              <a:t>: </a:t>
            </a:r>
          </a:p>
          <a:p>
            <a:pPr marL="457200" indent="-457200">
              <a:buAutoNum type="arabicPeriod"/>
            </a:pPr>
            <a:r>
              <a:rPr lang="en-US" sz="2000" b="1" dirty="0">
                <a:latin typeface="Readex Pro" panose="020B0604020202020204" charset="-78"/>
                <a:cs typeface="Readex Pro" panose="020B0604020202020204" charset="-78"/>
              </a:rPr>
              <a:t>File </a:t>
            </a:r>
            <a:r>
              <a:rPr lang="en-US" sz="2000" b="1" dirty="0" err="1">
                <a:latin typeface="Readex Pro" panose="020B0604020202020204" charset="-78"/>
                <a:cs typeface="Readex Pro" panose="020B0604020202020204" charset="-78"/>
              </a:rPr>
              <a:t>cấu</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hình</a:t>
            </a:r>
            <a:r>
              <a:rPr lang="en-US" sz="2000" b="1"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bị</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sửa</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phát</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hiện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đổi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quyền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truy</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cập</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nhưng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hệ</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thống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kiểm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tra</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chữ</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ký</a:t>
            </a:r>
            <a:r>
              <a:rPr lang="en-US" sz="2000" dirty="0">
                <a:latin typeface="Readex Pro" panose="020B0604020202020204" charset="-78"/>
                <a:cs typeface="Readex Pro" panose="020B0604020202020204" charset="-78"/>
              </a:rPr>
              <a:t>/</a:t>
            </a:r>
            <a:r>
              <a:rPr lang="en-US" sz="2000" dirty="0" err="1">
                <a:latin typeface="Readex Pro" panose="020B0604020202020204" charset="-78"/>
                <a:cs typeface="Readex Pro" panose="020B0604020202020204" charset="-78"/>
              </a:rPr>
              <a:t>hàm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băm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của</a:t>
            </a:r>
            <a:r>
              <a:rPr lang="en-US" sz="2000" dirty="0">
                <a:latin typeface="Readex Pro" panose="020B0604020202020204" charset="-78"/>
                <a:cs typeface="Readex Pro" panose="020B0604020202020204" charset="-78"/>
              </a:rPr>
              <a:t> file.</a:t>
            </a:r>
          </a:p>
          <a:p>
            <a:pPr marL="457200" indent="-457200">
              <a:buAutoNum type="arabicPeriod"/>
            </a:pPr>
            <a:endParaRPr lang="en-US" sz="2000" dirty="0">
              <a:latin typeface="Readex Pro" panose="020B0604020202020204" charset="-78"/>
              <a:cs typeface="Readex Pro" panose="020B0604020202020204" charset="-78"/>
            </a:endParaRPr>
          </a:p>
          <a:p>
            <a:pPr marL="457200" indent="-457200">
              <a:buAutoNum type="arabicPeriod"/>
            </a:pPr>
            <a:r>
              <a:rPr lang="en-US" sz="2000" b="1" dirty="0" err="1">
                <a:latin typeface="Readex Pro" panose="020B0604020202020204" charset="-78"/>
                <a:cs typeface="Readex Pro" panose="020B0604020202020204" charset="-78"/>
              </a:rPr>
              <a:t>Dữ</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liệu</a:t>
            </a:r>
            <a:r>
              <a:rPr lang="en-US" sz="2000" b="1" dirty="0">
                <a:latin typeface="Readex Pro" panose="020B0604020202020204" charset="-78"/>
                <a:cs typeface="Readex Pro" panose="020B0604020202020204" charset="-78"/>
              </a:rPr>
              <a:t> CSDL </a:t>
            </a:r>
            <a:r>
              <a:rPr lang="en-US" sz="2000" dirty="0" err="1">
                <a:latin typeface="Readex Pro" panose="020B0604020202020204" charset="-78"/>
                <a:cs typeface="Readex Pro" panose="020B0604020202020204" charset="-78"/>
              </a:rPr>
              <a:t>bị</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đổi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trái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phép</a:t>
            </a:r>
            <a:r>
              <a:rPr lang="en-US" sz="2000" dirty="0">
                <a:latin typeface="Readex Pro" panose="020B0604020202020204" charset="-78"/>
                <a:cs typeface="Readex Pro" panose="020B0604020202020204" charset="-78"/>
              </a:rPr>
              <a:t> do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có</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cơ</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chế</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xác</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thực</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toàn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vẹn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dữ</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liệu</a:t>
            </a:r>
            <a:r>
              <a:rPr lang="en-US" sz="2000" dirty="0">
                <a:latin typeface="Readex Pro" panose="020B0604020202020204" charset="-78"/>
                <a:cs typeface="Readex Pro" panose="020B0604020202020204" charset="-78"/>
              </a:rPr>
              <a:t>.</a:t>
            </a:r>
          </a:p>
          <a:p>
            <a:pPr marL="457200" indent="-457200">
              <a:buAutoNum type="arabicPeriod"/>
            </a:pPr>
            <a:endParaRPr lang="en-US" sz="2000" dirty="0">
              <a:latin typeface="Readex Pro" panose="020B0604020202020204" charset="-78"/>
              <a:cs typeface="Readex Pro" panose="020B0604020202020204" charset="-78"/>
            </a:endParaRPr>
          </a:p>
          <a:p>
            <a:pPr marL="457200" indent="-457200">
              <a:buAutoNum type="arabicPeriod"/>
            </a:pPr>
            <a:r>
              <a:rPr lang="en-US" sz="2000" b="1" dirty="0" err="1">
                <a:latin typeface="Readex Pro" panose="020B0604020202020204" charset="-78"/>
                <a:cs typeface="Readex Pro" panose="020B0604020202020204" charset="-78"/>
              </a:rPr>
              <a:t>Gói</a:t>
            </a:r>
            <a:r>
              <a:rPr lang="en-US" sz="2000" b="1" dirty="0">
                <a:latin typeface="Readex Pro" panose="020B0604020202020204" charset="-78"/>
                <a:cs typeface="Readex Pro" panose="020B0604020202020204" charset="-78"/>
              </a:rPr>
              <a:t> tin </a:t>
            </a:r>
            <a:r>
              <a:rPr lang="en-US" sz="2000" b="1" dirty="0" err="1">
                <a:latin typeface="Readex Pro" panose="020B0604020202020204" charset="-78"/>
                <a:cs typeface="Readex Pro" panose="020B0604020202020204" charset="-78"/>
              </a:rPr>
              <a:t>mạng</a:t>
            </a:r>
            <a:r>
              <a:rPr lang="en-US" sz="2000" b="1"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bị</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giả</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mạo</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trên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đường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truyền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nhưng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hệ</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thống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kiểm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tra</a:t>
            </a:r>
            <a:r>
              <a:rPr lang="en-US" sz="2000" dirty="0">
                <a:latin typeface="Readex Pro" panose="020B0604020202020204" charset="-78"/>
                <a:cs typeface="Readex Pro" panose="020B0604020202020204" charset="-78"/>
              </a:rPr>
              <a:t> hash/</a:t>
            </a:r>
            <a:r>
              <a:rPr lang="en-US" sz="2000" dirty="0" err="1">
                <a:latin typeface="Readex Pro" panose="020B0604020202020204" charset="-78"/>
                <a:cs typeface="Readex Pro" panose="020B0604020202020204" charset="-78"/>
              </a:rPr>
              <a:t>chữ</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ký</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của</a:t>
            </a:r>
            <a:r>
              <a:rPr lang="en-US" sz="2000"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dữ</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liệu</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nhận</a:t>
            </a:r>
            <a:r>
              <a:rPr lang="en-US" sz="2000" b="1"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được</a:t>
            </a:r>
            <a:r>
              <a:rPr lang="en-US" sz="2000" dirty="0">
                <a:latin typeface="Readex Pro" panose="020B0604020202020204" charset="-78"/>
                <a:cs typeface="Readex Pro" panose="020B0604020202020204" charset="-78"/>
              </a:rPr>
              <a:t>.</a:t>
            </a:r>
          </a:p>
          <a:p>
            <a:pPr marL="457200" indent="-457200">
              <a:buAutoNum type="arabicPeriod"/>
            </a:pPr>
            <a:endParaRPr lang="en-US" sz="2000" dirty="0">
              <a:latin typeface="Readex Pro" panose="020B0604020202020204" charset="-78"/>
              <a:cs typeface="Readex Pro" panose="020B0604020202020204" charset="-78"/>
            </a:endParaRPr>
          </a:p>
          <a:p>
            <a:pPr marL="457200" indent="-457200">
              <a:buAutoNum type="arabicPeriod"/>
            </a:pPr>
            <a:r>
              <a:rPr lang="en-US" sz="2000" dirty="0" err="1">
                <a:latin typeface="Readex Pro" panose="020B0604020202020204" charset="-78"/>
                <a:cs typeface="Readex Pro" panose="020B0604020202020204" charset="-78"/>
              </a:rPr>
              <a:t>Cập</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nhật</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phần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mềm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được</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xác</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thực</a:t>
            </a:r>
            <a:r>
              <a:rPr lang="en-US" sz="2000" dirty="0">
                <a:latin typeface="Readex Pro" panose="020B0604020202020204" charset="-78"/>
                <a:cs typeface="Readex Pro" panose="020B0604020202020204" charset="-78"/>
              </a:rPr>
              <a:t> (</a:t>
            </a:r>
            <a:r>
              <a:rPr lang="en-US" sz="2000" i="1" dirty="0" err="1">
                <a:latin typeface="Readex Pro" panose="020B0604020202020204" charset="-78"/>
                <a:cs typeface="Readex Pro" panose="020B0604020202020204" charset="-78"/>
              </a:rPr>
              <a:t>nguồn</a:t>
            </a:r>
            <a:r>
              <a:rPr lang="en-US" sz="2000" i="1" dirty="0">
                <a:latin typeface="Readex Pro" panose="020B0604020202020204" charset="-78"/>
                <a:cs typeface="Readex Pro" panose="020B0604020202020204" charset="-78"/>
              </a:rPr>
              <a:t> </a:t>
            </a:r>
            <a:r>
              <a:rPr lang="en-US" sz="2000" i="1" dirty="0" err="1">
                <a:latin typeface="Readex Pro" panose="020B0604020202020204" charset="-78"/>
                <a:cs typeface="Readex Pro" panose="020B0604020202020204" charset="-78"/>
              </a:rPr>
              <a:t>lạ</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dẫn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tới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cài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đặt</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phiên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bản</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bị</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chỉnh</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sửa</a:t>
            </a:r>
            <a:r>
              <a:rPr lang="en-US" sz="2000"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chứa</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mã</a:t>
            </a:r>
            <a:r>
              <a:rPr lang="en-US" sz="2000" b="1" dirty="0">
                <a:latin typeface="Readex Pro" panose="020B0604020202020204" charset="-78"/>
                <a:cs typeface="Readex Pro" panose="020B0604020202020204" charset="-78"/>
              </a:rPr>
              <a:t> </a:t>
            </a:r>
            <a:r>
              <a:rPr lang="en-US" sz="2000" b="1" dirty="0" err="1">
                <a:latin typeface="Readex Pro" panose="020B0604020202020204" charset="-78"/>
                <a:cs typeface="Readex Pro" panose="020B0604020202020204" charset="-78"/>
              </a:rPr>
              <a:t>độc</a:t>
            </a:r>
            <a:r>
              <a:rPr lang="en-US" sz="2000" dirty="0">
                <a:latin typeface="Readex Pro" panose="020B0604020202020204" charset="-78"/>
                <a:cs typeface="Readex Pro" panose="020B0604020202020204" charset="-78"/>
              </a:rPr>
              <a:t>.</a:t>
            </a:r>
          </a:p>
          <a:p>
            <a:pPr marL="457200" indent="-457200">
              <a:buAutoNum type="arabicPeriod"/>
            </a:pPr>
            <a:endParaRPr lang="en-US" sz="2000" dirty="0">
              <a:latin typeface="Readex Pro" panose="020B0604020202020204" charset="-78"/>
              <a:cs typeface="Readex Pro" panose="020B0604020202020204" charset="-78"/>
            </a:endParaRPr>
          </a:p>
          <a:p>
            <a:pPr marL="457200" indent="-457200">
              <a:buAutoNum type="arabicPeriod"/>
            </a:pPr>
            <a:r>
              <a:rPr lang="en-US" sz="2000" dirty="0">
                <a:latin typeface="Readex Pro" panose="020B0604020202020204" charset="-78"/>
                <a:cs typeface="Readex Pro" panose="020B0604020202020204" charset="-78"/>
              </a:rPr>
              <a:t>Cookie/token session </a:t>
            </a:r>
            <a:r>
              <a:rPr lang="en-US" sz="2000" dirty="0" err="1">
                <a:latin typeface="Readex Pro" panose="020B0604020202020204" charset="-78"/>
                <a:cs typeface="Readex Pro" panose="020B0604020202020204" charset="-78"/>
              </a:rPr>
              <a:t>bị</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đổi</a:t>
            </a:r>
            <a:r>
              <a:rPr lang="en-US" sz="2000" dirty="0">
                <a:latin typeface="Readex Pro" panose="020B0604020202020204" charset="-78"/>
                <a:cs typeface="Readex Pro" panose="020B0604020202020204" charset="-78"/>
              </a:rPr>
              <a:t> do </a:t>
            </a:r>
            <a:r>
              <a:rPr lang="en-US" sz="2000" dirty="0" err="1">
                <a:latin typeface="Readex Pro" panose="020B0604020202020204" charset="-78"/>
                <a:cs typeface="Readex Pro" panose="020B0604020202020204" charset="-78"/>
              </a:rPr>
              <a:t>có</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một</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vài</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ứng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dụng</a:t>
            </a:r>
            <a:r>
              <a:rPr lang="en-US" sz="2000" dirty="0">
                <a:latin typeface="Readex Pro" panose="020B0604020202020204" charset="-78"/>
                <a:cs typeface="Readex Pro" panose="020B0604020202020204" charset="-78"/>
              </a:rPr>
              <a:t> web </a:t>
            </a:r>
            <a:r>
              <a:rPr lang="en-US" sz="2000" dirty="0" err="1">
                <a:latin typeface="Readex Pro" panose="020B0604020202020204" charset="-78"/>
                <a:cs typeface="Readex Pro" panose="020B0604020202020204" charset="-78"/>
              </a:rPr>
              <a:t>chỉ</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lưu</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nhưng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không</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có</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cơ</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chế</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kiểm</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tra</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chữ</a:t>
            </a:r>
            <a:r>
              <a:rPr lang="en-US" sz="2000" dirty="0">
                <a:latin typeface="Readex Pro" panose="020B0604020202020204" charset="-78"/>
                <a:cs typeface="Readex Pro" panose="020B0604020202020204" charset="-78"/>
              </a:rPr>
              <a:t> </a:t>
            </a:r>
            <a:r>
              <a:rPr lang="en-US" sz="2000" dirty="0" err="1">
                <a:latin typeface="Readex Pro" panose="020B0604020202020204" charset="-78"/>
                <a:cs typeface="Readex Pro" panose="020B0604020202020204" charset="-78"/>
              </a:rPr>
              <a:t>ký</a:t>
            </a:r>
            <a:r>
              <a:rPr lang="en-US" sz="2000" dirty="0">
                <a:latin typeface="Readex Pro" panose="020B0604020202020204" charset="-78"/>
                <a:cs typeface="Readex Pro" panose="020B0604020202020204" charset="-78"/>
              </a:rPr>
              <a:t>/hash </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kẻ</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tấn</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công</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sửa</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giá</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trị</a:t>
            </a:r>
            <a:r>
              <a:rPr lang="en-US" sz="2000" dirty="0">
                <a:latin typeface="Readex Pro" panose="020B0604020202020204" charset="-78"/>
                <a:cs typeface="Readex Pro" panose="020B0604020202020204" charset="-78"/>
                <a:sym typeface="Wingdings" panose="05000000000000000000" pitchFamily="2" charset="2"/>
              </a:rPr>
              <a:t> </a:t>
            </a:r>
            <a:r>
              <a:rPr lang="en-US" sz="2000" dirty="0" err="1">
                <a:latin typeface="Readex Pro" panose="020B0604020202020204" charset="-78"/>
                <a:cs typeface="Readex Pro" panose="020B0604020202020204" charset="-78"/>
                <a:sym typeface="Wingdings" panose="05000000000000000000" pitchFamily="2" charset="2"/>
              </a:rPr>
              <a:t>để</a:t>
            </a:r>
            <a:r>
              <a:rPr lang="en-US" sz="2000" dirty="0">
                <a:latin typeface="Readex Pro" panose="020B0604020202020204" charset="-78"/>
                <a:cs typeface="Readex Pro" panose="020B0604020202020204" charset="-78"/>
                <a:sym typeface="Wingdings" panose="05000000000000000000" pitchFamily="2" charset="2"/>
              </a:rPr>
              <a:t> </a:t>
            </a:r>
            <a:r>
              <a:rPr lang="en-US" sz="2000" b="1" dirty="0" err="1">
                <a:latin typeface="Readex Pro" panose="020B0604020202020204" charset="-78"/>
                <a:cs typeface="Readex Pro" panose="020B0604020202020204" charset="-78"/>
                <a:sym typeface="Wingdings" panose="05000000000000000000" pitchFamily="2" charset="2"/>
              </a:rPr>
              <a:t>leo</a:t>
            </a:r>
            <a:r>
              <a:rPr lang="en-US" sz="2000" b="1" dirty="0">
                <a:latin typeface="Readex Pro" panose="020B0604020202020204" charset="-78"/>
                <a:cs typeface="Readex Pro" panose="020B0604020202020204" charset="-78"/>
                <a:sym typeface="Wingdings" panose="05000000000000000000" pitchFamily="2" charset="2"/>
              </a:rPr>
              <a:t> thang </a:t>
            </a:r>
            <a:r>
              <a:rPr lang="en-US" sz="2000" b="1" dirty="0" err="1">
                <a:latin typeface="Readex Pro" panose="020B0604020202020204" charset="-78"/>
                <a:cs typeface="Readex Pro" panose="020B0604020202020204" charset="-78"/>
                <a:sym typeface="Wingdings" panose="05000000000000000000" pitchFamily="2" charset="2"/>
              </a:rPr>
              <a:t>quyền</a:t>
            </a:r>
            <a:r>
              <a:rPr lang="en-US" sz="2000" b="1" dirty="0">
                <a:latin typeface="Readex Pro" panose="020B0604020202020204" charset="-78"/>
                <a:cs typeface="Readex Pro" panose="020B0604020202020204" charset="-78"/>
                <a:sym typeface="Wingdings" panose="05000000000000000000" pitchFamily="2" charset="2"/>
              </a:rPr>
              <a:t> </a:t>
            </a:r>
            <a:r>
              <a:rPr lang="en-US" sz="2000" b="1" dirty="0" err="1">
                <a:latin typeface="Readex Pro" panose="020B0604020202020204" charset="-78"/>
                <a:cs typeface="Readex Pro" panose="020B0604020202020204" charset="-78"/>
                <a:sym typeface="Wingdings" panose="05000000000000000000" pitchFamily="2" charset="2"/>
              </a:rPr>
              <a:t>hạn</a:t>
            </a:r>
            <a:r>
              <a:rPr lang="en-US" sz="2000" dirty="0">
                <a:latin typeface="Readex Pro" panose="020B0604020202020204" charset="-78"/>
                <a:cs typeface="Readex Pro" panose="020B0604020202020204" charset="-78"/>
                <a:sym typeface="Wingdings" panose="05000000000000000000" pitchFamily="2" charset="2"/>
              </a:rPr>
              <a:t>/</a:t>
            </a:r>
            <a:r>
              <a:rPr lang="en-US" sz="2000" b="1" dirty="0" err="1">
                <a:latin typeface="Readex Pro" panose="020B0604020202020204" charset="-78"/>
                <a:cs typeface="Readex Pro" panose="020B0604020202020204" charset="-78"/>
                <a:sym typeface="Wingdings" panose="05000000000000000000" pitchFamily="2" charset="2"/>
              </a:rPr>
              <a:t>giả</a:t>
            </a:r>
            <a:r>
              <a:rPr lang="en-US" sz="2000" b="1" dirty="0">
                <a:latin typeface="Readex Pro" panose="020B0604020202020204" charset="-78"/>
                <a:cs typeface="Readex Pro" panose="020B0604020202020204" charset="-78"/>
                <a:sym typeface="Wingdings" panose="05000000000000000000" pitchFamily="2" charset="2"/>
              </a:rPr>
              <a:t> </a:t>
            </a:r>
            <a:r>
              <a:rPr lang="en-US" sz="2000" b="1" dirty="0" err="1">
                <a:latin typeface="Readex Pro" panose="020B0604020202020204" charset="-78"/>
                <a:cs typeface="Readex Pro" panose="020B0604020202020204" charset="-78"/>
                <a:sym typeface="Wingdings" panose="05000000000000000000" pitchFamily="2" charset="2"/>
              </a:rPr>
              <a:t>mạo</a:t>
            </a:r>
            <a:r>
              <a:rPr lang="en-US" sz="2000" b="1" dirty="0">
                <a:latin typeface="Readex Pro" panose="020B0604020202020204" charset="-78"/>
                <a:cs typeface="Readex Pro" panose="020B0604020202020204" charset="-78"/>
                <a:sym typeface="Wingdings" panose="05000000000000000000" pitchFamily="2" charset="2"/>
              </a:rPr>
              <a:t> </a:t>
            </a:r>
            <a:r>
              <a:rPr lang="en-US" sz="2000" b="1" dirty="0" err="1">
                <a:latin typeface="Readex Pro" panose="020B0604020202020204" charset="-78"/>
                <a:cs typeface="Readex Pro" panose="020B0604020202020204" charset="-78"/>
                <a:sym typeface="Wingdings" panose="05000000000000000000" pitchFamily="2" charset="2"/>
              </a:rPr>
              <a:t>người</a:t>
            </a:r>
            <a:r>
              <a:rPr lang="en-US" sz="2000" b="1" dirty="0">
                <a:latin typeface="Readex Pro" panose="020B0604020202020204" charset="-78"/>
                <a:cs typeface="Readex Pro" panose="020B0604020202020204" charset="-78"/>
                <a:sym typeface="Wingdings" panose="05000000000000000000" pitchFamily="2" charset="2"/>
              </a:rPr>
              <a:t> </a:t>
            </a:r>
            <a:r>
              <a:rPr lang="en-US" sz="2000" b="1" dirty="0" err="1">
                <a:latin typeface="Readex Pro" panose="020B0604020202020204" charset="-78"/>
                <a:cs typeface="Readex Pro" panose="020B0604020202020204" charset="-78"/>
                <a:sym typeface="Wingdings" panose="05000000000000000000" pitchFamily="2" charset="2"/>
              </a:rPr>
              <a:t>dùng</a:t>
            </a:r>
            <a:r>
              <a:rPr lang="en-US" sz="2000" dirty="0">
                <a:latin typeface="Readex Pro" panose="020B0604020202020204" charset="-78"/>
                <a:cs typeface="Readex Pro" panose="020B0604020202020204" charset="-78"/>
                <a:sym typeface="Wingdings" panose="05000000000000000000" pitchFamily="2" charset="2"/>
              </a:rPr>
              <a:t>.</a:t>
            </a:r>
            <a:endParaRPr lang="vi-VN" sz="2000" dirty="0">
              <a:latin typeface="Readex Pro" panose="020B0604020202020204" charset="-78"/>
              <a:cs typeface="Readex Pro" panose="020B0604020202020204" charset="-78"/>
            </a:endParaRPr>
          </a:p>
        </p:txBody>
      </p:sp>
    </p:spTree>
    <p:extLst>
      <p:ext uri="{BB962C8B-B14F-4D97-AF65-F5344CB8AC3E}">
        <p14:creationId xmlns:p14="http://schemas.microsoft.com/office/powerpoint/2010/main" val="173757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56"/>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2.5. THIẾU XÁC THỰC TÍNH TOÀN VẸN</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2.5.3. HẬU QUẢ</a:t>
            </a:r>
            <a:endParaRPr sz="2800" dirty="0">
              <a:latin typeface="Times New Roman"/>
              <a:ea typeface="Times New Roman"/>
              <a:cs typeface="Times New Roman"/>
              <a:sym typeface="Times New Roman"/>
            </a:endParaRPr>
          </a:p>
        </p:txBody>
      </p:sp>
      <p:sp>
        <p:nvSpPr>
          <p:cNvPr id="742" name="Google Shape;742;p56"/>
          <p:cNvSpPr txBox="1">
            <a:spLocks noGrp="1"/>
          </p:cNvSpPr>
          <p:nvPr>
            <p:ph type="body" idx="1"/>
          </p:nvPr>
        </p:nvSpPr>
        <p:spPr>
          <a:xfrm>
            <a:off x="838200" y="1477567"/>
            <a:ext cx="10515600" cy="4762811"/>
          </a:xfrm>
          <a:prstGeom prst="rect">
            <a:avLst/>
          </a:prstGeom>
          <a:noFill/>
          <a:ln>
            <a:noFill/>
          </a:ln>
        </p:spPr>
        <p:txBody>
          <a:bodyPr spcFirstLastPara="1" wrap="square" lIns="91425" tIns="45700" rIns="91425" bIns="45700" anchor="t" anchorCtr="0">
            <a:normAutofit fontScale="92500" lnSpcReduction="10000"/>
          </a:bodyPr>
          <a:lstStyle/>
          <a:p>
            <a:pPr marL="533400" lvl="0" indent="-457200" algn="just" rtl="0">
              <a:lnSpc>
                <a:spcPct val="150000"/>
              </a:lnSpc>
              <a:spcBef>
                <a:spcPts val="1200"/>
              </a:spcBef>
              <a:spcAft>
                <a:spcPts val="0"/>
              </a:spcAft>
              <a:buSzPts val="2400"/>
              <a:buAutoNum type="arabicPeriod"/>
            </a:pPr>
            <a:r>
              <a:rPr lang="en-US" dirty="0" err="1"/>
              <a:t>Dữ</a:t>
            </a:r>
            <a:r>
              <a:rPr lang="en-US" dirty="0"/>
              <a:t> </a:t>
            </a:r>
            <a:r>
              <a:rPr lang="en-US" dirty="0" err="1"/>
              <a:t>liệu</a:t>
            </a:r>
            <a:r>
              <a:rPr lang="en-US" dirty="0"/>
              <a:t> </a:t>
            </a:r>
            <a:r>
              <a:rPr lang="en-US" dirty="0" err="1"/>
              <a:t>bị</a:t>
            </a:r>
            <a:r>
              <a:rPr lang="en-US" dirty="0"/>
              <a:t> </a:t>
            </a:r>
            <a:r>
              <a:rPr lang="en-US" dirty="0" err="1"/>
              <a:t>giả</a:t>
            </a:r>
            <a:r>
              <a:rPr lang="en-US" dirty="0"/>
              <a:t> </a:t>
            </a:r>
            <a:r>
              <a:rPr lang="en-US" dirty="0" err="1"/>
              <a:t>mạo</a:t>
            </a:r>
            <a:r>
              <a:rPr lang="en-US" dirty="0"/>
              <a:t>, </a:t>
            </a:r>
            <a:r>
              <a:rPr lang="en-US" dirty="0" err="1"/>
              <a:t>mất</a:t>
            </a:r>
            <a:r>
              <a:rPr lang="en-US" dirty="0"/>
              <a:t> </a:t>
            </a:r>
            <a:r>
              <a:rPr lang="en-US" dirty="0" err="1"/>
              <a:t>độ</a:t>
            </a:r>
            <a:r>
              <a:rPr lang="en-US" dirty="0"/>
              <a:t> tin </a:t>
            </a:r>
            <a:r>
              <a:rPr lang="en-US" dirty="0" err="1"/>
              <a:t>cậy</a:t>
            </a:r>
            <a:r>
              <a:rPr lang="en-US" dirty="0"/>
              <a:t>.</a:t>
            </a:r>
          </a:p>
          <a:p>
            <a:pPr marL="533400" lvl="0" indent="-457200" algn="just" rtl="0">
              <a:lnSpc>
                <a:spcPct val="150000"/>
              </a:lnSpc>
              <a:spcBef>
                <a:spcPts val="1200"/>
              </a:spcBef>
              <a:spcAft>
                <a:spcPts val="0"/>
              </a:spcAft>
              <a:buSzPts val="2400"/>
              <a:buAutoNum type="arabicPeriod"/>
            </a:pPr>
            <a:r>
              <a:rPr lang="en-US" dirty="0" err="1"/>
              <a:t>Bị</a:t>
            </a:r>
            <a:r>
              <a:rPr lang="en-US" dirty="0"/>
              <a:t> </a:t>
            </a:r>
            <a:r>
              <a:rPr lang="en-US" b="1" dirty="0" err="1"/>
              <a:t>tấn</a:t>
            </a:r>
            <a:r>
              <a:rPr lang="en-US" b="1" dirty="0"/>
              <a:t> </a:t>
            </a:r>
            <a:r>
              <a:rPr lang="en-US" b="1" dirty="0" err="1"/>
              <a:t>công</a:t>
            </a:r>
            <a:r>
              <a:rPr lang="en-US" b="1" dirty="0"/>
              <a:t> </a:t>
            </a:r>
            <a:r>
              <a:rPr lang="en-US" b="1" dirty="0" err="1"/>
              <a:t>leo</a:t>
            </a:r>
            <a:r>
              <a:rPr lang="en-US" b="1" dirty="0"/>
              <a:t> thang </a:t>
            </a:r>
            <a:r>
              <a:rPr lang="en-US" b="1" dirty="0" err="1"/>
              <a:t>quyền</a:t>
            </a:r>
            <a:r>
              <a:rPr lang="en-US" b="1" dirty="0"/>
              <a:t> </a:t>
            </a:r>
            <a:r>
              <a:rPr lang="en-US" b="1" dirty="0" err="1"/>
              <a:t>hạn</a:t>
            </a:r>
            <a:r>
              <a:rPr lang="en-US" b="1" dirty="0"/>
              <a:t> </a:t>
            </a:r>
            <a:r>
              <a:rPr lang="en-US" dirty="0"/>
              <a:t>(</a:t>
            </a:r>
            <a:r>
              <a:rPr lang="en-US" dirty="0" err="1"/>
              <a:t>bị</a:t>
            </a:r>
            <a:r>
              <a:rPr lang="en-US" dirty="0"/>
              <a:t> </a:t>
            </a:r>
            <a:r>
              <a:rPr lang="en-US" dirty="0" err="1"/>
              <a:t>sửa</a:t>
            </a:r>
            <a:r>
              <a:rPr lang="en-US" dirty="0"/>
              <a:t> cookie, token, </a:t>
            </a:r>
            <a:r>
              <a:rPr lang="en-US" dirty="0" err="1"/>
              <a:t>tệp</a:t>
            </a:r>
            <a:r>
              <a:rPr lang="en-US" dirty="0"/>
              <a:t> </a:t>
            </a:r>
            <a:r>
              <a:rPr lang="en-US" dirty="0" err="1"/>
              <a:t>cấu</a:t>
            </a:r>
            <a:r>
              <a:rPr lang="en-US" dirty="0"/>
              <a:t> </a:t>
            </a:r>
            <a:r>
              <a:rPr lang="en-US" dirty="0" err="1"/>
              <a:t>hình</a:t>
            </a:r>
            <a:r>
              <a:rPr lang="en-US" dirty="0"/>
              <a:t>).</a:t>
            </a:r>
          </a:p>
          <a:p>
            <a:pPr marL="533400" lvl="0" indent="-457200" algn="just" rtl="0">
              <a:lnSpc>
                <a:spcPct val="150000"/>
              </a:lnSpc>
              <a:spcBef>
                <a:spcPts val="1200"/>
              </a:spcBef>
              <a:spcAft>
                <a:spcPts val="0"/>
              </a:spcAft>
              <a:buSzPts val="2400"/>
              <a:buAutoNum type="arabicPeriod"/>
            </a:pPr>
            <a:r>
              <a:rPr lang="en-US" dirty="0" err="1"/>
              <a:t>Hệ</a:t>
            </a:r>
            <a:r>
              <a:rPr lang="en-US" dirty="0"/>
              <a:t> </a:t>
            </a:r>
            <a:r>
              <a:rPr lang="en-US" dirty="0" err="1"/>
              <a:t>thống</a:t>
            </a:r>
            <a:r>
              <a:rPr lang="en-US" dirty="0"/>
              <a:t> </a:t>
            </a:r>
            <a:r>
              <a:rPr lang="en-US" dirty="0" err="1"/>
              <a:t>mất</a:t>
            </a:r>
            <a:r>
              <a:rPr lang="en-US" dirty="0"/>
              <a:t> </a:t>
            </a:r>
            <a:r>
              <a:rPr lang="en-US" dirty="0" err="1"/>
              <a:t>khả</a:t>
            </a:r>
            <a:r>
              <a:rPr lang="en-US" dirty="0"/>
              <a:t> </a:t>
            </a:r>
            <a:r>
              <a:rPr lang="en-US" dirty="0" err="1"/>
              <a:t>năng</a:t>
            </a:r>
            <a:r>
              <a:rPr lang="en-US" dirty="0"/>
              <a:t> </a:t>
            </a:r>
            <a:r>
              <a:rPr lang="en-US" dirty="0" err="1"/>
              <a:t>vận</a:t>
            </a:r>
            <a:r>
              <a:rPr lang="en-US" dirty="0"/>
              <a:t> </a:t>
            </a:r>
            <a:r>
              <a:rPr lang="en-US" dirty="0" err="1"/>
              <a:t>hành</a:t>
            </a:r>
            <a:r>
              <a:rPr lang="en-US" dirty="0"/>
              <a:t> </a:t>
            </a:r>
            <a:r>
              <a:rPr lang="en-US" dirty="0" err="1"/>
              <a:t>bình</a:t>
            </a:r>
            <a:r>
              <a:rPr lang="en-US" dirty="0"/>
              <a:t> </a:t>
            </a:r>
            <a:r>
              <a:rPr lang="en-US" dirty="0" err="1"/>
              <a:t>thường</a:t>
            </a:r>
            <a:r>
              <a:rPr lang="en-US" dirty="0"/>
              <a:t> do </a:t>
            </a:r>
            <a:r>
              <a:rPr lang="en-US" dirty="0" err="1"/>
              <a:t>gặp</a:t>
            </a:r>
            <a:r>
              <a:rPr lang="en-US" dirty="0"/>
              <a:t> </a:t>
            </a:r>
            <a:r>
              <a:rPr lang="en-US" dirty="0" err="1"/>
              <a:t>lỗi</a:t>
            </a:r>
            <a:r>
              <a:rPr lang="en-US" dirty="0"/>
              <a:t>, </a:t>
            </a:r>
            <a:r>
              <a:rPr lang="en-US" dirty="0" err="1"/>
              <a:t>sai</a:t>
            </a:r>
            <a:r>
              <a:rPr lang="en-US" dirty="0"/>
              <a:t> </a:t>
            </a:r>
            <a:r>
              <a:rPr lang="en-US" dirty="0" err="1"/>
              <a:t>chức</a:t>
            </a:r>
            <a:r>
              <a:rPr lang="en-US" dirty="0"/>
              <a:t> </a:t>
            </a:r>
            <a:r>
              <a:rPr lang="en-US" dirty="0" err="1"/>
              <a:t>năng</a:t>
            </a:r>
            <a:r>
              <a:rPr lang="en-US" dirty="0"/>
              <a:t> </a:t>
            </a:r>
            <a:r>
              <a:rPr lang="en-US" dirty="0" err="1"/>
              <a:t>khi</a:t>
            </a:r>
            <a:r>
              <a:rPr lang="en-US" dirty="0"/>
              <a:t> </a:t>
            </a:r>
            <a:r>
              <a:rPr lang="en-US" dirty="0" err="1"/>
              <a:t>dữ</a:t>
            </a:r>
            <a:r>
              <a:rPr lang="en-US" dirty="0"/>
              <a:t> </a:t>
            </a:r>
            <a:r>
              <a:rPr lang="en-US" dirty="0" err="1"/>
              <a:t>liệu</a:t>
            </a:r>
            <a:r>
              <a:rPr lang="en-US" dirty="0"/>
              <a:t>/</a:t>
            </a:r>
            <a:r>
              <a:rPr lang="en-US" dirty="0" err="1"/>
              <a:t>cấu</a:t>
            </a:r>
            <a:r>
              <a:rPr lang="en-US" dirty="0"/>
              <a:t> </a:t>
            </a:r>
            <a:r>
              <a:rPr lang="en-US" dirty="0" err="1"/>
              <a:t>hình</a:t>
            </a:r>
            <a:r>
              <a:rPr lang="en-US" dirty="0"/>
              <a:t> </a:t>
            </a:r>
            <a:r>
              <a:rPr lang="en-US" dirty="0" err="1"/>
              <a:t>bị</a:t>
            </a:r>
            <a:r>
              <a:rPr lang="en-US" dirty="0"/>
              <a:t> </a:t>
            </a:r>
            <a:r>
              <a:rPr lang="en-US" dirty="0" err="1"/>
              <a:t>đổi</a:t>
            </a:r>
            <a:r>
              <a:rPr lang="en-US" dirty="0"/>
              <a:t> </a:t>
            </a:r>
            <a:r>
              <a:rPr lang="en-US" dirty="0" err="1"/>
              <a:t>trái</a:t>
            </a:r>
            <a:r>
              <a:rPr lang="en-US" dirty="0"/>
              <a:t> </a:t>
            </a:r>
            <a:r>
              <a:rPr lang="en-US" dirty="0" err="1"/>
              <a:t>phép</a:t>
            </a:r>
            <a:r>
              <a:rPr lang="en-US" dirty="0"/>
              <a:t>.</a:t>
            </a:r>
          </a:p>
          <a:p>
            <a:pPr marL="533400" lvl="0" indent="-457200" algn="just" rtl="0">
              <a:lnSpc>
                <a:spcPct val="150000"/>
              </a:lnSpc>
              <a:spcBef>
                <a:spcPts val="1200"/>
              </a:spcBef>
              <a:spcAft>
                <a:spcPts val="0"/>
              </a:spcAft>
              <a:buSzPts val="2400"/>
              <a:buAutoNum type="arabicPeriod"/>
            </a:pPr>
            <a:r>
              <a:rPr lang="en-US" dirty="0"/>
              <a:t>Hậu </a:t>
            </a:r>
            <a:r>
              <a:rPr lang="en-US" dirty="0" err="1"/>
              <a:t>quả</a:t>
            </a:r>
            <a:r>
              <a:rPr lang="en-US" dirty="0"/>
              <a:t> </a:t>
            </a:r>
            <a:r>
              <a:rPr lang="en-US" dirty="0" err="1"/>
              <a:t>về</a:t>
            </a:r>
            <a:r>
              <a:rPr lang="en-US" dirty="0"/>
              <a:t> </a:t>
            </a:r>
            <a:r>
              <a:rPr lang="en-US" dirty="0" err="1"/>
              <a:t>tính</a:t>
            </a:r>
            <a:r>
              <a:rPr lang="en-US" dirty="0"/>
              <a:t> </a:t>
            </a:r>
            <a:r>
              <a:rPr lang="en-US" dirty="0" err="1"/>
              <a:t>pháp</a:t>
            </a:r>
            <a:r>
              <a:rPr lang="en-US" dirty="0"/>
              <a:t> </a:t>
            </a:r>
            <a:r>
              <a:rPr lang="en-US" dirty="0" err="1"/>
              <a:t>lý</a:t>
            </a:r>
            <a:r>
              <a:rPr lang="en-US" dirty="0"/>
              <a:t>, </a:t>
            </a:r>
            <a:r>
              <a:rPr lang="en-US" dirty="0" err="1"/>
              <a:t>độ</a:t>
            </a:r>
            <a:r>
              <a:rPr lang="en-US" dirty="0"/>
              <a:t> </a:t>
            </a:r>
            <a:r>
              <a:rPr lang="en-US" dirty="0" err="1"/>
              <a:t>uy</a:t>
            </a:r>
            <a:r>
              <a:rPr lang="en-US" dirty="0"/>
              <a:t> </a:t>
            </a:r>
            <a:r>
              <a:rPr lang="en-US" dirty="0" err="1"/>
              <a:t>tín</a:t>
            </a:r>
            <a:r>
              <a:rPr lang="en-US" dirty="0"/>
              <a:t> </a:t>
            </a:r>
            <a:r>
              <a:rPr lang="en-US" dirty="0" err="1"/>
              <a:t>khi</a:t>
            </a:r>
            <a:r>
              <a:rPr lang="en-US" dirty="0"/>
              <a:t> </a:t>
            </a:r>
            <a:r>
              <a:rPr lang="en-US" dirty="0" err="1"/>
              <a:t>bị</a:t>
            </a:r>
            <a:r>
              <a:rPr lang="en-US" dirty="0"/>
              <a:t> </a:t>
            </a:r>
            <a:r>
              <a:rPr lang="en-US" dirty="0" err="1"/>
              <a:t>thay</a:t>
            </a:r>
            <a:r>
              <a:rPr lang="en-US" dirty="0"/>
              <a:t> </a:t>
            </a:r>
            <a:r>
              <a:rPr lang="en-US" dirty="0" err="1"/>
              <a:t>đổi</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trọng</a:t>
            </a:r>
            <a:r>
              <a:rPr lang="en-US" dirty="0"/>
              <a:t>/</a:t>
            </a:r>
            <a:r>
              <a:rPr lang="en-US" dirty="0" err="1"/>
              <a:t>nhạy</a:t>
            </a:r>
            <a:r>
              <a:rPr lang="en-US" dirty="0"/>
              <a:t> </a:t>
            </a:r>
            <a:r>
              <a:rPr lang="en-US" dirty="0" err="1"/>
              <a:t>cảm</a:t>
            </a:r>
            <a:r>
              <a:rPr lang="en-US" dirty="0"/>
              <a:t> (</a:t>
            </a:r>
            <a:r>
              <a:rPr lang="en-US" dirty="0" err="1"/>
              <a:t>hồ</a:t>
            </a:r>
            <a:r>
              <a:rPr lang="en-US" dirty="0"/>
              <a:t> </a:t>
            </a:r>
            <a:r>
              <a:rPr lang="en-US" dirty="0" err="1"/>
              <a:t>sơ</a:t>
            </a:r>
            <a:r>
              <a:rPr lang="en-US" dirty="0"/>
              <a:t> </a:t>
            </a:r>
            <a:r>
              <a:rPr lang="en-US" dirty="0" err="1"/>
              <a:t>khách</a:t>
            </a:r>
            <a:r>
              <a:rPr lang="en-US" dirty="0"/>
              <a:t> </a:t>
            </a:r>
            <a:r>
              <a:rPr lang="en-US" dirty="0" err="1"/>
              <a:t>hàng</a:t>
            </a:r>
            <a:r>
              <a:rPr lang="en-US" dirty="0"/>
              <a:t>, </a:t>
            </a:r>
            <a:r>
              <a:rPr lang="en-US" dirty="0" err="1"/>
              <a:t>tài</a:t>
            </a:r>
            <a:r>
              <a:rPr lang="en-US" dirty="0"/>
              <a:t> </a:t>
            </a:r>
            <a:r>
              <a:rPr lang="en-US" dirty="0" err="1"/>
              <a:t>chính</a:t>
            </a:r>
            <a:r>
              <a:rPr lang="en-US" dirty="0"/>
              <a:t>, </a:t>
            </a:r>
            <a:r>
              <a:rPr lang="en-US" dirty="0" err="1"/>
              <a:t>hồ</a:t>
            </a:r>
            <a:r>
              <a:rPr lang="en-US" dirty="0"/>
              <a:t> </a:t>
            </a:r>
            <a:r>
              <a:rPr lang="en-US" dirty="0" err="1"/>
              <a:t>sơ</a:t>
            </a:r>
            <a:r>
              <a:rPr lang="en-US" dirty="0"/>
              <a:t> y </a:t>
            </a:r>
            <a:r>
              <a:rPr lang="en-US" dirty="0" err="1"/>
              <a:t>tế</a:t>
            </a:r>
            <a:r>
              <a:rPr lang="en-US" dirty="0"/>
              <a:t>, …)</a:t>
            </a:r>
          </a:p>
          <a:p>
            <a:pPr marL="533400" lvl="0" indent="-457200" algn="just" rtl="0">
              <a:lnSpc>
                <a:spcPct val="150000"/>
              </a:lnSpc>
              <a:spcBef>
                <a:spcPts val="1200"/>
              </a:spcBef>
              <a:spcAft>
                <a:spcPts val="0"/>
              </a:spcAft>
              <a:buSzPts val="2400"/>
              <a:buAutoNum type="arabicPeriod"/>
            </a:pPr>
            <a:r>
              <a:rPr lang="en-US" dirty="0" err="1"/>
              <a:t>Tạo</a:t>
            </a:r>
            <a:r>
              <a:rPr lang="en-US" dirty="0"/>
              <a:t> </a:t>
            </a:r>
            <a:r>
              <a:rPr lang="en-US" dirty="0" err="1"/>
              <a:t>cơ</a:t>
            </a:r>
            <a:r>
              <a:rPr lang="en-US" dirty="0"/>
              <a:t> </a:t>
            </a:r>
            <a:r>
              <a:rPr lang="en-US" dirty="0" err="1"/>
              <a:t>hội</a:t>
            </a:r>
            <a:r>
              <a:rPr lang="en-US" dirty="0"/>
              <a:t> </a:t>
            </a:r>
            <a:r>
              <a:rPr lang="en-US" dirty="0" err="1"/>
              <a:t>cho</a:t>
            </a:r>
            <a:r>
              <a:rPr lang="en-US" dirty="0"/>
              <a:t> </a:t>
            </a:r>
            <a:r>
              <a:rPr lang="en-US" dirty="0" err="1"/>
              <a:t>các</a:t>
            </a:r>
            <a:r>
              <a:rPr lang="en-US" dirty="0"/>
              <a:t> </a:t>
            </a:r>
            <a:r>
              <a:rPr lang="en-US" dirty="0" err="1"/>
              <a:t>cuộc</a:t>
            </a:r>
            <a:r>
              <a:rPr lang="en-US" dirty="0"/>
              <a:t> </a:t>
            </a:r>
            <a:r>
              <a:rPr lang="en-US" dirty="0" err="1"/>
              <a:t>tấn</a:t>
            </a:r>
            <a:r>
              <a:rPr lang="en-US" dirty="0"/>
              <a:t> </a:t>
            </a:r>
            <a:r>
              <a:rPr lang="en-US" dirty="0" err="1"/>
              <a:t>công</a:t>
            </a:r>
            <a:r>
              <a:rPr lang="en-US" dirty="0"/>
              <a:t> </a:t>
            </a:r>
            <a:r>
              <a:rPr lang="en-US" dirty="0" err="1"/>
              <a:t>sâu</a:t>
            </a:r>
            <a:r>
              <a:rPr lang="en-US" dirty="0"/>
              <a:t> </a:t>
            </a:r>
            <a:r>
              <a:rPr lang="en-US" dirty="0" err="1"/>
              <a:t>hơn</a:t>
            </a:r>
            <a:r>
              <a:rPr lang="en-US" dirty="0"/>
              <a:t> (</a:t>
            </a:r>
            <a:r>
              <a:rPr lang="en-US" b="1" dirty="0"/>
              <a:t>backdoor</a:t>
            </a:r>
            <a:r>
              <a:rPr lang="en-US" dirty="0"/>
              <a:t>, </a:t>
            </a:r>
            <a:r>
              <a:rPr lang="en-US" b="1" dirty="0"/>
              <a:t>ransomware</a:t>
            </a:r>
            <a:r>
              <a:rPr lang="en-US" dirty="0"/>
              <a:t>, </a:t>
            </a:r>
            <a:r>
              <a:rPr lang="en-US" dirty="0" err="1"/>
              <a:t>khai</a:t>
            </a:r>
            <a:r>
              <a:rPr lang="en-US" dirty="0"/>
              <a:t> </a:t>
            </a:r>
            <a:r>
              <a:rPr lang="en-US" dirty="0" err="1"/>
              <a:t>thác</a:t>
            </a:r>
            <a:r>
              <a:rPr lang="en-US" dirty="0"/>
              <a:t> </a:t>
            </a:r>
            <a:r>
              <a:rPr lang="en-US" dirty="0" err="1"/>
              <a:t>lỗ</a:t>
            </a:r>
            <a:r>
              <a:rPr lang="en-US" dirty="0"/>
              <a:t> </a:t>
            </a:r>
            <a:r>
              <a:rPr lang="en-US" dirty="0" err="1"/>
              <a:t>hổng</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2">
                                            <p:txEl>
                                              <p:pRg st="0" end="0"/>
                                            </p:txEl>
                                          </p:spTgt>
                                        </p:tgtEl>
                                        <p:attrNameLst>
                                          <p:attrName>style.visibility</p:attrName>
                                        </p:attrNameLst>
                                      </p:cBhvr>
                                      <p:to>
                                        <p:strVal val="visible"/>
                                      </p:to>
                                    </p:set>
                                    <p:animEffect transition="in" filter="fade">
                                      <p:cBhvr>
                                        <p:cTn id="7" dur="500"/>
                                        <p:tgtEl>
                                          <p:spTgt spid="7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xEl>
                                              <p:pRg st="1" end="1"/>
                                            </p:txEl>
                                          </p:spTgt>
                                        </p:tgtEl>
                                        <p:attrNameLst>
                                          <p:attrName>style.visibility</p:attrName>
                                        </p:attrNameLst>
                                      </p:cBhvr>
                                      <p:to>
                                        <p:strVal val="visible"/>
                                      </p:to>
                                    </p:set>
                                    <p:animEffect transition="in" filter="fade">
                                      <p:cBhvr>
                                        <p:cTn id="12" dur="500"/>
                                        <p:tgtEl>
                                          <p:spTgt spid="7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2">
                                            <p:txEl>
                                              <p:pRg st="2" end="2"/>
                                            </p:txEl>
                                          </p:spTgt>
                                        </p:tgtEl>
                                        <p:attrNameLst>
                                          <p:attrName>style.visibility</p:attrName>
                                        </p:attrNameLst>
                                      </p:cBhvr>
                                      <p:to>
                                        <p:strVal val="visible"/>
                                      </p:to>
                                    </p:set>
                                    <p:animEffect transition="in" filter="fade">
                                      <p:cBhvr>
                                        <p:cTn id="17" dur="500"/>
                                        <p:tgtEl>
                                          <p:spTgt spid="7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2">
                                            <p:txEl>
                                              <p:pRg st="3" end="3"/>
                                            </p:txEl>
                                          </p:spTgt>
                                        </p:tgtEl>
                                        <p:attrNameLst>
                                          <p:attrName>style.visibility</p:attrName>
                                        </p:attrNameLst>
                                      </p:cBhvr>
                                      <p:to>
                                        <p:strVal val="visible"/>
                                      </p:to>
                                    </p:set>
                                    <p:animEffect transition="in" filter="fade">
                                      <p:cBhvr>
                                        <p:cTn id="22" dur="500"/>
                                        <p:tgtEl>
                                          <p:spTgt spid="7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2">
                                            <p:txEl>
                                              <p:pRg st="4" end="4"/>
                                            </p:txEl>
                                          </p:spTgt>
                                        </p:tgtEl>
                                        <p:attrNameLst>
                                          <p:attrName>style.visibility</p:attrName>
                                        </p:attrNameLst>
                                      </p:cBhvr>
                                      <p:to>
                                        <p:strVal val="visible"/>
                                      </p:to>
                                    </p:set>
                                    <p:animEffect transition="in" filter="fade">
                                      <p:cBhvr>
                                        <p:cTn id="27" dur="500"/>
                                        <p:tgtEl>
                                          <p:spTgt spid="7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914F4C16-532E-8126-10DC-ACE9C4D146E5}"/>
            </a:ext>
          </a:extLst>
        </p:cNvPr>
        <p:cNvGrpSpPr/>
        <p:nvPr/>
      </p:nvGrpSpPr>
      <p:grpSpPr>
        <a:xfrm>
          <a:off x="0" y="0"/>
          <a:ext cx="0" cy="0"/>
          <a:chOff x="0" y="0"/>
          <a:chExt cx="0" cy="0"/>
        </a:xfrm>
      </p:grpSpPr>
      <p:sp>
        <p:nvSpPr>
          <p:cNvPr id="741" name="Google Shape;741;p56">
            <a:extLst>
              <a:ext uri="{FF2B5EF4-FFF2-40B4-BE49-F238E27FC236}">
                <a16:creationId xmlns:a16="http://schemas.microsoft.com/office/drawing/2014/main" id="{28A4E4CE-B51E-C10F-F460-EEF38F0F7C91}"/>
              </a:ext>
            </a:extLst>
          </p:cNvPr>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2.5. THIẾU XÁC THỰC TÍNH TOÀN VẸN</a:t>
            </a:r>
            <a:endParaRPr sz="3200" dirty="0"/>
          </a:p>
          <a:p>
            <a:pPr marL="0" marR="0" lvl="0" indent="0" algn="l" rtl="0">
              <a:lnSpc>
                <a:spcPct val="90000"/>
              </a:lnSpc>
              <a:spcBef>
                <a:spcPts val="0"/>
              </a:spcBef>
              <a:spcAft>
                <a:spcPts val="0"/>
              </a:spcAft>
              <a:buClr>
                <a:srgbClr val="0070C0"/>
              </a:buClr>
              <a:buSzPts val="4000"/>
              <a:buFont typeface="Times New Roman"/>
              <a:buNone/>
            </a:pPr>
            <a:r>
              <a:rPr lang="en-US" sz="3200" dirty="0"/>
              <a:t>	2.5.4. PHÒNG NGỪA, NGĂN CHẶN</a:t>
            </a:r>
            <a:endParaRPr sz="2800" dirty="0">
              <a:latin typeface="Times New Roman"/>
              <a:ea typeface="Times New Roman"/>
              <a:cs typeface="Times New Roman"/>
              <a:sym typeface="Times New Roman"/>
            </a:endParaRPr>
          </a:p>
        </p:txBody>
      </p:sp>
      <p:sp>
        <p:nvSpPr>
          <p:cNvPr id="742" name="Google Shape;742;p56">
            <a:extLst>
              <a:ext uri="{FF2B5EF4-FFF2-40B4-BE49-F238E27FC236}">
                <a16:creationId xmlns:a16="http://schemas.microsoft.com/office/drawing/2014/main" id="{DE612092-8F7F-7FD9-1200-ED8AF62BD301}"/>
              </a:ext>
            </a:extLst>
          </p:cNvPr>
          <p:cNvSpPr txBox="1">
            <a:spLocks noGrp="1"/>
          </p:cNvSpPr>
          <p:nvPr>
            <p:ph type="body" idx="1"/>
          </p:nvPr>
        </p:nvSpPr>
        <p:spPr>
          <a:xfrm>
            <a:off x="838200" y="1477567"/>
            <a:ext cx="10515600" cy="4762811"/>
          </a:xfrm>
          <a:prstGeom prst="rect">
            <a:avLst/>
          </a:prstGeom>
          <a:noFill/>
          <a:ln>
            <a:noFill/>
          </a:ln>
        </p:spPr>
        <p:txBody>
          <a:bodyPr spcFirstLastPara="1" wrap="square" lIns="91425" tIns="45700" rIns="91425" bIns="45700" anchor="t" anchorCtr="0">
            <a:normAutofit fontScale="85000" lnSpcReduction="10000"/>
          </a:bodyPr>
          <a:lstStyle/>
          <a:p>
            <a:pPr marL="533400" lvl="0" indent="-457200" algn="just" rtl="0">
              <a:lnSpc>
                <a:spcPct val="150000"/>
              </a:lnSpc>
              <a:spcBef>
                <a:spcPts val="1200"/>
              </a:spcBef>
              <a:spcAft>
                <a:spcPts val="0"/>
              </a:spcAft>
              <a:buSzPts val="2400"/>
              <a:buAutoNum type="arabicPeriod"/>
            </a:pPr>
            <a:r>
              <a:rPr lang="en-US" dirty="0" err="1"/>
              <a:t>Dùng</a:t>
            </a:r>
            <a:r>
              <a:rPr lang="en-US" dirty="0"/>
              <a:t> </a:t>
            </a:r>
            <a:r>
              <a:rPr lang="en-US" dirty="0" err="1"/>
              <a:t>hàm</a:t>
            </a:r>
            <a:r>
              <a:rPr lang="en-US" dirty="0"/>
              <a:t> </a:t>
            </a:r>
            <a:r>
              <a:rPr lang="en-US" dirty="0" err="1"/>
              <a:t>băm</a:t>
            </a:r>
            <a:r>
              <a:rPr lang="en-US" dirty="0"/>
              <a:t> (</a:t>
            </a:r>
            <a:r>
              <a:rPr lang="en-US" b="1" dirty="0"/>
              <a:t>hash</a:t>
            </a:r>
            <a:r>
              <a:rPr lang="en-US" dirty="0"/>
              <a:t>) </a:t>
            </a:r>
            <a:r>
              <a:rPr lang="en-US" dirty="0" err="1"/>
              <a:t>mạnh</a:t>
            </a:r>
            <a:r>
              <a:rPr lang="en-US" dirty="0"/>
              <a:t> </a:t>
            </a:r>
            <a:r>
              <a:rPr lang="en-US" dirty="0" err="1"/>
              <a:t>và</a:t>
            </a:r>
            <a:r>
              <a:rPr lang="en-US" dirty="0"/>
              <a:t> </a:t>
            </a:r>
            <a:r>
              <a:rPr lang="en-US" dirty="0" err="1"/>
              <a:t>chữ</a:t>
            </a:r>
            <a:r>
              <a:rPr lang="en-US" dirty="0"/>
              <a:t> </a:t>
            </a:r>
            <a:r>
              <a:rPr lang="en-US" dirty="0" err="1"/>
              <a:t>ký</a:t>
            </a:r>
            <a:r>
              <a:rPr lang="en-US" dirty="0"/>
              <a:t> </a:t>
            </a:r>
            <a:r>
              <a:rPr lang="en-US" dirty="0" err="1"/>
              <a:t>số</a:t>
            </a:r>
            <a:r>
              <a:rPr lang="en-US" dirty="0"/>
              <a:t> (</a:t>
            </a:r>
            <a:r>
              <a:rPr lang="en-US" b="1" dirty="0"/>
              <a:t>digital signature</a:t>
            </a:r>
            <a:r>
              <a:rPr lang="en-US" dirty="0"/>
              <a:t>), </a:t>
            </a:r>
            <a:r>
              <a:rPr lang="en-US" dirty="0" err="1"/>
              <a:t>dữ</a:t>
            </a:r>
            <a:r>
              <a:rPr lang="en-US" dirty="0"/>
              <a:t> </a:t>
            </a:r>
            <a:r>
              <a:rPr lang="en-US" dirty="0" err="1"/>
              <a:t>liệu</a:t>
            </a:r>
            <a:r>
              <a:rPr lang="en-US" dirty="0"/>
              <a:t> </a:t>
            </a:r>
            <a:r>
              <a:rPr lang="en-US" dirty="0" err="1"/>
              <a:t>truyền</a:t>
            </a:r>
            <a:r>
              <a:rPr lang="en-US" dirty="0"/>
              <a:t> </a:t>
            </a:r>
            <a:r>
              <a:rPr lang="en-US" dirty="0" err="1"/>
              <a:t>đi</a:t>
            </a:r>
            <a:r>
              <a:rPr lang="en-US" dirty="0"/>
              <a:t> </a:t>
            </a:r>
            <a:r>
              <a:rPr lang="en-US" dirty="0" err="1"/>
              <a:t>sẽ</a:t>
            </a:r>
            <a:r>
              <a:rPr lang="en-US" dirty="0"/>
              <a:t> so </a:t>
            </a:r>
            <a:r>
              <a:rPr lang="en-US" dirty="0" err="1"/>
              <a:t>khớp</a:t>
            </a:r>
            <a:r>
              <a:rPr lang="en-US" dirty="0"/>
              <a:t> hash </a:t>
            </a:r>
            <a:r>
              <a:rPr lang="en-US" dirty="0" err="1"/>
              <a:t>hiện</a:t>
            </a:r>
            <a:r>
              <a:rPr lang="en-US" dirty="0"/>
              <a:t> </a:t>
            </a:r>
            <a:r>
              <a:rPr lang="en-US" dirty="0" err="1"/>
              <a:t>tại</a:t>
            </a:r>
            <a:r>
              <a:rPr lang="en-US" dirty="0"/>
              <a:t> </a:t>
            </a:r>
            <a:r>
              <a:rPr lang="en-US" dirty="0" err="1"/>
              <a:t>với</a:t>
            </a:r>
            <a:r>
              <a:rPr lang="en-US" dirty="0"/>
              <a:t> hash </a:t>
            </a:r>
            <a:r>
              <a:rPr lang="en-US" dirty="0" err="1"/>
              <a:t>gốc</a:t>
            </a:r>
            <a:r>
              <a:rPr lang="en-US" dirty="0"/>
              <a:t> </a:t>
            </a:r>
            <a:r>
              <a:rPr lang="en-US" dirty="0" err="1"/>
              <a:t>kèm</a:t>
            </a:r>
            <a:r>
              <a:rPr lang="en-US" dirty="0"/>
              <a:t> </a:t>
            </a:r>
            <a:r>
              <a:rPr lang="en-US" dirty="0" err="1"/>
              <a:t>với</a:t>
            </a:r>
            <a:r>
              <a:rPr lang="en-US" dirty="0"/>
              <a:t> </a:t>
            </a:r>
            <a:r>
              <a:rPr lang="en-US" dirty="0" err="1"/>
              <a:t>đó</a:t>
            </a:r>
            <a:r>
              <a:rPr lang="en-US" dirty="0"/>
              <a:t> </a:t>
            </a:r>
            <a:r>
              <a:rPr lang="en-US" dirty="0" err="1"/>
              <a:t>chữ</a:t>
            </a:r>
            <a:r>
              <a:rPr lang="en-US" dirty="0"/>
              <a:t> </a:t>
            </a:r>
            <a:r>
              <a:rPr lang="en-US" dirty="0" err="1"/>
              <a:t>ký</a:t>
            </a:r>
            <a:r>
              <a:rPr lang="en-US" dirty="0"/>
              <a:t> </a:t>
            </a:r>
            <a:r>
              <a:rPr lang="en-US" dirty="0" err="1"/>
              <a:t>số</a:t>
            </a:r>
            <a:r>
              <a:rPr lang="en-US" dirty="0"/>
              <a:t> </a:t>
            </a:r>
            <a:r>
              <a:rPr lang="en-US" dirty="0" err="1"/>
              <a:t>đảm</a:t>
            </a:r>
            <a:r>
              <a:rPr lang="en-US" dirty="0"/>
              <a:t> </a:t>
            </a:r>
            <a:r>
              <a:rPr lang="en-US" dirty="0" err="1"/>
              <a:t>bảo</a:t>
            </a:r>
            <a:r>
              <a:rPr lang="en-US" dirty="0"/>
              <a:t> </a:t>
            </a:r>
            <a:r>
              <a:rPr lang="en-US" dirty="0" err="1"/>
              <a:t>nguồn</a:t>
            </a:r>
            <a:r>
              <a:rPr lang="en-US" dirty="0"/>
              <a:t> </a:t>
            </a:r>
            <a:r>
              <a:rPr lang="en-US" dirty="0" err="1"/>
              <a:t>gốc</a:t>
            </a:r>
            <a:r>
              <a:rPr lang="en-US" dirty="0"/>
              <a:t> </a:t>
            </a:r>
            <a:r>
              <a:rPr lang="en-US" dirty="0" err="1"/>
              <a:t>dữ</a:t>
            </a:r>
            <a:r>
              <a:rPr lang="en-US" dirty="0"/>
              <a:t> </a:t>
            </a:r>
            <a:r>
              <a:rPr lang="en-US" dirty="0" err="1"/>
              <a:t>liệu</a:t>
            </a:r>
            <a:r>
              <a:rPr lang="en-US" dirty="0"/>
              <a:t>.</a:t>
            </a:r>
          </a:p>
          <a:p>
            <a:pPr marL="533400" lvl="0" indent="-457200" algn="just" rtl="0">
              <a:lnSpc>
                <a:spcPct val="150000"/>
              </a:lnSpc>
              <a:spcBef>
                <a:spcPts val="1200"/>
              </a:spcBef>
              <a:spcAft>
                <a:spcPts val="0"/>
              </a:spcAft>
              <a:buSzPts val="2400"/>
              <a:buAutoNum type="arabicPeriod"/>
            </a:pPr>
            <a:r>
              <a:rPr lang="en-US" dirty="0" err="1"/>
              <a:t>Sử</a:t>
            </a:r>
            <a:r>
              <a:rPr lang="en-US" dirty="0"/>
              <a:t> </a:t>
            </a:r>
            <a:r>
              <a:rPr lang="en-US" dirty="0" err="1"/>
              <a:t>dụng</a:t>
            </a:r>
            <a:r>
              <a:rPr lang="en-US" dirty="0"/>
              <a:t> </a:t>
            </a:r>
            <a:r>
              <a:rPr lang="en-US" dirty="0" err="1"/>
              <a:t>giao</a:t>
            </a:r>
            <a:r>
              <a:rPr lang="en-US" dirty="0"/>
              <a:t> </a:t>
            </a:r>
            <a:r>
              <a:rPr lang="en-US" dirty="0" err="1"/>
              <a:t>thức</a:t>
            </a:r>
            <a:r>
              <a:rPr lang="en-US" dirty="0"/>
              <a:t> an </a:t>
            </a:r>
            <a:r>
              <a:rPr lang="en-US" dirty="0" err="1"/>
              <a:t>toàn</a:t>
            </a:r>
            <a:r>
              <a:rPr lang="en-US" dirty="0"/>
              <a:t> (</a:t>
            </a:r>
            <a:r>
              <a:rPr lang="en-US" b="1" dirty="0"/>
              <a:t>HTTPS </a:t>
            </a:r>
            <a:r>
              <a:rPr lang="en-US" b="1" dirty="0" err="1"/>
              <a:t>và</a:t>
            </a:r>
            <a:r>
              <a:rPr lang="en-US" b="1" dirty="0"/>
              <a:t> HMAC</a:t>
            </a:r>
            <a:r>
              <a:rPr lang="en-US" dirty="0"/>
              <a:t>) </a:t>
            </a:r>
            <a:r>
              <a:rPr lang="en-US" dirty="0" err="1"/>
              <a:t>để</a:t>
            </a:r>
            <a:r>
              <a:rPr lang="en-US" dirty="0"/>
              <a:t> </a:t>
            </a:r>
            <a:r>
              <a:rPr lang="en-US" dirty="0" err="1"/>
              <a:t>xác</a:t>
            </a:r>
            <a:r>
              <a:rPr lang="en-US" dirty="0"/>
              <a:t> </a:t>
            </a:r>
            <a:r>
              <a:rPr lang="en-US" dirty="0" err="1"/>
              <a:t>thực</a:t>
            </a:r>
            <a:r>
              <a:rPr lang="en-US" dirty="0"/>
              <a:t> </a:t>
            </a:r>
            <a:r>
              <a:rPr lang="en-US" dirty="0" err="1"/>
              <a:t>tính</a:t>
            </a:r>
            <a:r>
              <a:rPr lang="en-US" dirty="0"/>
              <a:t> </a:t>
            </a:r>
            <a:r>
              <a:rPr lang="en-US" dirty="0" err="1"/>
              <a:t>toàn</a:t>
            </a:r>
            <a:r>
              <a:rPr lang="en-US" dirty="0"/>
              <a:t> </a:t>
            </a:r>
            <a:r>
              <a:rPr lang="en-US" dirty="0" err="1"/>
              <a:t>vẹn</a:t>
            </a:r>
            <a:r>
              <a:rPr lang="en-US" dirty="0"/>
              <a:t> </a:t>
            </a:r>
            <a:r>
              <a:rPr lang="en-US" dirty="0" err="1"/>
              <a:t>của</a:t>
            </a:r>
            <a:r>
              <a:rPr lang="en-US" dirty="0"/>
              <a:t> </a:t>
            </a:r>
            <a:r>
              <a:rPr lang="en-US" dirty="0" err="1"/>
              <a:t>các</a:t>
            </a:r>
            <a:r>
              <a:rPr lang="en-US" dirty="0"/>
              <a:t> </a:t>
            </a:r>
            <a:r>
              <a:rPr lang="en-US" dirty="0" err="1"/>
              <a:t>gói</a:t>
            </a:r>
            <a:r>
              <a:rPr lang="en-US" dirty="0"/>
              <a:t> tin Client-Server.</a:t>
            </a:r>
          </a:p>
          <a:p>
            <a:pPr marL="533400" lvl="0" indent="-457200" algn="just" rtl="0">
              <a:lnSpc>
                <a:spcPct val="150000"/>
              </a:lnSpc>
              <a:spcBef>
                <a:spcPts val="1200"/>
              </a:spcBef>
              <a:spcAft>
                <a:spcPts val="0"/>
              </a:spcAft>
              <a:buSzPts val="2400"/>
              <a:buAutoNum type="arabicPeriod"/>
            </a:pPr>
            <a:r>
              <a:rPr lang="en-US" dirty="0" err="1"/>
              <a:t>Xác</a:t>
            </a:r>
            <a:r>
              <a:rPr lang="en-US" dirty="0"/>
              <a:t> </a:t>
            </a:r>
            <a:r>
              <a:rPr lang="en-US" dirty="0" err="1"/>
              <a:t>thực</a:t>
            </a:r>
            <a:r>
              <a:rPr lang="en-US" dirty="0"/>
              <a:t> </a:t>
            </a:r>
            <a:r>
              <a:rPr lang="en-US" dirty="0" err="1"/>
              <a:t>người</a:t>
            </a:r>
            <a:r>
              <a:rPr lang="en-US" dirty="0"/>
              <a:t> </a:t>
            </a:r>
            <a:r>
              <a:rPr lang="en-US" dirty="0" err="1"/>
              <a:t>dùng</a:t>
            </a:r>
            <a:r>
              <a:rPr lang="en-US" dirty="0"/>
              <a:t>, </a:t>
            </a:r>
            <a:r>
              <a:rPr lang="en-US" dirty="0" err="1"/>
              <a:t>phân</a:t>
            </a:r>
            <a:r>
              <a:rPr lang="en-US" dirty="0"/>
              <a:t> </a:t>
            </a:r>
            <a:r>
              <a:rPr lang="en-US" dirty="0" err="1"/>
              <a:t>quyền</a:t>
            </a:r>
            <a:r>
              <a:rPr lang="en-US" dirty="0"/>
              <a:t> </a:t>
            </a:r>
            <a:r>
              <a:rPr lang="en-US" dirty="0" err="1"/>
              <a:t>chặt</a:t>
            </a:r>
            <a:r>
              <a:rPr lang="en-US" dirty="0"/>
              <a:t> </a:t>
            </a:r>
            <a:r>
              <a:rPr lang="en-US" dirty="0" err="1"/>
              <a:t>chẽ</a:t>
            </a:r>
            <a:r>
              <a:rPr lang="en-US" dirty="0"/>
              <a:t>.</a:t>
            </a:r>
          </a:p>
          <a:p>
            <a:pPr marL="533400" lvl="0" indent="-457200" algn="just" rtl="0">
              <a:lnSpc>
                <a:spcPct val="150000"/>
              </a:lnSpc>
              <a:spcBef>
                <a:spcPts val="1200"/>
              </a:spcBef>
              <a:spcAft>
                <a:spcPts val="0"/>
              </a:spcAft>
              <a:buSzPts val="2400"/>
              <a:buAutoNum type="arabicPeriod"/>
            </a:pPr>
            <a:r>
              <a:rPr lang="en-US" dirty="0" err="1"/>
              <a:t>Giám</a:t>
            </a:r>
            <a:r>
              <a:rPr lang="en-US" dirty="0"/>
              <a:t> </a:t>
            </a:r>
            <a:r>
              <a:rPr lang="en-US" dirty="0" err="1"/>
              <a:t>sát</a:t>
            </a:r>
            <a:r>
              <a:rPr lang="en-US" dirty="0"/>
              <a:t>, </a:t>
            </a:r>
            <a:r>
              <a:rPr lang="en-US" dirty="0" err="1"/>
              <a:t>kiểm</a:t>
            </a:r>
            <a:r>
              <a:rPr lang="en-US" dirty="0"/>
              <a:t> </a:t>
            </a:r>
            <a:r>
              <a:rPr lang="en-US" dirty="0" err="1"/>
              <a:t>tra</a:t>
            </a:r>
            <a:r>
              <a:rPr lang="en-US" dirty="0"/>
              <a:t> log, </a:t>
            </a:r>
            <a:r>
              <a:rPr lang="en-US" dirty="0" err="1"/>
              <a:t>dùng</a:t>
            </a:r>
            <a:r>
              <a:rPr lang="en-US" dirty="0"/>
              <a:t> </a:t>
            </a:r>
            <a:r>
              <a:rPr lang="en-US" b="1" dirty="0"/>
              <a:t>SIEM</a:t>
            </a:r>
            <a:r>
              <a:rPr lang="en-US" dirty="0"/>
              <a:t> </a:t>
            </a:r>
            <a:r>
              <a:rPr lang="en-US" dirty="0" err="1"/>
              <a:t>để</a:t>
            </a:r>
            <a:r>
              <a:rPr lang="en-US" dirty="0"/>
              <a:t> </a:t>
            </a:r>
            <a:r>
              <a:rPr lang="en-US" dirty="0" err="1"/>
              <a:t>cảnh</a:t>
            </a:r>
            <a:r>
              <a:rPr lang="en-US" dirty="0"/>
              <a:t> </a:t>
            </a:r>
            <a:r>
              <a:rPr lang="en-US" dirty="0" err="1"/>
              <a:t>báo</a:t>
            </a:r>
            <a:r>
              <a:rPr lang="en-US" dirty="0"/>
              <a:t> </a:t>
            </a:r>
            <a:r>
              <a:rPr lang="en-US" dirty="0" err="1"/>
              <a:t>khi</a:t>
            </a:r>
            <a:r>
              <a:rPr lang="en-US" dirty="0"/>
              <a:t> </a:t>
            </a:r>
            <a:r>
              <a:rPr lang="en-US" dirty="0" err="1"/>
              <a:t>phát</a:t>
            </a:r>
            <a:r>
              <a:rPr lang="en-US" dirty="0"/>
              <a:t> </a:t>
            </a:r>
            <a:r>
              <a:rPr lang="en-US" dirty="0" err="1"/>
              <a:t>hiện</a:t>
            </a:r>
            <a:r>
              <a:rPr lang="en-US" dirty="0"/>
              <a:t> log </a:t>
            </a:r>
            <a:r>
              <a:rPr lang="en-US" dirty="0" err="1"/>
              <a:t>bị</a:t>
            </a:r>
            <a:r>
              <a:rPr lang="en-US" dirty="0"/>
              <a:t> </a:t>
            </a:r>
            <a:r>
              <a:rPr lang="en-US" dirty="0" err="1"/>
              <a:t>thay</a:t>
            </a:r>
            <a:r>
              <a:rPr lang="en-US" dirty="0"/>
              <a:t> </a:t>
            </a:r>
            <a:r>
              <a:rPr lang="en-US" dirty="0" err="1"/>
              <a:t>đổi</a:t>
            </a:r>
            <a:r>
              <a:rPr lang="en-US" dirty="0"/>
              <a:t>.</a:t>
            </a:r>
          </a:p>
          <a:p>
            <a:pPr marL="533400" lvl="0" indent="-457200" algn="just" rtl="0">
              <a:lnSpc>
                <a:spcPct val="150000"/>
              </a:lnSpc>
              <a:spcBef>
                <a:spcPts val="1200"/>
              </a:spcBef>
              <a:spcAft>
                <a:spcPts val="0"/>
              </a:spcAft>
              <a:buSzPts val="2400"/>
              <a:buAutoNum type="arabicPeriod"/>
            </a:pPr>
            <a:r>
              <a:rPr lang="en-US" dirty="0" err="1"/>
              <a:t>Cập</a:t>
            </a:r>
            <a:r>
              <a:rPr lang="en-US" dirty="0"/>
              <a:t> </a:t>
            </a:r>
            <a:r>
              <a:rPr lang="en-US" dirty="0" err="1"/>
              <a:t>nhật</a:t>
            </a:r>
            <a:r>
              <a:rPr lang="en-US" dirty="0"/>
              <a:t> </a:t>
            </a:r>
            <a:r>
              <a:rPr lang="en-US" dirty="0" err="1"/>
              <a:t>phần</a:t>
            </a:r>
            <a:r>
              <a:rPr lang="en-US" dirty="0"/>
              <a:t> </a:t>
            </a:r>
            <a:r>
              <a:rPr lang="en-US" dirty="0" err="1"/>
              <a:t>mềm</a:t>
            </a:r>
            <a:r>
              <a:rPr lang="en-US" dirty="0"/>
              <a:t>, firmware an </a:t>
            </a:r>
            <a:r>
              <a:rPr lang="en-US" dirty="0" err="1"/>
              <a:t>toàn</a:t>
            </a:r>
            <a:r>
              <a:rPr lang="en-US" dirty="0"/>
              <a:t>, </a:t>
            </a:r>
            <a:r>
              <a:rPr lang="en-US" dirty="0" err="1"/>
              <a:t>nguồn</a:t>
            </a:r>
            <a:r>
              <a:rPr lang="en-US" dirty="0"/>
              <a:t> tin </a:t>
            </a:r>
            <a:r>
              <a:rPr lang="en-US" dirty="0" err="1"/>
              <a:t>cậy</a:t>
            </a:r>
            <a:r>
              <a:rPr lang="en-US" dirty="0"/>
              <a:t>, </a:t>
            </a:r>
            <a:r>
              <a:rPr lang="en-US" dirty="0" err="1"/>
              <a:t>kiểm</a:t>
            </a:r>
            <a:r>
              <a:rPr lang="en-US" dirty="0"/>
              <a:t> </a:t>
            </a:r>
            <a:r>
              <a:rPr lang="en-US" dirty="0" err="1"/>
              <a:t>tra</a:t>
            </a:r>
            <a:r>
              <a:rPr lang="en-US" dirty="0"/>
              <a:t> </a:t>
            </a:r>
            <a:r>
              <a:rPr lang="en-US" dirty="0" err="1"/>
              <a:t>chữ</a:t>
            </a:r>
            <a:r>
              <a:rPr lang="en-US" dirty="0"/>
              <a:t> </a:t>
            </a:r>
            <a:r>
              <a:rPr lang="en-US" dirty="0" err="1"/>
              <a:t>ký</a:t>
            </a:r>
            <a:r>
              <a:rPr lang="en-US" dirty="0"/>
              <a:t> </a:t>
            </a:r>
            <a:r>
              <a:rPr lang="en-US" dirty="0" err="1"/>
              <a:t>số</a:t>
            </a:r>
            <a:r>
              <a:rPr lang="en-US" dirty="0"/>
              <a:t> </a:t>
            </a:r>
            <a:r>
              <a:rPr lang="en-US" dirty="0" err="1"/>
              <a:t>của</a:t>
            </a:r>
            <a:r>
              <a:rPr lang="en-US" dirty="0"/>
              <a:t> </a:t>
            </a:r>
            <a:r>
              <a:rPr lang="en-US" dirty="0" err="1"/>
              <a:t>bản</a:t>
            </a:r>
            <a:r>
              <a:rPr lang="en-US" dirty="0"/>
              <a:t> </a:t>
            </a:r>
            <a:r>
              <a:rPr lang="en-US" dirty="0" err="1"/>
              <a:t>cập</a:t>
            </a:r>
            <a:r>
              <a:rPr lang="en-US" dirty="0"/>
              <a:t> </a:t>
            </a:r>
            <a:r>
              <a:rPr lang="en-US" dirty="0" err="1"/>
              <a:t>nhật</a:t>
            </a:r>
            <a:r>
              <a:rPr lang="en-US" dirty="0"/>
              <a:t> </a:t>
            </a:r>
            <a:r>
              <a:rPr lang="en-US" dirty="0" err="1"/>
              <a:t>để</a:t>
            </a:r>
            <a:r>
              <a:rPr lang="en-US" dirty="0"/>
              <a:t> </a:t>
            </a:r>
            <a:r>
              <a:rPr lang="en-US" dirty="0" err="1"/>
              <a:t>tránh</a:t>
            </a:r>
            <a:r>
              <a:rPr lang="en-US" dirty="0"/>
              <a:t> </a:t>
            </a:r>
            <a:r>
              <a:rPr lang="en-US" dirty="0" err="1"/>
              <a:t>việc</a:t>
            </a:r>
            <a:r>
              <a:rPr lang="en-US" dirty="0"/>
              <a:t> </a:t>
            </a:r>
            <a:r>
              <a:rPr lang="en-US" dirty="0" err="1"/>
              <a:t>nạp</a:t>
            </a:r>
            <a:r>
              <a:rPr lang="en-US" dirty="0"/>
              <a:t> firmware </a:t>
            </a:r>
            <a:r>
              <a:rPr lang="en-US" dirty="0" err="1"/>
              <a:t>chứa</a:t>
            </a:r>
            <a:r>
              <a:rPr lang="en-US" dirty="0"/>
              <a:t> backdoor.</a:t>
            </a:r>
          </a:p>
        </p:txBody>
      </p:sp>
    </p:spTree>
    <p:extLst>
      <p:ext uri="{BB962C8B-B14F-4D97-AF65-F5344CB8AC3E}">
        <p14:creationId xmlns:p14="http://schemas.microsoft.com/office/powerpoint/2010/main" val="66344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2">
                                            <p:txEl>
                                              <p:pRg st="0" end="0"/>
                                            </p:txEl>
                                          </p:spTgt>
                                        </p:tgtEl>
                                        <p:attrNameLst>
                                          <p:attrName>style.visibility</p:attrName>
                                        </p:attrNameLst>
                                      </p:cBhvr>
                                      <p:to>
                                        <p:strVal val="visible"/>
                                      </p:to>
                                    </p:set>
                                    <p:animEffect transition="in" filter="fade">
                                      <p:cBhvr>
                                        <p:cTn id="7" dur="500"/>
                                        <p:tgtEl>
                                          <p:spTgt spid="7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xEl>
                                              <p:pRg st="1" end="1"/>
                                            </p:txEl>
                                          </p:spTgt>
                                        </p:tgtEl>
                                        <p:attrNameLst>
                                          <p:attrName>style.visibility</p:attrName>
                                        </p:attrNameLst>
                                      </p:cBhvr>
                                      <p:to>
                                        <p:strVal val="visible"/>
                                      </p:to>
                                    </p:set>
                                    <p:animEffect transition="in" filter="fade">
                                      <p:cBhvr>
                                        <p:cTn id="12" dur="500"/>
                                        <p:tgtEl>
                                          <p:spTgt spid="7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2">
                                            <p:txEl>
                                              <p:pRg st="2" end="2"/>
                                            </p:txEl>
                                          </p:spTgt>
                                        </p:tgtEl>
                                        <p:attrNameLst>
                                          <p:attrName>style.visibility</p:attrName>
                                        </p:attrNameLst>
                                      </p:cBhvr>
                                      <p:to>
                                        <p:strVal val="visible"/>
                                      </p:to>
                                    </p:set>
                                    <p:animEffect transition="in" filter="fade">
                                      <p:cBhvr>
                                        <p:cTn id="17" dur="500"/>
                                        <p:tgtEl>
                                          <p:spTgt spid="7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2">
                                            <p:txEl>
                                              <p:pRg st="3" end="3"/>
                                            </p:txEl>
                                          </p:spTgt>
                                        </p:tgtEl>
                                        <p:attrNameLst>
                                          <p:attrName>style.visibility</p:attrName>
                                        </p:attrNameLst>
                                      </p:cBhvr>
                                      <p:to>
                                        <p:strVal val="visible"/>
                                      </p:to>
                                    </p:set>
                                    <p:animEffect transition="in" filter="fade">
                                      <p:cBhvr>
                                        <p:cTn id="22" dur="500"/>
                                        <p:tgtEl>
                                          <p:spTgt spid="7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2">
                                            <p:txEl>
                                              <p:pRg st="4" end="4"/>
                                            </p:txEl>
                                          </p:spTgt>
                                        </p:tgtEl>
                                        <p:attrNameLst>
                                          <p:attrName>style.visibility</p:attrName>
                                        </p:attrNameLst>
                                      </p:cBhvr>
                                      <p:to>
                                        <p:strVal val="visible"/>
                                      </p:to>
                                    </p:set>
                                    <p:animEffect transition="in" filter="fade">
                                      <p:cBhvr>
                                        <p:cTn id="27" dur="500"/>
                                        <p:tgtEl>
                                          <p:spTgt spid="7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58"/>
          <p:cNvSpPr txBox="1">
            <a:spLocks noGrp="1"/>
          </p:cNvSpPr>
          <p:nvPr>
            <p:ph type="title"/>
          </p:nvPr>
        </p:nvSpPr>
        <p:spPr>
          <a:xfrm>
            <a:off x="838200" y="152005"/>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70C0"/>
              </a:buClr>
              <a:buSzPts val="4000"/>
              <a:buFont typeface="Times New Roman"/>
              <a:buNone/>
            </a:pPr>
            <a:r>
              <a:rPr lang="en-US" sz="3200" dirty="0"/>
              <a:t>3. DEMO</a:t>
            </a:r>
            <a:endParaRPr sz="2800" dirty="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59"/>
          <p:cNvSpPr txBox="1">
            <a:spLocks noGrp="1"/>
          </p:cNvSpPr>
          <p:nvPr>
            <p:ph type="ctrTitle"/>
          </p:nvPr>
        </p:nvSpPr>
        <p:spPr>
          <a:xfrm>
            <a:off x="1219875" y="1773250"/>
            <a:ext cx="10972200" cy="1655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600"/>
              <a:buFont typeface="Times New Roman"/>
              <a:buNone/>
            </a:pPr>
            <a:r>
              <a:rPr lang="en-US" sz="3600" dirty="0"/>
              <a:t>CẢM ƠN THẦY VÀ CÁC BẠN ĐÃ LẮNG NGHE!</a:t>
            </a:r>
            <a:endParaRPr sz="3600"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TotalTime>
  <Words>3487</Words>
  <Application>Microsoft Office PowerPoint</Application>
  <PresentationFormat>Widescreen</PresentationFormat>
  <Paragraphs>291</Paragraphs>
  <Slides>36</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Readex Pro</vt:lpstr>
      <vt:lpstr>Barlow</vt:lpstr>
      <vt:lpstr>Times New Roman</vt:lpstr>
      <vt:lpstr>K2D</vt:lpstr>
      <vt:lpstr>Wingdings</vt:lpstr>
      <vt:lpstr>Calibri</vt:lpstr>
      <vt:lpstr>Office Theme</vt:lpstr>
      <vt:lpstr>HỌC PHẦN: AN NINH WEB</vt:lpstr>
      <vt:lpstr>THÀNH VIÊN NHÓM 2</vt:lpstr>
      <vt:lpstr>Chủ Đề: Cryptographic Failures</vt:lpstr>
      <vt:lpstr>NỘI DUNG</vt:lpstr>
      <vt:lpstr>1. GIỚI THIỆU CHUNG</vt:lpstr>
      <vt:lpstr>1. GIỚI THIỆU CHUNG</vt:lpstr>
      <vt:lpstr>2. PHÂN LOẠI</vt:lpstr>
      <vt:lpstr>2.1. DÙNG THUẬT TOÁN YẾU/LỖI THỜI HOẶC CẤU HÌNH SAI  2.1.1. GIỚI THIỆU</vt:lpstr>
      <vt:lpstr>2.1. DÙNG THUẬT TOÁN YẾU HOẶC CẤU HÌNH SAI 2.1.2. LỖ HỔNG DO THUẬT TOÁN YẾU:</vt:lpstr>
      <vt:lpstr>2.1. DÙNG THUẬT TOÁN YẾU HOẶC CẤU HÌNH SAI 2.1.2. LỖ HỔNG DO THUẬT TOÁN YẾU:</vt:lpstr>
      <vt:lpstr>2.1. DÙNG THUẬT TOÁN YẾU HOẶC CẤU HÌNH SAI 2.1.3. LỖ HỔNG DO CẤU HÌNH SAI:</vt:lpstr>
      <vt:lpstr>2.1. DÙNG THUẬT TOÁN YẾU HOẶC CẤU HÌNH SAI 2.1.4. HẬU QUẢ</vt:lpstr>
      <vt:lpstr>2.1. DÙNG THUẬT TOÁN YẾU HOẶC CẤU HÌNH SAI 2.1.4. PHÒNG NGỪA, NGĂN CHẶN</vt:lpstr>
      <vt:lpstr>2.2. QUẢN LÝ KHÓA KÉM  2.2.1. GIỚI THIỆU</vt:lpstr>
      <vt:lpstr>2.2. QUẢN LÝ KHÓA KÉM  2.2.2. VÍ DỤ</vt:lpstr>
      <vt:lpstr>2.2. QUẢN LÝ KHÓA KÉM  2.2.3. HẬU QUẢ</vt:lpstr>
      <vt:lpstr>2.2. QUẢN LÝ KHÓA KÉM  2.2.4. PHÒNG NGỪA, NGĂN CHẶN </vt:lpstr>
      <vt:lpstr>2.3. KHÔNG MÃ HÓA DỮ LIỆU NHẠY CẢM  2.3.1. GIỚI THIỆU</vt:lpstr>
      <vt:lpstr>2.3. KHÔNG MÃ HÓA DỮ LIỆU NHẠY CẢM  2.3.2. CẤU TRÚC</vt:lpstr>
      <vt:lpstr>2.3. KHÔNG MÃ HÓA DỮ LIỆU NHẠY CẢM  2.3.3. HẬU QUẢ</vt:lpstr>
      <vt:lpstr>2.3. KHÔNG MÃ HÓA DỮ LIỆU NHẠY CẢM  2.3.3. HẬU QUẢ</vt:lpstr>
      <vt:lpstr>2.3. KHÔNG MÃ HÓA DỮ LIỆU NHẠY CẢM  2.3.3. HẬU QUẢ</vt:lpstr>
      <vt:lpstr>2.3. KHÔNG MÃ HÓA DỮ LIỆU NHẠY CẢM  2.3.4. PHÒNG NGỪA VÀ NGĂN CHẶN</vt:lpstr>
      <vt:lpstr>2.4. HASH MẬT KHẨU YẾU  2.4.1. GIỚI THIỆU</vt:lpstr>
      <vt:lpstr>2.4. HASH MẬT KHẨU YẾU  2.4.2. VÍ DỤ</vt:lpstr>
      <vt:lpstr>2.4. HASH MẬT KHẨU YẾU  2.4.3. HẬU QUẢ</vt:lpstr>
      <vt:lpstr>2.4. HASH MẬT KHẨU YẾU  2.4.4. PHÒNG NGỪA VÀ NGĂN CHẶN</vt:lpstr>
      <vt:lpstr>2.4. HASH MẬT KHẨU YẾU  2.4.4. PHÒNG NGỪA VÀ NGĂN CHẶN</vt:lpstr>
      <vt:lpstr>2.4. HASH MẬT KHẨU YẾU  2.4.4. PHÒNG NGỪA VÀ NGĂN CHẶN</vt:lpstr>
      <vt:lpstr>2.5. THIẾU XÁC THỰC TÍNH TOÀN VẸN  2.5.1. GIỚI THIỆU</vt:lpstr>
      <vt:lpstr>2.5. THIẾU XÁC THỰC TÍNH TOÀN VẸN  2.5.2. CƠ CHẾ HOẠT ĐỘNG</vt:lpstr>
      <vt:lpstr>2.5. THIẾU XÁC THỰC TÍNH TOÀN VẸN  2.5.2. CƠ CHẾ HOẠT ĐỘNG</vt:lpstr>
      <vt:lpstr>2.5. THIẾU XÁC THỰC TÍNH TOÀN VẸN  2.5.3. HẬU QUẢ</vt:lpstr>
      <vt:lpstr>2.5. THIẾU XÁC THỰC TÍNH TOÀN VẸN  2.5.4. PHÒNG NGỪA, NGĂN CHẶN</vt:lpstr>
      <vt:lpstr>3. DEMO</vt:lpstr>
      <vt:lpstr>CẢM ƠN THẦY VÀ CÁC BẠN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Như Nguyễn</dc:creator>
  <cp:lastModifiedBy>Như Nguyễn</cp:lastModifiedBy>
  <cp:revision>205</cp:revision>
  <dcterms:modified xsi:type="dcterms:W3CDTF">2025-11-08T10:47:36Z</dcterms:modified>
</cp:coreProperties>
</file>